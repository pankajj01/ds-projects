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7" r:id="rId3"/>
  </p:sldMasterIdLst>
  <p:notesMasterIdLst>
    <p:notesMasterId r:id="rId20"/>
  </p:notesMasterIdLst>
  <p:sldIdLst>
    <p:sldId id="257" r:id="rId4"/>
    <p:sldId id="2515" r:id="rId5"/>
    <p:sldId id="273" r:id="rId6"/>
    <p:sldId id="262" r:id="rId7"/>
    <p:sldId id="2542" r:id="rId8"/>
    <p:sldId id="276" r:id="rId9"/>
    <p:sldId id="2544" r:id="rId10"/>
    <p:sldId id="2545" r:id="rId11"/>
    <p:sldId id="279" r:id="rId12"/>
    <p:sldId id="270" r:id="rId13"/>
    <p:sldId id="281" r:id="rId14"/>
    <p:sldId id="272" r:id="rId15"/>
    <p:sldId id="258" r:id="rId16"/>
    <p:sldId id="259" r:id="rId17"/>
    <p:sldId id="254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143F6A"/>
    <a:srgbClr val="BDDADF"/>
    <a:srgbClr val="3577B2"/>
    <a:srgbClr val="101010"/>
    <a:srgbClr val="242852"/>
    <a:srgbClr val="DCDCDC"/>
    <a:srgbClr val="00BAF2"/>
    <a:srgbClr val="042E6F"/>
    <a:srgbClr val="072C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120615631478751"/>
          <c:y val="5.6974486224979408E-2"/>
          <c:w val="0.49029088777572782"/>
          <c:h val="0.7082754034939249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Distribution</c:v>
                </c:pt>
              </c:strCache>
            </c:strRef>
          </c:tx>
          <c:dPt>
            <c:idx val="0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49E-4558-8262-3BD4AB480D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9E-4558-8262-3BD4AB480D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A7E-AE4C-B462-978661BEF0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A7E-AE4C-B462-978661BEF007}"/>
              </c:ext>
            </c:extLst>
          </c:dPt>
          <c:cat>
            <c:strRef>
              <c:f>Sheet1!$A$2:$A$5</c:f>
              <c:strCache>
                <c:ptCount val="4"/>
                <c:pt idx="0">
                  <c:v>App</c:v>
                </c:pt>
                <c:pt idx="1">
                  <c:v>Txn_A</c:v>
                </c:pt>
                <c:pt idx="2">
                  <c:v>CST</c:v>
                </c:pt>
                <c:pt idx="3">
                  <c:v>Customer Demographics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0.52629999999999999</c:v>
                </c:pt>
                <c:pt idx="1">
                  <c:v>0.1053</c:v>
                </c:pt>
                <c:pt idx="2">
                  <c:v>0.26319999999999999</c:v>
                </c:pt>
                <c:pt idx="3">
                  <c:v>0.1053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9E-4558-8262-3BD4AB480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E71-3BAD-49DE-8935-D0FFB72C9B78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5E97C-E0BB-4979-950F-558677002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45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894522" y="4272197"/>
            <a:ext cx="4920000" cy="4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800" rIns="89600" bIns="44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40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674688"/>
            <a:ext cx="5994400" cy="3373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8466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8607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5E97C-E0BB-4979-950F-55867700211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09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3064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7061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ubtitle Only">
  <p:cSld name="1_Title Sub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9"/>
          <p:cNvCxnSpPr/>
          <p:nvPr/>
        </p:nvCxnSpPr>
        <p:spPr>
          <a:xfrm>
            <a:off x="771898" y="2459355"/>
            <a:ext cx="1354400" cy="0"/>
          </a:xfrm>
          <a:prstGeom prst="straightConnector1">
            <a:avLst/>
          </a:prstGeom>
          <a:noFill/>
          <a:ln w="66675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49"/>
          <p:cNvSpPr txBox="1">
            <a:spLocks noGrp="1"/>
          </p:cNvSpPr>
          <p:nvPr>
            <p:ph type="sldNum" idx="12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655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Page">
  <p:cSld name="Body Pag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0"/>
          <p:cNvSpPr txBox="1">
            <a:spLocks noGrp="1"/>
          </p:cNvSpPr>
          <p:nvPr>
            <p:ph type="ftr" idx="11"/>
          </p:nvPr>
        </p:nvSpPr>
        <p:spPr>
          <a:xfrm>
            <a:off x="4710546" y="6696172"/>
            <a:ext cx="7449787" cy="21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49" b="1" i="1" u="none" strike="noStrike" cap="none">
                <a:solidFill>
                  <a:srgbClr val="A5A5A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kern="0"/>
          </a:p>
        </p:txBody>
      </p:sp>
      <p:sp>
        <p:nvSpPr>
          <p:cNvPr id="19" name="Google Shape;19;p50"/>
          <p:cNvSpPr txBox="1">
            <a:spLocks noGrp="1"/>
          </p:cNvSpPr>
          <p:nvPr>
            <p:ph type="sldNum" idx="12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cxnSp>
        <p:nvCxnSpPr>
          <p:cNvPr id="20" name="Google Shape;20;p50"/>
          <p:cNvCxnSpPr/>
          <p:nvPr/>
        </p:nvCxnSpPr>
        <p:spPr>
          <a:xfrm>
            <a:off x="-16399" y="843258"/>
            <a:ext cx="12240000" cy="18000"/>
          </a:xfrm>
          <a:prstGeom prst="straightConnector1">
            <a:avLst/>
          </a:prstGeom>
          <a:noFill/>
          <a:ln w="38100" cap="flat" cmpd="sng">
            <a:solidFill>
              <a:srgbClr val="072B6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50"/>
          <p:cNvSpPr txBox="1"/>
          <p:nvPr/>
        </p:nvSpPr>
        <p:spPr>
          <a:xfrm>
            <a:off x="12719" y="-74857"/>
            <a:ext cx="10994588" cy="10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242852"/>
              </a:buClr>
              <a:buSzPts val="2800"/>
              <a:buFont typeface="Noto Sans Symbols"/>
              <a:buNone/>
            </a:pPr>
            <a:endParaRPr sz="2800" b="1" kern="0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61572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ubtitle Only" userDrawn="1">
  <p:cSld name="1_Title Subtitle 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3"/>
          <p:cNvCxnSpPr/>
          <p:nvPr/>
        </p:nvCxnSpPr>
        <p:spPr>
          <a:xfrm>
            <a:off x="771898" y="2459355"/>
            <a:ext cx="1354400" cy="0"/>
          </a:xfrm>
          <a:prstGeom prst="straightConnector1">
            <a:avLst/>
          </a:prstGeom>
          <a:noFill/>
          <a:ln w="66675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8101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7">
            <a:extLst>
              <a:ext uri="{FF2B5EF4-FFF2-40B4-BE49-F238E27FC236}">
                <a16:creationId xmlns:a16="http://schemas.microsoft.com/office/drawing/2014/main" id="{8F8E3990-21D1-804D-8D45-E11B025E0B8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4710546" y="6696172"/>
            <a:ext cx="7449787" cy="218537"/>
          </a:xfrm>
          <a:prstGeom prst="rect">
            <a:avLst/>
          </a:prstGeom>
        </p:spPr>
        <p:txBody>
          <a:bodyPr vert="horz" lIns="0" tIns="45720" rIns="0" bIns="45720" rtlCol="0" anchor="t"/>
          <a:lstStyle>
            <a:lvl1pPr algn="r">
              <a:defRPr sz="749" b="1" i="1">
                <a:solidFill>
                  <a:schemeClr val="bg1">
                    <a:lumMod val="65000"/>
                  </a:schemeClr>
                </a:solidFill>
                <a:latin typeface="Helvetica" pitchFamily="2" charset="0"/>
              </a:defRPr>
            </a:lvl1pPr>
          </a:lstStyle>
          <a:p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6EC07F8D-D415-634E-A54F-4C3D15E02F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r">
              <a:defRPr sz="856" b="1" i="0" baseline="0">
                <a:solidFill>
                  <a:srgbClr val="333333"/>
                </a:solidFill>
                <a:latin typeface="Helvetica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82B688-3935-D2A7-E761-0C853E0D2E14}"/>
              </a:ext>
            </a:extLst>
          </p:cNvPr>
          <p:cNvCxnSpPr>
            <a:cxnSpLocks/>
          </p:cNvCxnSpPr>
          <p:nvPr userDrawn="1"/>
        </p:nvCxnSpPr>
        <p:spPr>
          <a:xfrm>
            <a:off x="-16399" y="843258"/>
            <a:ext cx="12240000" cy="18000"/>
          </a:xfrm>
          <a:prstGeom prst="line">
            <a:avLst/>
          </a:prstGeom>
          <a:ln w="38100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57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498336"/>
            <a:ext cx="1219200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3"/>
          <p:cNvSpPr txBox="1">
            <a:spLocks noGrp="1"/>
          </p:cNvSpPr>
          <p:nvPr>
            <p:ph type="title"/>
          </p:nvPr>
        </p:nvSpPr>
        <p:spPr>
          <a:xfrm>
            <a:off x="609601" y="533400"/>
            <a:ext cx="10972800" cy="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SemiBold"/>
              <a:buNone/>
              <a:defRPr sz="3631" b="1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body" idx="1"/>
          </p:nvPr>
        </p:nvSpPr>
        <p:spPr>
          <a:xfrm>
            <a:off x="609601" y="1600200"/>
            <a:ext cx="10972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77508" algn="l">
              <a:lnSpc>
                <a:spcPct val="100000"/>
              </a:lnSpc>
              <a:spcBef>
                <a:spcPts val="623"/>
              </a:spcBef>
              <a:spcAft>
                <a:spcPts val="0"/>
              </a:spcAft>
              <a:buSzPts val="204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8722" algn="l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SzPts val="17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1948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62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6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23323" algn="l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SzPts val="14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57189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dt" idx="10"/>
          </p:nvPr>
        </p:nvSpPr>
        <p:spPr>
          <a:xfrm>
            <a:off x="2082804" y="18288"/>
            <a:ext cx="38608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23" name="Google Shape;23;p23"/>
          <p:cNvSpPr txBox="1">
            <a:spLocks noGrp="1"/>
          </p:cNvSpPr>
          <p:nvPr>
            <p:ph type="ftr" idx="11"/>
          </p:nvPr>
        </p:nvSpPr>
        <p:spPr>
          <a:xfrm>
            <a:off x="6045209" y="18288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24" name="Google Shape;24;p23"/>
          <p:cNvSpPr txBox="1"/>
          <p:nvPr/>
        </p:nvSpPr>
        <p:spPr>
          <a:xfrm>
            <a:off x="35612" y="6652821"/>
            <a:ext cx="4244297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900"/>
              <a:buFont typeface="Arial"/>
              <a:buNone/>
            </a:pPr>
            <a:r>
              <a:rPr lang="en-I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*Strictly Internal and Confidential</a:t>
            </a:r>
            <a:r>
              <a:rPr lang="en-IN" sz="1000">
                <a:solidFill>
                  <a:srgbClr val="FFFFFF"/>
                </a:solidFill>
                <a:highlight>
                  <a:srgbClr val="808080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>
              <a:solidFill>
                <a:srgbClr val="FFFFFF"/>
              </a:solidFill>
              <a:highlight>
                <a:srgbClr val="808080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5384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609601" y="792480"/>
            <a:ext cx="2856800" cy="12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 SemiBold"/>
              <a:buNone/>
              <a:defRPr sz="3113" b="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>
            <a:spLocks noGrp="1"/>
          </p:cNvSpPr>
          <p:nvPr>
            <p:ph type="pic" idx="2"/>
          </p:nvPr>
        </p:nvSpPr>
        <p:spPr>
          <a:xfrm>
            <a:off x="3811487" y="838204"/>
            <a:ext cx="7872400" cy="55004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5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831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Arial"/>
              <a:buNone/>
              <a:defRPr sz="4149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727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Arial"/>
              <a:buNone/>
              <a:defRPr sz="3631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 rtl="0">
              <a:lnSpc>
                <a:spcPct val="100000"/>
              </a:lnSpc>
              <a:spcBef>
                <a:spcPts val="623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None/>
              <a:defRPr sz="3113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593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593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59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59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59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59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609600" y="2133600"/>
            <a:ext cx="2852800" cy="4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304778" algn="l" rtl="0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SzPts val="1190"/>
              <a:buNone/>
              <a:defRPr sz="1815"/>
            </a:lvl1pPr>
            <a:lvl2pPr marL="1219108" lvl="1" indent="-304778" algn="l" rtl="0">
              <a:lnSpc>
                <a:spcPct val="100000"/>
              </a:lnSpc>
              <a:spcBef>
                <a:spcPts val="311"/>
              </a:spcBef>
              <a:spcAft>
                <a:spcPts val="0"/>
              </a:spcAft>
              <a:buSzPts val="1020"/>
              <a:buNone/>
              <a:defRPr sz="1556"/>
            </a:lvl2pPr>
            <a:lvl3pPr marL="1828664" lvl="2" indent="-304778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900"/>
              <a:buNone/>
              <a:defRPr sz="1296"/>
            </a:lvl3pPr>
            <a:lvl4pPr marL="2438218" lvl="3" indent="-304778" algn="l" rtl="0">
              <a:lnSpc>
                <a:spcPct val="100000"/>
              </a:lnSpc>
              <a:spcBef>
                <a:spcPts val="233"/>
              </a:spcBef>
              <a:spcAft>
                <a:spcPts val="0"/>
              </a:spcAft>
              <a:buSzPts val="900"/>
              <a:buNone/>
              <a:defRPr sz="1167"/>
            </a:lvl4pPr>
            <a:lvl5pPr marL="3047772" lvl="4" indent="-304778" algn="l" rtl="0">
              <a:lnSpc>
                <a:spcPct val="100000"/>
              </a:lnSpc>
              <a:spcBef>
                <a:spcPts val="233"/>
              </a:spcBef>
              <a:spcAft>
                <a:spcPts val="0"/>
              </a:spcAft>
              <a:buSzPts val="900"/>
              <a:buNone/>
              <a:defRPr sz="1167"/>
            </a:lvl5pPr>
            <a:lvl6pPr marL="3657325" lvl="5" indent="-304778" algn="l" rtl="0">
              <a:lnSpc>
                <a:spcPct val="100000"/>
              </a:lnSpc>
              <a:spcBef>
                <a:spcPts val="233"/>
              </a:spcBef>
              <a:spcAft>
                <a:spcPts val="0"/>
              </a:spcAft>
              <a:buSzPts val="900"/>
              <a:buNone/>
              <a:defRPr sz="1167"/>
            </a:lvl6pPr>
            <a:lvl7pPr marL="4266880" lvl="6" indent="-304778" algn="l" rtl="0">
              <a:lnSpc>
                <a:spcPct val="100000"/>
              </a:lnSpc>
              <a:spcBef>
                <a:spcPts val="233"/>
              </a:spcBef>
              <a:spcAft>
                <a:spcPts val="0"/>
              </a:spcAft>
              <a:buSzPts val="900"/>
              <a:buNone/>
              <a:defRPr sz="1167"/>
            </a:lvl7pPr>
            <a:lvl8pPr marL="4876435" lvl="7" indent="-304778" algn="l" rtl="0">
              <a:lnSpc>
                <a:spcPct val="100000"/>
              </a:lnSpc>
              <a:spcBef>
                <a:spcPts val="233"/>
              </a:spcBef>
              <a:spcAft>
                <a:spcPts val="0"/>
              </a:spcAft>
              <a:buSzPts val="900"/>
              <a:buNone/>
              <a:defRPr sz="1167"/>
            </a:lvl8pPr>
            <a:lvl9pPr marL="5485988" lvl="8" indent="-304778" algn="l" rtl="0">
              <a:lnSpc>
                <a:spcPct val="100000"/>
              </a:lnSpc>
              <a:spcBef>
                <a:spcPts val="233"/>
              </a:spcBef>
              <a:spcAft>
                <a:spcPts val="0"/>
              </a:spcAft>
              <a:buSzPts val="900"/>
              <a:buNone/>
              <a:defRPr sz="1167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2133604" y="0"/>
            <a:ext cx="38608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6096009" y="0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6" name="Google Shape;66;p9"/>
          <p:cNvCxnSpPr/>
          <p:nvPr/>
        </p:nvCxnSpPr>
        <p:spPr>
          <a:xfrm>
            <a:off x="609613" y="6477000"/>
            <a:ext cx="10983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3950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609601" y="533400"/>
            <a:ext cx="10972800" cy="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 SemiBold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 rot="5400000">
            <a:off x="3657617" y="-1447800"/>
            <a:ext cx="4876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434308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530"/>
              <a:buChar char="•"/>
              <a:defRPr/>
            </a:lvl1pPr>
            <a:lvl2pPr marL="1219108" lvl="1" indent="-434308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530"/>
              <a:buChar char="•"/>
              <a:defRPr/>
            </a:lvl2pPr>
            <a:lvl3pPr marL="1828664" lvl="2" indent="-441926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4pPr>
            <a:lvl5pPr marL="3047772" lvl="4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5pPr>
            <a:lvl6pPr marL="3657325" lvl="5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6pPr>
            <a:lvl7pPr marL="4266880" lvl="6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7pPr>
            <a:lvl8pPr marL="4876435" lvl="7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8pPr>
            <a:lvl9pPr marL="5485988" lvl="8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2133604" y="0"/>
            <a:ext cx="38608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6096009" y="0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0160016" y="18288"/>
            <a:ext cx="1422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  <p:cxnSp>
        <p:nvCxnSpPr>
          <p:cNvPr id="73" name="Google Shape;73;p10"/>
          <p:cNvCxnSpPr/>
          <p:nvPr/>
        </p:nvCxnSpPr>
        <p:spPr>
          <a:xfrm>
            <a:off x="609613" y="6477000"/>
            <a:ext cx="10983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7148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 rot="5400000">
            <a:off x="7277017" y="2171800"/>
            <a:ext cx="5867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 SemiBold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1689015" y="-469800"/>
            <a:ext cx="58676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434308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530"/>
              <a:buChar char="•"/>
              <a:defRPr/>
            </a:lvl1pPr>
            <a:lvl2pPr marL="1219108" lvl="1" indent="-434308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530"/>
              <a:buChar char="•"/>
              <a:defRPr/>
            </a:lvl2pPr>
            <a:lvl3pPr marL="1828664" lvl="2" indent="-441926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4pPr>
            <a:lvl5pPr marL="3047772" lvl="4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5pPr>
            <a:lvl6pPr marL="3657325" lvl="5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6pPr>
            <a:lvl7pPr marL="4266880" lvl="6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7pPr>
            <a:lvl8pPr marL="4876435" lvl="7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8pPr>
            <a:lvl9pPr marL="5485988" lvl="8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2133604" y="0"/>
            <a:ext cx="38608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6096009" y="0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0160016" y="18288"/>
            <a:ext cx="1422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  <p:cxnSp>
        <p:nvCxnSpPr>
          <p:cNvPr id="80" name="Google Shape;80;p11"/>
          <p:cNvCxnSpPr/>
          <p:nvPr/>
        </p:nvCxnSpPr>
        <p:spPr>
          <a:xfrm>
            <a:off x="609613" y="6477000"/>
            <a:ext cx="10983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0906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ubtitle and Content">
  <p:cSld name="1_Title Subtitle and Conte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609601" y="533400"/>
            <a:ext cx="10972800" cy="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918212" y="1523833"/>
            <a:ext cx="10355600" cy="46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47748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ED1951"/>
              </a:buClr>
              <a:buSzPts val="2040"/>
              <a:buChar char="•"/>
              <a:defRPr/>
            </a:lvl1pPr>
            <a:lvl2pPr marL="1219108" lvl="1" indent="-448701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ED1951"/>
              </a:buClr>
              <a:buSzPts val="1700"/>
              <a:buChar char="•"/>
              <a:defRPr/>
            </a:lvl2pPr>
            <a:lvl3pPr marL="1828664" lvl="2" indent="-44192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D1951"/>
              </a:buClr>
              <a:buSzPts val="1620"/>
              <a:buChar char="•"/>
              <a:defRPr/>
            </a:lvl3pPr>
            <a:lvl4pPr marL="2438218" lvl="3" indent="-440234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ED1951"/>
              </a:buClr>
              <a:buSzPts val="1600"/>
              <a:buChar char="•"/>
              <a:defRPr/>
            </a:lvl4pPr>
            <a:lvl5pPr marL="3047772" lvl="4" indent="-423301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ED1951"/>
              </a:buClr>
              <a:buSzPts val="1400"/>
              <a:buChar char="•"/>
              <a:defRPr/>
            </a:lvl5pPr>
            <a:lvl6pPr marL="3657325" lvl="5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6pPr>
            <a:lvl7pPr marL="4266880" lvl="6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7pPr>
            <a:lvl8pPr marL="4876435" lvl="7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8pPr>
            <a:lvl9pPr marL="5485988" lvl="8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2"/>
          </p:nvPr>
        </p:nvSpPr>
        <p:spPr>
          <a:xfrm>
            <a:off x="939252" y="1144195"/>
            <a:ext cx="10363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304778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040"/>
              <a:buFont typeface="Arial"/>
              <a:buNone/>
              <a:defRPr sz="1945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08" lvl="1" indent="-448701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1700"/>
              <a:buChar char="•"/>
              <a:defRPr/>
            </a:lvl2pPr>
            <a:lvl3pPr marL="1828664" lvl="2" indent="-44192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40234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SzPts val="1600"/>
              <a:buChar char="•"/>
              <a:defRPr/>
            </a:lvl4pPr>
            <a:lvl5pPr marL="3047772" lvl="4" indent="-423301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SzPts val="1400"/>
              <a:buChar char="•"/>
              <a:defRPr/>
            </a:lvl5pPr>
            <a:lvl6pPr marL="3657325" lvl="5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6pPr>
            <a:lvl7pPr marL="4266880" lvl="6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7pPr>
            <a:lvl8pPr marL="4876435" lvl="7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8pPr>
            <a:lvl9pPr marL="5485988" lvl="8" indent="-414836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>
            <a:endParaRPr/>
          </a:p>
        </p:txBody>
      </p:sp>
      <p:cxnSp>
        <p:nvCxnSpPr>
          <p:cNvPr id="102" name="Google Shape;102;p15"/>
          <p:cNvCxnSpPr/>
          <p:nvPr/>
        </p:nvCxnSpPr>
        <p:spPr>
          <a:xfrm>
            <a:off x="914404" y="1110284"/>
            <a:ext cx="1354400" cy="0"/>
          </a:xfrm>
          <a:prstGeom prst="straightConnector1">
            <a:avLst/>
          </a:prstGeom>
          <a:noFill/>
          <a:ln w="666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15"/>
          <p:cNvSpPr txBox="1">
            <a:spLocks noGrp="1"/>
          </p:cNvSpPr>
          <p:nvPr>
            <p:ph type="ftr" idx="11"/>
          </p:nvPr>
        </p:nvSpPr>
        <p:spPr>
          <a:xfrm>
            <a:off x="420441" y="6453336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75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609600" y="6525208"/>
            <a:ext cx="2844800" cy="3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97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 descr="Pictur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6498345"/>
            <a:ext cx="10972816" cy="37490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588224" y="16613"/>
            <a:ext cx="1097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2800"/>
              <a:buFont typeface="Open Sans SemiBold"/>
              <a:buNone/>
              <a:defRPr sz="3631" b="1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588224" y="1334951"/>
            <a:ext cx="10972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609555" lvl="0" indent="-434308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530"/>
              <a:buChar char="•"/>
              <a:defRPr/>
            </a:lvl1pPr>
            <a:lvl2pPr marL="1219108" lvl="1" indent="-434308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530"/>
              <a:buChar char="•"/>
              <a:defRPr/>
            </a:lvl2pPr>
            <a:lvl3pPr marL="1828664" lvl="2" indent="-441926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57165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800"/>
              <a:buChar char="•"/>
              <a:defRPr/>
            </a:lvl4pPr>
            <a:lvl5pPr marL="3047772" lvl="4" indent="-457165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800"/>
              <a:buChar char="•"/>
              <a:defRPr/>
            </a:lvl5pPr>
            <a:lvl6pPr marL="3657325" lvl="5" indent="-457165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800"/>
              <a:buChar char="•"/>
              <a:defRPr/>
            </a:lvl6pPr>
            <a:lvl7pPr marL="4266880" lvl="6" indent="-457165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800"/>
              <a:buChar char="•"/>
              <a:defRPr/>
            </a:lvl7pPr>
            <a:lvl8pPr marL="4876435" lvl="7" indent="-457165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800"/>
              <a:buChar char="•"/>
              <a:defRPr/>
            </a:lvl8pPr>
            <a:lvl9pPr marL="5485988" lvl="8" indent="-457165" algn="l" rtl="0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11691684" y="6188336"/>
            <a:ext cx="3648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11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6498336"/>
            <a:ext cx="11855440" cy="36455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10972800" cy="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F3368"/>
              </a:buClr>
              <a:buSzPts val="2500"/>
              <a:buFont typeface="Open Sans SemiBold"/>
              <a:buNone/>
              <a:defRPr sz="3333" b="1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2082804" y="18288"/>
            <a:ext cx="3860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300" tIns="33650" rIns="67300" bIns="336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6045200" y="18288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300" tIns="33650" rIns="67300" bIns="336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33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11243739" y="6181504"/>
            <a:ext cx="812800" cy="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300" tIns="33650" rIns="67300" bIns="3365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9" name="Google Shape;119;p18"/>
          <p:cNvSpPr/>
          <p:nvPr/>
        </p:nvSpPr>
        <p:spPr>
          <a:xfrm rot="-1424453">
            <a:off x="2583645" y="2505189"/>
            <a:ext cx="6720303" cy="210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33" tIns="44868" rIns="89733" bIns="44868" anchor="ctr" anchorCtr="0">
            <a:noAutofit/>
          </a:bodyPr>
          <a:lstStyle/>
          <a:p>
            <a:pPr algn="ctr">
              <a:buClr>
                <a:srgbClr val="FFFFFF"/>
              </a:buClr>
              <a:buSzPts val="6400"/>
              <a:buFont typeface="Open Sans"/>
              <a:buNone/>
            </a:pPr>
            <a:endParaRPr sz="853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76026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477484" rtl="0">
              <a:spcBef>
                <a:spcPts val="640"/>
              </a:spcBef>
              <a:spcAft>
                <a:spcPts val="0"/>
              </a:spcAft>
              <a:buSzPts val="2040"/>
              <a:buChar char="•"/>
              <a:defRPr/>
            </a:lvl1pPr>
            <a:lvl2pPr marL="1219108" lvl="1" indent="-448701" rtl="0">
              <a:spcBef>
                <a:spcPts val="533"/>
              </a:spcBef>
              <a:spcAft>
                <a:spcPts val="0"/>
              </a:spcAft>
              <a:buSzPts val="1700"/>
              <a:buChar char="•"/>
              <a:defRPr/>
            </a:lvl2pPr>
            <a:lvl3pPr marL="1828664" lvl="2" indent="-441926" rtl="0">
              <a:spcBef>
                <a:spcPts val="480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40234" rtl="0">
              <a:spcBef>
                <a:spcPts val="427"/>
              </a:spcBef>
              <a:spcAft>
                <a:spcPts val="0"/>
              </a:spcAft>
              <a:buSzPts val="1600"/>
              <a:buChar char="•"/>
              <a:defRPr/>
            </a:lvl4pPr>
            <a:lvl5pPr marL="3047772" lvl="4" indent="-423301" rtl="0">
              <a:spcBef>
                <a:spcPts val="373"/>
              </a:spcBef>
              <a:spcAft>
                <a:spcPts val="0"/>
              </a:spcAft>
              <a:buSzPts val="1400"/>
              <a:buChar char="•"/>
              <a:defRPr/>
            </a:lvl5pPr>
            <a:lvl6pPr marL="3657325" lvl="5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6pPr>
            <a:lvl7pPr marL="4266880" lvl="6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7pPr>
            <a:lvl8pPr marL="4876435" lvl="7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8pPr>
            <a:lvl9pPr marL="5485988" lvl="8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3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477484" rtl="0">
              <a:spcBef>
                <a:spcPts val="640"/>
              </a:spcBef>
              <a:spcAft>
                <a:spcPts val="0"/>
              </a:spcAft>
              <a:buSzPts val="2040"/>
              <a:buChar char="•"/>
              <a:defRPr/>
            </a:lvl1pPr>
            <a:lvl2pPr marL="1219108" lvl="1" indent="-448701" rtl="0">
              <a:spcBef>
                <a:spcPts val="533"/>
              </a:spcBef>
              <a:spcAft>
                <a:spcPts val="0"/>
              </a:spcAft>
              <a:buSzPts val="1700"/>
              <a:buChar char="•"/>
              <a:defRPr/>
            </a:lvl2pPr>
            <a:lvl3pPr marL="1828664" lvl="2" indent="-441926" rtl="0">
              <a:spcBef>
                <a:spcPts val="480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40234" rtl="0">
              <a:spcBef>
                <a:spcPts val="427"/>
              </a:spcBef>
              <a:spcAft>
                <a:spcPts val="0"/>
              </a:spcAft>
              <a:buSzPts val="1600"/>
              <a:buChar char="•"/>
              <a:defRPr/>
            </a:lvl4pPr>
            <a:lvl5pPr marL="3047772" lvl="4" indent="-423301" rtl="0">
              <a:spcBef>
                <a:spcPts val="373"/>
              </a:spcBef>
              <a:spcAft>
                <a:spcPts val="0"/>
              </a:spcAft>
              <a:buSzPts val="1400"/>
              <a:buChar char="•"/>
              <a:defRPr/>
            </a:lvl5pPr>
            <a:lvl6pPr marL="3657325" lvl="5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6pPr>
            <a:lvl7pPr marL="4266880" lvl="6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7pPr>
            <a:lvl8pPr marL="4876435" lvl="7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8pPr>
            <a:lvl9pPr marL="5485988" lvl="8" indent="-41483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417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ubtitle Only">
  <p:cSld name="1_Title Subtitle 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11044" y="260652"/>
            <a:ext cx="10363200" cy="8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911044" y="1268760"/>
            <a:ext cx="10363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304778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  <a:defRPr sz="1945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08" lvl="1" indent="-448701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SzPts val="1700"/>
              <a:buChar char="•"/>
              <a:defRPr/>
            </a:lvl2pPr>
            <a:lvl3pPr marL="1828664" lvl="2" indent="-441926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620"/>
              <a:buChar char="•"/>
              <a:defRPr/>
            </a:lvl3pPr>
            <a:lvl4pPr marL="2438218" lvl="3" indent="-440234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600"/>
              <a:buChar char="•"/>
              <a:defRPr/>
            </a:lvl4pPr>
            <a:lvl5pPr marL="3047772" lvl="4" indent="-423301" algn="l" rtl="0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SzPts val="1400"/>
              <a:buChar char="•"/>
              <a:defRPr/>
            </a:lvl5pPr>
            <a:lvl6pPr marL="3657325" lvl="5" indent="-414836" algn="l" rtl="0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SzPts val="1300"/>
              <a:buChar char="•"/>
              <a:defRPr/>
            </a:lvl6pPr>
            <a:lvl7pPr marL="4266880" lvl="6" indent="-414836" algn="l" rtl="0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SzPts val="1300"/>
              <a:buChar char="•"/>
              <a:defRPr/>
            </a:lvl7pPr>
            <a:lvl8pPr marL="4876435" lvl="7" indent="-414836" algn="l" rtl="0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SzPts val="1300"/>
              <a:buChar char="•"/>
              <a:defRPr/>
            </a:lvl8pPr>
            <a:lvl9pPr marL="5485988" lvl="8" indent="-414836" algn="l" rtl="0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13"/>
          <p:cNvCxnSpPr/>
          <p:nvPr/>
        </p:nvCxnSpPr>
        <p:spPr>
          <a:xfrm>
            <a:off x="914405" y="1110284"/>
            <a:ext cx="1354400" cy="0"/>
          </a:xfrm>
          <a:prstGeom prst="straightConnector1">
            <a:avLst/>
          </a:prstGeom>
          <a:noFill/>
          <a:ln w="666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20445" y="6453336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75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609600" y="6525208"/>
            <a:ext cx="2844800" cy="3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64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7">
            <a:extLst>
              <a:ext uri="{FF2B5EF4-FFF2-40B4-BE49-F238E27FC236}">
                <a16:creationId xmlns:a16="http://schemas.microsoft.com/office/drawing/2014/main" id="{8F8E3990-21D1-804D-8D45-E11B025E0B8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554182" y="6138035"/>
            <a:ext cx="9929091" cy="365593"/>
          </a:xfrm>
          <a:prstGeom prst="rect">
            <a:avLst/>
          </a:prstGeom>
        </p:spPr>
        <p:txBody>
          <a:bodyPr vert="horz" lIns="0" tIns="45720" rIns="0" bIns="45720" rtlCol="0" anchor="t"/>
          <a:lstStyle>
            <a:lvl1pPr algn="l">
              <a:defRPr sz="749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6EC07F8D-D415-634E-A54F-4C3D15E02F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23565" y="6535009"/>
            <a:ext cx="677334" cy="13190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r">
              <a:defRPr sz="856" b="0" i="0" baseline="0">
                <a:solidFill>
                  <a:srgbClr val="333333"/>
                </a:solidFill>
                <a:latin typeface="Helvetica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Placeholder 3">
            <a:extLst>
              <a:ext uri="{FF2B5EF4-FFF2-40B4-BE49-F238E27FC236}">
                <a16:creationId xmlns:a16="http://schemas.microsoft.com/office/drawing/2014/main" id="{F0FF33C1-7BA9-7546-8419-4509E2D69EC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7846" y="501428"/>
            <a:ext cx="9929091" cy="5112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4015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77508" rtl="0">
              <a:spcBef>
                <a:spcPts val="640"/>
              </a:spcBef>
              <a:spcAft>
                <a:spcPts val="0"/>
              </a:spcAft>
              <a:buSzPts val="2040"/>
              <a:buChar char="•"/>
              <a:defRPr/>
            </a:lvl1pPr>
            <a:lvl2pPr marL="1219170" lvl="1" indent="-448722" rtl="0">
              <a:spcBef>
                <a:spcPts val="533"/>
              </a:spcBef>
              <a:spcAft>
                <a:spcPts val="0"/>
              </a:spcAft>
              <a:buSzPts val="1700"/>
              <a:buChar char="•"/>
              <a:defRPr/>
            </a:lvl2pPr>
            <a:lvl3pPr marL="1828754" lvl="2" indent="-441948" rtl="0">
              <a:spcBef>
                <a:spcPts val="480"/>
              </a:spcBef>
              <a:spcAft>
                <a:spcPts val="0"/>
              </a:spcAft>
              <a:buSzPts val="1620"/>
              <a:buChar char="•"/>
              <a:defRPr/>
            </a:lvl3pPr>
            <a:lvl4pPr marL="2438339" lvl="3" indent="-440256" rtl="0">
              <a:spcBef>
                <a:spcPts val="427"/>
              </a:spcBef>
              <a:spcAft>
                <a:spcPts val="0"/>
              </a:spcAft>
              <a:buSzPts val="1600"/>
              <a:buChar char="•"/>
              <a:defRPr/>
            </a:lvl4pPr>
            <a:lvl5pPr marL="3047924" lvl="4" indent="-423323" rtl="0">
              <a:spcBef>
                <a:spcPts val="373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1485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6pPr>
            <a:lvl7pPr marL="4267093" lvl="6" indent="-41485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7pPr>
            <a:lvl8pPr marL="4876678" lvl="7" indent="-41485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8pPr>
            <a:lvl9pPr marL="5486263" lvl="8" indent="-414856" rtl="0">
              <a:spcBef>
                <a:spcPts val="347"/>
              </a:spcBef>
              <a:spcAft>
                <a:spcPts val="0"/>
              </a:spcAft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345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1" y="533400"/>
            <a:ext cx="10972800" cy="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SemiBold"/>
              <a:buNone/>
              <a:defRPr sz="3631" b="1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1" y="1600200"/>
            <a:ext cx="10972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55" lvl="0" indent="-477484" algn="l" rtl="0">
              <a:lnSpc>
                <a:spcPct val="100000"/>
              </a:lnSpc>
              <a:spcBef>
                <a:spcPts val="623"/>
              </a:spcBef>
              <a:spcAft>
                <a:spcPts val="0"/>
              </a:spcAft>
              <a:buSzPts val="204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08" lvl="1" indent="-448701" algn="l" rtl="0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SzPts val="17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664" lvl="2" indent="-441926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62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18" lvl="3" indent="-440234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16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772" lvl="4" indent="-423301" algn="l" rtl="0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SzPts val="14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325" lvl="5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6pPr>
            <a:lvl7pPr marL="4266880" lvl="6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7pPr>
            <a:lvl8pPr marL="4876435" lvl="7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8pPr>
            <a:lvl9pPr marL="5485988" lvl="8" indent="-457165" algn="l" rtl="0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2082804" y="18288"/>
            <a:ext cx="38608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6045209" y="18288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0429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7">
            <a:extLst>
              <a:ext uri="{FF2B5EF4-FFF2-40B4-BE49-F238E27FC236}">
                <a16:creationId xmlns:a16="http://schemas.microsoft.com/office/drawing/2014/main" id="{8F8E3990-21D1-804D-8D45-E11B025E0B8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4710546" y="6696172"/>
            <a:ext cx="7449787" cy="218537"/>
          </a:xfrm>
          <a:prstGeom prst="rect">
            <a:avLst/>
          </a:prstGeom>
        </p:spPr>
        <p:txBody>
          <a:bodyPr vert="horz" lIns="0" tIns="45720" rIns="0" bIns="45720" rtlCol="0" anchor="t"/>
          <a:lstStyle>
            <a:lvl1pPr algn="r">
              <a:defRPr sz="749" b="1" i="1">
                <a:solidFill>
                  <a:schemeClr val="bg1">
                    <a:lumMod val="65000"/>
                  </a:schemeClr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6EC07F8D-D415-634E-A54F-4C3D15E02F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r">
              <a:defRPr sz="856" b="1" i="0" baseline="0">
                <a:solidFill>
                  <a:srgbClr val="333333"/>
                </a:solidFill>
                <a:latin typeface="Helvetica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82B688-3935-D2A7-E761-0C853E0D2E14}"/>
              </a:ext>
            </a:extLst>
          </p:cNvPr>
          <p:cNvCxnSpPr>
            <a:cxnSpLocks/>
          </p:cNvCxnSpPr>
          <p:nvPr userDrawn="1"/>
        </p:nvCxnSpPr>
        <p:spPr>
          <a:xfrm>
            <a:off x="-16399" y="843258"/>
            <a:ext cx="12240000" cy="18000"/>
          </a:xfrm>
          <a:prstGeom prst="line">
            <a:avLst/>
          </a:prstGeom>
          <a:ln w="38100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742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theme" Target="../theme/theme3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6498336"/>
            <a:ext cx="12191999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8"/>
          <p:cNvSpPr txBox="1"/>
          <p:nvPr/>
        </p:nvSpPr>
        <p:spPr>
          <a:xfrm>
            <a:off x="0" y="6679470"/>
            <a:ext cx="63638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i="1" ker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@ Strictly Internal and Confidential</a:t>
            </a:r>
            <a:endParaRPr sz="1400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8"/>
          <p:cNvSpPr txBox="1">
            <a:spLocks noGrp="1"/>
          </p:cNvSpPr>
          <p:nvPr>
            <p:ph type="sldNum" idx="12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1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8478358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6498336"/>
            <a:ext cx="12191999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E444A1-A995-1CB7-49EA-ADB5867DC959}"/>
              </a:ext>
            </a:extLst>
          </p:cNvPr>
          <p:cNvSpPr txBox="1"/>
          <p:nvPr userDrawn="1"/>
        </p:nvSpPr>
        <p:spPr>
          <a:xfrm>
            <a:off x="0" y="6679470"/>
            <a:ext cx="63638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@ Strictly Internal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591545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20785"/>
            <a:ext cx="12192000" cy="22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18533" tIns="59233" rIns="118533" bIns="592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  <a:buNone/>
            </a:pPr>
            <a:endParaRPr sz="2335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1" y="533400"/>
            <a:ext cx="10972800" cy="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pen Sans Light"/>
              <a:buNone/>
              <a:defRPr sz="32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1" y="1600200"/>
            <a:ext cx="10972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3146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2133604" y="0"/>
            <a:ext cx="38608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6096009" y="0"/>
            <a:ext cx="5486400" cy="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3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9600" y="6525208"/>
            <a:ext cx="2844800" cy="3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6498336"/>
            <a:ext cx="12191999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E444A1-A995-1CB7-49EA-ADB5867DC959}"/>
              </a:ext>
            </a:extLst>
          </p:cNvPr>
          <p:cNvSpPr txBox="1"/>
          <p:nvPr userDrawn="1"/>
        </p:nvSpPr>
        <p:spPr>
          <a:xfrm>
            <a:off x="0" y="6670797"/>
            <a:ext cx="6363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 Strictly Internal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09336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chart" Target="../charts/chart1.xml"/><Relationship Id="rId8" Type="http://schemas.openxmlformats.org/officeDocument/2006/relationships/image" Target="../media/image24.png"/><Relationship Id="rId9" Type="http://schemas.openxmlformats.org/officeDocument/2006/relationships/image" Target="../media/image2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 descr="Picture 1"/>
          <p:cNvPicPr preferRelativeResize="0"/>
          <p:nvPr/>
        </p:nvPicPr>
        <p:blipFill rotWithShape="1">
          <a:blip r:embed="rId3">
            <a:alphaModFix/>
          </a:blip>
          <a:srcRect t="34949" b="3656"/>
          <a:stretch/>
        </p:blipFill>
        <p:spPr>
          <a:xfrm>
            <a:off x="8" y="4187537"/>
            <a:ext cx="12191991" cy="220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>
            <a:spLocks noGrp="1"/>
          </p:cNvSpPr>
          <p:nvPr>
            <p:ph type="title" idx="4294967295"/>
          </p:nvPr>
        </p:nvSpPr>
        <p:spPr>
          <a:xfrm>
            <a:off x="676820" y="562738"/>
            <a:ext cx="8930316" cy="1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59225" rIns="59225" bIns="59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Central Data Science</a:t>
            </a:r>
            <a:br>
              <a:rPr lang="en-US" sz="4667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800" b="1" i="0" u="none" strike="noStrike" cap="none" dirty="0">
                <a:solidFill>
                  <a:srgbClr val="0070C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User Growth &amp; Retention</a:t>
            </a:r>
            <a:br>
              <a:rPr lang="en-US" sz="4400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400" b="1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CR</a:t>
            </a:r>
            <a:r>
              <a:rPr lang="en-US" sz="2400" b="1" i="0" u="none" strike="noStrike" cap="none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30 Retention Model</a:t>
            </a:r>
            <a:endParaRPr sz="4667" b="1" i="0" u="none" strike="noStrike" cap="none" dirty="0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2276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7893118" y="-1655713"/>
            <a:ext cx="70" cy="32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endParaRPr sz="2140" dirty="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070075" y="-59748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04712" y="-103044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001603" y="-77066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182377" y="-4069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95804" y="-92653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702462" y="-29441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930088" y="-70855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2070876" y="-6321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155055" y="-42670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318695" y="-148431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0598378" y="243797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4910718" y="-521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4489115" y="695835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586" rIns="0" bIns="45586" anchor="t" anchorCtr="0">
            <a:noAutofit/>
          </a:bodyPr>
          <a:lstStyle/>
          <a:p>
            <a:pPr>
              <a:buSzPts val="1200"/>
            </a:pPr>
            <a:endParaRPr sz="1284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Slide Number Placeholder 1">
            <a:extLst>
              <a:ext uri="{FF2B5EF4-FFF2-40B4-BE49-F238E27FC236}">
                <a16:creationId xmlns:a16="http://schemas.microsoft.com/office/drawing/2014/main" id="{451E0CD2-EC7A-5E36-FE59-29283E177E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479820" y="6535009"/>
            <a:ext cx="677334" cy="13190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59392-41E4-B420-F6A5-8A05E79735A6}"/>
              </a:ext>
            </a:extLst>
          </p:cNvPr>
          <p:cNvSpPr txBox="1">
            <a:spLocks/>
          </p:cNvSpPr>
          <p:nvPr/>
        </p:nvSpPr>
        <p:spPr>
          <a:xfrm>
            <a:off x="12719" y="-74857"/>
            <a:ext cx="10994588" cy="101242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2"/>
              </a:buClr>
              <a:buSzPts val="2800"/>
              <a:buNone/>
              <a:defRPr sz="1200" b="1">
                <a:solidFill>
                  <a:schemeClr val="dk2"/>
                </a:solidFill>
                <a:latin typeface="+mj-lt"/>
                <a:ea typeface="Open Sans"/>
                <a:cs typeface="Open Sans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852"/>
              </a:buClr>
              <a:buSzPts val="2800"/>
              <a:buFont typeface="Noto Sans Symbols"/>
              <a:buNone/>
            </a:pPr>
            <a:r>
              <a:rPr lang="en-IN" sz="2800" dirty="0">
                <a:solidFill>
                  <a:srgbClr val="242852"/>
                </a:solidFill>
                <a:latin typeface="Open Sans"/>
                <a:sym typeface="Open Sans"/>
              </a:rPr>
              <a:t>On the </a:t>
            </a:r>
            <a:r>
              <a:rPr lang="en-IN" sz="2800" dirty="0">
                <a:solidFill>
                  <a:srgbClr val="00B0F0"/>
                </a:solidFill>
                <a:latin typeface="Open Sans"/>
                <a:sym typeface="Open Sans"/>
              </a:rPr>
              <a:t>Menu</a:t>
            </a:r>
            <a:r>
              <a:rPr lang="en-IN" sz="2800" dirty="0">
                <a:solidFill>
                  <a:srgbClr val="242852"/>
                </a:solidFill>
                <a:latin typeface="Open Sans"/>
                <a:sym typeface="Open Sans"/>
              </a:rPr>
              <a:t> Today</a:t>
            </a:r>
            <a:r>
              <a:rPr lang="en-IN" sz="2800" dirty="0">
                <a:solidFill>
                  <a:srgbClr val="0070C0"/>
                </a:solidFill>
                <a:latin typeface="Open Sans"/>
                <a:sym typeface="Open Sans"/>
              </a:rPr>
              <a:t>…</a:t>
            </a:r>
            <a:endParaRPr lang="en-IN" sz="2800" b="1" i="0" u="none" strike="noStrike" cap="none" dirty="0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96;p2">
            <a:extLst>
              <a:ext uri="{FF2B5EF4-FFF2-40B4-BE49-F238E27FC236}">
                <a16:creationId xmlns:a16="http://schemas.microsoft.com/office/drawing/2014/main" id="{B7E8FFC3-15FB-A9A5-A820-54F3CC4ACFE6}"/>
              </a:ext>
            </a:extLst>
          </p:cNvPr>
          <p:cNvSpPr txBox="1"/>
          <p:nvPr/>
        </p:nvSpPr>
        <p:spPr>
          <a:xfrm>
            <a:off x="1109336" y="1036518"/>
            <a:ext cx="9890448" cy="49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latin typeface="Open Sans"/>
                <a:ea typeface="Open Sans"/>
                <a:cs typeface="Open Sans"/>
                <a:sym typeface="Open Sans"/>
              </a:rPr>
              <a:t>Business Problem – Customer Retention </a:t>
            </a:r>
            <a:endParaRPr lang="en-US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rgbClr val="A6A6A6"/>
                </a:solidFill>
                <a:latin typeface="Open Sans"/>
                <a:ea typeface="Open Sans"/>
                <a:cs typeface="Open Sans"/>
                <a:sym typeface="Open Sans"/>
              </a:rPr>
              <a:t>Design Framework</a:t>
            </a:r>
          </a:p>
          <a:p>
            <a:pPr marL="971550" lvl="1" indent="-514350">
              <a:lnSpc>
                <a:spcPct val="150000"/>
              </a:lnSpc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Customer Segmentation</a:t>
            </a:r>
          </a:p>
          <a:p>
            <a:pPr marL="971550" lvl="1" indent="-514350">
              <a:lnSpc>
                <a:spcPct val="150000"/>
              </a:lnSpc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Multiclass – Churn definition</a:t>
            </a:r>
          </a:p>
          <a:p>
            <a:pPr marL="971550" lvl="1" indent="-514350">
              <a:lnSpc>
                <a:spcPct val="150000"/>
              </a:lnSpc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Dependent Variable creation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rgbClr val="A6A6A6"/>
                </a:solidFill>
                <a:latin typeface="Open Sans"/>
                <a:ea typeface="Open Sans"/>
                <a:cs typeface="Open Sans"/>
                <a:sym typeface="Open Sans"/>
              </a:rPr>
              <a:t>Feature Reduction - Multiclass</a:t>
            </a:r>
            <a:endParaRPr lang="en-US" b="1" dirty="0">
              <a:solidFill>
                <a:srgbClr val="A6A6A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Model Performance parameters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Strategic Inferencing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endParaRPr lang="en-US" sz="2000" b="1" dirty="0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00B0F0"/>
              </a:buClr>
              <a:buSzPts val="2800"/>
              <a:buFont typeface="+mj-lt"/>
              <a:buAutoNum type="arabicPeriod"/>
            </a:pPr>
            <a:endParaRPr lang="en-US" b="1" dirty="0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14350" indent="-514350">
              <a:lnSpc>
                <a:spcPct val="150000"/>
              </a:lnSpc>
              <a:buClr>
                <a:srgbClr val="00B0F0"/>
              </a:buClr>
              <a:buSzPts val="2800"/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Strategic </a:t>
            </a: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(CHI* + CLM 5.0 + Merchant Journeys + Others)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61A78-A0A7-2A0B-0C66-446C250BCA04}"/>
              </a:ext>
            </a:extLst>
          </p:cNvPr>
          <p:cNvSpPr txBox="1"/>
          <p:nvPr/>
        </p:nvSpPr>
        <p:spPr>
          <a:xfrm>
            <a:off x="2328" y="6255327"/>
            <a:ext cx="6502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*Customer Happiness index</a:t>
            </a:r>
          </a:p>
        </p:txBody>
      </p:sp>
    </p:spTree>
    <p:extLst>
      <p:ext uri="{BB962C8B-B14F-4D97-AF65-F5344CB8AC3E}">
        <p14:creationId xmlns:p14="http://schemas.microsoft.com/office/powerpoint/2010/main" val="2900289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4E4E8-0F4A-9DEA-DFDA-36A98E78E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290" y="706820"/>
            <a:ext cx="10972800" cy="4876800"/>
          </a:xfrm>
        </p:spPr>
        <p:txBody>
          <a:bodyPr/>
          <a:lstStyle/>
          <a:p>
            <a:r>
              <a:rPr lang="en-US" sz="1600" dirty="0"/>
              <a:t>Define business problem [Agenda set]</a:t>
            </a:r>
          </a:p>
          <a:p>
            <a:r>
              <a:rPr lang="en-US" sz="1600" dirty="0"/>
              <a:t>Why churn model was required and some data/visualization to back it up.</a:t>
            </a:r>
          </a:p>
          <a:p>
            <a:r>
              <a:rPr lang="en-US" sz="1600" dirty="0"/>
              <a:t>Design framework:</a:t>
            </a:r>
          </a:p>
          <a:p>
            <a:r>
              <a:rPr lang="en-US" sz="1600" dirty="0"/>
              <a:t>1. How new/repeat/react customers were segmented and some data to back it up why they were segmented since they show different behavior.</a:t>
            </a:r>
          </a:p>
          <a:p>
            <a:r>
              <a:rPr lang="en-US" sz="1600" dirty="0"/>
              <a:t>2. How dependent variable is created. Talk about its design construct. How thresholds were decided , idea behind it. Also, why 5 classes are required as compare to simple binary class problem. Why we took only one snapshot and not multiple different month’s snapshots.</a:t>
            </a:r>
          </a:p>
          <a:p>
            <a:r>
              <a:rPr lang="en-US" sz="1600" dirty="0"/>
              <a:t>3. What model will do . How many different models we build ? How it will work. [multiclass// multi-label]</a:t>
            </a:r>
          </a:p>
          <a:p>
            <a:r>
              <a:rPr lang="en-US" sz="1600" dirty="0"/>
              <a:t>Features used in the model // talk about them // how we fetched them any challenge or new framework used to build them?</a:t>
            </a:r>
          </a:p>
          <a:p>
            <a:r>
              <a:rPr lang="en-US" sz="1600" dirty="0"/>
              <a:t>Feature reduction techniques used in the model . How were they different to implement in multiclass classification model . How we boiled down to final variables. [Can include excel in appendix]</a:t>
            </a:r>
          </a:p>
          <a:p>
            <a:r>
              <a:rPr lang="en-US" sz="1600" dirty="0"/>
              <a:t>Model performance .What was previous version of this model and how we redefined </a:t>
            </a:r>
            <a:r>
              <a:rPr lang="en-US" sz="1600" dirty="0" err="1"/>
              <a:t>it.How</a:t>
            </a:r>
            <a:r>
              <a:rPr lang="en-US" sz="1600" dirty="0"/>
              <a:t> we are going to target , its strategy and what all we are sharing on top of this.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20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79CE1A9-0B96-5342-8330-F3DCF2378CD3}"/>
              </a:ext>
            </a:extLst>
          </p:cNvPr>
          <p:cNvSpPr txBox="1">
            <a:spLocks/>
          </p:cNvSpPr>
          <p:nvPr/>
        </p:nvSpPr>
        <p:spPr>
          <a:xfrm>
            <a:off x="487279" y="54281"/>
            <a:ext cx="10879225" cy="101242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2"/>
              </a:buClr>
              <a:buSzPts val="2800"/>
              <a:buNone/>
              <a:defRPr sz="1200" b="1">
                <a:solidFill>
                  <a:schemeClr val="dk2"/>
                </a:solidFill>
                <a:latin typeface="+mj-lt"/>
                <a:ea typeface="Open Sans"/>
                <a:cs typeface="Open Sans"/>
              </a:defRPr>
            </a:lvl1pPr>
          </a:lstStyle>
          <a:p>
            <a:pPr defTabSz="1219170">
              <a:buClr>
                <a:srgbClr val="242852"/>
              </a:buClr>
            </a:pPr>
            <a:endParaRPr lang="en-US" sz="2400" kern="0" dirty="0">
              <a:solidFill>
                <a:srgbClr val="00B0F0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C2366-EE30-B0F2-B9DC-54A4A6A33CCB}"/>
              </a:ext>
            </a:extLst>
          </p:cNvPr>
          <p:cNvSpPr txBox="1">
            <a:spLocks/>
          </p:cNvSpPr>
          <p:nvPr/>
        </p:nvSpPr>
        <p:spPr>
          <a:xfrm>
            <a:off x="195956" y="-32134"/>
            <a:ext cx="10994588" cy="101242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2"/>
              </a:buClr>
              <a:buSzPts val="2800"/>
              <a:buNone/>
              <a:defRPr sz="1200" b="1">
                <a:solidFill>
                  <a:schemeClr val="dk2"/>
                </a:solidFill>
                <a:latin typeface="+mj-lt"/>
                <a:ea typeface="Open Sans"/>
                <a:cs typeface="Open Sans"/>
              </a:defRPr>
            </a:lvl1pPr>
          </a:lstStyle>
          <a:p>
            <a:pPr defTabSz="1219110">
              <a:buClr>
                <a:srgbClr val="242852"/>
              </a:buClr>
              <a:defRPr/>
            </a:pPr>
            <a:endParaRPr lang="en-US" sz="4000" spc="-200" dirty="0">
              <a:solidFill>
                <a:srgbClr val="00B0F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631CB7-CA40-C33B-4B21-B9FDA64AE658}"/>
              </a:ext>
            </a:extLst>
          </p:cNvPr>
          <p:cNvCxnSpPr>
            <a:cxnSpLocks/>
          </p:cNvCxnSpPr>
          <p:nvPr/>
        </p:nvCxnSpPr>
        <p:spPr>
          <a:xfrm>
            <a:off x="0" y="977072"/>
            <a:ext cx="12240000" cy="18000"/>
          </a:xfrm>
          <a:prstGeom prst="line">
            <a:avLst/>
          </a:prstGeom>
          <a:ln w="38100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0159BE-DB67-9D65-3F7C-F1FEB21C9E89}"/>
              </a:ext>
            </a:extLst>
          </p:cNvPr>
          <p:cNvSpPr txBox="1"/>
          <p:nvPr/>
        </p:nvSpPr>
        <p:spPr>
          <a:xfrm>
            <a:off x="0" y="1040398"/>
            <a:ext cx="1213482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Open Sans" panose="020B0606030504020204"/>
              </a:rPr>
              <a:t>Business problem: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Customer retention is a metric that measures customer loyalty, or the ability for an organization to keep its customers over time.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Open Sans" panose="020B0606030504020204" pitchFamily="34" charset="0"/>
                <a:ea typeface="Calibri" panose="020F0502020204030204" pitchFamily="34" charset="0"/>
              </a:rPr>
              <a:t>Retention r</a:t>
            </a:r>
            <a:r>
              <a:rPr lang="en-US" sz="1400" dirty="0"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eflects customer satisfaction, repurchase behavior, customer engagement and emotional ties to a brand.</a:t>
            </a:r>
            <a:endParaRPr lang="en-IN" sz="1400" dirty="0">
              <a:latin typeface="Open Sans" panose="020B060603050402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Open Sans" panose="020B0606030504020204"/>
              </a:rPr>
              <a:t>Improve customer retention by identifying the right target audience</a:t>
            </a:r>
            <a:endParaRPr lang="en-IN" sz="1400" b="1" dirty="0">
              <a:latin typeface="Open Sans" panose="020B0606030504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1" dirty="0">
              <a:latin typeface="Open Sans" panose="020B0606030504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Open Sans" panose="020B0606030504020204"/>
              </a:rPr>
              <a:t>Strategic Solution: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Open Sans" panose="020B0606030504020204"/>
              </a:rPr>
              <a:t>Develop data science model on customer behaviour and interactions after segmenting </a:t>
            </a:r>
            <a:r>
              <a:rPr lang="en-IN" sz="1400" b="1" dirty="0">
                <a:latin typeface="Open Sans" panose="020B0606030504020204"/>
              </a:rPr>
              <a:t>monthly active users (MAU)</a:t>
            </a:r>
            <a:r>
              <a:rPr lang="en-IN" sz="1400" dirty="0">
                <a:latin typeface="Open Sans" panose="020B0606030504020204"/>
              </a:rPr>
              <a:t> into 3 different categories – New | Repeat | React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b="1" dirty="0">
              <a:latin typeface="Open Sans" panose="020B060603050402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Open Sans" panose="020B0606030504020204"/>
              </a:rPr>
              <a:t>Churn criteria: Update the churn definition </a:t>
            </a:r>
            <a:r>
              <a:rPr lang="en-IN" sz="1400" dirty="0">
                <a:latin typeface="Open Sans" panose="020B0606030504020204"/>
              </a:rPr>
              <a:t>to identify churn customers not only transaction behaviour but also their app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Open Sans" panose="020B0606030504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Open Sans" panose="020B0606030504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Open Sans" panose="020B0606030504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108" y="457066"/>
            <a:ext cx="4400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Problem </a:t>
            </a:r>
            <a:r>
              <a:rPr lang="en-IN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Statement</a:t>
            </a:r>
            <a:endParaRPr lang="en-IN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048D6-7905-2AF3-BF2B-6F5C24A83AFE}"/>
              </a:ext>
            </a:extLst>
          </p:cNvPr>
          <p:cNvSpPr/>
          <p:nvPr/>
        </p:nvSpPr>
        <p:spPr>
          <a:xfrm>
            <a:off x="1050131" y="3717706"/>
            <a:ext cx="4171093" cy="1662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4BAA6-52D2-6AD2-60D0-CA4C1BCE06E3}"/>
              </a:ext>
            </a:extLst>
          </p:cNvPr>
          <p:cNvSpPr/>
          <p:nvPr/>
        </p:nvSpPr>
        <p:spPr>
          <a:xfrm>
            <a:off x="6789515" y="3717706"/>
            <a:ext cx="4171093" cy="1662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7724EE27-98A2-F3D1-75E6-9C1D02335CCB}"/>
              </a:ext>
            </a:extLst>
          </p:cNvPr>
          <p:cNvSpPr/>
          <p:nvPr/>
        </p:nvSpPr>
        <p:spPr>
          <a:xfrm>
            <a:off x="5221224" y="4098998"/>
            <a:ext cx="1648776" cy="900000"/>
          </a:xfrm>
          <a:prstGeom prst="homePlate">
            <a:avLst/>
          </a:prstGeom>
          <a:gradFill>
            <a:gsLst>
              <a:gs pos="0">
                <a:srgbClr val="06466E"/>
              </a:gs>
              <a:gs pos="100000">
                <a:srgbClr val="20A4F3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Google Shape;331;g2402a97e5b8_0_2861">
            <a:extLst>
              <a:ext uri="{FF2B5EF4-FFF2-40B4-BE49-F238E27FC236}">
                <a16:creationId xmlns:a16="http://schemas.microsoft.com/office/drawing/2014/main" id="{D9F8E665-32A0-24AD-F951-9E9ECA56C669}"/>
              </a:ext>
            </a:extLst>
          </p:cNvPr>
          <p:cNvSpPr txBox="1"/>
          <p:nvPr/>
        </p:nvSpPr>
        <p:spPr>
          <a:xfrm>
            <a:off x="2327937" y="3717706"/>
            <a:ext cx="1426147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Existing Churn Def.</a:t>
            </a: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10" name="Google Shape;331;g2402a97e5b8_0_2861">
            <a:extLst>
              <a:ext uri="{FF2B5EF4-FFF2-40B4-BE49-F238E27FC236}">
                <a16:creationId xmlns:a16="http://schemas.microsoft.com/office/drawing/2014/main" id="{FD0E64AD-7229-07D9-7C59-65EBE9763365}"/>
              </a:ext>
            </a:extLst>
          </p:cNvPr>
          <p:cNvSpPr txBox="1"/>
          <p:nvPr/>
        </p:nvSpPr>
        <p:spPr>
          <a:xfrm>
            <a:off x="8202230" y="3717706"/>
            <a:ext cx="1426147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Modified Churn Def.</a:t>
            </a: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11" name="Google Shape;349;g2402a97e5b8_0_2861">
            <a:extLst>
              <a:ext uri="{FF2B5EF4-FFF2-40B4-BE49-F238E27FC236}">
                <a16:creationId xmlns:a16="http://schemas.microsoft.com/office/drawing/2014/main" id="{3E8852AA-9F20-9486-1C53-AD9BD87766E1}"/>
              </a:ext>
            </a:extLst>
          </p:cNvPr>
          <p:cNvSpPr txBox="1"/>
          <p:nvPr/>
        </p:nvSpPr>
        <p:spPr>
          <a:xfrm>
            <a:off x="1172765" y="4401230"/>
            <a:ext cx="3925824" cy="29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 who have not transacted in 30 days</a:t>
            </a:r>
            <a:endParaRPr lang="en-IN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Google Shape;349;g2402a97e5b8_0_2861">
            <a:extLst>
              <a:ext uri="{FF2B5EF4-FFF2-40B4-BE49-F238E27FC236}">
                <a16:creationId xmlns:a16="http://schemas.microsoft.com/office/drawing/2014/main" id="{AD0F44CE-E81C-D406-FF95-4AB79DF2A72E}"/>
              </a:ext>
            </a:extLst>
          </p:cNvPr>
          <p:cNvSpPr txBox="1"/>
          <p:nvPr/>
        </p:nvSpPr>
        <p:spPr>
          <a:xfrm>
            <a:off x="6992635" y="4401230"/>
            <a:ext cx="3925824" cy="597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 Classes of churn based on the inactivity with respect to Transactions, app activity &amp; drops in transaction/engagement</a:t>
            </a:r>
          </a:p>
        </p:txBody>
      </p:sp>
      <p:pic>
        <p:nvPicPr>
          <p:cNvPr id="14" name="Graphic 13" descr="Checklist with solid fill">
            <a:extLst>
              <a:ext uri="{FF2B5EF4-FFF2-40B4-BE49-F238E27FC236}">
                <a16:creationId xmlns:a16="http://schemas.microsoft.com/office/drawing/2014/main" id="{A3FAE16A-737A-B069-D24A-1640C5949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7509" y="3742015"/>
            <a:ext cx="533108" cy="533108"/>
          </a:xfrm>
          <a:prstGeom prst="rect">
            <a:avLst/>
          </a:prstGeom>
        </p:spPr>
      </p:pic>
      <p:pic>
        <p:nvPicPr>
          <p:cNvPr id="16" name="Graphic 15" descr="Checklist outline">
            <a:extLst>
              <a:ext uri="{FF2B5EF4-FFF2-40B4-BE49-F238E27FC236}">
                <a16:creationId xmlns:a16="http://schemas.microsoft.com/office/drawing/2014/main" id="{4026851A-0E5E-647F-F5AB-E826B9E38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9390" y="3732871"/>
            <a:ext cx="556512" cy="556512"/>
          </a:xfrm>
          <a:prstGeom prst="rect">
            <a:avLst/>
          </a:prstGeom>
        </p:spPr>
      </p:pic>
      <p:sp>
        <p:nvSpPr>
          <p:cNvPr id="17" name="Google Shape;349;g2402a97e5b8_0_2861">
            <a:extLst>
              <a:ext uri="{FF2B5EF4-FFF2-40B4-BE49-F238E27FC236}">
                <a16:creationId xmlns:a16="http://schemas.microsoft.com/office/drawing/2014/main" id="{A8DF67E3-CBB3-7123-74BF-0478C355F6CA}"/>
              </a:ext>
            </a:extLst>
          </p:cNvPr>
          <p:cNvSpPr txBox="1"/>
          <p:nvPr/>
        </p:nvSpPr>
        <p:spPr>
          <a:xfrm>
            <a:off x="0" y="6254303"/>
            <a:ext cx="8202230" cy="33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Note: MAU refers to customers who have performed at least 1 successful transaction in that particular month</a:t>
            </a:r>
            <a:endParaRPr lang="en-IN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/>
          <p:cNvSpPr/>
          <p:nvPr/>
        </p:nvSpPr>
        <p:spPr>
          <a:xfrm>
            <a:off x="6305436" y="3069264"/>
            <a:ext cx="1691313" cy="29114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71723" y="3040282"/>
            <a:ext cx="1691313" cy="2940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8276156" y="3069264"/>
            <a:ext cx="1691313" cy="29114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0315793" y="3069264"/>
            <a:ext cx="1691313" cy="29114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4273785" y="3069264"/>
            <a:ext cx="1691313" cy="29114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198387" y="3069264"/>
            <a:ext cx="1691313" cy="29114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>
          <a:xfrm>
            <a:off x="11451245" y="6535009"/>
            <a:ext cx="677334" cy="13190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5</a:t>
            </a:fld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Google Shape;381;g2402a97e5b8_0_2861">
            <a:extLst>
              <a:ext uri="{FF2B5EF4-FFF2-40B4-BE49-F238E27FC236}">
                <a16:creationId xmlns:a16="http://schemas.microsoft.com/office/drawing/2014/main" id="{FDD8F388-87AE-E66C-9310-6CC79AD8E29B}"/>
              </a:ext>
            </a:extLst>
          </p:cNvPr>
          <p:cNvSpPr txBox="1"/>
          <p:nvPr/>
        </p:nvSpPr>
        <p:spPr>
          <a:xfrm>
            <a:off x="1467" y="207381"/>
            <a:ext cx="10486943" cy="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US" sz="2844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Retention N30</a:t>
            </a:r>
            <a:r>
              <a:rPr lang="en-US" sz="2844" b="1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Probability of churn </a:t>
            </a:r>
            <a:r>
              <a:rPr lang="en-US" sz="2844" b="1" dirty="0">
                <a:solidFill>
                  <a:srgbClr val="00BAF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in next 30 days</a:t>
            </a:r>
            <a:endParaRPr sz="1867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36801" y="1001866"/>
            <a:ext cx="1440000" cy="14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Google Shape;331;g2402a97e5b8_0_2861"/>
          <p:cNvSpPr txBox="1"/>
          <p:nvPr/>
        </p:nvSpPr>
        <p:spPr>
          <a:xfrm>
            <a:off x="164507" y="2416987"/>
            <a:ext cx="1426147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Monthly Active Customers</a:t>
            </a: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73" name="Google Shape;330;g2402a97e5b8_0_2861"/>
          <p:cNvSpPr txBox="1"/>
          <p:nvPr/>
        </p:nvSpPr>
        <p:spPr>
          <a:xfrm>
            <a:off x="417745" y="1510475"/>
            <a:ext cx="84258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~71.8Mn</a:t>
            </a:r>
            <a:endParaRPr sz="2000" b="1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1804996" y="1594416"/>
            <a:ext cx="324714" cy="211301"/>
            <a:chOff x="2743200" y="5046499"/>
            <a:chExt cx="324714" cy="211301"/>
          </a:xfrm>
        </p:grpSpPr>
        <p:sp>
          <p:nvSpPr>
            <p:cNvPr id="74" name="Rounded Rectangle 73"/>
            <p:cNvSpPr/>
            <p:nvPr/>
          </p:nvSpPr>
          <p:spPr>
            <a:xfrm>
              <a:off x="2743200" y="504649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2743200" y="516254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8" name="Oval 87"/>
          <p:cNvSpPr/>
          <p:nvPr/>
        </p:nvSpPr>
        <p:spPr>
          <a:xfrm>
            <a:off x="6406426" y="999524"/>
            <a:ext cx="1440000" cy="14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9" name="Donut 88"/>
          <p:cNvSpPr/>
          <p:nvPr/>
        </p:nvSpPr>
        <p:spPr>
          <a:xfrm>
            <a:off x="6406426" y="998650"/>
            <a:ext cx="1440000" cy="1440000"/>
          </a:xfrm>
          <a:prstGeom prst="donut">
            <a:avLst>
              <a:gd name="adj" fmla="val 2999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0" name="Block Arc 89"/>
          <p:cNvSpPr/>
          <p:nvPr/>
        </p:nvSpPr>
        <p:spPr>
          <a:xfrm>
            <a:off x="6420279" y="998650"/>
            <a:ext cx="1426147" cy="1440874"/>
          </a:xfrm>
          <a:prstGeom prst="blockArc">
            <a:avLst>
              <a:gd name="adj1" fmla="val 2350623"/>
              <a:gd name="adj2" fmla="val 8477719"/>
              <a:gd name="adj3" fmla="val 2808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Google Shape;331;g2402a97e5b8_0_2861"/>
          <p:cNvSpPr txBox="1"/>
          <p:nvPr/>
        </p:nvSpPr>
        <p:spPr>
          <a:xfrm>
            <a:off x="6309612" y="2402790"/>
            <a:ext cx="1698961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buClr>
                <a:srgbClr val="000000"/>
              </a:buClr>
              <a:buSzPts val="1200"/>
              <a:defRPr sz="1200" b="1">
                <a:solidFill>
                  <a:srgbClr val="000000"/>
                </a:solidFill>
                <a:latin typeface="Roboto"/>
                <a:ea typeface="Roboto"/>
                <a:cs typeface="Roboto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Drop in Transaction/ GMV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(Class – 2)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92" name="Chord 91"/>
          <p:cNvSpPr/>
          <p:nvPr/>
        </p:nvSpPr>
        <p:spPr>
          <a:xfrm>
            <a:off x="6863351" y="1461340"/>
            <a:ext cx="540000" cy="540000"/>
          </a:xfrm>
          <a:prstGeom prst="chord">
            <a:avLst>
              <a:gd name="adj1" fmla="val 2085550"/>
              <a:gd name="adj2" fmla="val 868231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3" name="Isosceles Triangle 92"/>
          <p:cNvSpPr/>
          <p:nvPr/>
        </p:nvSpPr>
        <p:spPr>
          <a:xfrm>
            <a:off x="6933369" y="1730936"/>
            <a:ext cx="422356" cy="16062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6" name="Google Shape;330;g2402a97e5b8_0_2861"/>
          <p:cNvSpPr txBox="1"/>
          <p:nvPr/>
        </p:nvSpPr>
        <p:spPr>
          <a:xfrm>
            <a:off x="6720901" y="1498993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~22.4%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2329330" y="970541"/>
            <a:ext cx="1440000" cy="14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1" name="Donut 110"/>
          <p:cNvSpPr/>
          <p:nvPr/>
        </p:nvSpPr>
        <p:spPr>
          <a:xfrm>
            <a:off x="2329330" y="969667"/>
            <a:ext cx="1440000" cy="1440000"/>
          </a:xfrm>
          <a:prstGeom prst="donut">
            <a:avLst>
              <a:gd name="adj" fmla="val 2999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2" name="Block Arc 111"/>
          <p:cNvSpPr/>
          <p:nvPr/>
        </p:nvSpPr>
        <p:spPr>
          <a:xfrm>
            <a:off x="2343183" y="969667"/>
            <a:ext cx="1426147" cy="1440874"/>
          </a:xfrm>
          <a:prstGeom prst="blockArc">
            <a:avLst>
              <a:gd name="adj1" fmla="val 3914990"/>
              <a:gd name="adj2" fmla="val 6265161"/>
              <a:gd name="adj3" fmla="val 2972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3" name="Chord 112"/>
          <p:cNvSpPr/>
          <p:nvPr/>
        </p:nvSpPr>
        <p:spPr>
          <a:xfrm>
            <a:off x="2786255" y="1423259"/>
            <a:ext cx="540000" cy="540000"/>
          </a:xfrm>
          <a:prstGeom prst="chord">
            <a:avLst>
              <a:gd name="adj1" fmla="val 4184753"/>
              <a:gd name="adj2" fmla="val 636047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4" name="Isosceles Triangle 113"/>
          <p:cNvSpPr/>
          <p:nvPr/>
        </p:nvSpPr>
        <p:spPr>
          <a:xfrm>
            <a:off x="2985802" y="1660604"/>
            <a:ext cx="163773" cy="2895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5" name="Google Shape;330;g2402a97e5b8_0_2861"/>
          <p:cNvSpPr txBox="1"/>
          <p:nvPr/>
        </p:nvSpPr>
        <p:spPr>
          <a:xfrm>
            <a:off x="2690738" y="1504357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~9.5%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16" name="Google Shape;331;g2402a97e5b8_0_2861"/>
          <p:cNvSpPr txBox="1"/>
          <p:nvPr/>
        </p:nvSpPr>
        <p:spPr>
          <a:xfrm>
            <a:off x="2348380" y="2407557"/>
            <a:ext cx="1440000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No Trans </a:t>
            </a:r>
            <a:b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No App Activity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(Class -4)</a:t>
            </a: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4396378" y="970541"/>
            <a:ext cx="1440000" cy="14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8" name="Donut 117"/>
          <p:cNvSpPr/>
          <p:nvPr/>
        </p:nvSpPr>
        <p:spPr>
          <a:xfrm>
            <a:off x="4396378" y="969667"/>
            <a:ext cx="1440000" cy="1440000"/>
          </a:xfrm>
          <a:prstGeom prst="donut">
            <a:avLst>
              <a:gd name="adj" fmla="val 2999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9" name="Block Arc 118"/>
          <p:cNvSpPr/>
          <p:nvPr/>
        </p:nvSpPr>
        <p:spPr>
          <a:xfrm>
            <a:off x="4410231" y="969667"/>
            <a:ext cx="1426147" cy="1440874"/>
          </a:xfrm>
          <a:prstGeom prst="blockArc">
            <a:avLst>
              <a:gd name="adj1" fmla="val 3734692"/>
              <a:gd name="adj2" fmla="val 6802177"/>
              <a:gd name="adj3" fmla="val 2858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0" name="Chord 119"/>
          <p:cNvSpPr/>
          <p:nvPr/>
        </p:nvSpPr>
        <p:spPr>
          <a:xfrm>
            <a:off x="4853303" y="1432357"/>
            <a:ext cx="540000" cy="540000"/>
          </a:xfrm>
          <a:prstGeom prst="chord">
            <a:avLst>
              <a:gd name="adj1" fmla="val 3502311"/>
              <a:gd name="adj2" fmla="val 704032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1" name="Isosceles Triangle 120"/>
          <p:cNvSpPr/>
          <p:nvPr/>
        </p:nvSpPr>
        <p:spPr>
          <a:xfrm>
            <a:off x="5016242" y="1651506"/>
            <a:ext cx="241110" cy="2895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2" name="Google Shape;330;g2402a97e5b8_0_2861"/>
          <p:cNvSpPr txBox="1"/>
          <p:nvPr/>
        </p:nvSpPr>
        <p:spPr>
          <a:xfrm>
            <a:off x="4761773" y="1464847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~10.5%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23" name="Google Shape;331;g2402a97e5b8_0_2861"/>
          <p:cNvSpPr txBox="1"/>
          <p:nvPr/>
        </p:nvSpPr>
        <p:spPr>
          <a:xfrm>
            <a:off x="4191395" y="2280792"/>
            <a:ext cx="1805234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No Trans</a:t>
            </a:r>
            <a:b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App Activity Only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(Class – 3)</a:t>
            </a:r>
          </a:p>
        </p:txBody>
      </p:sp>
      <p:sp>
        <p:nvSpPr>
          <p:cNvPr id="124" name="Oval 123"/>
          <p:cNvSpPr/>
          <p:nvPr/>
        </p:nvSpPr>
        <p:spPr>
          <a:xfrm>
            <a:off x="8411039" y="995666"/>
            <a:ext cx="1440000" cy="14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5" name="Donut 124"/>
          <p:cNvSpPr/>
          <p:nvPr/>
        </p:nvSpPr>
        <p:spPr>
          <a:xfrm>
            <a:off x="8411039" y="994792"/>
            <a:ext cx="1440000" cy="1440000"/>
          </a:xfrm>
          <a:prstGeom prst="donut">
            <a:avLst>
              <a:gd name="adj" fmla="val 2999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6" name="Block Arc 125"/>
          <p:cNvSpPr/>
          <p:nvPr/>
        </p:nvSpPr>
        <p:spPr>
          <a:xfrm>
            <a:off x="8424892" y="994792"/>
            <a:ext cx="1426147" cy="1440874"/>
          </a:xfrm>
          <a:prstGeom prst="blockArc">
            <a:avLst>
              <a:gd name="adj1" fmla="val 4239368"/>
              <a:gd name="adj2" fmla="val 6359400"/>
              <a:gd name="adj3" fmla="val 282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7" name="Google Shape;331;g2402a97e5b8_0_2861"/>
          <p:cNvSpPr txBox="1"/>
          <p:nvPr/>
        </p:nvSpPr>
        <p:spPr>
          <a:xfrm>
            <a:off x="8443942" y="2431808"/>
            <a:ext cx="1426147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buClr>
                <a:srgbClr val="000000"/>
              </a:buClr>
              <a:buSzPts val="1200"/>
              <a:defRPr sz="1200" b="1">
                <a:solidFill>
                  <a:srgbClr val="000000"/>
                </a:solidFill>
                <a:latin typeface="Roboto"/>
                <a:ea typeface="Roboto"/>
                <a:cs typeface="Roboto"/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Drop in App Activity 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(Class – 1)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128" name="Block Arc 127"/>
          <p:cNvSpPr/>
          <p:nvPr/>
        </p:nvSpPr>
        <p:spPr>
          <a:xfrm>
            <a:off x="8680765" y="1083082"/>
            <a:ext cx="914400" cy="914400"/>
          </a:xfrm>
          <a:prstGeom prst="blockArc">
            <a:avLst>
              <a:gd name="adj1" fmla="val 4711363"/>
              <a:gd name="adj2" fmla="val 6018294"/>
              <a:gd name="adj3" fmla="val 267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9" name="Google Shape;330;g2402a97e5b8_0_2861"/>
          <p:cNvSpPr txBox="1"/>
          <p:nvPr/>
        </p:nvSpPr>
        <p:spPr>
          <a:xfrm>
            <a:off x="8750458" y="1525296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~2.8%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10394553" y="967557"/>
            <a:ext cx="1440000" cy="14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1" name="Donut 130"/>
          <p:cNvSpPr/>
          <p:nvPr/>
        </p:nvSpPr>
        <p:spPr>
          <a:xfrm>
            <a:off x="10394553" y="966683"/>
            <a:ext cx="1440000" cy="1440000"/>
          </a:xfrm>
          <a:prstGeom prst="donut">
            <a:avLst>
              <a:gd name="adj" fmla="val 2999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Block Arc 131"/>
          <p:cNvSpPr/>
          <p:nvPr/>
        </p:nvSpPr>
        <p:spPr>
          <a:xfrm>
            <a:off x="10408406" y="966683"/>
            <a:ext cx="1426147" cy="1440874"/>
          </a:xfrm>
          <a:prstGeom prst="blockArc">
            <a:avLst>
              <a:gd name="adj1" fmla="val 21320694"/>
              <a:gd name="adj2" fmla="val 10991003"/>
              <a:gd name="adj3" fmla="val 2929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3" name="Chord 132"/>
          <p:cNvSpPr/>
          <p:nvPr/>
        </p:nvSpPr>
        <p:spPr>
          <a:xfrm>
            <a:off x="10844713" y="1428499"/>
            <a:ext cx="540000" cy="540000"/>
          </a:xfrm>
          <a:prstGeom prst="chord">
            <a:avLst>
              <a:gd name="adj1" fmla="val 21207072"/>
              <a:gd name="adj2" fmla="val 1116470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4" name="Google Shape;330;g2402a97e5b8_0_2861"/>
          <p:cNvSpPr txBox="1"/>
          <p:nvPr/>
        </p:nvSpPr>
        <p:spPr>
          <a:xfrm>
            <a:off x="10748085" y="1467740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~54.9%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35" name="Google Shape;331;g2402a97e5b8_0_2861"/>
          <p:cNvSpPr txBox="1"/>
          <p:nvPr/>
        </p:nvSpPr>
        <p:spPr>
          <a:xfrm>
            <a:off x="10427456" y="2402825"/>
            <a:ext cx="1426147" cy="6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Good Customers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(Class – 0)</a:t>
            </a: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grpSp>
        <p:nvGrpSpPr>
          <p:cNvPr id="140" name="Group 139"/>
          <p:cNvGrpSpPr/>
          <p:nvPr/>
        </p:nvGrpSpPr>
        <p:grpSpPr>
          <a:xfrm>
            <a:off x="3928342" y="1536020"/>
            <a:ext cx="324714" cy="324714"/>
            <a:chOff x="2678298" y="4412598"/>
            <a:chExt cx="324714" cy="324714"/>
          </a:xfrm>
        </p:grpSpPr>
        <p:sp>
          <p:nvSpPr>
            <p:cNvPr id="141" name="Rounded Rectangle 140"/>
            <p:cNvSpPr/>
            <p:nvPr/>
          </p:nvSpPr>
          <p:spPr>
            <a:xfrm>
              <a:off x="2678298" y="452557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2" name="Rounded Rectangle 141"/>
            <p:cNvSpPr/>
            <p:nvPr/>
          </p:nvSpPr>
          <p:spPr>
            <a:xfrm rot="5400000">
              <a:off x="2678298" y="452732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5976183" y="1540000"/>
            <a:ext cx="324714" cy="324714"/>
            <a:chOff x="2678298" y="4412598"/>
            <a:chExt cx="324714" cy="324714"/>
          </a:xfrm>
        </p:grpSpPr>
        <p:sp>
          <p:nvSpPr>
            <p:cNvPr id="144" name="Rounded Rectangle 143"/>
            <p:cNvSpPr/>
            <p:nvPr/>
          </p:nvSpPr>
          <p:spPr>
            <a:xfrm>
              <a:off x="2678298" y="452557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5" name="Rounded Rectangle 144"/>
            <p:cNvSpPr/>
            <p:nvPr/>
          </p:nvSpPr>
          <p:spPr>
            <a:xfrm rot="5400000">
              <a:off x="2678298" y="452732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7968561" y="1532792"/>
            <a:ext cx="324714" cy="324714"/>
            <a:chOff x="2678298" y="4412598"/>
            <a:chExt cx="324714" cy="324714"/>
          </a:xfrm>
        </p:grpSpPr>
        <p:sp>
          <p:nvSpPr>
            <p:cNvPr id="147" name="Rounded Rectangle 146"/>
            <p:cNvSpPr/>
            <p:nvPr/>
          </p:nvSpPr>
          <p:spPr>
            <a:xfrm>
              <a:off x="2678298" y="452557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8" name="Rounded Rectangle 147"/>
            <p:cNvSpPr/>
            <p:nvPr/>
          </p:nvSpPr>
          <p:spPr>
            <a:xfrm rot="5400000">
              <a:off x="2678298" y="452732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9969667" y="1524326"/>
            <a:ext cx="324714" cy="324714"/>
            <a:chOff x="2678298" y="4412598"/>
            <a:chExt cx="324714" cy="324714"/>
          </a:xfrm>
        </p:grpSpPr>
        <p:sp>
          <p:nvSpPr>
            <p:cNvPr id="150" name="Rounded Rectangle 149"/>
            <p:cNvSpPr/>
            <p:nvPr/>
          </p:nvSpPr>
          <p:spPr>
            <a:xfrm>
              <a:off x="2678298" y="452557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1" name="Rounded Rectangle 150"/>
            <p:cNvSpPr/>
            <p:nvPr/>
          </p:nvSpPr>
          <p:spPr>
            <a:xfrm rot="5400000">
              <a:off x="2678298" y="4527329"/>
              <a:ext cx="324714" cy="952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104790" y="4714359"/>
            <a:ext cx="1046011" cy="925718"/>
            <a:chOff x="252672" y="5323815"/>
            <a:chExt cx="1118927" cy="925718"/>
          </a:xfrm>
        </p:grpSpPr>
        <p:sp>
          <p:nvSpPr>
            <p:cNvPr id="161" name="Rectangle: Rounded Corners 73">
              <a:extLst>
                <a:ext uri="{FF2B5EF4-FFF2-40B4-BE49-F238E27FC236}">
                  <a16:creationId xmlns:a16="http://schemas.microsoft.com/office/drawing/2014/main" id="{7E67AD8B-F567-BC87-CE65-65469065A44B}"/>
                </a:ext>
              </a:extLst>
            </p:cNvPr>
            <p:cNvSpPr/>
            <p:nvPr/>
          </p:nvSpPr>
          <p:spPr>
            <a:xfrm rot="5400000">
              <a:off x="409361" y="5232788"/>
              <a:ext cx="261611" cy="443666"/>
            </a:xfrm>
            <a:prstGeom prst="roundRect">
              <a:avLst/>
            </a:prstGeom>
            <a:solidFill>
              <a:schemeClr val="tx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2" name="Rectangle: Rounded Corners 73">
              <a:extLst>
                <a:ext uri="{FF2B5EF4-FFF2-40B4-BE49-F238E27FC236}">
                  <a16:creationId xmlns:a16="http://schemas.microsoft.com/office/drawing/2014/main" id="{7E67AD8B-F567-BC87-CE65-65469065A44B}"/>
                </a:ext>
              </a:extLst>
            </p:cNvPr>
            <p:cNvSpPr/>
            <p:nvPr/>
          </p:nvSpPr>
          <p:spPr>
            <a:xfrm rot="5400000">
              <a:off x="714160" y="5255415"/>
              <a:ext cx="261611" cy="105326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3" name="Rectangle: Rounded Corners 73">
              <a:extLst>
                <a:ext uri="{FF2B5EF4-FFF2-40B4-BE49-F238E27FC236}">
                  <a16:creationId xmlns:a16="http://schemas.microsoft.com/office/drawing/2014/main" id="{7E67AD8B-F567-BC87-CE65-65469065A44B}"/>
                </a:ext>
              </a:extLst>
            </p:cNvPr>
            <p:cNvSpPr/>
            <p:nvPr/>
          </p:nvSpPr>
          <p:spPr>
            <a:xfrm rot="5400000">
              <a:off x="566523" y="5739731"/>
              <a:ext cx="261611" cy="757993"/>
            </a:xfrm>
            <a:prstGeom prst="round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237B780-B0FB-CDF5-1303-14A8A41890C0}"/>
                </a:ext>
              </a:extLst>
            </p:cNvPr>
            <p:cNvSpPr txBox="1"/>
            <p:nvPr/>
          </p:nvSpPr>
          <p:spPr>
            <a:xfrm>
              <a:off x="271800" y="5323817"/>
              <a:ext cx="8045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New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237B780-B0FB-CDF5-1303-14A8A41890C0}"/>
                </a:ext>
              </a:extLst>
            </p:cNvPr>
            <p:cNvSpPr txBox="1"/>
            <p:nvPr/>
          </p:nvSpPr>
          <p:spPr>
            <a:xfrm>
              <a:off x="271799" y="5634257"/>
              <a:ext cx="8045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Repeat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237B780-B0FB-CDF5-1303-14A8A41890C0}"/>
                </a:ext>
              </a:extLst>
            </p:cNvPr>
            <p:cNvSpPr txBox="1"/>
            <p:nvPr/>
          </p:nvSpPr>
          <p:spPr>
            <a:xfrm>
              <a:off x="252672" y="5987921"/>
              <a:ext cx="8045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React</a:t>
              </a:r>
            </a:p>
          </p:txBody>
        </p:sp>
      </p:grpSp>
      <p:sp>
        <p:nvSpPr>
          <p:cNvPr id="204" name="Google Shape;349;g2402a97e5b8_0_2861"/>
          <p:cNvSpPr txBox="1"/>
          <p:nvPr/>
        </p:nvSpPr>
        <p:spPr>
          <a:xfrm>
            <a:off x="96097" y="3073122"/>
            <a:ext cx="1615071" cy="129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Classes based on customers transaction &amp; app activity</a:t>
            </a:r>
          </a:p>
          <a:p>
            <a:endParaRPr lang="en-IN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IN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customer segments based on their app behaviour</a:t>
            </a:r>
          </a:p>
        </p:txBody>
      </p:sp>
      <p:sp>
        <p:nvSpPr>
          <p:cNvPr id="207" name="Google Shape;349;g2402a97e5b8_0_2861"/>
          <p:cNvSpPr txBox="1"/>
          <p:nvPr/>
        </p:nvSpPr>
        <p:spPr>
          <a:xfrm>
            <a:off x="6411429" y="3094552"/>
            <a:ext cx="1480512" cy="18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Subsequent drop in transactions with respect to GMV and Counts.</a:t>
            </a:r>
            <a:b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b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This makes a </a:t>
            </a:r>
            <a:r>
              <a:rPr lang="en-US" sz="1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3X3</a:t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grid of GMV and Trans Count.</a:t>
            </a:r>
            <a:endParaRPr sz="10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209" name="Google Shape;349;g2402a97e5b8_0_2861"/>
          <p:cNvSpPr txBox="1"/>
          <p:nvPr/>
        </p:nvSpPr>
        <p:spPr>
          <a:xfrm>
            <a:off x="10427456" y="3106098"/>
            <a:ext cx="1480512" cy="2773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Remaining MAU customers are considered as good customers.</a:t>
            </a:r>
          </a:p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They have </a:t>
            </a:r>
            <a:r>
              <a:rPr lang="en-US" sz="1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&gt; 0 %</a:t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GMV &amp; Trans growth along with </a:t>
            </a:r>
            <a:r>
              <a:rPr lang="en-US" sz="1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&gt;-25%</a:t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app activity</a:t>
            </a:r>
          </a:p>
          <a:p>
            <a:pPr marL="228600" indent="-228600"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  <a:buFont typeface="+mj-lt"/>
              <a:buAutoNum type="arabicPeriod"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graphicFrame>
        <p:nvGraphicFramePr>
          <p:cNvPr id="210" name="Table 209"/>
          <p:cNvGraphicFramePr>
            <a:graphicFrameLocks noGrp="1"/>
          </p:cNvGraphicFramePr>
          <p:nvPr/>
        </p:nvGraphicFramePr>
        <p:xfrm>
          <a:off x="6615140" y="4769515"/>
          <a:ext cx="1028700" cy="84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50476864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99585528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490555099"/>
                    </a:ext>
                  </a:extLst>
                </a:gridCol>
              </a:tblGrid>
              <a:tr h="282751">
                <a:tc>
                  <a:txBody>
                    <a:bodyPr/>
                    <a:lstStyle/>
                    <a:p>
                      <a:pPr algn="ctr"/>
                      <a:r>
                        <a:rPr lang="en-IN" sz="700" b="1" dirty="0">
                          <a:solidFill>
                            <a:schemeClr val="bg1"/>
                          </a:solidFill>
                        </a:rPr>
                        <a:t>H-H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b="1" dirty="0">
                          <a:solidFill>
                            <a:schemeClr val="bg1"/>
                          </a:solidFill>
                        </a:rPr>
                        <a:t>H-M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27590"/>
                  </a:ext>
                </a:extLst>
              </a:tr>
              <a:tr h="282751">
                <a:tc>
                  <a:txBody>
                    <a:bodyPr/>
                    <a:lstStyle/>
                    <a:p>
                      <a:pPr algn="ctr"/>
                      <a:r>
                        <a:rPr lang="en-IN" sz="700" b="1" dirty="0">
                          <a:solidFill>
                            <a:schemeClr val="bg1"/>
                          </a:solidFill>
                        </a:rPr>
                        <a:t>M-H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057606"/>
                  </a:ext>
                </a:extLst>
              </a:tr>
              <a:tr h="232241"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717303"/>
                  </a:ext>
                </a:extLst>
              </a:tr>
            </a:tbl>
          </a:graphicData>
        </a:graphic>
      </p:graphicFrame>
      <p:sp>
        <p:nvSpPr>
          <p:cNvPr id="216" name="Google Shape;349;g2402a97e5b8_0_2861"/>
          <p:cNvSpPr txBox="1"/>
          <p:nvPr/>
        </p:nvSpPr>
        <p:spPr>
          <a:xfrm>
            <a:off x="8402183" y="3087711"/>
            <a:ext cx="1480512" cy="18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  <a:buClr>
                <a:srgbClr val="000000"/>
              </a:buClr>
              <a:buSzPts val="10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Subsequent drop in transactions with respect to app opens and clicks</a:t>
            </a:r>
            <a:b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b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This makes a </a:t>
            </a:r>
            <a:r>
              <a:rPr lang="en-US" sz="1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3X3</a:t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grid of open and Clicks.</a:t>
            </a:r>
            <a:endParaRPr sz="10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8599050" y="4756337"/>
          <a:ext cx="1045524" cy="85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508">
                  <a:extLst>
                    <a:ext uri="{9D8B030D-6E8A-4147-A177-3AD203B41FA5}">
                      <a16:colId xmlns:a16="http://schemas.microsoft.com/office/drawing/2014/main" val="2504768640"/>
                    </a:ext>
                  </a:extLst>
                </a:gridCol>
                <a:gridCol w="348508">
                  <a:extLst>
                    <a:ext uri="{9D8B030D-6E8A-4147-A177-3AD203B41FA5}">
                      <a16:colId xmlns:a16="http://schemas.microsoft.com/office/drawing/2014/main" val="2995855288"/>
                    </a:ext>
                  </a:extLst>
                </a:gridCol>
                <a:gridCol w="348508">
                  <a:extLst>
                    <a:ext uri="{9D8B030D-6E8A-4147-A177-3AD203B41FA5}">
                      <a16:colId xmlns:a16="http://schemas.microsoft.com/office/drawing/2014/main" val="3490555099"/>
                    </a:ext>
                  </a:extLst>
                </a:gridCol>
              </a:tblGrid>
              <a:tr h="284208">
                <a:tc>
                  <a:txBody>
                    <a:bodyPr/>
                    <a:lstStyle/>
                    <a:p>
                      <a:pPr algn="ctr"/>
                      <a:r>
                        <a:rPr lang="en-IN" sz="700" b="1" dirty="0">
                          <a:solidFill>
                            <a:schemeClr val="bg1"/>
                          </a:solidFill>
                        </a:rPr>
                        <a:t>H-H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27590"/>
                  </a:ext>
                </a:extLst>
              </a:tr>
              <a:tr h="284208"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057606"/>
                  </a:ext>
                </a:extLst>
              </a:tr>
              <a:tr h="284208">
                <a:tc>
                  <a:txBody>
                    <a:bodyPr/>
                    <a:lstStyle/>
                    <a:p>
                      <a:pPr algn="ctr"/>
                      <a:endParaRPr lang="en-IN" sz="7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7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717303"/>
                  </a:ext>
                </a:extLst>
              </a:tr>
            </a:tbl>
          </a:graphicData>
        </a:graphic>
      </p:graphicFrame>
      <p:sp>
        <p:nvSpPr>
          <p:cNvPr id="218" name="Google Shape;330;g2402a97e5b8_0_2861"/>
          <p:cNvSpPr txBox="1"/>
          <p:nvPr/>
        </p:nvSpPr>
        <p:spPr>
          <a:xfrm>
            <a:off x="811850" y="5310724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11.3 Mn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20" name="Google Shape;330;g2402a97e5b8_0_2861"/>
          <p:cNvSpPr txBox="1"/>
          <p:nvPr/>
        </p:nvSpPr>
        <p:spPr>
          <a:xfrm>
            <a:off x="1045492" y="4969185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53.5 Mn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22" name="Google Shape;330;g2402a97e5b8_0_2861"/>
          <p:cNvSpPr txBox="1"/>
          <p:nvPr/>
        </p:nvSpPr>
        <p:spPr>
          <a:xfrm>
            <a:off x="487218" y="4637294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7.1 Mn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4" name="Google Shape;330;g2402a97e5b8_0_2861">
            <a:extLst>
              <a:ext uri="{FF2B5EF4-FFF2-40B4-BE49-F238E27FC236}">
                <a16:creationId xmlns:a16="http://schemas.microsoft.com/office/drawing/2014/main" id="{C907E44A-A235-0BCD-C0E8-3BC09BC56531}"/>
              </a:ext>
            </a:extLst>
          </p:cNvPr>
          <p:cNvSpPr txBox="1"/>
          <p:nvPr/>
        </p:nvSpPr>
        <p:spPr>
          <a:xfrm>
            <a:off x="2644979" y="1046779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6.8 Mn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5" name="Google Shape;330;g2402a97e5b8_0_2861">
            <a:extLst>
              <a:ext uri="{FF2B5EF4-FFF2-40B4-BE49-F238E27FC236}">
                <a16:creationId xmlns:a16="http://schemas.microsoft.com/office/drawing/2014/main" id="{9388F75D-C0A0-5221-5DB7-7B481830322F}"/>
              </a:ext>
            </a:extLst>
          </p:cNvPr>
          <p:cNvSpPr txBox="1"/>
          <p:nvPr/>
        </p:nvSpPr>
        <p:spPr>
          <a:xfrm>
            <a:off x="4750216" y="1056204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7.5  Mn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6" name="Google Shape;330;g2402a97e5b8_0_2861">
            <a:extLst>
              <a:ext uri="{FF2B5EF4-FFF2-40B4-BE49-F238E27FC236}">
                <a16:creationId xmlns:a16="http://schemas.microsoft.com/office/drawing/2014/main" id="{0C88515E-2250-7A5C-0D2A-BF1F0C922590}"/>
              </a:ext>
            </a:extLst>
          </p:cNvPr>
          <p:cNvSpPr txBox="1"/>
          <p:nvPr/>
        </p:nvSpPr>
        <p:spPr>
          <a:xfrm>
            <a:off x="6691577" y="1110925"/>
            <a:ext cx="919846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15.9  Mn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7" name="Google Shape;330;g2402a97e5b8_0_2861">
            <a:extLst>
              <a:ext uri="{FF2B5EF4-FFF2-40B4-BE49-F238E27FC236}">
                <a16:creationId xmlns:a16="http://schemas.microsoft.com/office/drawing/2014/main" id="{38CE8597-E1AE-CFD9-C329-248CF5D29511}"/>
              </a:ext>
            </a:extLst>
          </p:cNvPr>
          <p:cNvSpPr txBox="1"/>
          <p:nvPr/>
        </p:nvSpPr>
        <p:spPr>
          <a:xfrm>
            <a:off x="8711879" y="1102993"/>
            <a:ext cx="919846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2.0  Mn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8" name="Google Shape;330;g2402a97e5b8_0_2861">
            <a:extLst>
              <a:ext uri="{FF2B5EF4-FFF2-40B4-BE49-F238E27FC236}">
                <a16:creationId xmlns:a16="http://schemas.microsoft.com/office/drawing/2014/main" id="{16849882-DFE4-18D9-8FA0-5FEF1650D214}"/>
              </a:ext>
            </a:extLst>
          </p:cNvPr>
          <p:cNvSpPr txBox="1"/>
          <p:nvPr/>
        </p:nvSpPr>
        <p:spPr>
          <a:xfrm>
            <a:off x="10680606" y="1094586"/>
            <a:ext cx="919846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39.4  Mn</a:t>
            </a:r>
            <a:endParaRPr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9" name="Google Shape;349;g2402a97e5b8_0_2861">
            <a:extLst>
              <a:ext uri="{FF2B5EF4-FFF2-40B4-BE49-F238E27FC236}">
                <a16:creationId xmlns:a16="http://schemas.microsoft.com/office/drawing/2014/main" id="{BF382DFB-CF06-5A7A-DBFD-5B7C9E2D159D}"/>
              </a:ext>
            </a:extLst>
          </p:cNvPr>
          <p:cNvSpPr txBox="1"/>
          <p:nvPr/>
        </p:nvSpPr>
        <p:spPr>
          <a:xfrm>
            <a:off x="2203522" y="3081546"/>
            <a:ext cx="1662647" cy="129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 who have not transacted and don’t have any app activity in the performance month are selected in this class</a:t>
            </a:r>
          </a:p>
          <a:p>
            <a:endParaRPr lang="en-IN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class has been given the highest priority because of no activity in both domains</a:t>
            </a:r>
          </a:p>
          <a:p>
            <a:endParaRPr lang="en-IN" sz="1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class has reduced by </a:t>
            </a:r>
            <a:r>
              <a:rPr lang="en-IN" sz="1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~1.5% since</a:t>
            </a:r>
          </a:p>
        </p:txBody>
      </p:sp>
      <p:sp>
        <p:nvSpPr>
          <p:cNvPr id="10" name="Google Shape;349;g2402a97e5b8_0_2861">
            <a:extLst>
              <a:ext uri="{FF2B5EF4-FFF2-40B4-BE49-F238E27FC236}">
                <a16:creationId xmlns:a16="http://schemas.microsoft.com/office/drawing/2014/main" id="{4BFE5BD5-682F-579D-6E74-A4548324AEEB}"/>
              </a:ext>
            </a:extLst>
          </p:cNvPr>
          <p:cNvSpPr txBox="1"/>
          <p:nvPr/>
        </p:nvSpPr>
        <p:spPr>
          <a:xfrm>
            <a:off x="4282749" y="3063297"/>
            <a:ext cx="1615071" cy="129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 who have not transacted and but have certain app activity in the performance month are selected in this class</a:t>
            </a:r>
          </a:p>
          <a:p>
            <a:endParaRPr lang="en-IN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IN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class has been given the second highest priority because of no transactions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5056A-FBAA-7E78-9727-21631E08F0BC}"/>
              </a:ext>
            </a:extLst>
          </p:cNvPr>
          <p:cNvSpPr txBox="1"/>
          <p:nvPr/>
        </p:nvSpPr>
        <p:spPr>
          <a:xfrm>
            <a:off x="6569844" y="5608961"/>
            <a:ext cx="140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&lt;= 0%</a:t>
            </a:r>
          </a:p>
          <a:p>
            <a:r>
              <a:rPr lang="en-US" sz="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Growth is selected for D2</a:t>
            </a:r>
            <a:endParaRPr lang="en-IN" sz="7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6AC8BF-C53E-0155-418E-61D9750A8540}"/>
              </a:ext>
            </a:extLst>
          </p:cNvPr>
          <p:cNvSpPr txBox="1"/>
          <p:nvPr/>
        </p:nvSpPr>
        <p:spPr>
          <a:xfrm>
            <a:off x="8457230" y="5611355"/>
            <a:ext cx="140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&lt;= -25%</a:t>
            </a:r>
          </a:p>
          <a:p>
            <a:r>
              <a:rPr lang="en-US" sz="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Growth is selected for D1</a:t>
            </a:r>
            <a:endParaRPr lang="en-IN" sz="7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Google Shape;330;g2402a97e5b8_0_2861">
            <a:extLst>
              <a:ext uri="{FF2B5EF4-FFF2-40B4-BE49-F238E27FC236}">
                <a16:creationId xmlns:a16="http://schemas.microsoft.com/office/drawing/2014/main" id="{38A35CFC-8DC2-E841-4B37-A25F5F006F19}"/>
              </a:ext>
            </a:extLst>
          </p:cNvPr>
          <p:cNvSpPr txBox="1"/>
          <p:nvPr/>
        </p:nvSpPr>
        <p:spPr>
          <a:xfrm rot="16200000">
            <a:off x="6103303" y="5018554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GMV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4" name="Google Shape;330;g2402a97e5b8_0_2861">
            <a:extLst>
              <a:ext uri="{FF2B5EF4-FFF2-40B4-BE49-F238E27FC236}">
                <a16:creationId xmlns:a16="http://schemas.microsoft.com/office/drawing/2014/main" id="{3246940C-4179-FAD2-CBB4-1DEBB7C1276F}"/>
              </a:ext>
            </a:extLst>
          </p:cNvPr>
          <p:cNvSpPr txBox="1"/>
          <p:nvPr/>
        </p:nvSpPr>
        <p:spPr>
          <a:xfrm>
            <a:off x="6719375" y="4453800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Trans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5" name="Google Shape;330;g2402a97e5b8_0_2861">
            <a:extLst>
              <a:ext uri="{FF2B5EF4-FFF2-40B4-BE49-F238E27FC236}">
                <a16:creationId xmlns:a16="http://schemas.microsoft.com/office/drawing/2014/main" id="{C1A917BF-AAF0-C962-394C-092397257EB7}"/>
              </a:ext>
            </a:extLst>
          </p:cNvPr>
          <p:cNvSpPr txBox="1"/>
          <p:nvPr/>
        </p:nvSpPr>
        <p:spPr>
          <a:xfrm>
            <a:off x="8720981" y="4460508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Clicks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6" name="Google Shape;330;g2402a97e5b8_0_2861">
            <a:extLst>
              <a:ext uri="{FF2B5EF4-FFF2-40B4-BE49-F238E27FC236}">
                <a16:creationId xmlns:a16="http://schemas.microsoft.com/office/drawing/2014/main" id="{18916CC3-0861-01D4-50A8-822ECF511A0F}"/>
              </a:ext>
            </a:extLst>
          </p:cNvPr>
          <p:cNvSpPr txBox="1"/>
          <p:nvPr/>
        </p:nvSpPr>
        <p:spPr>
          <a:xfrm rot="16200000">
            <a:off x="8103912" y="5023713"/>
            <a:ext cx="792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Opens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F5416B-A6B9-657C-93C0-AA6E3FADBEF5}"/>
              </a:ext>
            </a:extLst>
          </p:cNvPr>
          <p:cNvSpPr/>
          <p:nvPr/>
        </p:nvSpPr>
        <p:spPr>
          <a:xfrm>
            <a:off x="10561510" y="5257384"/>
            <a:ext cx="216000" cy="65397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4941DC-586D-FB4D-4962-51166F684753}"/>
              </a:ext>
            </a:extLst>
          </p:cNvPr>
          <p:cNvSpPr/>
          <p:nvPr/>
        </p:nvSpPr>
        <p:spPr>
          <a:xfrm>
            <a:off x="10884152" y="5170113"/>
            <a:ext cx="216000" cy="7434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1332C0-20CD-A995-C642-92A9FD1BFBE9}"/>
              </a:ext>
            </a:extLst>
          </p:cNvPr>
          <p:cNvSpPr/>
          <p:nvPr/>
        </p:nvSpPr>
        <p:spPr>
          <a:xfrm>
            <a:off x="11233570" y="5158399"/>
            <a:ext cx="216000" cy="75296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F9E9B3-00E9-9343-B508-EC70F259D7C9}"/>
              </a:ext>
            </a:extLst>
          </p:cNvPr>
          <p:cNvSpPr/>
          <p:nvPr/>
        </p:nvSpPr>
        <p:spPr>
          <a:xfrm>
            <a:off x="11551963" y="4988447"/>
            <a:ext cx="216000" cy="92291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Google Shape;330;g2402a97e5b8_0_2861">
            <a:extLst>
              <a:ext uri="{FF2B5EF4-FFF2-40B4-BE49-F238E27FC236}">
                <a16:creationId xmlns:a16="http://schemas.microsoft.com/office/drawing/2014/main" id="{1499F7F9-4D55-181F-6DCE-B36CDA38B2A1}"/>
              </a:ext>
            </a:extLst>
          </p:cNvPr>
          <p:cNvSpPr txBox="1"/>
          <p:nvPr/>
        </p:nvSpPr>
        <p:spPr>
          <a:xfrm>
            <a:off x="10414354" y="5044945"/>
            <a:ext cx="534839" cy="18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53.5%</a:t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5" name="Google Shape;330;g2402a97e5b8_0_2861">
            <a:extLst>
              <a:ext uri="{FF2B5EF4-FFF2-40B4-BE49-F238E27FC236}">
                <a16:creationId xmlns:a16="http://schemas.microsoft.com/office/drawing/2014/main" id="{B438D8EF-089D-F0FB-CC53-612CF3D03DCC}"/>
              </a:ext>
            </a:extLst>
          </p:cNvPr>
          <p:cNvSpPr txBox="1"/>
          <p:nvPr/>
        </p:nvSpPr>
        <p:spPr>
          <a:xfrm>
            <a:off x="10739287" y="4949424"/>
            <a:ext cx="534839" cy="16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54.5%</a:t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6" name="Google Shape;330;g2402a97e5b8_0_2861">
            <a:extLst>
              <a:ext uri="{FF2B5EF4-FFF2-40B4-BE49-F238E27FC236}">
                <a16:creationId xmlns:a16="http://schemas.microsoft.com/office/drawing/2014/main" id="{BF0C62FD-67A4-849D-D566-BCB31BDC7B14}"/>
              </a:ext>
            </a:extLst>
          </p:cNvPr>
          <p:cNvSpPr txBox="1"/>
          <p:nvPr/>
        </p:nvSpPr>
        <p:spPr>
          <a:xfrm>
            <a:off x="11088427" y="4958881"/>
            <a:ext cx="534839" cy="16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54.9%</a:t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7" name="Google Shape;330;g2402a97e5b8_0_2861">
            <a:extLst>
              <a:ext uri="{FF2B5EF4-FFF2-40B4-BE49-F238E27FC236}">
                <a16:creationId xmlns:a16="http://schemas.microsoft.com/office/drawing/2014/main" id="{89DFC65C-6847-247D-B94E-7DB992456921}"/>
              </a:ext>
            </a:extLst>
          </p:cNvPr>
          <p:cNvSpPr txBox="1"/>
          <p:nvPr/>
        </p:nvSpPr>
        <p:spPr>
          <a:xfrm>
            <a:off x="11395989" y="4759593"/>
            <a:ext cx="534839" cy="16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58.4%</a:t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8" name="Google Shape;330;g2402a97e5b8_0_2861">
            <a:extLst>
              <a:ext uri="{FF2B5EF4-FFF2-40B4-BE49-F238E27FC236}">
                <a16:creationId xmlns:a16="http://schemas.microsoft.com/office/drawing/2014/main" id="{CDCA2EB2-82C6-6B89-C5A0-6EC2677CB0AF}"/>
              </a:ext>
            </a:extLst>
          </p:cNvPr>
          <p:cNvSpPr txBox="1"/>
          <p:nvPr/>
        </p:nvSpPr>
        <p:spPr>
          <a:xfrm>
            <a:off x="10355239" y="5909858"/>
            <a:ext cx="632031" cy="18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/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0" name="Google Shape;330;g2402a97e5b8_0_2861">
            <a:extLst>
              <a:ext uri="{FF2B5EF4-FFF2-40B4-BE49-F238E27FC236}">
                <a16:creationId xmlns:a16="http://schemas.microsoft.com/office/drawing/2014/main" id="{E736640A-5A8F-95BF-0F1D-B9E0733F8F21}"/>
              </a:ext>
            </a:extLst>
          </p:cNvPr>
          <p:cNvSpPr txBox="1"/>
          <p:nvPr/>
        </p:nvSpPr>
        <p:spPr>
          <a:xfrm>
            <a:off x="10689887" y="5911880"/>
            <a:ext cx="632031" cy="18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/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1" name="Google Shape;330;g2402a97e5b8_0_2861">
            <a:extLst>
              <a:ext uri="{FF2B5EF4-FFF2-40B4-BE49-F238E27FC236}">
                <a16:creationId xmlns:a16="http://schemas.microsoft.com/office/drawing/2014/main" id="{EFEB2CFB-F74C-8568-BC27-4C4E06AF177B}"/>
              </a:ext>
            </a:extLst>
          </p:cNvPr>
          <p:cNvSpPr txBox="1"/>
          <p:nvPr/>
        </p:nvSpPr>
        <p:spPr>
          <a:xfrm>
            <a:off x="11032480" y="5904551"/>
            <a:ext cx="632031" cy="18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/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2" name="Google Shape;330;g2402a97e5b8_0_2861">
            <a:extLst>
              <a:ext uri="{FF2B5EF4-FFF2-40B4-BE49-F238E27FC236}">
                <a16:creationId xmlns:a16="http://schemas.microsoft.com/office/drawing/2014/main" id="{12C23250-DAE2-CBC3-D12D-36AB80903E9C}"/>
              </a:ext>
            </a:extLst>
          </p:cNvPr>
          <p:cNvSpPr txBox="1"/>
          <p:nvPr/>
        </p:nvSpPr>
        <p:spPr>
          <a:xfrm>
            <a:off x="11367128" y="5904551"/>
            <a:ext cx="632031" cy="18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7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/>
            </a:r>
            <a:endParaRPr sz="11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887D66-CFA8-EBFB-1A48-12028EEA06C2}"/>
              </a:ext>
            </a:extLst>
          </p:cNvPr>
          <p:cNvSpPr txBox="1"/>
          <p:nvPr/>
        </p:nvSpPr>
        <p:spPr>
          <a:xfrm>
            <a:off x="4252521" y="5271253"/>
            <a:ext cx="16856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~0.7% </a:t>
            </a:r>
            <a: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the increment in this segment in last </a:t>
            </a:r>
            <a:r>
              <a:rPr lang="en-IN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 months</a:t>
            </a:r>
          </a:p>
        </p:txBody>
      </p:sp>
      <p:pic>
        <p:nvPicPr>
          <p:cNvPr id="39" name="Graphic 38" descr="Users outline">
            <a:extLst>
              <a:ext uri="{FF2B5EF4-FFF2-40B4-BE49-F238E27FC236}">
                <a16:creationId xmlns:a16="http://schemas.microsoft.com/office/drawing/2014/main" id="{1F61F18A-A930-D915-CB7D-314B062309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" y="1710723"/>
            <a:ext cx="646416" cy="646416"/>
          </a:xfrm>
          <a:prstGeom prst="rect">
            <a:avLst/>
          </a:prstGeom>
        </p:spPr>
      </p:pic>
      <p:sp>
        <p:nvSpPr>
          <p:cNvPr id="40" name="Google Shape;330;g2402a97e5b8_0_2861">
            <a:extLst>
              <a:ext uri="{FF2B5EF4-FFF2-40B4-BE49-F238E27FC236}">
                <a16:creationId xmlns:a16="http://schemas.microsoft.com/office/drawing/2014/main" id="{7471EE8D-F475-4F6E-FAC9-CEE77F280E0F}"/>
              </a:ext>
            </a:extLst>
          </p:cNvPr>
          <p:cNvSpPr txBox="1"/>
          <p:nvPr/>
        </p:nvSpPr>
        <p:spPr>
          <a:xfrm>
            <a:off x="10328193" y="6043006"/>
            <a:ext cx="1624671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% Good customer trend in last 4 months</a:t>
            </a:r>
            <a:endParaRPr sz="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7" name="Google Shape;330;g2402a97e5b8_0_2861">
            <a:extLst>
              <a:ext uri="{FF2B5EF4-FFF2-40B4-BE49-F238E27FC236}">
                <a16:creationId xmlns:a16="http://schemas.microsoft.com/office/drawing/2014/main" id="{777B193A-78FD-9366-03F2-B360E8E9E997}"/>
              </a:ext>
            </a:extLst>
          </p:cNvPr>
          <p:cNvSpPr txBox="1"/>
          <p:nvPr/>
        </p:nvSpPr>
        <p:spPr>
          <a:xfrm>
            <a:off x="0" y="5584689"/>
            <a:ext cx="705532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Aft>
                <a:spcPts val="2133"/>
              </a:spcAft>
              <a:buClr>
                <a:srgbClr val="000000"/>
              </a:buClr>
              <a:buSzPts val="800"/>
            </a:pP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(MAU)</a:t>
            </a:r>
            <a:endParaRPr sz="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28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E43288-EA7D-ED64-EFDA-1F243BAE373E}"/>
              </a:ext>
            </a:extLst>
          </p:cNvPr>
          <p:cNvSpPr/>
          <p:nvPr/>
        </p:nvSpPr>
        <p:spPr>
          <a:xfrm>
            <a:off x="10876949" y="3411738"/>
            <a:ext cx="1233862" cy="8192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9C56CD6-A9B0-D2F6-5A67-5445625A1F25}"/>
              </a:ext>
            </a:extLst>
          </p:cNvPr>
          <p:cNvSpPr/>
          <p:nvPr/>
        </p:nvSpPr>
        <p:spPr>
          <a:xfrm rot="5400000">
            <a:off x="8079394" y="-1702986"/>
            <a:ext cx="1233862" cy="68199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296D5C6-753C-48D0-D944-0D524A1C3996}"/>
              </a:ext>
            </a:extLst>
          </p:cNvPr>
          <p:cNvSpPr/>
          <p:nvPr/>
        </p:nvSpPr>
        <p:spPr>
          <a:xfrm>
            <a:off x="6713428" y="2346171"/>
            <a:ext cx="4242237" cy="414646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31CB7-CA40-C33B-4B21-B9FDA64AE658}"/>
              </a:ext>
            </a:extLst>
          </p:cNvPr>
          <p:cNvCxnSpPr>
            <a:cxnSpLocks/>
          </p:cNvCxnSpPr>
          <p:nvPr/>
        </p:nvCxnSpPr>
        <p:spPr>
          <a:xfrm>
            <a:off x="0" y="977072"/>
            <a:ext cx="12240000" cy="18000"/>
          </a:xfrm>
          <a:prstGeom prst="line">
            <a:avLst/>
          </a:prstGeom>
          <a:ln w="38100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65996" y="330982"/>
            <a:ext cx="45336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Customer </a:t>
            </a:r>
            <a:r>
              <a:rPr lang="en-IN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Segmentation</a:t>
            </a:r>
            <a:endParaRPr lang="en-IN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81625" y="1154344"/>
            <a:ext cx="663859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Open Sans" panose="020B0606030504020204"/>
              </a:rPr>
              <a:t>Determine homogeneous groups (segments) showing similar customer profile within the group, and distinctly different event rate across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Open Sans" panose="020B0606030504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Open Sans" panose="020B0606030504020204"/>
              </a:rPr>
              <a:t>The multiple segmented models work simultaneously on the respective sub-populations and predict more accurately than a single model.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3EB3D84-7089-C73E-6DA6-9FA23998D65A}"/>
              </a:ext>
            </a:extLst>
          </p:cNvPr>
          <p:cNvSpPr/>
          <p:nvPr/>
        </p:nvSpPr>
        <p:spPr>
          <a:xfrm flipH="1">
            <a:off x="3225906" y="995072"/>
            <a:ext cx="60371" cy="3550408"/>
          </a:xfrm>
          <a:custGeom>
            <a:avLst/>
            <a:gdLst>
              <a:gd name="connsiteX0" fmla="*/ 0 w 0"/>
              <a:gd name="connsiteY0" fmla="*/ 0 h 2006600"/>
              <a:gd name="connsiteX1" fmla="*/ 0 w 0"/>
              <a:gd name="connsiteY1" fmla="*/ 2006600 h 20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006600">
                <a:moveTo>
                  <a:pt x="0" y="0"/>
                </a:moveTo>
                <a:lnTo>
                  <a:pt x="0" y="2006600"/>
                </a:lnTo>
              </a:path>
            </a:pathLst>
          </a:cu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DFB259-B0A7-A65F-B5AF-B37C93B485F5}"/>
              </a:ext>
            </a:extLst>
          </p:cNvPr>
          <p:cNvGrpSpPr/>
          <p:nvPr/>
        </p:nvGrpSpPr>
        <p:grpSpPr>
          <a:xfrm>
            <a:off x="2481252" y="4281587"/>
            <a:ext cx="1573233" cy="1562100"/>
            <a:chOff x="7721867" y="3058303"/>
            <a:chExt cx="1573233" cy="15621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2D1B992-5E5D-E113-ADEA-DEB72A82504C}"/>
                </a:ext>
              </a:extLst>
            </p:cNvPr>
            <p:cNvGrpSpPr/>
            <p:nvPr/>
          </p:nvGrpSpPr>
          <p:grpSpPr>
            <a:xfrm>
              <a:off x="7721867" y="3058303"/>
              <a:ext cx="1562100" cy="1562100"/>
              <a:chOff x="2135505" y="1438275"/>
              <a:chExt cx="1562100" cy="15621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EBC4D4C-C53F-050A-DFB5-8306DDF1C0AB}"/>
                  </a:ext>
                </a:extLst>
              </p:cNvPr>
              <p:cNvGrpSpPr/>
              <p:nvPr/>
            </p:nvGrpSpPr>
            <p:grpSpPr>
              <a:xfrm>
                <a:off x="2135505" y="1438275"/>
                <a:ext cx="1562100" cy="1562100"/>
                <a:chOff x="2228850" y="2019300"/>
                <a:chExt cx="1562100" cy="1562100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6EFBCC91-9DB4-A47B-A2DA-7F1139D2A483}"/>
                    </a:ext>
                  </a:extLst>
                </p:cNvPr>
                <p:cNvSpPr/>
                <p:nvPr/>
              </p:nvSpPr>
              <p:spPr>
                <a:xfrm>
                  <a:off x="2228850" y="2019300"/>
                  <a:ext cx="1562100" cy="1562100"/>
                </a:xfrm>
                <a:prstGeom prst="ellipse">
                  <a:avLst/>
                </a:prstGeom>
                <a:gradFill flip="none" rotWithShape="1">
                  <a:gsLst>
                    <a:gs pos="31000">
                      <a:srgbClr val="660033"/>
                    </a:gs>
                    <a:gs pos="100000">
                      <a:srgbClr val="FF0066">
                        <a:alpha val="0"/>
                      </a:srgbClr>
                    </a:gs>
                    <a:gs pos="66000">
                      <a:srgbClr val="FF0066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AE38C1D3-0269-F1E2-8DA8-46518B89E15E}"/>
                    </a:ext>
                  </a:extLst>
                </p:cNvPr>
                <p:cNvSpPr/>
                <p:nvPr/>
              </p:nvSpPr>
              <p:spPr>
                <a:xfrm>
                  <a:off x="2228850" y="2019300"/>
                  <a:ext cx="1378536" cy="1450004"/>
                </a:xfrm>
                <a:custGeom>
                  <a:avLst/>
                  <a:gdLst>
                    <a:gd name="connsiteX0" fmla="*/ 781050 w 1378536"/>
                    <a:gd name="connsiteY0" fmla="*/ 0 h 1450004"/>
                    <a:gd name="connsiteX1" fmla="*/ 1333336 w 1378536"/>
                    <a:gd name="connsiteY1" fmla="*/ 228764 h 1450004"/>
                    <a:gd name="connsiteX2" fmla="*/ 1378536 w 1378536"/>
                    <a:gd name="connsiteY2" fmla="*/ 283547 h 1450004"/>
                    <a:gd name="connsiteX3" fmla="*/ 1285095 w 1378536"/>
                    <a:gd name="connsiteY3" fmla="*/ 232829 h 1450004"/>
                    <a:gd name="connsiteX4" fmla="*/ 981075 w 1378536"/>
                    <a:gd name="connsiteY4" fmla="*/ 171450 h 1450004"/>
                    <a:gd name="connsiteX5" fmla="*/ 200025 w 1378536"/>
                    <a:gd name="connsiteY5" fmla="*/ 952500 h 1450004"/>
                    <a:gd name="connsiteX6" fmla="*/ 333416 w 1378536"/>
                    <a:gd name="connsiteY6" fmla="*/ 1389193 h 1450004"/>
                    <a:gd name="connsiteX7" fmla="*/ 383590 w 1378536"/>
                    <a:gd name="connsiteY7" fmla="*/ 1450004 h 1450004"/>
                    <a:gd name="connsiteX8" fmla="*/ 344358 w 1378536"/>
                    <a:gd name="connsiteY8" fmla="*/ 1428709 h 1450004"/>
                    <a:gd name="connsiteX9" fmla="*/ 0 w 1378536"/>
                    <a:gd name="connsiteY9" fmla="*/ 781050 h 1450004"/>
                    <a:gd name="connsiteX10" fmla="*/ 781050 w 1378536"/>
                    <a:gd name="connsiteY10" fmla="*/ 0 h 1450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8536" h="1450004">
                      <a:moveTo>
                        <a:pt x="781050" y="0"/>
                      </a:moveTo>
                      <a:cubicBezTo>
                        <a:pt x="996731" y="0"/>
                        <a:pt x="1191994" y="87422"/>
                        <a:pt x="1333336" y="228764"/>
                      </a:cubicBezTo>
                      <a:lnTo>
                        <a:pt x="1378536" y="283547"/>
                      </a:lnTo>
                      <a:lnTo>
                        <a:pt x="1285095" y="232829"/>
                      </a:lnTo>
                      <a:cubicBezTo>
                        <a:pt x="1191652" y="193306"/>
                        <a:pt x="1088916" y="171450"/>
                        <a:pt x="981075" y="171450"/>
                      </a:cubicBezTo>
                      <a:cubicBezTo>
                        <a:pt x="549713" y="171450"/>
                        <a:pt x="200025" y="521138"/>
                        <a:pt x="200025" y="952500"/>
                      </a:cubicBezTo>
                      <a:cubicBezTo>
                        <a:pt x="200025" y="1114261"/>
                        <a:pt x="249200" y="1264536"/>
                        <a:pt x="333416" y="1389193"/>
                      </a:cubicBezTo>
                      <a:lnTo>
                        <a:pt x="383590" y="1450004"/>
                      </a:lnTo>
                      <a:lnTo>
                        <a:pt x="344358" y="1428709"/>
                      </a:lnTo>
                      <a:cubicBezTo>
                        <a:pt x="136597" y="1288349"/>
                        <a:pt x="0" y="1050652"/>
                        <a:pt x="0" y="781050"/>
                      </a:cubicBezTo>
                      <a:cubicBezTo>
                        <a:pt x="0" y="349688"/>
                        <a:pt x="349688" y="0"/>
                        <a:pt x="78105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47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E90D3F5-917F-02A4-03F7-08F868DF1F1E}"/>
                    </a:ext>
                  </a:extLst>
                </p:cNvPr>
                <p:cNvGrpSpPr/>
                <p:nvPr/>
              </p:nvGrpSpPr>
              <p:grpSpPr>
                <a:xfrm>
                  <a:off x="2271712" y="2712245"/>
                  <a:ext cx="123488" cy="128588"/>
                  <a:chOff x="2505075" y="3171825"/>
                  <a:chExt cx="245916" cy="256073"/>
                </a:xfrm>
              </p:grpSpPr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04311137-BFED-327C-7C90-7080001B96D9}"/>
                      </a:ext>
                    </a:extLst>
                  </p:cNvPr>
                  <p:cNvSpPr/>
                  <p:nvPr/>
                </p:nvSpPr>
                <p:spPr>
                  <a:xfrm>
                    <a:off x="2505075" y="3171825"/>
                    <a:ext cx="133350" cy="133350"/>
                  </a:xfrm>
                  <a:prstGeom prst="ellipse">
                    <a:avLst/>
                  </a:prstGeom>
                  <a:solidFill>
                    <a:schemeClr val="bg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0097BFEA-92A0-C4EA-8A2C-3C1A28BF063A}"/>
                      </a:ext>
                    </a:extLst>
                  </p:cNvPr>
                  <p:cNvSpPr/>
                  <p:nvPr/>
                </p:nvSpPr>
                <p:spPr>
                  <a:xfrm>
                    <a:off x="2617641" y="3294548"/>
                    <a:ext cx="133350" cy="133350"/>
                  </a:xfrm>
                  <a:prstGeom prst="ellipse">
                    <a:avLst/>
                  </a:prstGeom>
                  <a:solidFill>
                    <a:schemeClr val="bg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9A73BBD-3B9D-C0E7-5BEF-E490B1D69BC5}"/>
                    </a:ext>
                  </a:extLst>
                </p:cNvPr>
                <p:cNvSpPr/>
                <p:nvPr/>
              </p:nvSpPr>
              <p:spPr>
                <a:xfrm>
                  <a:off x="2228850" y="2019300"/>
                  <a:ext cx="1513001" cy="1502711"/>
                </a:xfrm>
                <a:custGeom>
                  <a:avLst/>
                  <a:gdLst>
                    <a:gd name="connsiteX0" fmla="*/ 781050 w 1513001"/>
                    <a:gd name="connsiteY0" fmla="*/ 0 h 1502711"/>
                    <a:gd name="connsiteX1" fmla="*/ 1500721 w 1513001"/>
                    <a:gd name="connsiteY1" fmla="*/ 477030 h 1502711"/>
                    <a:gd name="connsiteX2" fmla="*/ 1513001 w 1513001"/>
                    <a:gd name="connsiteY2" fmla="*/ 516590 h 1502711"/>
                    <a:gd name="connsiteX3" fmla="*/ 1372799 w 1513001"/>
                    <a:gd name="connsiteY3" fmla="*/ 473068 h 1502711"/>
                    <a:gd name="connsiteX4" fmla="*/ 1215390 w 1513001"/>
                    <a:gd name="connsiteY4" fmla="*/ 457200 h 1502711"/>
                    <a:gd name="connsiteX5" fmla="*/ 434340 w 1513001"/>
                    <a:gd name="connsiteY5" fmla="*/ 1238250 h 1502711"/>
                    <a:gd name="connsiteX6" fmla="*/ 450208 w 1513001"/>
                    <a:gd name="connsiteY6" fmla="*/ 1395659 h 1502711"/>
                    <a:gd name="connsiteX7" fmla="*/ 483439 w 1513001"/>
                    <a:gd name="connsiteY7" fmla="*/ 1502711 h 1502711"/>
                    <a:gd name="connsiteX8" fmla="*/ 477030 w 1513001"/>
                    <a:gd name="connsiteY8" fmla="*/ 1500721 h 1502711"/>
                    <a:gd name="connsiteX9" fmla="*/ 0 w 1513001"/>
                    <a:gd name="connsiteY9" fmla="*/ 781050 h 1502711"/>
                    <a:gd name="connsiteX10" fmla="*/ 781050 w 1513001"/>
                    <a:gd name="connsiteY10" fmla="*/ 0 h 1502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13001" h="1502711">
                      <a:moveTo>
                        <a:pt x="781050" y="0"/>
                      </a:moveTo>
                      <a:cubicBezTo>
                        <a:pt x="1104572" y="0"/>
                        <a:pt x="1382152" y="196700"/>
                        <a:pt x="1500721" y="477030"/>
                      </a:cubicBezTo>
                      <a:lnTo>
                        <a:pt x="1513001" y="516590"/>
                      </a:lnTo>
                      <a:lnTo>
                        <a:pt x="1372799" y="473068"/>
                      </a:lnTo>
                      <a:cubicBezTo>
                        <a:pt x="1321955" y="462664"/>
                        <a:pt x="1269310" y="457200"/>
                        <a:pt x="1215390" y="457200"/>
                      </a:cubicBezTo>
                      <a:cubicBezTo>
                        <a:pt x="784028" y="457200"/>
                        <a:pt x="434340" y="806888"/>
                        <a:pt x="434340" y="1238250"/>
                      </a:cubicBezTo>
                      <a:cubicBezTo>
                        <a:pt x="434340" y="1292170"/>
                        <a:pt x="439804" y="1344814"/>
                        <a:pt x="450208" y="1395659"/>
                      </a:cubicBezTo>
                      <a:lnTo>
                        <a:pt x="483439" y="1502711"/>
                      </a:lnTo>
                      <a:lnTo>
                        <a:pt x="477030" y="1500721"/>
                      </a:lnTo>
                      <a:cubicBezTo>
                        <a:pt x="196700" y="1382152"/>
                        <a:pt x="0" y="1104572"/>
                        <a:pt x="0" y="781050"/>
                      </a:cubicBezTo>
                      <a:cubicBezTo>
                        <a:pt x="0" y="349688"/>
                        <a:pt x="349688" y="0"/>
                        <a:pt x="7810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52000">
                      <a:schemeClr val="bg1">
                        <a:alpha val="10000"/>
                      </a:schemeClr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D2B708E-E1B4-291A-E069-CDB86CBEE3DF}"/>
                  </a:ext>
                </a:extLst>
              </p:cNvPr>
              <p:cNvGrpSpPr/>
              <p:nvPr/>
            </p:nvGrpSpPr>
            <p:grpSpPr>
              <a:xfrm>
                <a:off x="2886322" y="1495230"/>
                <a:ext cx="5057" cy="5266"/>
                <a:chOff x="2505075" y="3171825"/>
                <a:chExt cx="245916" cy="256073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1DD7B8E-09DA-2D64-EAE6-C55F9AABA818}"/>
                    </a:ext>
                  </a:extLst>
                </p:cNvPr>
                <p:cNvSpPr/>
                <p:nvPr/>
              </p:nvSpPr>
              <p:spPr>
                <a:xfrm>
                  <a:off x="2505075" y="3171825"/>
                  <a:ext cx="133350" cy="133350"/>
                </a:xfrm>
                <a:prstGeom prst="ellipse">
                  <a:avLst/>
                </a:prstGeom>
                <a:solidFill>
                  <a:schemeClr val="bg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6874ED26-8E1B-EAAE-EF69-E3B6A0E52E60}"/>
                    </a:ext>
                  </a:extLst>
                </p:cNvPr>
                <p:cNvSpPr/>
                <p:nvPr/>
              </p:nvSpPr>
              <p:spPr>
                <a:xfrm>
                  <a:off x="2617641" y="3294548"/>
                  <a:ext cx="133350" cy="133350"/>
                </a:xfrm>
                <a:prstGeom prst="ellipse">
                  <a:avLst/>
                </a:prstGeom>
                <a:solidFill>
                  <a:schemeClr val="bg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4A34622-1C17-FDC7-DEA0-89AD44DA215E}"/>
                </a:ext>
              </a:extLst>
            </p:cNvPr>
            <p:cNvGrpSpPr/>
            <p:nvPr/>
          </p:nvGrpSpPr>
          <p:grpSpPr>
            <a:xfrm>
              <a:off x="7944743" y="3600607"/>
              <a:ext cx="1350357" cy="596502"/>
              <a:chOff x="3581239" y="1792663"/>
              <a:chExt cx="1350357" cy="59650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65F624-CB69-2CCB-FD5F-3B693540C79E}"/>
                  </a:ext>
                </a:extLst>
              </p:cNvPr>
              <p:cNvSpPr txBox="1"/>
              <p:nvPr/>
            </p:nvSpPr>
            <p:spPr>
              <a:xfrm>
                <a:off x="3581239" y="1792663"/>
                <a:ext cx="7748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>
                    <a:solidFill>
                      <a:schemeClr val="bg1"/>
                    </a:solidFill>
                    <a:latin typeface="Questrial" pitchFamily="2" charset="0"/>
                  </a:rPr>
                  <a:t>03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A4E57-67C1-70AD-60E3-7B42D3E719F0}"/>
                  </a:ext>
                </a:extLst>
              </p:cNvPr>
              <p:cNvSpPr txBox="1"/>
              <p:nvPr/>
            </p:nvSpPr>
            <p:spPr>
              <a:xfrm>
                <a:off x="3598985" y="2135249"/>
                <a:ext cx="133261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sz="1050" dirty="0">
                  <a:solidFill>
                    <a:schemeClr val="bg1"/>
                  </a:solidFill>
                  <a:latin typeface="Questrial" pitchFamily="2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F6C4E4-4432-91C6-A051-F1890331669E}"/>
              </a:ext>
            </a:extLst>
          </p:cNvPr>
          <p:cNvGrpSpPr/>
          <p:nvPr/>
        </p:nvGrpSpPr>
        <p:grpSpPr>
          <a:xfrm>
            <a:off x="1771624" y="1014312"/>
            <a:ext cx="1562100" cy="3175835"/>
            <a:chOff x="5890367" y="2055814"/>
            <a:chExt cx="1562100" cy="3175835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E3103BA-7485-0655-B976-AF05ADA7B7D7}"/>
                </a:ext>
              </a:extLst>
            </p:cNvPr>
            <p:cNvSpPr/>
            <p:nvPr/>
          </p:nvSpPr>
          <p:spPr>
            <a:xfrm flipH="1">
              <a:off x="6636401" y="2055814"/>
              <a:ext cx="45719" cy="2045325"/>
            </a:xfrm>
            <a:custGeom>
              <a:avLst/>
              <a:gdLst>
                <a:gd name="connsiteX0" fmla="*/ 0 w 0"/>
                <a:gd name="connsiteY0" fmla="*/ 0 h 2006600"/>
                <a:gd name="connsiteX1" fmla="*/ 0 w 0"/>
                <a:gd name="connsiteY1" fmla="*/ 2006600 h 200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006600">
                  <a:moveTo>
                    <a:pt x="0" y="0"/>
                  </a:moveTo>
                  <a:lnTo>
                    <a:pt x="0" y="2006600"/>
                  </a:lnTo>
                </a:path>
              </a:pathLst>
            </a:cu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BCFF530-23A9-C28B-0468-419FC52AA7D9}"/>
                </a:ext>
              </a:extLst>
            </p:cNvPr>
            <p:cNvGrpSpPr/>
            <p:nvPr/>
          </p:nvGrpSpPr>
          <p:grpSpPr>
            <a:xfrm>
              <a:off x="5890367" y="3669549"/>
              <a:ext cx="1562100" cy="1562100"/>
              <a:chOff x="5890367" y="3669549"/>
              <a:chExt cx="1562100" cy="156210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567FE19-CF44-70B2-CD2E-596063087787}"/>
                  </a:ext>
                </a:extLst>
              </p:cNvPr>
              <p:cNvGrpSpPr/>
              <p:nvPr/>
            </p:nvGrpSpPr>
            <p:grpSpPr>
              <a:xfrm>
                <a:off x="5890367" y="3669549"/>
                <a:ext cx="1562100" cy="1562100"/>
                <a:chOff x="2135505" y="1438275"/>
                <a:chExt cx="1562100" cy="15621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B6CCD2C7-D055-6413-AC43-676DEFFCB05D}"/>
                    </a:ext>
                  </a:extLst>
                </p:cNvPr>
                <p:cNvGrpSpPr/>
                <p:nvPr/>
              </p:nvGrpSpPr>
              <p:grpSpPr>
                <a:xfrm>
                  <a:off x="2135505" y="1438275"/>
                  <a:ext cx="1562100" cy="1562100"/>
                  <a:chOff x="2228850" y="2019300"/>
                  <a:chExt cx="1562100" cy="1562100"/>
                </a:xfrm>
              </p:grpSpPr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669CA6F0-8F2A-19F3-B421-7E22D1368DA5}"/>
                      </a:ext>
                    </a:extLst>
                  </p:cNvPr>
                  <p:cNvSpPr/>
                  <p:nvPr/>
                </p:nvSpPr>
                <p:spPr>
                  <a:xfrm>
                    <a:off x="2228850" y="2019300"/>
                    <a:ext cx="1562100" cy="1562100"/>
                  </a:xfrm>
                  <a:prstGeom prst="ellipse">
                    <a:avLst/>
                  </a:prstGeom>
                  <a:gradFill flip="none" rotWithShape="1">
                    <a:gsLst>
                      <a:gs pos="31000">
                        <a:srgbClr val="CC3300"/>
                      </a:gs>
                      <a:gs pos="100000">
                        <a:srgbClr val="FF9933">
                          <a:alpha val="0"/>
                        </a:srgbClr>
                      </a:gs>
                      <a:gs pos="66000">
                        <a:srgbClr val="FF9933"/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7CD78B1E-E0B0-8F13-391A-8CC0F073EE59}"/>
                      </a:ext>
                    </a:extLst>
                  </p:cNvPr>
                  <p:cNvSpPr/>
                  <p:nvPr/>
                </p:nvSpPr>
                <p:spPr>
                  <a:xfrm>
                    <a:off x="2228850" y="2019300"/>
                    <a:ext cx="1378536" cy="1450004"/>
                  </a:xfrm>
                  <a:custGeom>
                    <a:avLst/>
                    <a:gdLst>
                      <a:gd name="connsiteX0" fmla="*/ 781050 w 1378536"/>
                      <a:gd name="connsiteY0" fmla="*/ 0 h 1450004"/>
                      <a:gd name="connsiteX1" fmla="*/ 1333336 w 1378536"/>
                      <a:gd name="connsiteY1" fmla="*/ 228764 h 1450004"/>
                      <a:gd name="connsiteX2" fmla="*/ 1378536 w 1378536"/>
                      <a:gd name="connsiteY2" fmla="*/ 283547 h 1450004"/>
                      <a:gd name="connsiteX3" fmla="*/ 1285095 w 1378536"/>
                      <a:gd name="connsiteY3" fmla="*/ 232829 h 1450004"/>
                      <a:gd name="connsiteX4" fmla="*/ 981075 w 1378536"/>
                      <a:gd name="connsiteY4" fmla="*/ 171450 h 1450004"/>
                      <a:gd name="connsiteX5" fmla="*/ 200025 w 1378536"/>
                      <a:gd name="connsiteY5" fmla="*/ 952500 h 1450004"/>
                      <a:gd name="connsiteX6" fmla="*/ 333416 w 1378536"/>
                      <a:gd name="connsiteY6" fmla="*/ 1389193 h 1450004"/>
                      <a:gd name="connsiteX7" fmla="*/ 383590 w 1378536"/>
                      <a:gd name="connsiteY7" fmla="*/ 1450004 h 1450004"/>
                      <a:gd name="connsiteX8" fmla="*/ 344358 w 1378536"/>
                      <a:gd name="connsiteY8" fmla="*/ 1428709 h 1450004"/>
                      <a:gd name="connsiteX9" fmla="*/ 0 w 1378536"/>
                      <a:gd name="connsiteY9" fmla="*/ 781050 h 1450004"/>
                      <a:gd name="connsiteX10" fmla="*/ 781050 w 1378536"/>
                      <a:gd name="connsiteY10" fmla="*/ 0 h 14500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378536" h="1450004">
                        <a:moveTo>
                          <a:pt x="781050" y="0"/>
                        </a:moveTo>
                        <a:cubicBezTo>
                          <a:pt x="996731" y="0"/>
                          <a:pt x="1191994" y="87422"/>
                          <a:pt x="1333336" y="228764"/>
                        </a:cubicBezTo>
                        <a:lnTo>
                          <a:pt x="1378536" y="283547"/>
                        </a:lnTo>
                        <a:lnTo>
                          <a:pt x="1285095" y="232829"/>
                        </a:lnTo>
                        <a:cubicBezTo>
                          <a:pt x="1191652" y="193306"/>
                          <a:pt x="1088916" y="171450"/>
                          <a:pt x="981075" y="171450"/>
                        </a:cubicBezTo>
                        <a:cubicBezTo>
                          <a:pt x="549713" y="171450"/>
                          <a:pt x="200025" y="521138"/>
                          <a:pt x="200025" y="952500"/>
                        </a:cubicBezTo>
                        <a:cubicBezTo>
                          <a:pt x="200025" y="1114261"/>
                          <a:pt x="249200" y="1264536"/>
                          <a:pt x="333416" y="1389193"/>
                        </a:cubicBezTo>
                        <a:lnTo>
                          <a:pt x="383590" y="1450004"/>
                        </a:lnTo>
                        <a:lnTo>
                          <a:pt x="344358" y="1428709"/>
                        </a:lnTo>
                        <a:cubicBezTo>
                          <a:pt x="136597" y="1288349"/>
                          <a:pt x="0" y="1050652"/>
                          <a:pt x="0" y="781050"/>
                        </a:cubicBezTo>
                        <a:cubicBezTo>
                          <a:pt x="0" y="349688"/>
                          <a:pt x="349688" y="0"/>
                          <a:pt x="78105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bg1"/>
                      </a:gs>
                      <a:gs pos="47000">
                        <a:schemeClr val="bg1">
                          <a:alpha val="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 dirty="0"/>
                  </a:p>
                </p:txBody>
              </p: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0D4AED02-D7D9-53F0-E784-AC26DED3198E}"/>
                      </a:ext>
                    </a:extLst>
                  </p:cNvPr>
                  <p:cNvGrpSpPr/>
                  <p:nvPr/>
                </p:nvGrpSpPr>
                <p:grpSpPr>
                  <a:xfrm>
                    <a:off x="2271712" y="2712245"/>
                    <a:ext cx="123488" cy="128588"/>
                    <a:chOff x="2505075" y="3171825"/>
                    <a:chExt cx="245916" cy="256073"/>
                  </a:xfrm>
                </p:grpSpPr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26596777-431C-C515-C4E4-A6D72C227E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05075" y="3171825"/>
                      <a:ext cx="133350" cy="133350"/>
                    </a:xfrm>
                    <a:prstGeom prst="ellipse">
                      <a:avLst/>
                    </a:prstGeom>
                    <a:solidFill>
                      <a:schemeClr val="bg1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ECE0C3CB-3615-4BE5-A0D7-C2E4E18FD2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17641" y="3294548"/>
                      <a:ext cx="133350" cy="133350"/>
                    </a:xfrm>
                    <a:prstGeom prst="ellipse">
                      <a:avLst/>
                    </a:prstGeom>
                    <a:solidFill>
                      <a:schemeClr val="bg1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F8FF20F1-0B11-A57D-7509-11DF919DE4B4}"/>
                      </a:ext>
                    </a:extLst>
                  </p:cNvPr>
                  <p:cNvSpPr/>
                  <p:nvPr/>
                </p:nvSpPr>
                <p:spPr>
                  <a:xfrm>
                    <a:off x="2228850" y="2019300"/>
                    <a:ext cx="1513001" cy="1502711"/>
                  </a:xfrm>
                  <a:custGeom>
                    <a:avLst/>
                    <a:gdLst>
                      <a:gd name="connsiteX0" fmla="*/ 781050 w 1513001"/>
                      <a:gd name="connsiteY0" fmla="*/ 0 h 1502711"/>
                      <a:gd name="connsiteX1" fmla="*/ 1500721 w 1513001"/>
                      <a:gd name="connsiteY1" fmla="*/ 477030 h 1502711"/>
                      <a:gd name="connsiteX2" fmla="*/ 1513001 w 1513001"/>
                      <a:gd name="connsiteY2" fmla="*/ 516590 h 1502711"/>
                      <a:gd name="connsiteX3" fmla="*/ 1372799 w 1513001"/>
                      <a:gd name="connsiteY3" fmla="*/ 473068 h 1502711"/>
                      <a:gd name="connsiteX4" fmla="*/ 1215390 w 1513001"/>
                      <a:gd name="connsiteY4" fmla="*/ 457200 h 1502711"/>
                      <a:gd name="connsiteX5" fmla="*/ 434340 w 1513001"/>
                      <a:gd name="connsiteY5" fmla="*/ 1238250 h 1502711"/>
                      <a:gd name="connsiteX6" fmla="*/ 450208 w 1513001"/>
                      <a:gd name="connsiteY6" fmla="*/ 1395659 h 1502711"/>
                      <a:gd name="connsiteX7" fmla="*/ 483439 w 1513001"/>
                      <a:gd name="connsiteY7" fmla="*/ 1502711 h 1502711"/>
                      <a:gd name="connsiteX8" fmla="*/ 477030 w 1513001"/>
                      <a:gd name="connsiteY8" fmla="*/ 1500721 h 1502711"/>
                      <a:gd name="connsiteX9" fmla="*/ 0 w 1513001"/>
                      <a:gd name="connsiteY9" fmla="*/ 781050 h 1502711"/>
                      <a:gd name="connsiteX10" fmla="*/ 781050 w 1513001"/>
                      <a:gd name="connsiteY10" fmla="*/ 0 h 1502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13001" h="1502711">
                        <a:moveTo>
                          <a:pt x="781050" y="0"/>
                        </a:moveTo>
                        <a:cubicBezTo>
                          <a:pt x="1104572" y="0"/>
                          <a:pt x="1382152" y="196700"/>
                          <a:pt x="1500721" y="477030"/>
                        </a:cubicBezTo>
                        <a:lnTo>
                          <a:pt x="1513001" y="516590"/>
                        </a:lnTo>
                        <a:lnTo>
                          <a:pt x="1372799" y="473068"/>
                        </a:lnTo>
                        <a:cubicBezTo>
                          <a:pt x="1321955" y="462664"/>
                          <a:pt x="1269310" y="457200"/>
                          <a:pt x="1215390" y="457200"/>
                        </a:cubicBezTo>
                        <a:cubicBezTo>
                          <a:pt x="784028" y="457200"/>
                          <a:pt x="434340" y="806888"/>
                          <a:pt x="434340" y="1238250"/>
                        </a:cubicBezTo>
                        <a:cubicBezTo>
                          <a:pt x="434340" y="1292170"/>
                          <a:pt x="439804" y="1344814"/>
                          <a:pt x="450208" y="1395659"/>
                        </a:cubicBezTo>
                        <a:lnTo>
                          <a:pt x="483439" y="1502711"/>
                        </a:lnTo>
                        <a:lnTo>
                          <a:pt x="477030" y="1500721"/>
                        </a:lnTo>
                        <a:cubicBezTo>
                          <a:pt x="196700" y="1382152"/>
                          <a:pt x="0" y="1104572"/>
                          <a:pt x="0" y="781050"/>
                        </a:cubicBezTo>
                        <a:cubicBezTo>
                          <a:pt x="0" y="349688"/>
                          <a:pt x="349688" y="0"/>
                          <a:pt x="78105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/>
                      </a:gs>
                      <a:gs pos="52000">
                        <a:schemeClr val="bg1">
                          <a:alpha val="1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 dirty="0"/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1E695A2E-8938-1A6A-05F6-1E6D47B15429}"/>
                    </a:ext>
                  </a:extLst>
                </p:cNvPr>
                <p:cNvGrpSpPr/>
                <p:nvPr/>
              </p:nvGrpSpPr>
              <p:grpSpPr>
                <a:xfrm>
                  <a:off x="2886322" y="1495230"/>
                  <a:ext cx="5057" cy="5266"/>
                  <a:chOff x="2505075" y="3171825"/>
                  <a:chExt cx="245916" cy="256073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DC078361-8389-321C-EACD-68DB5289C704}"/>
                      </a:ext>
                    </a:extLst>
                  </p:cNvPr>
                  <p:cNvSpPr/>
                  <p:nvPr/>
                </p:nvSpPr>
                <p:spPr>
                  <a:xfrm>
                    <a:off x="2505075" y="3171825"/>
                    <a:ext cx="133350" cy="133350"/>
                  </a:xfrm>
                  <a:prstGeom prst="ellipse">
                    <a:avLst/>
                  </a:prstGeom>
                  <a:solidFill>
                    <a:schemeClr val="bg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F195FF9C-CEDB-FF69-371A-B72FACEF6355}"/>
                      </a:ext>
                    </a:extLst>
                  </p:cNvPr>
                  <p:cNvSpPr/>
                  <p:nvPr/>
                </p:nvSpPr>
                <p:spPr>
                  <a:xfrm>
                    <a:off x="2617641" y="3294548"/>
                    <a:ext cx="133350" cy="133350"/>
                  </a:xfrm>
                  <a:prstGeom prst="ellipse">
                    <a:avLst/>
                  </a:prstGeom>
                  <a:solidFill>
                    <a:schemeClr val="bg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B458B8E7-4405-A774-7D4A-594B6D77ED17}"/>
                  </a:ext>
                </a:extLst>
              </p:cNvPr>
              <p:cNvGrpSpPr/>
              <p:nvPr/>
            </p:nvGrpSpPr>
            <p:grpSpPr>
              <a:xfrm>
                <a:off x="5996239" y="4144915"/>
                <a:ext cx="1350357" cy="596502"/>
                <a:chOff x="3581239" y="1792663"/>
                <a:chExt cx="1350357" cy="596502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BA2687C-6D25-65AA-AFA6-4940902CE657}"/>
                    </a:ext>
                  </a:extLst>
                </p:cNvPr>
                <p:cNvSpPr txBox="1"/>
                <p:nvPr/>
              </p:nvSpPr>
              <p:spPr>
                <a:xfrm>
                  <a:off x="3581239" y="1792663"/>
                  <a:ext cx="77489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800" dirty="0">
                      <a:solidFill>
                        <a:schemeClr val="bg1"/>
                      </a:solidFill>
                      <a:latin typeface="Questrial" pitchFamily="2" charset="0"/>
                    </a:rPr>
                    <a:t>01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8490A8-B172-7480-029A-433A1E8E4404}"/>
                    </a:ext>
                  </a:extLst>
                </p:cNvPr>
                <p:cNvSpPr txBox="1"/>
                <p:nvPr/>
              </p:nvSpPr>
              <p:spPr>
                <a:xfrm>
                  <a:off x="3598985" y="2135249"/>
                  <a:ext cx="1332611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IN" sz="1050" dirty="0">
                    <a:solidFill>
                      <a:schemeClr val="bg1"/>
                    </a:solidFill>
                    <a:latin typeface="Questrial" pitchFamily="2" charset="0"/>
                  </a:endParaRPr>
                </a:p>
              </p:txBody>
            </p:sp>
          </p:grpSp>
        </p:grp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8EF3846-5724-A36C-7B42-976844F615A7}"/>
              </a:ext>
            </a:extLst>
          </p:cNvPr>
          <p:cNvSpPr/>
          <p:nvPr/>
        </p:nvSpPr>
        <p:spPr>
          <a:xfrm>
            <a:off x="1210525" y="995072"/>
            <a:ext cx="106074" cy="2584932"/>
          </a:xfrm>
          <a:custGeom>
            <a:avLst/>
            <a:gdLst>
              <a:gd name="connsiteX0" fmla="*/ 0 w 0"/>
              <a:gd name="connsiteY0" fmla="*/ 0 h 2006600"/>
              <a:gd name="connsiteX1" fmla="*/ 0 w 0"/>
              <a:gd name="connsiteY1" fmla="*/ 2006600 h 20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006600">
                <a:moveTo>
                  <a:pt x="0" y="0"/>
                </a:moveTo>
                <a:lnTo>
                  <a:pt x="0" y="2006600"/>
                </a:lnTo>
              </a:path>
            </a:pathLst>
          </a:cu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300A61F-9930-B07D-E9AF-1AFAE65AA524}"/>
              </a:ext>
            </a:extLst>
          </p:cNvPr>
          <p:cNvGrpSpPr/>
          <p:nvPr/>
        </p:nvGrpSpPr>
        <p:grpSpPr>
          <a:xfrm>
            <a:off x="423321" y="3444489"/>
            <a:ext cx="1562100" cy="1562100"/>
            <a:chOff x="6406397" y="1426025"/>
            <a:chExt cx="1562100" cy="15621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90C9144-2D1A-91CB-809F-FB906428F780}"/>
                </a:ext>
              </a:extLst>
            </p:cNvPr>
            <p:cNvGrpSpPr/>
            <p:nvPr/>
          </p:nvGrpSpPr>
          <p:grpSpPr>
            <a:xfrm>
              <a:off x="6406397" y="1426025"/>
              <a:ext cx="1562100" cy="1562100"/>
              <a:chOff x="2135505" y="1438275"/>
              <a:chExt cx="1562100" cy="1562100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210194D-9286-9EBD-21D3-75E0E2455615}"/>
                  </a:ext>
                </a:extLst>
              </p:cNvPr>
              <p:cNvGrpSpPr/>
              <p:nvPr/>
            </p:nvGrpSpPr>
            <p:grpSpPr>
              <a:xfrm>
                <a:off x="2135505" y="1438275"/>
                <a:ext cx="1562100" cy="1562100"/>
                <a:chOff x="2228850" y="2019300"/>
                <a:chExt cx="1562100" cy="15621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7DF6353-7E04-16C4-F93D-C2003BCEE5A4}"/>
                    </a:ext>
                  </a:extLst>
                </p:cNvPr>
                <p:cNvSpPr/>
                <p:nvPr/>
              </p:nvSpPr>
              <p:spPr>
                <a:xfrm>
                  <a:off x="2228850" y="2019300"/>
                  <a:ext cx="1562100" cy="1562100"/>
                </a:xfrm>
                <a:prstGeom prst="ellipse">
                  <a:avLst/>
                </a:prstGeom>
                <a:gradFill flip="none" rotWithShape="1">
                  <a:gsLst>
                    <a:gs pos="31000">
                      <a:srgbClr val="003366"/>
                    </a:gs>
                    <a:gs pos="100000">
                      <a:srgbClr val="339933">
                        <a:alpha val="0"/>
                      </a:srgbClr>
                    </a:gs>
                    <a:gs pos="62000">
                      <a:srgbClr val="339933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4F59EA1B-CDE9-F112-F9E9-1FF094661A27}"/>
                    </a:ext>
                  </a:extLst>
                </p:cNvPr>
                <p:cNvSpPr/>
                <p:nvPr/>
              </p:nvSpPr>
              <p:spPr>
                <a:xfrm>
                  <a:off x="2228850" y="2019300"/>
                  <a:ext cx="1378536" cy="1450004"/>
                </a:xfrm>
                <a:custGeom>
                  <a:avLst/>
                  <a:gdLst>
                    <a:gd name="connsiteX0" fmla="*/ 781050 w 1378536"/>
                    <a:gd name="connsiteY0" fmla="*/ 0 h 1450004"/>
                    <a:gd name="connsiteX1" fmla="*/ 1333336 w 1378536"/>
                    <a:gd name="connsiteY1" fmla="*/ 228764 h 1450004"/>
                    <a:gd name="connsiteX2" fmla="*/ 1378536 w 1378536"/>
                    <a:gd name="connsiteY2" fmla="*/ 283547 h 1450004"/>
                    <a:gd name="connsiteX3" fmla="*/ 1285095 w 1378536"/>
                    <a:gd name="connsiteY3" fmla="*/ 232829 h 1450004"/>
                    <a:gd name="connsiteX4" fmla="*/ 981075 w 1378536"/>
                    <a:gd name="connsiteY4" fmla="*/ 171450 h 1450004"/>
                    <a:gd name="connsiteX5" fmla="*/ 200025 w 1378536"/>
                    <a:gd name="connsiteY5" fmla="*/ 952500 h 1450004"/>
                    <a:gd name="connsiteX6" fmla="*/ 333416 w 1378536"/>
                    <a:gd name="connsiteY6" fmla="*/ 1389193 h 1450004"/>
                    <a:gd name="connsiteX7" fmla="*/ 383590 w 1378536"/>
                    <a:gd name="connsiteY7" fmla="*/ 1450004 h 1450004"/>
                    <a:gd name="connsiteX8" fmla="*/ 344358 w 1378536"/>
                    <a:gd name="connsiteY8" fmla="*/ 1428709 h 1450004"/>
                    <a:gd name="connsiteX9" fmla="*/ 0 w 1378536"/>
                    <a:gd name="connsiteY9" fmla="*/ 781050 h 1450004"/>
                    <a:gd name="connsiteX10" fmla="*/ 781050 w 1378536"/>
                    <a:gd name="connsiteY10" fmla="*/ 0 h 1450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8536" h="1450004">
                      <a:moveTo>
                        <a:pt x="781050" y="0"/>
                      </a:moveTo>
                      <a:cubicBezTo>
                        <a:pt x="996731" y="0"/>
                        <a:pt x="1191994" y="87422"/>
                        <a:pt x="1333336" y="228764"/>
                      </a:cubicBezTo>
                      <a:lnTo>
                        <a:pt x="1378536" y="283547"/>
                      </a:lnTo>
                      <a:lnTo>
                        <a:pt x="1285095" y="232829"/>
                      </a:lnTo>
                      <a:cubicBezTo>
                        <a:pt x="1191652" y="193306"/>
                        <a:pt x="1088916" y="171450"/>
                        <a:pt x="981075" y="171450"/>
                      </a:cubicBezTo>
                      <a:cubicBezTo>
                        <a:pt x="549713" y="171450"/>
                        <a:pt x="200025" y="521138"/>
                        <a:pt x="200025" y="952500"/>
                      </a:cubicBezTo>
                      <a:cubicBezTo>
                        <a:pt x="200025" y="1114261"/>
                        <a:pt x="249200" y="1264536"/>
                        <a:pt x="333416" y="1389193"/>
                      </a:cubicBezTo>
                      <a:lnTo>
                        <a:pt x="383590" y="1450004"/>
                      </a:lnTo>
                      <a:lnTo>
                        <a:pt x="344358" y="1428709"/>
                      </a:lnTo>
                      <a:cubicBezTo>
                        <a:pt x="136597" y="1288349"/>
                        <a:pt x="0" y="1050652"/>
                        <a:pt x="0" y="781050"/>
                      </a:cubicBezTo>
                      <a:cubicBezTo>
                        <a:pt x="0" y="349688"/>
                        <a:pt x="349688" y="0"/>
                        <a:pt x="78105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47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BCF8137F-CA8E-A172-78BA-B26A6D049169}"/>
                    </a:ext>
                  </a:extLst>
                </p:cNvPr>
                <p:cNvGrpSpPr/>
                <p:nvPr/>
              </p:nvGrpSpPr>
              <p:grpSpPr>
                <a:xfrm>
                  <a:off x="2271712" y="2712245"/>
                  <a:ext cx="123488" cy="128588"/>
                  <a:chOff x="2505075" y="3171825"/>
                  <a:chExt cx="245916" cy="256073"/>
                </a:xfrm>
              </p:grpSpPr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05457F9F-8666-44FF-D70C-729BF7CAB5EC}"/>
                      </a:ext>
                    </a:extLst>
                  </p:cNvPr>
                  <p:cNvSpPr/>
                  <p:nvPr/>
                </p:nvSpPr>
                <p:spPr>
                  <a:xfrm>
                    <a:off x="2505075" y="3171825"/>
                    <a:ext cx="133350" cy="133350"/>
                  </a:xfrm>
                  <a:prstGeom prst="ellipse">
                    <a:avLst/>
                  </a:prstGeom>
                  <a:solidFill>
                    <a:schemeClr val="bg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5CF0833D-0137-9EBF-584F-EA5EA5C08D5C}"/>
                      </a:ext>
                    </a:extLst>
                  </p:cNvPr>
                  <p:cNvSpPr/>
                  <p:nvPr/>
                </p:nvSpPr>
                <p:spPr>
                  <a:xfrm>
                    <a:off x="2617641" y="3294548"/>
                    <a:ext cx="133350" cy="133350"/>
                  </a:xfrm>
                  <a:prstGeom prst="ellipse">
                    <a:avLst/>
                  </a:prstGeom>
                  <a:solidFill>
                    <a:schemeClr val="bg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338797EF-AB19-4BB3-B58B-0B3FAFB68522}"/>
                    </a:ext>
                  </a:extLst>
                </p:cNvPr>
                <p:cNvSpPr/>
                <p:nvPr/>
              </p:nvSpPr>
              <p:spPr>
                <a:xfrm>
                  <a:off x="2228850" y="2019300"/>
                  <a:ext cx="1513001" cy="1502711"/>
                </a:xfrm>
                <a:custGeom>
                  <a:avLst/>
                  <a:gdLst>
                    <a:gd name="connsiteX0" fmla="*/ 781050 w 1513001"/>
                    <a:gd name="connsiteY0" fmla="*/ 0 h 1502711"/>
                    <a:gd name="connsiteX1" fmla="*/ 1500721 w 1513001"/>
                    <a:gd name="connsiteY1" fmla="*/ 477030 h 1502711"/>
                    <a:gd name="connsiteX2" fmla="*/ 1513001 w 1513001"/>
                    <a:gd name="connsiteY2" fmla="*/ 516590 h 1502711"/>
                    <a:gd name="connsiteX3" fmla="*/ 1372799 w 1513001"/>
                    <a:gd name="connsiteY3" fmla="*/ 473068 h 1502711"/>
                    <a:gd name="connsiteX4" fmla="*/ 1215390 w 1513001"/>
                    <a:gd name="connsiteY4" fmla="*/ 457200 h 1502711"/>
                    <a:gd name="connsiteX5" fmla="*/ 434340 w 1513001"/>
                    <a:gd name="connsiteY5" fmla="*/ 1238250 h 1502711"/>
                    <a:gd name="connsiteX6" fmla="*/ 450208 w 1513001"/>
                    <a:gd name="connsiteY6" fmla="*/ 1395659 h 1502711"/>
                    <a:gd name="connsiteX7" fmla="*/ 483439 w 1513001"/>
                    <a:gd name="connsiteY7" fmla="*/ 1502711 h 1502711"/>
                    <a:gd name="connsiteX8" fmla="*/ 477030 w 1513001"/>
                    <a:gd name="connsiteY8" fmla="*/ 1500721 h 1502711"/>
                    <a:gd name="connsiteX9" fmla="*/ 0 w 1513001"/>
                    <a:gd name="connsiteY9" fmla="*/ 781050 h 1502711"/>
                    <a:gd name="connsiteX10" fmla="*/ 781050 w 1513001"/>
                    <a:gd name="connsiteY10" fmla="*/ 0 h 1502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13001" h="1502711">
                      <a:moveTo>
                        <a:pt x="781050" y="0"/>
                      </a:moveTo>
                      <a:cubicBezTo>
                        <a:pt x="1104572" y="0"/>
                        <a:pt x="1382152" y="196700"/>
                        <a:pt x="1500721" y="477030"/>
                      </a:cubicBezTo>
                      <a:lnTo>
                        <a:pt x="1513001" y="516590"/>
                      </a:lnTo>
                      <a:lnTo>
                        <a:pt x="1372799" y="473068"/>
                      </a:lnTo>
                      <a:cubicBezTo>
                        <a:pt x="1321955" y="462664"/>
                        <a:pt x="1269310" y="457200"/>
                        <a:pt x="1215390" y="457200"/>
                      </a:cubicBezTo>
                      <a:cubicBezTo>
                        <a:pt x="784028" y="457200"/>
                        <a:pt x="434340" y="806888"/>
                        <a:pt x="434340" y="1238250"/>
                      </a:cubicBezTo>
                      <a:cubicBezTo>
                        <a:pt x="434340" y="1292170"/>
                        <a:pt x="439804" y="1344814"/>
                        <a:pt x="450208" y="1395659"/>
                      </a:cubicBezTo>
                      <a:lnTo>
                        <a:pt x="483439" y="1502711"/>
                      </a:lnTo>
                      <a:lnTo>
                        <a:pt x="477030" y="1500721"/>
                      </a:lnTo>
                      <a:cubicBezTo>
                        <a:pt x="196700" y="1382152"/>
                        <a:pt x="0" y="1104572"/>
                        <a:pt x="0" y="781050"/>
                      </a:cubicBezTo>
                      <a:cubicBezTo>
                        <a:pt x="0" y="349688"/>
                        <a:pt x="349688" y="0"/>
                        <a:pt x="7810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52000">
                      <a:schemeClr val="bg1">
                        <a:alpha val="10000"/>
                      </a:schemeClr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0DB86701-552A-3DE8-F0D0-92C71B191D3C}"/>
                  </a:ext>
                </a:extLst>
              </p:cNvPr>
              <p:cNvGrpSpPr/>
              <p:nvPr/>
            </p:nvGrpSpPr>
            <p:grpSpPr>
              <a:xfrm>
                <a:off x="2886322" y="1495230"/>
                <a:ext cx="5057" cy="5266"/>
                <a:chOff x="2505075" y="3171825"/>
                <a:chExt cx="245916" cy="256073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042FC592-1B9B-8B19-EADB-C9F9577C8B6D}"/>
                    </a:ext>
                  </a:extLst>
                </p:cNvPr>
                <p:cNvSpPr/>
                <p:nvPr/>
              </p:nvSpPr>
              <p:spPr>
                <a:xfrm>
                  <a:off x="2505075" y="3171825"/>
                  <a:ext cx="133350" cy="133350"/>
                </a:xfrm>
                <a:prstGeom prst="ellipse">
                  <a:avLst/>
                </a:prstGeom>
                <a:solidFill>
                  <a:schemeClr val="bg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8DAEE007-AE50-C0D6-1265-E26F91E64676}"/>
                    </a:ext>
                  </a:extLst>
                </p:cNvPr>
                <p:cNvSpPr/>
                <p:nvPr/>
              </p:nvSpPr>
              <p:spPr>
                <a:xfrm>
                  <a:off x="2617641" y="3294548"/>
                  <a:ext cx="133350" cy="133350"/>
                </a:xfrm>
                <a:prstGeom prst="ellipse">
                  <a:avLst/>
                </a:prstGeom>
                <a:solidFill>
                  <a:schemeClr val="bg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348D157-6A10-16E4-B755-866D90A7E59F}"/>
                </a:ext>
              </a:extLst>
            </p:cNvPr>
            <p:cNvGrpSpPr/>
            <p:nvPr/>
          </p:nvGrpSpPr>
          <p:grpSpPr>
            <a:xfrm>
              <a:off x="6600444" y="1897878"/>
              <a:ext cx="1350357" cy="596502"/>
              <a:chOff x="3581239" y="1792663"/>
              <a:chExt cx="1350357" cy="596502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5A6343B-A595-7230-92C1-C65762316DBC}"/>
                  </a:ext>
                </a:extLst>
              </p:cNvPr>
              <p:cNvSpPr txBox="1"/>
              <p:nvPr/>
            </p:nvSpPr>
            <p:spPr>
              <a:xfrm>
                <a:off x="3581239" y="1792663"/>
                <a:ext cx="7748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>
                    <a:solidFill>
                      <a:schemeClr val="bg1"/>
                    </a:solidFill>
                    <a:latin typeface="Questrial" pitchFamily="2" charset="0"/>
                  </a:rPr>
                  <a:t>02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709F2C-95EA-2229-F137-F2E62770BEC6}"/>
                  </a:ext>
                </a:extLst>
              </p:cNvPr>
              <p:cNvSpPr txBox="1"/>
              <p:nvPr/>
            </p:nvSpPr>
            <p:spPr>
              <a:xfrm>
                <a:off x="3598985" y="2135249"/>
                <a:ext cx="133261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sz="1050" dirty="0">
                  <a:solidFill>
                    <a:schemeClr val="bg1"/>
                  </a:solidFill>
                  <a:latin typeface="Questrial" pitchFamily="2" charset="0"/>
                </a:endParaRP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75E11D1-6D11-7707-BC70-679036389514}"/>
              </a:ext>
            </a:extLst>
          </p:cNvPr>
          <p:cNvGrpSpPr/>
          <p:nvPr/>
        </p:nvGrpSpPr>
        <p:grpSpPr>
          <a:xfrm>
            <a:off x="0" y="4841198"/>
            <a:ext cx="1491248" cy="667803"/>
            <a:chOff x="1361486" y="2047504"/>
            <a:chExt cx="1491248" cy="667803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0523D18-9CE4-D7F1-1379-BA484C0CF9C2}"/>
                </a:ext>
              </a:extLst>
            </p:cNvPr>
            <p:cNvSpPr txBox="1"/>
            <p:nvPr/>
          </p:nvSpPr>
          <p:spPr>
            <a:xfrm>
              <a:off x="1371194" y="2253642"/>
              <a:ext cx="14815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Customers active in current month and active in previous month as well</a:t>
              </a:r>
              <a:endParaRPr lang="en-IN" sz="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3E2F4E-B075-C126-8755-165EC1804936}"/>
                </a:ext>
              </a:extLst>
            </p:cNvPr>
            <p:cNvSpPr txBox="1"/>
            <p:nvPr/>
          </p:nvSpPr>
          <p:spPr>
            <a:xfrm>
              <a:off x="1361486" y="2047504"/>
              <a:ext cx="14815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tx2">
                      <a:lumMod val="75000"/>
                    </a:schemeClr>
                  </a:solidFill>
                  <a:latin typeface="Montserrat" panose="00000500000000000000" pitchFamily="2" charset="0"/>
                </a:rPr>
                <a:t>Repeat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EA41EA0-C12D-1BEA-A91E-FA58F67A6409}"/>
              </a:ext>
            </a:extLst>
          </p:cNvPr>
          <p:cNvGrpSpPr/>
          <p:nvPr/>
        </p:nvGrpSpPr>
        <p:grpSpPr>
          <a:xfrm>
            <a:off x="3979992" y="4739698"/>
            <a:ext cx="1491248" cy="667803"/>
            <a:chOff x="1361486" y="2047504"/>
            <a:chExt cx="1491248" cy="667803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0631F3-7AA3-1BC6-1DA9-5D0A685B6E86}"/>
                </a:ext>
              </a:extLst>
            </p:cNvPr>
            <p:cNvSpPr txBox="1"/>
            <p:nvPr/>
          </p:nvSpPr>
          <p:spPr>
            <a:xfrm>
              <a:off x="1371194" y="2253642"/>
              <a:ext cx="14815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Customers active in current month but not active in last month</a:t>
              </a:r>
              <a:endParaRPr lang="en-IN" sz="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777C381-A8FE-467A-4B14-3B3D68319DE3}"/>
                </a:ext>
              </a:extLst>
            </p:cNvPr>
            <p:cNvSpPr txBox="1"/>
            <p:nvPr/>
          </p:nvSpPr>
          <p:spPr>
            <a:xfrm>
              <a:off x="1361486" y="2047504"/>
              <a:ext cx="14815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tx2">
                      <a:lumMod val="75000"/>
                    </a:schemeClr>
                  </a:solidFill>
                  <a:latin typeface="Montserrat" panose="00000500000000000000" pitchFamily="2" charset="0"/>
                </a:rPr>
                <a:t>React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C02A338-A752-0A16-E3AE-21C5B873F6C7}"/>
              </a:ext>
            </a:extLst>
          </p:cNvPr>
          <p:cNvGrpSpPr/>
          <p:nvPr/>
        </p:nvGrpSpPr>
        <p:grpSpPr>
          <a:xfrm>
            <a:off x="1222101" y="1862548"/>
            <a:ext cx="1491248" cy="667803"/>
            <a:chOff x="1361486" y="2047504"/>
            <a:chExt cx="1491248" cy="667803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30EE46A-E543-363C-79AC-81B8B761138A}"/>
                </a:ext>
              </a:extLst>
            </p:cNvPr>
            <p:cNvSpPr txBox="1"/>
            <p:nvPr/>
          </p:nvSpPr>
          <p:spPr>
            <a:xfrm>
              <a:off x="1371194" y="2253642"/>
              <a:ext cx="14815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Signup in last 6 months with1 successful transactions</a:t>
              </a:r>
              <a:endParaRPr lang="en-IN" sz="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27CF7D4-D145-4CB7-61F3-4C48DFFD2441}"/>
                </a:ext>
              </a:extLst>
            </p:cNvPr>
            <p:cNvSpPr txBox="1"/>
            <p:nvPr/>
          </p:nvSpPr>
          <p:spPr>
            <a:xfrm>
              <a:off x="1361486" y="2047504"/>
              <a:ext cx="14815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tx2">
                      <a:lumMod val="75000"/>
                    </a:schemeClr>
                  </a:solidFill>
                  <a:latin typeface="Montserrat" panose="00000500000000000000" pitchFamily="2" charset="0"/>
                </a:rPr>
                <a:t>New</a:t>
              </a:r>
            </a:p>
          </p:txBody>
        </p:sp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4B69A9B-9F05-1D6C-4F58-D2DB39C3C32E}"/>
              </a:ext>
            </a:extLst>
          </p:cNvPr>
          <p:cNvSpPr/>
          <p:nvPr/>
        </p:nvSpPr>
        <p:spPr>
          <a:xfrm>
            <a:off x="7302628" y="4609629"/>
            <a:ext cx="424503" cy="864722"/>
          </a:xfrm>
          <a:prstGeom prst="roundRect">
            <a:avLst/>
          </a:prstGeom>
          <a:solidFill>
            <a:srgbClr val="85B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FB67241-8B5C-5A58-AB5C-4F64808FAB4E}"/>
              </a:ext>
            </a:extLst>
          </p:cNvPr>
          <p:cNvSpPr/>
          <p:nvPr/>
        </p:nvSpPr>
        <p:spPr>
          <a:xfrm>
            <a:off x="8388489" y="3786273"/>
            <a:ext cx="424503" cy="1692687"/>
          </a:xfrm>
          <a:prstGeom prst="roundRect">
            <a:avLst/>
          </a:prstGeom>
          <a:solidFill>
            <a:srgbClr val="4A8E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31D82FE-4D29-77BE-32BD-17F52050BBDB}"/>
              </a:ext>
            </a:extLst>
          </p:cNvPr>
          <p:cNvSpPr/>
          <p:nvPr/>
        </p:nvSpPr>
        <p:spPr>
          <a:xfrm>
            <a:off x="9503778" y="3060807"/>
            <a:ext cx="424503" cy="2418154"/>
          </a:xfrm>
          <a:prstGeom prst="round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C941ABF-CFE8-A2D6-51EC-34176E87C86C}"/>
              </a:ext>
            </a:extLst>
          </p:cNvPr>
          <p:cNvSpPr txBox="1"/>
          <p:nvPr/>
        </p:nvSpPr>
        <p:spPr>
          <a:xfrm>
            <a:off x="7143463" y="5499476"/>
            <a:ext cx="998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 Repeat</a:t>
            </a:r>
            <a:endParaRPr lang="en-IN" sz="1000" b="1" dirty="0">
              <a:solidFill>
                <a:schemeClr val="bg1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EC4CFA8-C4E4-E569-3567-A4A9F9B9FD15}"/>
              </a:ext>
            </a:extLst>
          </p:cNvPr>
          <p:cNvSpPr txBox="1"/>
          <p:nvPr/>
        </p:nvSpPr>
        <p:spPr>
          <a:xfrm>
            <a:off x="8255139" y="5499476"/>
            <a:ext cx="8412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   New</a:t>
            </a:r>
            <a:endParaRPr lang="en-IN" sz="1000" b="1" dirty="0">
              <a:solidFill>
                <a:schemeClr val="bg1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E5E9FE0-4995-3F89-4048-4F8453A1E02C}"/>
              </a:ext>
            </a:extLst>
          </p:cNvPr>
          <p:cNvSpPr txBox="1"/>
          <p:nvPr/>
        </p:nvSpPr>
        <p:spPr>
          <a:xfrm>
            <a:off x="9451572" y="5474351"/>
            <a:ext cx="8412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React</a:t>
            </a:r>
            <a:endParaRPr lang="en-IN" sz="1000" b="1" dirty="0">
              <a:solidFill>
                <a:schemeClr val="bg1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F2849FD-9A27-D539-63A5-0A07DB436F30}"/>
              </a:ext>
            </a:extLst>
          </p:cNvPr>
          <p:cNvSpPr txBox="1"/>
          <p:nvPr/>
        </p:nvSpPr>
        <p:spPr>
          <a:xfrm>
            <a:off x="7236248" y="4303835"/>
            <a:ext cx="657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Montserrat" panose="00000500000000000000" pitchFamily="2" charset="0"/>
              </a:rPr>
              <a:t>5%</a:t>
            </a:r>
            <a:endParaRPr lang="en-IN" sz="1000" b="1" dirty="0">
              <a:solidFill>
                <a:srgbClr val="00B050"/>
              </a:solidFill>
              <a:latin typeface="Montserrat" panose="00000500000000000000" pitchFamily="2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FD95F2-F9BF-F089-B9FF-9DB56A06BA1C}"/>
              </a:ext>
            </a:extLst>
          </p:cNvPr>
          <p:cNvSpPr txBox="1"/>
          <p:nvPr/>
        </p:nvSpPr>
        <p:spPr>
          <a:xfrm>
            <a:off x="8308338" y="3471961"/>
            <a:ext cx="657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Montserrat" panose="00000500000000000000" pitchFamily="2" charset="0"/>
              </a:rPr>
              <a:t>18%</a:t>
            </a:r>
            <a:endParaRPr lang="en-IN" sz="1000" b="1" dirty="0">
              <a:solidFill>
                <a:srgbClr val="00B050"/>
              </a:solidFill>
              <a:latin typeface="Montserrat" panose="00000500000000000000" pitchFamily="2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A49FA7-545C-03AC-7A91-215FCC43C1E7}"/>
              </a:ext>
            </a:extLst>
          </p:cNvPr>
          <p:cNvSpPr txBox="1"/>
          <p:nvPr/>
        </p:nvSpPr>
        <p:spPr>
          <a:xfrm>
            <a:off x="9387416" y="2732822"/>
            <a:ext cx="905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Montserrat" panose="00000500000000000000" pitchFamily="2" charset="0"/>
              </a:rPr>
              <a:t> 26%</a:t>
            </a:r>
            <a:endParaRPr lang="en-IN" sz="1000" b="1" dirty="0">
              <a:solidFill>
                <a:srgbClr val="00B050"/>
              </a:solidFill>
              <a:latin typeface="Montserrat" panose="00000500000000000000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8AC0F95-E37E-F671-F02D-2F675900A21A}"/>
              </a:ext>
            </a:extLst>
          </p:cNvPr>
          <p:cNvSpPr txBox="1"/>
          <p:nvPr/>
        </p:nvSpPr>
        <p:spPr>
          <a:xfrm>
            <a:off x="7450724" y="4907950"/>
            <a:ext cx="6572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Montserrat" panose="00000500000000000000" pitchFamily="2" charset="0"/>
              </a:rPr>
              <a:t>74.5%</a:t>
            </a:r>
            <a:endParaRPr lang="en-IN" sz="600" b="1" dirty="0">
              <a:latin typeface="Montserrat" panose="00000500000000000000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3A7AADC-B48A-746A-AFC3-6B371E14873D}"/>
              </a:ext>
            </a:extLst>
          </p:cNvPr>
          <p:cNvSpPr txBox="1"/>
          <p:nvPr/>
        </p:nvSpPr>
        <p:spPr>
          <a:xfrm>
            <a:off x="8584259" y="4490661"/>
            <a:ext cx="6572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Montserrat" panose="00000500000000000000" pitchFamily="2" charset="0"/>
              </a:rPr>
              <a:t>9.8%</a:t>
            </a:r>
            <a:endParaRPr lang="en-IN" sz="600" b="1" dirty="0">
              <a:latin typeface="Montserrat" panose="00000500000000000000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1D4BAAB-FB04-E9F8-4961-44FBC3CDCF42}"/>
              </a:ext>
            </a:extLst>
          </p:cNvPr>
          <p:cNvSpPr txBox="1"/>
          <p:nvPr/>
        </p:nvSpPr>
        <p:spPr>
          <a:xfrm>
            <a:off x="9777789" y="4098581"/>
            <a:ext cx="6572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Montserrat" panose="00000500000000000000" pitchFamily="2" charset="0"/>
              </a:rPr>
              <a:t>  </a:t>
            </a:r>
            <a:r>
              <a:rPr lang="en-US" sz="1050" b="1" dirty="0">
                <a:latin typeface="Montserrat" panose="00000500000000000000" pitchFamily="2" charset="0"/>
              </a:rPr>
              <a:t>15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r>
              <a:rPr lang="en-US" sz="1050" b="1" dirty="0">
                <a:latin typeface="Montserrat" panose="00000500000000000000" pitchFamily="2" charset="0"/>
              </a:rPr>
              <a:t>7%</a:t>
            </a:r>
            <a:endParaRPr lang="en-IN" sz="600" b="1" dirty="0">
              <a:latin typeface="Montserrat" panose="00000500000000000000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BDA02CE-68A1-1D9A-7275-53C5856B36D0}"/>
              </a:ext>
            </a:extLst>
          </p:cNvPr>
          <p:cNvSpPr txBox="1"/>
          <p:nvPr/>
        </p:nvSpPr>
        <p:spPr>
          <a:xfrm>
            <a:off x="7564860" y="5815532"/>
            <a:ext cx="29283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Montserrat" panose="00000500000000000000" pitchFamily="2" charset="0"/>
              </a:rPr>
              <a:t>          Overall Event Rate</a:t>
            </a:r>
          </a:p>
          <a:p>
            <a:r>
              <a:rPr lang="en-US" sz="1600" b="1" dirty="0">
                <a:latin typeface="Montserrat" panose="00000500000000000000" pitchFamily="2" charset="0"/>
              </a:rPr>
              <a:t>               9.5%</a:t>
            </a:r>
          </a:p>
          <a:p>
            <a:endParaRPr lang="en-IN" sz="1000" b="1" dirty="0">
              <a:latin typeface="Montserrat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AC262B-7F0B-B022-01B6-BD67FE071AD5}"/>
              </a:ext>
            </a:extLst>
          </p:cNvPr>
          <p:cNvSpPr/>
          <p:nvPr/>
        </p:nvSpPr>
        <p:spPr>
          <a:xfrm>
            <a:off x="11016178" y="3526866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C1B23B-E630-C882-0CC6-417DF384FFF7}"/>
              </a:ext>
            </a:extLst>
          </p:cNvPr>
          <p:cNvSpPr/>
          <p:nvPr/>
        </p:nvSpPr>
        <p:spPr>
          <a:xfrm>
            <a:off x="11023136" y="3914758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6690E-12A3-2A6E-B170-E8A83520CF17}"/>
              </a:ext>
            </a:extLst>
          </p:cNvPr>
          <p:cNvSpPr txBox="1"/>
          <p:nvPr/>
        </p:nvSpPr>
        <p:spPr>
          <a:xfrm>
            <a:off x="11223471" y="3526865"/>
            <a:ext cx="14815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Rate %</a:t>
            </a:r>
            <a:endParaRPr lang="en-IN" sz="8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74D6D-559F-826D-0B3A-CB546014159B}"/>
              </a:ext>
            </a:extLst>
          </p:cNvPr>
          <p:cNvSpPr txBox="1"/>
          <p:nvPr/>
        </p:nvSpPr>
        <p:spPr>
          <a:xfrm>
            <a:off x="11223471" y="3921990"/>
            <a:ext cx="14815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Population %</a:t>
            </a:r>
            <a:endParaRPr lang="en-IN" sz="8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41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17E97A7-89F8-85FD-211F-B90883DE7E7A}"/>
              </a:ext>
            </a:extLst>
          </p:cNvPr>
          <p:cNvSpPr/>
          <p:nvPr/>
        </p:nvSpPr>
        <p:spPr>
          <a:xfrm>
            <a:off x="5989905" y="2361531"/>
            <a:ext cx="3770784" cy="1785712"/>
          </a:xfrm>
          <a:prstGeom prst="roundRect">
            <a:avLst>
              <a:gd name="adj" fmla="val 7352"/>
            </a:avLst>
          </a:prstGeom>
          <a:gradFill flip="none" rotWithShape="1">
            <a:gsLst>
              <a:gs pos="0">
                <a:srgbClr val="000066">
                  <a:alpha val="44000"/>
                </a:srgbClr>
              </a:gs>
              <a:gs pos="100000">
                <a:srgbClr val="002346">
                  <a:alpha val="82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381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D6CC3BD-BB7B-B7DA-36A9-E46901014813}"/>
              </a:ext>
            </a:extLst>
          </p:cNvPr>
          <p:cNvSpPr/>
          <p:nvPr/>
        </p:nvSpPr>
        <p:spPr>
          <a:xfrm rot="5400000">
            <a:off x="8365437" y="-774686"/>
            <a:ext cx="1291538" cy="4356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FABC11-4B0F-7610-E79D-AE596E3456A5}"/>
              </a:ext>
            </a:extLst>
          </p:cNvPr>
          <p:cNvSpPr/>
          <p:nvPr/>
        </p:nvSpPr>
        <p:spPr>
          <a:xfrm rot="5400000">
            <a:off x="1755263" y="-752423"/>
            <a:ext cx="1291538" cy="4356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8586" y="291505"/>
            <a:ext cx="8958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Design Construct -  </a:t>
            </a:r>
            <a:r>
              <a:rPr lang="en-IN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Drop in App Engagement(1/3) </a:t>
            </a:r>
            <a:endParaRPr lang="en-IN" sz="2800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2F5D64-8C7E-00BB-C771-E3B6AC40A769}"/>
              </a:ext>
            </a:extLst>
          </p:cNvPr>
          <p:cNvSpPr/>
          <p:nvPr/>
        </p:nvSpPr>
        <p:spPr>
          <a:xfrm>
            <a:off x="189643" y="2372219"/>
            <a:ext cx="3676275" cy="1785712"/>
          </a:xfrm>
          <a:prstGeom prst="roundRect">
            <a:avLst>
              <a:gd name="adj" fmla="val 7352"/>
            </a:avLst>
          </a:prstGeom>
          <a:gradFill flip="none" rotWithShape="1">
            <a:gsLst>
              <a:gs pos="0">
                <a:srgbClr val="000066">
                  <a:alpha val="44000"/>
                </a:srgbClr>
              </a:gs>
              <a:gs pos="100000">
                <a:srgbClr val="002346">
                  <a:alpha val="82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381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32C633-4757-126E-682B-02F286821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552898"/>
              </p:ext>
            </p:extLst>
          </p:nvPr>
        </p:nvGraphicFramePr>
        <p:xfrm>
          <a:off x="355138" y="2493131"/>
          <a:ext cx="5237152" cy="1488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185">
                  <a:extLst>
                    <a:ext uri="{9D8B030D-6E8A-4147-A177-3AD203B41FA5}">
                      <a16:colId xmlns:a16="http://schemas.microsoft.com/office/drawing/2014/main" val="180505545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243462577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491025903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68397479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7274752"/>
                    </a:ext>
                  </a:extLst>
                </a:gridCol>
                <a:gridCol w="557760">
                  <a:extLst>
                    <a:ext uri="{9D8B030D-6E8A-4147-A177-3AD203B41FA5}">
                      <a16:colId xmlns:a16="http://schemas.microsoft.com/office/drawing/2014/main" val="2944057552"/>
                    </a:ext>
                  </a:extLst>
                </a:gridCol>
                <a:gridCol w="668507">
                  <a:extLst>
                    <a:ext uri="{9D8B030D-6E8A-4147-A177-3AD203B41FA5}">
                      <a16:colId xmlns:a16="http://schemas.microsoft.com/office/drawing/2014/main" val="1995433764"/>
                    </a:ext>
                  </a:extLst>
                </a:gridCol>
              </a:tblGrid>
              <a:tr h="2376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Growth %</a:t>
                      </a: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May‘23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Apr'23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Jan'23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Dec'22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24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-100% - &lt;= -50%</a:t>
                      </a: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14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18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20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15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15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18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2362"/>
                  </a:ext>
                </a:extLst>
              </a:tr>
              <a:tr h="66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-50% - &lt;= -25%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26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32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34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26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28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32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943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-25% - &lt;= 0%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40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47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50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40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43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49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5015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0 - &lt;=25%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55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62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64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53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58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64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2249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25% - &lt;= 50%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67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74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75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64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68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74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10125"/>
                  </a:ext>
                </a:extLst>
              </a:tr>
              <a:tr h="1457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&gt;50%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Open Sans" panose="020B0606030504020204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456532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D3D36D1-169A-1F64-D6C3-0745B50F1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858826"/>
              </p:ext>
            </p:extLst>
          </p:nvPr>
        </p:nvGraphicFramePr>
        <p:xfrm>
          <a:off x="6237255" y="2507997"/>
          <a:ext cx="5237152" cy="146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185">
                  <a:extLst>
                    <a:ext uri="{9D8B030D-6E8A-4147-A177-3AD203B41FA5}">
                      <a16:colId xmlns:a16="http://schemas.microsoft.com/office/drawing/2014/main" val="180505545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243462577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491025903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68397479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7274752"/>
                    </a:ext>
                  </a:extLst>
                </a:gridCol>
                <a:gridCol w="557760">
                  <a:extLst>
                    <a:ext uri="{9D8B030D-6E8A-4147-A177-3AD203B41FA5}">
                      <a16:colId xmlns:a16="http://schemas.microsoft.com/office/drawing/2014/main" val="2944057552"/>
                    </a:ext>
                  </a:extLst>
                </a:gridCol>
                <a:gridCol w="668507">
                  <a:extLst>
                    <a:ext uri="{9D8B030D-6E8A-4147-A177-3AD203B41FA5}">
                      <a16:colId xmlns:a16="http://schemas.microsoft.com/office/drawing/2014/main" val="1995433764"/>
                    </a:ext>
                  </a:extLst>
                </a:gridCol>
              </a:tblGrid>
              <a:tr h="2376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Growth %</a:t>
                      </a:r>
                    </a:p>
                  </a:txBody>
                  <a:tcPr marL="15762" marR="15762" marT="10508" marB="10508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May'23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Apr'23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Jan'23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Dec'22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24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-100% - &lt;= -50%</a:t>
                      </a:r>
                    </a:p>
                  </a:txBody>
                  <a:tcPr marL="15762" marR="15762" marT="10508" marB="10508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26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24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24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24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2362"/>
                  </a:ext>
                </a:extLst>
              </a:tr>
              <a:tr h="66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-50% - &lt;= -25%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43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39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38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38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943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-25% - &lt;= 0%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55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55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58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5015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0 - &lt;=25%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67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67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71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2249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25% - &lt;= 50%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77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75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79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78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10125"/>
                  </a:ext>
                </a:extLst>
              </a:tr>
              <a:tr h="1457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&gt;50%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tx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456532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4B67389-3903-53C0-48F1-005937BF9FCB}"/>
              </a:ext>
            </a:extLst>
          </p:cNvPr>
          <p:cNvSpPr/>
          <p:nvPr/>
        </p:nvSpPr>
        <p:spPr>
          <a:xfrm>
            <a:off x="2513328" y="4596046"/>
            <a:ext cx="5748443" cy="1785712"/>
          </a:xfrm>
          <a:prstGeom prst="roundRect">
            <a:avLst>
              <a:gd name="adj" fmla="val 7352"/>
            </a:avLst>
          </a:prstGeom>
          <a:gradFill flip="none" rotWithShape="1">
            <a:gsLst>
              <a:gs pos="0">
                <a:srgbClr val="000066">
                  <a:alpha val="44000"/>
                </a:srgbClr>
              </a:gs>
              <a:gs pos="100000">
                <a:srgbClr val="002346">
                  <a:alpha val="82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381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03E6390-A77E-7C8D-6181-5974B52DF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69898"/>
              </p:ext>
            </p:extLst>
          </p:nvPr>
        </p:nvGraphicFramePr>
        <p:xfrm>
          <a:off x="2606045" y="4754906"/>
          <a:ext cx="5444884" cy="134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525">
                  <a:extLst>
                    <a:ext uri="{9D8B030D-6E8A-4147-A177-3AD203B41FA5}">
                      <a16:colId xmlns:a16="http://schemas.microsoft.com/office/drawing/2014/main" val="1805055450"/>
                    </a:ext>
                  </a:extLst>
                </a:gridCol>
                <a:gridCol w="969783">
                  <a:extLst>
                    <a:ext uri="{9D8B030D-6E8A-4147-A177-3AD203B41FA5}">
                      <a16:colId xmlns:a16="http://schemas.microsoft.com/office/drawing/2014/main" val="1243462577"/>
                    </a:ext>
                  </a:extLst>
                </a:gridCol>
                <a:gridCol w="737035">
                  <a:extLst>
                    <a:ext uri="{9D8B030D-6E8A-4147-A177-3AD203B41FA5}">
                      <a16:colId xmlns:a16="http://schemas.microsoft.com/office/drawing/2014/main" val="2491025903"/>
                    </a:ext>
                  </a:extLst>
                </a:gridCol>
                <a:gridCol w="1073227">
                  <a:extLst>
                    <a:ext uri="{9D8B030D-6E8A-4147-A177-3AD203B41FA5}">
                      <a16:colId xmlns:a16="http://schemas.microsoft.com/office/drawing/2014/main" val="1683974792"/>
                    </a:ext>
                  </a:extLst>
                </a:gridCol>
                <a:gridCol w="685314">
                  <a:extLst>
                    <a:ext uri="{9D8B030D-6E8A-4147-A177-3AD203B41FA5}">
                      <a16:colId xmlns:a16="http://schemas.microsoft.com/office/drawing/2014/main" val="57274752"/>
                    </a:ext>
                  </a:extLst>
                </a:gridCol>
              </a:tblGrid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App Opened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Grand Total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2484"/>
                  </a:ext>
                </a:extLst>
              </a:tr>
              <a:tr h="3316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15.25%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1.44%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4.86%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21.56%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2362"/>
                  </a:ext>
                </a:extLst>
              </a:tr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10.08%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9.34%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4.66%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24.08%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9432"/>
                  </a:ext>
                </a:extLst>
              </a:tr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4.64%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10.41%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39.31%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54.37%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50154"/>
                  </a:ext>
                </a:extLst>
              </a:tr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Grand Total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29.97%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21.20%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48.83%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100.00%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2249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F50F605-F070-5515-C68E-6DF5C6B8DD96}"/>
              </a:ext>
            </a:extLst>
          </p:cNvPr>
          <p:cNvSpPr/>
          <p:nvPr/>
        </p:nvSpPr>
        <p:spPr>
          <a:xfrm>
            <a:off x="2340845" y="4289284"/>
            <a:ext cx="6396616" cy="291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200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Percentile dist. divided into  H/M/L      based on domain knowledge and selected </a:t>
            </a: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H-H</a:t>
            </a:r>
            <a:endParaRPr lang="en-IN" sz="1200" b="1" dirty="0">
              <a:solidFill>
                <a:schemeClr val="dk1"/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7B0C36-98DE-867C-9AA8-043D5653196D}"/>
              </a:ext>
            </a:extLst>
          </p:cNvPr>
          <p:cNvSpPr/>
          <p:nvPr/>
        </p:nvSpPr>
        <p:spPr>
          <a:xfrm>
            <a:off x="10258947" y="4596046"/>
            <a:ext cx="1784516" cy="17249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8A0353-0483-E62E-E679-0FA598729B63}"/>
              </a:ext>
            </a:extLst>
          </p:cNvPr>
          <p:cNvSpPr/>
          <p:nvPr/>
        </p:nvSpPr>
        <p:spPr>
          <a:xfrm>
            <a:off x="10499489" y="5070678"/>
            <a:ext cx="1292665" cy="716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Class – 1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Drop in App Engagement</a:t>
            </a:r>
            <a:endParaRPr lang="en-IN" sz="1200" b="1" dirty="0">
              <a:solidFill>
                <a:schemeClr val="dk1"/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9D7045-4625-B6E8-504C-1E10A96817A1}"/>
              </a:ext>
            </a:extLst>
          </p:cNvPr>
          <p:cNvCxnSpPr/>
          <p:nvPr/>
        </p:nvCxnSpPr>
        <p:spPr>
          <a:xfrm>
            <a:off x="8502471" y="5476875"/>
            <a:ext cx="15086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92B6B3F-257A-4AD2-0B25-803964A94D60}"/>
              </a:ext>
            </a:extLst>
          </p:cNvPr>
          <p:cNvSpPr/>
          <p:nvPr/>
        </p:nvSpPr>
        <p:spPr>
          <a:xfrm>
            <a:off x="8378438" y="5023594"/>
            <a:ext cx="1784651" cy="48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Customers included in </a:t>
            </a:r>
            <a:r>
              <a:rPr lang="en-IN" sz="11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H-H</a:t>
            </a:r>
            <a:endParaRPr lang="en-IN" sz="11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8CBEB1-04A9-BA36-588F-B4359328676C}"/>
              </a:ext>
            </a:extLst>
          </p:cNvPr>
          <p:cNvCxnSpPr>
            <a:cxnSpLocks/>
          </p:cNvCxnSpPr>
          <p:nvPr/>
        </p:nvCxnSpPr>
        <p:spPr>
          <a:xfrm>
            <a:off x="5081050" y="4142257"/>
            <a:ext cx="0" cy="453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Google Shape;331;g2402a97e5b8_0_2861">
            <a:extLst>
              <a:ext uri="{FF2B5EF4-FFF2-40B4-BE49-F238E27FC236}">
                <a16:creationId xmlns:a16="http://schemas.microsoft.com/office/drawing/2014/main" id="{6320C14C-5421-0B54-D443-EF49728F047C}"/>
              </a:ext>
            </a:extLst>
          </p:cNvPr>
          <p:cNvSpPr txBox="1"/>
          <p:nvPr/>
        </p:nvSpPr>
        <p:spPr>
          <a:xfrm>
            <a:off x="959924" y="1246699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0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Last 3months</a:t>
            </a:r>
            <a:endParaRPr sz="10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44" name="Google Shape;331;g2402a97e5b8_0_2861">
            <a:extLst>
              <a:ext uri="{FF2B5EF4-FFF2-40B4-BE49-F238E27FC236}">
                <a16:creationId xmlns:a16="http://schemas.microsoft.com/office/drawing/2014/main" id="{448A8AE1-9A74-97B6-4C56-BB1F69BA4B32}"/>
              </a:ext>
            </a:extLst>
          </p:cNvPr>
          <p:cNvSpPr txBox="1"/>
          <p:nvPr/>
        </p:nvSpPr>
        <p:spPr>
          <a:xfrm>
            <a:off x="2908648" y="1228259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Next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Month</a:t>
            </a:r>
            <a:endParaRPr sz="9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313EB7-7C3A-A9CC-B4FF-0641F0568447}"/>
              </a:ext>
            </a:extLst>
          </p:cNvPr>
          <p:cNvSpPr/>
          <p:nvPr/>
        </p:nvSpPr>
        <p:spPr>
          <a:xfrm>
            <a:off x="1623842" y="782116"/>
            <a:ext cx="16690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MAU Month (Snapshot)</a:t>
            </a:r>
            <a:endParaRPr lang="en-IN" sz="1000" b="1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27ED9B-DFD3-5E63-3B55-76747F9545B8}"/>
              </a:ext>
            </a:extLst>
          </p:cNvPr>
          <p:cNvSpPr/>
          <p:nvPr/>
        </p:nvSpPr>
        <p:spPr>
          <a:xfrm>
            <a:off x="2267830" y="1084976"/>
            <a:ext cx="184279" cy="9528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8EB0844-CC80-1C10-2AF5-B69E1C97C036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2452109" y="1561414"/>
            <a:ext cx="181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9FD4C7-57AB-D582-9132-86E90C13A43B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609292" y="1561414"/>
            <a:ext cx="1658538" cy="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Google Shape;331;g2402a97e5b8_0_2861">
            <a:extLst>
              <a:ext uri="{FF2B5EF4-FFF2-40B4-BE49-F238E27FC236}">
                <a16:creationId xmlns:a16="http://schemas.microsoft.com/office/drawing/2014/main" id="{C7B8E1F1-A0A1-133B-8A8C-C32D0AE68AF1}"/>
              </a:ext>
            </a:extLst>
          </p:cNvPr>
          <p:cNvSpPr txBox="1"/>
          <p:nvPr/>
        </p:nvSpPr>
        <p:spPr>
          <a:xfrm>
            <a:off x="678908" y="1723634"/>
            <a:ext cx="1651801" cy="30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Avg. of app opening in last 3m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0" name="Google Shape;331;g2402a97e5b8_0_2861">
            <a:extLst>
              <a:ext uri="{FF2B5EF4-FFF2-40B4-BE49-F238E27FC236}">
                <a16:creationId xmlns:a16="http://schemas.microsoft.com/office/drawing/2014/main" id="{1E2669EB-911C-46AA-6C3C-3F28C0A7DFBF}"/>
              </a:ext>
            </a:extLst>
          </p:cNvPr>
          <p:cNvSpPr txBox="1"/>
          <p:nvPr/>
        </p:nvSpPr>
        <p:spPr>
          <a:xfrm>
            <a:off x="2245367" y="1484819"/>
            <a:ext cx="2466506" cy="57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No. of app opening in the performance month</a:t>
            </a:r>
            <a:endParaRPr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5EE6F18-10E0-2003-0BC7-A2967DBA55D8}"/>
              </a:ext>
            </a:extLst>
          </p:cNvPr>
          <p:cNvSpPr/>
          <p:nvPr/>
        </p:nvSpPr>
        <p:spPr>
          <a:xfrm>
            <a:off x="1322513" y="1913876"/>
            <a:ext cx="2289409" cy="4694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b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Calculate app opening growth</a:t>
            </a:r>
            <a:endParaRPr lang="en-IN" sz="11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4" name="Google Shape;331;g2402a97e5b8_0_2861">
            <a:extLst>
              <a:ext uri="{FF2B5EF4-FFF2-40B4-BE49-F238E27FC236}">
                <a16:creationId xmlns:a16="http://schemas.microsoft.com/office/drawing/2014/main" id="{A7530360-7476-E78C-54E4-E522DFF1DCF9}"/>
              </a:ext>
            </a:extLst>
          </p:cNvPr>
          <p:cNvSpPr txBox="1"/>
          <p:nvPr/>
        </p:nvSpPr>
        <p:spPr>
          <a:xfrm>
            <a:off x="7276919" y="1145219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0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Last 3months</a:t>
            </a:r>
            <a:endParaRPr sz="10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5" name="Google Shape;331;g2402a97e5b8_0_2861">
            <a:extLst>
              <a:ext uri="{FF2B5EF4-FFF2-40B4-BE49-F238E27FC236}">
                <a16:creationId xmlns:a16="http://schemas.microsoft.com/office/drawing/2014/main" id="{7274E2B9-9000-0CAD-5171-E30C6D920D27}"/>
              </a:ext>
            </a:extLst>
          </p:cNvPr>
          <p:cNvSpPr txBox="1"/>
          <p:nvPr/>
        </p:nvSpPr>
        <p:spPr>
          <a:xfrm>
            <a:off x="9225643" y="1126779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Next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Month</a:t>
            </a:r>
            <a:endParaRPr sz="9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372B7BC-8A1F-91DB-765F-F3D8A1DE35AE}"/>
              </a:ext>
            </a:extLst>
          </p:cNvPr>
          <p:cNvSpPr/>
          <p:nvPr/>
        </p:nvSpPr>
        <p:spPr>
          <a:xfrm>
            <a:off x="8326080" y="704282"/>
            <a:ext cx="7841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Snapshot</a:t>
            </a:r>
            <a:endParaRPr lang="en-IN" sz="1000" b="1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B23E3E7-40DB-F6D6-DCF5-4646656546AB}"/>
              </a:ext>
            </a:extLst>
          </p:cNvPr>
          <p:cNvSpPr/>
          <p:nvPr/>
        </p:nvSpPr>
        <p:spPr>
          <a:xfrm>
            <a:off x="8584825" y="983496"/>
            <a:ext cx="266700" cy="9528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F4C84C2-1154-EC99-45D2-FD86517AA203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8851525" y="1459934"/>
            <a:ext cx="1734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470BF42-5ADE-D83A-78E1-CAE5B8766D30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6926287" y="1459934"/>
            <a:ext cx="1658538" cy="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Google Shape;331;g2402a97e5b8_0_2861">
            <a:extLst>
              <a:ext uri="{FF2B5EF4-FFF2-40B4-BE49-F238E27FC236}">
                <a16:creationId xmlns:a16="http://schemas.microsoft.com/office/drawing/2014/main" id="{A7DC8AB8-42FB-6488-F8CB-E9081A38E4C2}"/>
              </a:ext>
            </a:extLst>
          </p:cNvPr>
          <p:cNvSpPr txBox="1"/>
          <p:nvPr/>
        </p:nvSpPr>
        <p:spPr>
          <a:xfrm>
            <a:off x="7063327" y="1547952"/>
            <a:ext cx="1651801" cy="30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Avg. of app clicks in last  3m</a:t>
            </a:r>
            <a:endParaRPr lang="en-IN"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71" name="Google Shape;331;g2402a97e5b8_0_2861">
            <a:extLst>
              <a:ext uri="{FF2B5EF4-FFF2-40B4-BE49-F238E27FC236}">
                <a16:creationId xmlns:a16="http://schemas.microsoft.com/office/drawing/2014/main" id="{1FAC4A0F-ADC7-4C64-2F9F-F88B091E99BD}"/>
              </a:ext>
            </a:extLst>
          </p:cNvPr>
          <p:cNvSpPr txBox="1"/>
          <p:nvPr/>
        </p:nvSpPr>
        <p:spPr>
          <a:xfrm>
            <a:off x="8485674" y="1425560"/>
            <a:ext cx="2466506" cy="57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No. of app clicks in the performance month</a:t>
            </a:r>
            <a:endParaRPr lang="en-IN"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7D8475-971A-97B6-B3DE-0E6D2AA66282}"/>
              </a:ext>
            </a:extLst>
          </p:cNvPr>
          <p:cNvSpPr/>
          <p:nvPr/>
        </p:nvSpPr>
        <p:spPr>
          <a:xfrm>
            <a:off x="7729277" y="1876194"/>
            <a:ext cx="2109873" cy="4694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b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Calculate app clicks growth</a:t>
            </a:r>
            <a:endParaRPr lang="en-IN" sz="11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9C22E9-AF02-B905-C87A-95F1E817AF28}"/>
              </a:ext>
            </a:extLst>
          </p:cNvPr>
          <p:cNvSpPr/>
          <p:nvPr/>
        </p:nvSpPr>
        <p:spPr>
          <a:xfrm>
            <a:off x="403922" y="4675507"/>
            <a:ext cx="1843627" cy="16027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Growth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Thresholds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 -25%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High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- 25%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---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25%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Med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&gt; 25%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 Low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endParaRPr lang="en-IN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9C5397-EAD5-E995-E897-D6903549ACBA}"/>
              </a:ext>
            </a:extLst>
          </p:cNvPr>
          <p:cNvSpPr txBox="1"/>
          <p:nvPr/>
        </p:nvSpPr>
        <p:spPr>
          <a:xfrm>
            <a:off x="626199" y="980339"/>
            <a:ext cx="18037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(Observation Period)</a:t>
            </a:r>
            <a:endParaRPr lang="en-IN" sz="11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5CAAF4-2309-79D6-D61C-1242E3F84FDF}"/>
              </a:ext>
            </a:extLst>
          </p:cNvPr>
          <p:cNvSpPr txBox="1"/>
          <p:nvPr/>
        </p:nvSpPr>
        <p:spPr>
          <a:xfrm>
            <a:off x="2633681" y="981124"/>
            <a:ext cx="18037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(Performance Period)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27430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D6CC3BD-BB7B-B7DA-36A9-E46901014813}"/>
              </a:ext>
            </a:extLst>
          </p:cNvPr>
          <p:cNvSpPr/>
          <p:nvPr/>
        </p:nvSpPr>
        <p:spPr>
          <a:xfrm rot="5400000">
            <a:off x="8365437" y="-774686"/>
            <a:ext cx="1291538" cy="4356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FABC11-4B0F-7610-E79D-AE596E3456A5}"/>
              </a:ext>
            </a:extLst>
          </p:cNvPr>
          <p:cNvSpPr/>
          <p:nvPr/>
        </p:nvSpPr>
        <p:spPr>
          <a:xfrm rot="5400000">
            <a:off x="1755263" y="-752423"/>
            <a:ext cx="1291538" cy="4356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8586" y="291505"/>
            <a:ext cx="91949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Design Construct -  </a:t>
            </a:r>
            <a:r>
              <a:rPr lang="en-IN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Drop in GMV/Transactions (2/3)</a:t>
            </a:r>
            <a:endParaRPr lang="en-IN" sz="2800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2F5D64-8C7E-00BB-C771-E3B6AC40A769}"/>
              </a:ext>
            </a:extLst>
          </p:cNvPr>
          <p:cNvSpPr/>
          <p:nvPr/>
        </p:nvSpPr>
        <p:spPr>
          <a:xfrm>
            <a:off x="189643" y="2372219"/>
            <a:ext cx="11710655" cy="1785712"/>
          </a:xfrm>
          <a:prstGeom prst="roundRect">
            <a:avLst>
              <a:gd name="adj" fmla="val 7352"/>
            </a:avLst>
          </a:prstGeom>
          <a:gradFill flip="none" rotWithShape="1">
            <a:gsLst>
              <a:gs pos="0">
                <a:srgbClr val="000066">
                  <a:alpha val="44000"/>
                </a:srgbClr>
              </a:gs>
              <a:gs pos="100000">
                <a:srgbClr val="002346">
                  <a:alpha val="82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381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32C633-4757-126E-682B-02F286821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653513"/>
              </p:ext>
            </p:extLst>
          </p:nvPr>
        </p:nvGraphicFramePr>
        <p:xfrm>
          <a:off x="355138" y="2493131"/>
          <a:ext cx="5237152" cy="1488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185">
                  <a:extLst>
                    <a:ext uri="{9D8B030D-6E8A-4147-A177-3AD203B41FA5}">
                      <a16:colId xmlns:a16="http://schemas.microsoft.com/office/drawing/2014/main" val="180505545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243462577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491025903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68397479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7274752"/>
                    </a:ext>
                  </a:extLst>
                </a:gridCol>
                <a:gridCol w="557760">
                  <a:extLst>
                    <a:ext uri="{9D8B030D-6E8A-4147-A177-3AD203B41FA5}">
                      <a16:colId xmlns:a16="http://schemas.microsoft.com/office/drawing/2014/main" val="2944057552"/>
                    </a:ext>
                  </a:extLst>
                </a:gridCol>
                <a:gridCol w="668507">
                  <a:extLst>
                    <a:ext uri="{9D8B030D-6E8A-4147-A177-3AD203B41FA5}">
                      <a16:colId xmlns:a16="http://schemas.microsoft.com/office/drawing/2014/main" val="1995433764"/>
                    </a:ext>
                  </a:extLst>
                </a:gridCol>
              </a:tblGrid>
              <a:tr h="2376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Growth %</a:t>
                      </a: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May‘23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Apr'23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Jan'23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Dec'22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24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-100% - &lt;= -50%</a:t>
                      </a: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44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43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44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48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56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53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2362"/>
                  </a:ext>
                </a:extLst>
              </a:tr>
              <a:tr h="66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-50% - &lt;= -25%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54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52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54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57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65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61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943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-25% - &lt;= 0%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62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60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62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65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72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69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5015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0 - &lt;=25%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69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67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68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71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77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74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2249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25% - &lt;= 50%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74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72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73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75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80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78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10125"/>
                  </a:ext>
                </a:extLst>
              </a:tr>
              <a:tr h="1457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&gt;50%</a:t>
                      </a:r>
                    </a:p>
                  </a:txBody>
                  <a:tcPr marL="19050" marR="19050" marT="12700" marB="12700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6562" marR="16562" marT="11041" marB="1104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</a:p>
                  </a:txBody>
                  <a:tcPr marL="16562" marR="16562" marT="11041" marB="11041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456532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D3D36D1-169A-1F64-D6C3-0745B50F1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40777"/>
              </p:ext>
            </p:extLst>
          </p:nvPr>
        </p:nvGraphicFramePr>
        <p:xfrm>
          <a:off x="6237255" y="2507997"/>
          <a:ext cx="5237152" cy="146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185">
                  <a:extLst>
                    <a:ext uri="{9D8B030D-6E8A-4147-A177-3AD203B41FA5}">
                      <a16:colId xmlns:a16="http://schemas.microsoft.com/office/drawing/2014/main" val="180505545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243462577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491025903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68397479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7274752"/>
                    </a:ext>
                  </a:extLst>
                </a:gridCol>
                <a:gridCol w="557760">
                  <a:extLst>
                    <a:ext uri="{9D8B030D-6E8A-4147-A177-3AD203B41FA5}">
                      <a16:colId xmlns:a16="http://schemas.microsoft.com/office/drawing/2014/main" val="2944057552"/>
                    </a:ext>
                  </a:extLst>
                </a:gridCol>
                <a:gridCol w="668507">
                  <a:extLst>
                    <a:ext uri="{9D8B030D-6E8A-4147-A177-3AD203B41FA5}">
                      <a16:colId xmlns:a16="http://schemas.microsoft.com/office/drawing/2014/main" val="1995433764"/>
                    </a:ext>
                  </a:extLst>
                </a:gridCol>
              </a:tblGrid>
              <a:tr h="2376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Growth %</a:t>
                      </a:r>
                    </a:p>
                  </a:txBody>
                  <a:tcPr marL="15762" marR="15762" marT="10508" marB="10508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May'23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Apr'23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Jan'23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Dec'22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248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-100% - &lt;= -50%</a:t>
                      </a:r>
                    </a:p>
                  </a:txBody>
                  <a:tcPr marL="15762" marR="15762" marT="10508" marB="10508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36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34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34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37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44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43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2362"/>
                  </a:ext>
                </a:extLst>
              </a:tr>
              <a:tr h="66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-50% - &lt;= -25%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47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44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44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46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54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52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943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-25% - &lt;= 0%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62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58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58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59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67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65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5015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0 - &lt;=25%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71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67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67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68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74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72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2249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25% - &lt;= 50%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79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76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81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80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10125"/>
                  </a:ext>
                </a:extLst>
              </a:tr>
              <a:tr h="1457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&gt;50%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</a:rPr>
                        <a:t>100</a:t>
                      </a:r>
                    </a:p>
                  </a:txBody>
                  <a:tcPr marL="15762" marR="15762" marT="10508" marB="10508" anchor="b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456532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4B67389-3903-53C0-48F1-005937BF9FCB}"/>
              </a:ext>
            </a:extLst>
          </p:cNvPr>
          <p:cNvSpPr/>
          <p:nvPr/>
        </p:nvSpPr>
        <p:spPr>
          <a:xfrm>
            <a:off x="2651550" y="4596046"/>
            <a:ext cx="5748443" cy="1785712"/>
          </a:xfrm>
          <a:prstGeom prst="roundRect">
            <a:avLst>
              <a:gd name="adj" fmla="val 7352"/>
            </a:avLst>
          </a:prstGeom>
          <a:gradFill flip="none" rotWithShape="1">
            <a:gsLst>
              <a:gs pos="0">
                <a:srgbClr val="000066">
                  <a:alpha val="44000"/>
                </a:srgbClr>
              </a:gs>
              <a:gs pos="100000">
                <a:srgbClr val="002346">
                  <a:alpha val="82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381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03E6390-A77E-7C8D-6181-5974B52DF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500970"/>
              </p:ext>
            </p:extLst>
          </p:nvPr>
        </p:nvGraphicFramePr>
        <p:xfrm>
          <a:off x="2744267" y="4754906"/>
          <a:ext cx="5444884" cy="134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525">
                  <a:extLst>
                    <a:ext uri="{9D8B030D-6E8A-4147-A177-3AD203B41FA5}">
                      <a16:colId xmlns:a16="http://schemas.microsoft.com/office/drawing/2014/main" val="1805055450"/>
                    </a:ext>
                  </a:extLst>
                </a:gridCol>
                <a:gridCol w="969783">
                  <a:extLst>
                    <a:ext uri="{9D8B030D-6E8A-4147-A177-3AD203B41FA5}">
                      <a16:colId xmlns:a16="http://schemas.microsoft.com/office/drawing/2014/main" val="1243462577"/>
                    </a:ext>
                  </a:extLst>
                </a:gridCol>
                <a:gridCol w="737035">
                  <a:extLst>
                    <a:ext uri="{9D8B030D-6E8A-4147-A177-3AD203B41FA5}">
                      <a16:colId xmlns:a16="http://schemas.microsoft.com/office/drawing/2014/main" val="2491025903"/>
                    </a:ext>
                  </a:extLst>
                </a:gridCol>
                <a:gridCol w="1073227">
                  <a:extLst>
                    <a:ext uri="{9D8B030D-6E8A-4147-A177-3AD203B41FA5}">
                      <a16:colId xmlns:a16="http://schemas.microsoft.com/office/drawing/2014/main" val="1683974792"/>
                    </a:ext>
                  </a:extLst>
                </a:gridCol>
                <a:gridCol w="685314">
                  <a:extLst>
                    <a:ext uri="{9D8B030D-6E8A-4147-A177-3AD203B41FA5}">
                      <a16:colId xmlns:a16="http://schemas.microsoft.com/office/drawing/2014/main" val="57274752"/>
                    </a:ext>
                  </a:extLst>
                </a:gridCol>
              </a:tblGrid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App Opened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Grand Total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2484"/>
                  </a:ext>
                </a:extLst>
              </a:tr>
              <a:tr h="3316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marL="19050" marR="19050" marT="12700" marB="127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31.92%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8.38%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4.32%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44.62%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2362"/>
                  </a:ext>
                </a:extLst>
              </a:tr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2.60%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8.50%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6.83%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17.93%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9432"/>
                  </a:ext>
                </a:extLst>
              </a:tr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2.09%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8.32%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27.03%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37.45%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50154"/>
                  </a:ext>
                </a:extLst>
              </a:tr>
              <a:tr h="176587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Grand Total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36.61%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25.20%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38.18%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solidFill>
                            <a:schemeClr val="bg1"/>
                          </a:solidFill>
                          <a:effectLst/>
                          <a:latin typeface="Open Sans" panose="020B0606030504020204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100.00%</a:t>
                      </a:r>
                    </a:p>
                  </a:txBody>
                  <a:tcPr marL="19050" marR="19050" marT="12700" marB="127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2249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F50F605-F070-5515-C68E-6DF5C6B8DD96}"/>
              </a:ext>
            </a:extLst>
          </p:cNvPr>
          <p:cNvSpPr/>
          <p:nvPr/>
        </p:nvSpPr>
        <p:spPr>
          <a:xfrm>
            <a:off x="2120356" y="4312552"/>
            <a:ext cx="7288629" cy="291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200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Percentile dist. divided into      H/M/L based on domain knowledge and selected </a:t>
            </a: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H-H, H-M, M-H</a:t>
            </a:r>
            <a:endParaRPr lang="en-IN" sz="1200" b="1" dirty="0">
              <a:solidFill>
                <a:schemeClr val="dk1"/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7B0C36-98DE-867C-9AA8-043D5653196D}"/>
              </a:ext>
            </a:extLst>
          </p:cNvPr>
          <p:cNvSpPr/>
          <p:nvPr/>
        </p:nvSpPr>
        <p:spPr>
          <a:xfrm>
            <a:off x="10397169" y="4638578"/>
            <a:ext cx="1784516" cy="17249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8A0353-0483-E62E-E679-0FA598729B63}"/>
              </a:ext>
            </a:extLst>
          </p:cNvPr>
          <p:cNvSpPr/>
          <p:nvPr/>
        </p:nvSpPr>
        <p:spPr>
          <a:xfrm>
            <a:off x="10637711" y="5070678"/>
            <a:ext cx="1292665" cy="85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Class – 2</a:t>
            </a:r>
          </a:p>
          <a:p>
            <a:pPr algn="ctr" rtl="0" fontAlgn="b"/>
            <a:r>
              <a:rPr lang="en-IN" sz="12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Drop in GMV/ Transactions Engagement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9D7045-4625-B6E8-504C-1E10A96817A1}"/>
              </a:ext>
            </a:extLst>
          </p:cNvPr>
          <p:cNvCxnSpPr/>
          <p:nvPr/>
        </p:nvCxnSpPr>
        <p:spPr>
          <a:xfrm>
            <a:off x="8640693" y="5476875"/>
            <a:ext cx="15086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92B6B3F-257A-4AD2-0B25-803964A94D60}"/>
              </a:ext>
            </a:extLst>
          </p:cNvPr>
          <p:cNvSpPr/>
          <p:nvPr/>
        </p:nvSpPr>
        <p:spPr>
          <a:xfrm>
            <a:off x="8516660" y="5023594"/>
            <a:ext cx="1784651" cy="48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Customers included in </a:t>
            </a:r>
            <a:r>
              <a:rPr lang="en-IN" sz="11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H-H | H – M | M - H</a:t>
            </a:r>
            <a:endParaRPr lang="en-IN" sz="11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8CBEB1-04A9-BA36-588F-B4359328676C}"/>
              </a:ext>
            </a:extLst>
          </p:cNvPr>
          <p:cNvCxnSpPr>
            <a:cxnSpLocks/>
          </p:cNvCxnSpPr>
          <p:nvPr/>
        </p:nvCxnSpPr>
        <p:spPr>
          <a:xfrm>
            <a:off x="4432464" y="4157931"/>
            <a:ext cx="0" cy="453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Google Shape;331;g2402a97e5b8_0_2861">
            <a:extLst>
              <a:ext uri="{FF2B5EF4-FFF2-40B4-BE49-F238E27FC236}">
                <a16:creationId xmlns:a16="http://schemas.microsoft.com/office/drawing/2014/main" id="{6320C14C-5421-0B54-D443-EF49728F047C}"/>
              </a:ext>
            </a:extLst>
          </p:cNvPr>
          <p:cNvSpPr txBox="1"/>
          <p:nvPr/>
        </p:nvSpPr>
        <p:spPr>
          <a:xfrm>
            <a:off x="959924" y="1182901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0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Last 3months</a:t>
            </a:r>
            <a:endParaRPr sz="10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44" name="Google Shape;331;g2402a97e5b8_0_2861">
            <a:extLst>
              <a:ext uri="{FF2B5EF4-FFF2-40B4-BE49-F238E27FC236}">
                <a16:creationId xmlns:a16="http://schemas.microsoft.com/office/drawing/2014/main" id="{448A8AE1-9A74-97B6-4C56-BB1F69BA4B32}"/>
              </a:ext>
            </a:extLst>
          </p:cNvPr>
          <p:cNvSpPr txBox="1"/>
          <p:nvPr/>
        </p:nvSpPr>
        <p:spPr>
          <a:xfrm>
            <a:off x="2908648" y="1164461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Next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Month</a:t>
            </a:r>
            <a:endParaRPr sz="9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313EB7-7C3A-A9CC-B4FF-0641F0568447}"/>
              </a:ext>
            </a:extLst>
          </p:cNvPr>
          <p:cNvSpPr/>
          <p:nvPr/>
        </p:nvSpPr>
        <p:spPr>
          <a:xfrm>
            <a:off x="2009085" y="741964"/>
            <a:ext cx="7841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Snapshot</a:t>
            </a:r>
            <a:endParaRPr lang="en-IN" sz="1000" b="1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27ED9B-DFD3-5E63-3B55-76747F9545B8}"/>
              </a:ext>
            </a:extLst>
          </p:cNvPr>
          <p:cNvSpPr/>
          <p:nvPr/>
        </p:nvSpPr>
        <p:spPr>
          <a:xfrm>
            <a:off x="2267830" y="1021178"/>
            <a:ext cx="266700" cy="9528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8EB0844-CC80-1C10-2AF5-B69E1C97C036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2534530" y="1497616"/>
            <a:ext cx="1734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9FD4C7-57AB-D582-9132-86E90C13A43B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609292" y="1497616"/>
            <a:ext cx="1658538" cy="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Google Shape;331;g2402a97e5b8_0_2861">
            <a:extLst>
              <a:ext uri="{FF2B5EF4-FFF2-40B4-BE49-F238E27FC236}">
                <a16:creationId xmlns:a16="http://schemas.microsoft.com/office/drawing/2014/main" id="{C7B8E1F1-A0A1-133B-8A8C-C32D0AE68AF1}"/>
              </a:ext>
            </a:extLst>
          </p:cNvPr>
          <p:cNvSpPr txBox="1"/>
          <p:nvPr/>
        </p:nvSpPr>
        <p:spPr>
          <a:xfrm>
            <a:off x="593006" y="1603524"/>
            <a:ext cx="1651801" cy="30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Avg. total GMV in last 3m</a:t>
            </a:r>
            <a:endParaRPr lang="en-IN"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0" name="Google Shape;331;g2402a97e5b8_0_2861">
            <a:extLst>
              <a:ext uri="{FF2B5EF4-FFF2-40B4-BE49-F238E27FC236}">
                <a16:creationId xmlns:a16="http://schemas.microsoft.com/office/drawing/2014/main" id="{1E2669EB-911C-46AA-6C3C-3F28C0A7DFBF}"/>
              </a:ext>
            </a:extLst>
          </p:cNvPr>
          <p:cNvSpPr txBox="1"/>
          <p:nvPr/>
        </p:nvSpPr>
        <p:spPr>
          <a:xfrm>
            <a:off x="2382329" y="1492451"/>
            <a:ext cx="2466506" cy="57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Total GMV in the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performance month</a:t>
            </a:r>
            <a:endParaRPr lang="en-IN"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5EE6F18-10E0-2003-0BC7-A2967DBA55D8}"/>
              </a:ext>
            </a:extLst>
          </p:cNvPr>
          <p:cNvSpPr/>
          <p:nvPr/>
        </p:nvSpPr>
        <p:spPr>
          <a:xfrm>
            <a:off x="1594222" y="1913876"/>
            <a:ext cx="1745991" cy="4694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b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Calculate GMV growth</a:t>
            </a:r>
            <a:endParaRPr lang="en-IN" sz="11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4" name="Google Shape;331;g2402a97e5b8_0_2861">
            <a:extLst>
              <a:ext uri="{FF2B5EF4-FFF2-40B4-BE49-F238E27FC236}">
                <a16:creationId xmlns:a16="http://schemas.microsoft.com/office/drawing/2014/main" id="{A7530360-7476-E78C-54E4-E522DFF1DCF9}"/>
              </a:ext>
            </a:extLst>
          </p:cNvPr>
          <p:cNvSpPr txBox="1"/>
          <p:nvPr/>
        </p:nvSpPr>
        <p:spPr>
          <a:xfrm>
            <a:off x="7276919" y="1145219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0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Last 3months</a:t>
            </a:r>
            <a:endParaRPr sz="10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5" name="Google Shape;331;g2402a97e5b8_0_2861">
            <a:extLst>
              <a:ext uri="{FF2B5EF4-FFF2-40B4-BE49-F238E27FC236}">
                <a16:creationId xmlns:a16="http://schemas.microsoft.com/office/drawing/2014/main" id="{7274E2B9-9000-0CAD-5171-E30C6D920D27}"/>
              </a:ext>
            </a:extLst>
          </p:cNvPr>
          <p:cNvSpPr txBox="1"/>
          <p:nvPr/>
        </p:nvSpPr>
        <p:spPr>
          <a:xfrm>
            <a:off x="9225643" y="1126779"/>
            <a:ext cx="957274" cy="2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Next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Month</a:t>
            </a:r>
            <a:endParaRPr sz="9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372B7BC-8A1F-91DB-765F-F3D8A1DE35AE}"/>
              </a:ext>
            </a:extLst>
          </p:cNvPr>
          <p:cNvSpPr/>
          <p:nvPr/>
        </p:nvSpPr>
        <p:spPr>
          <a:xfrm>
            <a:off x="8326080" y="704282"/>
            <a:ext cx="7841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Snapshot</a:t>
            </a:r>
            <a:endParaRPr lang="en-IN" sz="1000" b="1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B23E3E7-40DB-F6D6-DCF5-4646656546AB}"/>
              </a:ext>
            </a:extLst>
          </p:cNvPr>
          <p:cNvSpPr/>
          <p:nvPr/>
        </p:nvSpPr>
        <p:spPr>
          <a:xfrm>
            <a:off x="8584825" y="983496"/>
            <a:ext cx="266700" cy="9528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F4C84C2-1154-EC99-45D2-FD86517AA203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8851525" y="1459934"/>
            <a:ext cx="1734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470BF42-5ADE-D83A-78E1-CAE5B8766D30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6926287" y="1459934"/>
            <a:ext cx="1658538" cy="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Google Shape;331;g2402a97e5b8_0_2861">
            <a:extLst>
              <a:ext uri="{FF2B5EF4-FFF2-40B4-BE49-F238E27FC236}">
                <a16:creationId xmlns:a16="http://schemas.microsoft.com/office/drawing/2014/main" id="{A7DC8AB8-42FB-6488-F8CB-E9081A38E4C2}"/>
              </a:ext>
            </a:extLst>
          </p:cNvPr>
          <p:cNvSpPr txBox="1"/>
          <p:nvPr/>
        </p:nvSpPr>
        <p:spPr>
          <a:xfrm>
            <a:off x="7000596" y="1595322"/>
            <a:ext cx="1651801" cy="30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Avg. total transactions in last 3m</a:t>
            </a:r>
            <a:endParaRPr lang="en-IN"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71" name="Google Shape;331;g2402a97e5b8_0_2861">
            <a:extLst>
              <a:ext uri="{FF2B5EF4-FFF2-40B4-BE49-F238E27FC236}">
                <a16:creationId xmlns:a16="http://schemas.microsoft.com/office/drawing/2014/main" id="{1FAC4A0F-ADC7-4C64-2F9F-F88B091E99BD}"/>
              </a:ext>
            </a:extLst>
          </p:cNvPr>
          <p:cNvSpPr txBox="1"/>
          <p:nvPr/>
        </p:nvSpPr>
        <p:spPr>
          <a:xfrm>
            <a:off x="8485674" y="1425560"/>
            <a:ext cx="2466506" cy="57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Total transactions in the performance month</a:t>
            </a:r>
            <a:endParaRPr lang="en-IN" sz="11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7D8475-971A-97B6-B3DE-0E6D2AA66282}"/>
              </a:ext>
            </a:extLst>
          </p:cNvPr>
          <p:cNvSpPr/>
          <p:nvPr/>
        </p:nvSpPr>
        <p:spPr>
          <a:xfrm>
            <a:off x="7632295" y="1876194"/>
            <a:ext cx="2303837" cy="4694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b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IN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Calculate transactions growth</a:t>
            </a:r>
            <a:endParaRPr lang="en-IN" sz="11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E30F8F-DBA4-C3B7-D6BD-EE5E0CCE986C}"/>
              </a:ext>
            </a:extLst>
          </p:cNvPr>
          <p:cNvSpPr/>
          <p:nvPr/>
        </p:nvSpPr>
        <p:spPr>
          <a:xfrm>
            <a:off x="403922" y="4675507"/>
            <a:ext cx="1843627" cy="16027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Growth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Thresholds</a:t>
            </a:r>
          </a:p>
          <a:p>
            <a:pPr algn="ctr"/>
            <a:endParaRPr lang="en-US" sz="105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 -50%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High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- 0%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---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50%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Med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&gt; 50%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 Low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endParaRPr lang="en-IN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38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2631CB7-CA40-C33B-4B21-B9FDA64AE658}"/>
              </a:ext>
            </a:extLst>
          </p:cNvPr>
          <p:cNvCxnSpPr>
            <a:cxnSpLocks/>
          </p:cNvCxnSpPr>
          <p:nvPr/>
        </p:nvCxnSpPr>
        <p:spPr>
          <a:xfrm>
            <a:off x="0" y="902197"/>
            <a:ext cx="12240000" cy="18000"/>
          </a:xfrm>
          <a:prstGeom prst="line">
            <a:avLst/>
          </a:prstGeom>
          <a:ln w="38100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0" y="302478"/>
            <a:ext cx="11951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Design Construct -  </a:t>
            </a:r>
            <a:r>
              <a:rPr lang="en-IN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Non-Transacting (W &amp; W/O App Activity)(3/3)</a:t>
            </a:r>
            <a:endParaRPr lang="en-IN" sz="2800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14DF7-5291-BF06-5C11-357FC7FB9508}"/>
              </a:ext>
            </a:extLst>
          </p:cNvPr>
          <p:cNvSpPr/>
          <p:nvPr/>
        </p:nvSpPr>
        <p:spPr>
          <a:xfrm rot="5400000">
            <a:off x="1698114" y="1429869"/>
            <a:ext cx="1291538" cy="4356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88436-8D30-E0DB-7AB3-6D8ACD1AD4D0}"/>
              </a:ext>
            </a:extLst>
          </p:cNvPr>
          <p:cNvSpPr/>
          <p:nvPr/>
        </p:nvSpPr>
        <p:spPr>
          <a:xfrm rot="5400000">
            <a:off x="6759376" y="891155"/>
            <a:ext cx="2003056" cy="26370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IN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EC06D-7C3E-ACD5-30DF-7015EEFC954D}"/>
              </a:ext>
            </a:extLst>
          </p:cNvPr>
          <p:cNvSpPr/>
          <p:nvPr/>
        </p:nvSpPr>
        <p:spPr>
          <a:xfrm rot="5400000">
            <a:off x="6759376" y="3583026"/>
            <a:ext cx="2003056" cy="26370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425423-50EC-0B7F-D718-F1D31187AE82}"/>
              </a:ext>
            </a:extLst>
          </p:cNvPr>
          <p:cNvCxnSpPr>
            <a:cxnSpLocks/>
          </p:cNvCxnSpPr>
          <p:nvPr/>
        </p:nvCxnSpPr>
        <p:spPr>
          <a:xfrm>
            <a:off x="391691" y="3211195"/>
            <a:ext cx="3681175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271648A-FEFE-49D1-3771-951B073B6D3D}"/>
              </a:ext>
            </a:extLst>
          </p:cNvPr>
          <p:cNvSpPr/>
          <p:nvPr/>
        </p:nvSpPr>
        <p:spPr>
          <a:xfrm>
            <a:off x="402610" y="3110626"/>
            <a:ext cx="176310" cy="17631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43B425-926B-38B4-8795-0A137569DAE5}"/>
              </a:ext>
            </a:extLst>
          </p:cNvPr>
          <p:cNvSpPr/>
          <p:nvPr/>
        </p:nvSpPr>
        <p:spPr>
          <a:xfrm>
            <a:off x="3965920" y="3123040"/>
            <a:ext cx="176310" cy="17631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CCA21E-F466-F275-0D33-5ABB20EAEE78}"/>
              </a:ext>
            </a:extLst>
          </p:cNvPr>
          <p:cNvSpPr/>
          <p:nvPr/>
        </p:nvSpPr>
        <p:spPr>
          <a:xfrm>
            <a:off x="98670" y="3336711"/>
            <a:ext cx="7841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Snapshot</a:t>
            </a:r>
            <a:endParaRPr lang="en-IN" sz="10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5A1327-E583-4811-3A29-BDCC874240F9}"/>
              </a:ext>
            </a:extLst>
          </p:cNvPr>
          <p:cNvSpPr/>
          <p:nvPr/>
        </p:nvSpPr>
        <p:spPr>
          <a:xfrm>
            <a:off x="3529732" y="3281681"/>
            <a:ext cx="10486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Performance</a:t>
            </a:r>
            <a:b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     Month</a:t>
            </a:r>
            <a:endParaRPr lang="en-IN" sz="10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C4FC3E-6751-B941-53BA-0660A8942A72}"/>
              </a:ext>
            </a:extLst>
          </p:cNvPr>
          <p:cNvSpPr/>
          <p:nvPr/>
        </p:nvSpPr>
        <p:spPr>
          <a:xfrm>
            <a:off x="1943100" y="2964974"/>
            <a:ext cx="6864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1 Month</a:t>
            </a:r>
            <a:endParaRPr lang="en-IN" sz="1000" dirty="0"/>
          </a:p>
        </p:txBody>
      </p:sp>
      <p:sp>
        <p:nvSpPr>
          <p:cNvPr id="17" name="Google Shape;331;g2402a97e5b8_0_2861">
            <a:extLst>
              <a:ext uri="{FF2B5EF4-FFF2-40B4-BE49-F238E27FC236}">
                <a16:creationId xmlns:a16="http://schemas.microsoft.com/office/drawing/2014/main" id="{2A389E49-F09E-C193-59F4-8CC5F0B561EF}"/>
              </a:ext>
            </a:extLst>
          </p:cNvPr>
          <p:cNvSpPr txBox="1"/>
          <p:nvPr/>
        </p:nvSpPr>
        <p:spPr>
          <a:xfrm>
            <a:off x="1114997" y="3646805"/>
            <a:ext cx="2327635" cy="32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No Transactions in the Performance period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EF73586-6103-185F-F910-5A689C8639AF}"/>
              </a:ext>
            </a:extLst>
          </p:cNvPr>
          <p:cNvCxnSpPr>
            <a:cxnSpLocks/>
            <a:stCxn id="14" idx="3"/>
            <a:endCxn id="5" idx="2"/>
          </p:cNvCxnSpPr>
          <p:nvPr/>
        </p:nvCxnSpPr>
        <p:spPr>
          <a:xfrm flipV="1">
            <a:off x="4578417" y="2209667"/>
            <a:ext cx="1863975" cy="127206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FCF2117-C353-B49F-4F7B-798F0AD2F2F7}"/>
              </a:ext>
            </a:extLst>
          </p:cNvPr>
          <p:cNvCxnSpPr>
            <a:cxnSpLocks/>
            <a:stCxn id="14" idx="3"/>
            <a:endCxn id="6" idx="2"/>
          </p:cNvCxnSpPr>
          <p:nvPr/>
        </p:nvCxnSpPr>
        <p:spPr>
          <a:xfrm>
            <a:off x="4578417" y="3481736"/>
            <a:ext cx="1863975" cy="141980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131BAE6-BDE5-9872-6280-4567AC787424}"/>
              </a:ext>
            </a:extLst>
          </p:cNvPr>
          <p:cNvSpPr/>
          <p:nvPr/>
        </p:nvSpPr>
        <p:spPr>
          <a:xfrm>
            <a:off x="6679725" y="1860816"/>
            <a:ext cx="2172390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              </a:t>
            </a:r>
            <a:r>
              <a:rPr lang="en-IN" sz="14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Class – 3</a:t>
            </a:r>
          </a:p>
          <a:p>
            <a:r>
              <a:rPr lang="en-IN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Customer active on app</a:t>
            </a:r>
            <a:endParaRPr lang="en-IN" sz="10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endParaRPr lang="en-IN" sz="10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C9281C-9F44-8720-4CC5-A9C24E6EB617}"/>
              </a:ext>
            </a:extLst>
          </p:cNvPr>
          <p:cNvSpPr/>
          <p:nvPr/>
        </p:nvSpPr>
        <p:spPr>
          <a:xfrm>
            <a:off x="6594559" y="4500665"/>
            <a:ext cx="2332690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               </a:t>
            </a:r>
            <a:r>
              <a:rPr lang="en-IN" sz="1400" b="1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Class – 4</a:t>
            </a:r>
          </a:p>
          <a:p>
            <a:r>
              <a:rPr lang="en-IN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Customer Inactive on app</a:t>
            </a:r>
            <a:endParaRPr lang="en-IN" sz="14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endParaRPr lang="en-IN" sz="10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endParaRPr lang="en-IN" sz="1000" b="1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endParaRPr lang="en-IN" sz="1000" b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A213877-1252-8DBA-4FB3-F52303C6052E}"/>
              </a:ext>
            </a:extLst>
          </p:cNvPr>
          <p:cNvSpPr/>
          <p:nvPr/>
        </p:nvSpPr>
        <p:spPr>
          <a:xfrm>
            <a:off x="9999747" y="2372573"/>
            <a:ext cx="2154511" cy="212809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F87E24-DA65-D4A6-0952-464A3418158F}"/>
              </a:ext>
            </a:extLst>
          </p:cNvPr>
          <p:cNvSpPr/>
          <p:nvPr/>
        </p:nvSpPr>
        <p:spPr>
          <a:xfrm>
            <a:off x="10430669" y="2620917"/>
            <a:ext cx="1292665" cy="1383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Class – 0</a:t>
            </a:r>
            <a:b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</a:br>
            <a:r>
              <a:rPr lang="en-IN" sz="1200" b="1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Good Customers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endParaRPr lang="en-IN" sz="1050" dirty="0">
              <a:solidFill>
                <a:srgbClr val="000000"/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800" dirty="0">
                <a:solidFill>
                  <a:srgbClr val="000000"/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Left at the end of dependent variable creation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111BF73-E33B-D7DC-6955-AC29254F5054}"/>
              </a:ext>
            </a:extLst>
          </p:cNvPr>
          <p:cNvSpPr/>
          <p:nvPr/>
        </p:nvSpPr>
        <p:spPr>
          <a:xfrm>
            <a:off x="9079416" y="3281681"/>
            <a:ext cx="920329" cy="51352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Graphic 31" descr="Group of people outline">
            <a:extLst>
              <a:ext uri="{FF2B5EF4-FFF2-40B4-BE49-F238E27FC236}">
                <a16:creationId xmlns:a16="http://schemas.microsoft.com/office/drawing/2014/main" id="{1AA618E5-D116-2281-8C84-D72A528E5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2723" y="2367706"/>
            <a:ext cx="694404" cy="694404"/>
          </a:xfrm>
          <a:prstGeom prst="rect">
            <a:avLst/>
          </a:prstGeom>
        </p:spPr>
      </p:pic>
      <p:pic>
        <p:nvPicPr>
          <p:cNvPr id="37" name="Graphic 36" descr="Group with solid fill">
            <a:extLst>
              <a:ext uri="{FF2B5EF4-FFF2-40B4-BE49-F238E27FC236}">
                <a16:creationId xmlns:a16="http://schemas.microsoft.com/office/drawing/2014/main" id="{DC75FF9A-66E4-FEDF-A3A6-CA9D86669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2725" y="4901538"/>
            <a:ext cx="914400" cy="914400"/>
          </a:xfrm>
          <a:prstGeom prst="rect">
            <a:avLst/>
          </a:prstGeom>
        </p:spPr>
      </p:pic>
      <p:pic>
        <p:nvPicPr>
          <p:cNvPr id="46" name="Graphic 45" descr="Advertising with solid fill">
            <a:extLst>
              <a:ext uri="{FF2B5EF4-FFF2-40B4-BE49-F238E27FC236}">
                <a16:creationId xmlns:a16="http://schemas.microsoft.com/office/drawing/2014/main" id="{0F19D018-24D2-1A30-2955-9D2673A30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9103" y="2078991"/>
            <a:ext cx="914400" cy="914400"/>
          </a:xfrm>
          <a:prstGeom prst="rect">
            <a:avLst/>
          </a:prstGeom>
        </p:spPr>
      </p:pic>
      <p:pic>
        <p:nvPicPr>
          <p:cNvPr id="48" name="Graphic 47" descr="Hero Male outline">
            <a:extLst>
              <a:ext uri="{FF2B5EF4-FFF2-40B4-BE49-F238E27FC236}">
                <a16:creationId xmlns:a16="http://schemas.microsoft.com/office/drawing/2014/main" id="{7D088B71-70AD-BD6C-2FBC-9A55E02725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52175" y="1887035"/>
            <a:ext cx="611132" cy="611132"/>
          </a:xfrm>
          <a:prstGeom prst="rect">
            <a:avLst/>
          </a:prstGeom>
        </p:spPr>
      </p:pic>
      <p:pic>
        <p:nvPicPr>
          <p:cNvPr id="49" name="Graphic 48" descr="Hero Male outline">
            <a:extLst>
              <a:ext uri="{FF2B5EF4-FFF2-40B4-BE49-F238E27FC236}">
                <a16:creationId xmlns:a16="http://schemas.microsoft.com/office/drawing/2014/main" id="{AC49B20B-7B21-EF16-5B72-FAE15988B1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68374" y="1885613"/>
            <a:ext cx="611132" cy="611132"/>
          </a:xfrm>
          <a:prstGeom prst="rect">
            <a:avLst/>
          </a:prstGeom>
        </p:spPr>
      </p:pic>
      <p:pic>
        <p:nvPicPr>
          <p:cNvPr id="56" name="Graphic 55" descr="Hero Male outline">
            <a:extLst>
              <a:ext uri="{FF2B5EF4-FFF2-40B4-BE49-F238E27FC236}">
                <a16:creationId xmlns:a16="http://schemas.microsoft.com/office/drawing/2014/main" id="{B2E9A99B-7914-0954-E141-59A1B16710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8516" y="1885613"/>
            <a:ext cx="611132" cy="611132"/>
          </a:xfrm>
          <a:prstGeom prst="rect">
            <a:avLst/>
          </a:prstGeom>
        </p:spPr>
      </p:pic>
      <p:pic>
        <p:nvPicPr>
          <p:cNvPr id="62" name="Graphic 61" descr="Hero Male outline">
            <a:extLst>
              <a:ext uri="{FF2B5EF4-FFF2-40B4-BE49-F238E27FC236}">
                <a16:creationId xmlns:a16="http://schemas.microsoft.com/office/drawing/2014/main" id="{055D1195-D549-129D-28DC-501F83FCA3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87880" y="1884191"/>
            <a:ext cx="611132" cy="61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A8789B47-A5F2-E8AD-EC22-60F4C372C977}"/>
              </a:ext>
            </a:extLst>
          </p:cNvPr>
          <p:cNvSpPr/>
          <p:nvPr/>
        </p:nvSpPr>
        <p:spPr>
          <a:xfrm rot="5400000">
            <a:off x="9619381" y="3625304"/>
            <a:ext cx="1913056" cy="31350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IN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AE37C80-D10D-7353-7110-50DCD4ACB085}"/>
              </a:ext>
            </a:extLst>
          </p:cNvPr>
          <p:cNvSpPr/>
          <p:nvPr/>
        </p:nvSpPr>
        <p:spPr>
          <a:xfrm rot="5400000">
            <a:off x="6429848" y="3625304"/>
            <a:ext cx="1913056" cy="31350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IN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631CB7-CA40-C33B-4B21-B9FDA64AE658}"/>
              </a:ext>
            </a:extLst>
          </p:cNvPr>
          <p:cNvCxnSpPr>
            <a:cxnSpLocks/>
          </p:cNvCxnSpPr>
          <p:nvPr/>
        </p:nvCxnSpPr>
        <p:spPr>
          <a:xfrm>
            <a:off x="-16399" y="824392"/>
            <a:ext cx="12240000" cy="18000"/>
          </a:xfrm>
          <a:prstGeom prst="line">
            <a:avLst/>
          </a:prstGeom>
          <a:ln w="38100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9576" y="235363"/>
            <a:ext cx="61019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Design Construct -  </a:t>
            </a:r>
            <a:r>
              <a:rPr lang="en-IN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Final Dependent Variable </a:t>
            </a:r>
            <a:endParaRPr lang="en-IN" sz="2800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0209B-BB0D-6393-4E35-8FEF6221C071}"/>
              </a:ext>
            </a:extLst>
          </p:cNvPr>
          <p:cNvSpPr/>
          <p:nvPr/>
        </p:nvSpPr>
        <p:spPr>
          <a:xfrm>
            <a:off x="4053218" y="1594128"/>
            <a:ext cx="1258742" cy="125874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  <a:reflection blurRad="127000" stA="54000" endPos="80000" dir="5400000" sy="-100000" algn="bl" rotWithShape="0"/>
          </a:effectLst>
          <a:scene3d>
            <a:camera prst="isometricTopUp"/>
            <a:lightRig rig="threePt" dir="t">
              <a:rot lat="0" lon="0" rev="600000"/>
            </a:lightRig>
          </a:scene3d>
          <a:sp3d extrusionH="1587500"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97AE2-6E15-5FE4-3239-48F69A00AC10}"/>
              </a:ext>
            </a:extLst>
          </p:cNvPr>
          <p:cNvSpPr/>
          <p:nvPr/>
        </p:nvSpPr>
        <p:spPr>
          <a:xfrm>
            <a:off x="3160614" y="2339918"/>
            <a:ext cx="1258742" cy="12587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  <a:reflection blurRad="127000" stA="54000" endPos="70000" dir="5400000" sy="-100000" algn="bl" rotWithShape="0"/>
          </a:effectLst>
          <a:scene3d>
            <a:camera prst="isometricTopUp"/>
            <a:lightRig rig="threePt" dir="t">
              <a:rot lat="0" lon="0" rev="600000"/>
            </a:lightRig>
          </a:scene3d>
          <a:sp3d extrusionH="1270000"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D9A3F-B7FA-E548-FA20-022F25B02C9F}"/>
              </a:ext>
            </a:extLst>
          </p:cNvPr>
          <p:cNvSpPr/>
          <p:nvPr/>
        </p:nvSpPr>
        <p:spPr>
          <a:xfrm>
            <a:off x="2268010" y="3085707"/>
            <a:ext cx="1258742" cy="12587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  <a:reflection blurRad="127000" stA="54000" endPos="60000" dir="5400000" sy="-100000" algn="bl" rotWithShape="0"/>
          </a:effectLst>
          <a:scene3d>
            <a:camera prst="isometricTopUp"/>
            <a:lightRig rig="threePt" dir="t">
              <a:rot lat="0" lon="0" rev="600000"/>
            </a:lightRig>
          </a:scene3d>
          <a:sp3d extrusionH="952500"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14A67-CA63-781F-0A6D-E037CA2D3B3E}"/>
              </a:ext>
            </a:extLst>
          </p:cNvPr>
          <p:cNvSpPr/>
          <p:nvPr/>
        </p:nvSpPr>
        <p:spPr>
          <a:xfrm>
            <a:off x="1375406" y="3829509"/>
            <a:ext cx="1258742" cy="1258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  <a:reflection blurRad="127000" stA="54000" endPos="50000" dir="5400000" sy="-100000" algn="bl" rotWithShape="0"/>
          </a:effectLst>
          <a:scene3d>
            <a:camera prst="isometricTopUp"/>
            <a:lightRig rig="threePt" dir="t">
              <a:rot lat="0" lon="0" rev="600000"/>
            </a:lightRig>
          </a:scene3d>
          <a:sp3d extrusionH="635000"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207A9B-EFCF-A4A3-91E5-35C4B8E9EE2A}"/>
              </a:ext>
            </a:extLst>
          </p:cNvPr>
          <p:cNvSpPr/>
          <p:nvPr/>
        </p:nvSpPr>
        <p:spPr>
          <a:xfrm>
            <a:off x="484561" y="4575071"/>
            <a:ext cx="1258742" cy="12587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  <a:reflection blurRad="127000" stA="54000" endPos="40000" dir="5400000" sy="-100000" algn="bl" rotWithShape="0"/>
          </a:effectLst>
          <a:scene3d>
            <a:camera prst="isometricTopUp"/>
            <a:lightRig rig="threePt" dir="t">
              <a:rot lat="0" lon="0" rev="600000"/>
            </a:lightRig>
          </a:scene3d>
          <a:sp3d extrusionH="317500"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2993D2-3639-B8A8-3C09-42C47890DFE0}"/>
              </a:ext>
            </a:extLst>
          </p:cNvPr>
          <p:cNvSpPr txBox="1"/>
          <p:nvPr/>
        </p:nvSpPr>
        <p:spPr>
          <a:xfrm>
            <a:off x="827980" y="4674202"/>
            <a:ext cx="57190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RightUp"/>
              <a:lightRig rig="threePt" dir="t"/>
            </a:scene3d>
          </a:bodyPr>
          <a:lstStyle/>
          <a:p>
            <a:pPr algn="ctr"/>
            <a:r>
              <a:rPr lang="en-US" sz="2400" b="1" dirty="0">
                <a:solidFill>
                  <a:schemeClr val="tx1">
                    <a:alpha val="38000"/>
                  </a:schemeClr>
                </a:solidFill>
                <a:effectLst>
                  <a:reflection blurRad="88900" stA="55000" endA="300" endPos="45500" dir="5400000" sy="-100000" algn="bl" rotWithShape="0"/>
                </a:effectLst>
                <a:latin typeface="Montserrat" panose="00000500000000000000" pitchFamily="2" charset="0"/>
              </a:rPr>
              <a:t>D</a:t>
            </a:r>
            <a:r>
              <a:rPr lang="en-IN" sz="2400" b="1" dirty="0">
                <a:solidFill>
                  <a:schemeClr val="tx1">
                    <a:alpha val="38000"/>
                  </a:schemeClr>
                </a:solidFill>
                <a:effectLst>
                  <a:reflection blurRad="88900" stA="55000" endA="300" endPos="45500" dir="5400000" sy="-100000" algn="bl" rotWithShape="0"/>
                </a:effectLst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D4C77-8E20-03D0-87B2-ABEA87F5AA3F}"/>
              </a:ext>
            </a:extLst>
          </p:cNvPr>
          <p:cNvSpPr txBox="1"/>
          <p:nvPr/>
        </p:nvSpPr>
        <p:spPr>
          <a:xfrm>
            <a:off x="1737213" y="3930400"/>
            <a:ext cx="57190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RightUp"/>
              <a:lightRig rig="threePt" dir="t"/>
            </a:scene3d>
          </a:bodyPr>
          <a:lstStyle/>
          <a:p>
            <a:pPr algn="ctr"/>
            <a:r>
              <a:rPr lang="en-IN" sz="2000" b="1" dirty="0">
                <a:solidFill>
                  <a:schemeClr val="tx1">
                    <a:alpha val="38000"/>
                  </a:schemeClr>
                </a:solidFill>
                <a:effectLst>
                  <a:reflection blurRad="88900" stA="55000" endA="300" endPos="45500" dir="5400000" sy="-100000" algn="bl" rotWithShape="0"/>
                </a:effectLst>
                <a:latin typeface="Montserrat" panose="00000500000000000000" pitchFamily="2" charset="0"/>
              </a:rPr>
              <a:t>D2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90886-4F3E-23C8-0061-3ABFF574B5E7}"/>
              </a:ext>
            </a:extLst>
          </p:cNvPr>
          <p:cNvSpPr txBox="1"/>
          <p:nvPr/>
        </p:nvSpPr>
        <p:spPr>
          <a:xfrm>
            <a:off x="2579414" y="3184611"/>
            <a:ext cx="57190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RightUp"/>
              <a:lightRig rig="threePt" dir="t"/>
            </a:scene3d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38000"/>
                  </a:schemeClr>
                </a:solidFill>
                <a:effectLst>
                  <a:reflection blurRad="88900" stA="55000" endA="300" endPos="45500" dir="5400000" sy="-100000" algn="bl" rotWithShape="0"/>
                </a:effectLst>
                <a:latin typeface="Montserrat" panose="00000500000000000000" pitchFamily="2" charset="0"/>
              </a:rPr>
              <a:t>D</a:t>
            </a:r>
            <a:r>
              <a:rPr lang="en-IN" sz="2000" b="1" dirty="0">
                <a:solidFill>
                  <a:schemeClr val="tx1">
                    <a:alpha val="38000"/>
                  </a:schemeClr>
                </a:solidFill>
                <a:effectLst>
                  <a:reflection blurRad="88900" stA="55000" endA="300" endPos="45500" dir="5400000" sy="-100000" algn="bl" rotWithShape="0"/>
                </a:effectLst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FA497-B4F2-1FDD-1EC1-3841D34D8D19}"/>
              </a:ext>
            </a:extLst>
          </p:cNvPr>
          <p:cNvSpPr txBox="1"/>
          <p:nvPr/>
        </p:nvSpPr>
        <p:spPr>
          <a:xfrm>
            <a:off x="3504033" y="2438821"/>
            <a:ext cx="571905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RightUp"/>
              <a:lightRig rig="threePt" dir="t"/>
            </a:scene3d>
          </a:bodyPr>
          <a:lstStyle/>
          <a:p>
            <a:pPr algn="ctr"/>
            <a:r>
              <a:rPr lang="en-IN" sz="2000" b="1" dirty="0">
                <a:solidFill>
                  <a:schemeClr val="tx1">
                    <a:alpha val="38000"/>
                  </a:schemeClr>
                </a:solidFill>
                <a:effectLst>
                  <a:reflection blurRad="88900" stA="55000" endA="300" endPos="45500" dir="5400000" sy="-100000" algn="bl" rotWithShape="0"/>
                </a:effectLst>
                <a:latin typeface="Montserrat" panose="00000500000000000000" pitchFamily="2" charset="0"/>
              </a:rPr>
              <a:t>D4</a:t>
            </a:r>
          </a:p>
        </p:txBody>
      </p:sp>
      <p:sp>
        <p:nvSpPr>
          <p:cNvPr id="25" name="Google Shape;331;g2402a97e5b8_0_2861">
            <a:extLst>
              <a:ext uri="{FF2B5EF4-FFF2-40B4-BE49-F238E27FC236}">
                <a16:creationId xmlns:a16="http://schemas.microsoft.com/office/drawing/2014/main" id="{115669DC-2623-1B16-B00D-4DCB946369B4}"/>
              </a:ext>
            </a:extLst>
          </p:cNvPr>
          <p:cNvSpPr txBox="1"/>
          <p:nvPr/>
        </p:nvSpPr>
        <p:spPr>
          <a:xfrm>
            <a:off x="3353372" y="1255195"/>
            <a:ext cx="2327635" cy="32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Final Dependent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IN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  <a:sym typeface="Roboto"/>
              </a:rPr>
              <a:t>Variable</a:t>
            </a:r>
            <a:endParaRPr sz="11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  <a:sym typeface="Roboto"/>
            </a:endParaRPr>
          </a:p>
        </p:txBody>
      </p:sp>
      <p:sp>
        <p:nvSpPr>
          <p:cNvPr id="26" name="Google Shape;331;g2402a97e5b8_0_2861">
            <a:extLst>
              <a:ext uri="{FF2B5EF4-FFF2-40B4-BE49-F238E27FC236}">
                <a16:creationId xmlns:a16="http://schemas.microsoft.com/office/drawing/2014/main" id="{555E6683-75E6-1452-C0D9-A5659C27AD4C}"/>
              </a:ext>
            </a:extLst>
          </p:cNvPr>
          <p:cNvSpPr txBox="1"/>
          <p:nvPr/>
        </p:nvSpPr>
        <p:spPr>
          <a:xfrm>
            <a:off x="2364812" y="1824977"/>
            <a:ext cx="1356657" cy="7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 fontAlgn="b"/>
            <a:r>
              <a:rPr lang="en-IN" sz="11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Inactive: </a:t>
            </a:r>
            <a:b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Transactions </a:t>
            </a:r>
          </a:p>
          <a:p>
            <a:pPr algn="ctr" rtl="0" fontAlgn="b"/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App Inactive</a:t>
            </a:r>
          </a:p>
        </p:txBody>
      </p:sp>
      <p:sp>
        <p:nvSpPr>
          <p:cNvPr id="31" name="Google Shape;331;g2402a97e5b8_0_2861">
            <a:extLst>
              <a:ext uri="{FF2B5EF4-FFF2-40B4-BE49-F238E27FC236}">
                <a16:creationId xmlns:a16="http://schemas.microsoft.com/office/drawing/2014/main" id="{911159B3-1C4F-83BD-6181-D3294B971F5F}"/>
              </a:ext>
            </a:extLst>
          </p:cNvPr>
          <p:cNvSpPr txBox="1"/>
          <p:nvPr/>
        </p:nvSpPr>
        <p:spPr>
          <a:xfrm>
            <a:off x="1447761" y="2586707"/>
            <a:ext cx="1356657" cy="7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 fontAlgn="b"/>
            <a:r>
              <a:rPr lang="en-IN" sz="11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Inactive: </a:t>
            </a:r>
            <a:b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Transactions </a:t>
            </a:r>
          </a:p>
          <a:p>
            <a:pPr algn="ctr" rtl="0" fontAlgn="b"/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App </a:t>
            </a:r>
            <a: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ctive</a:t>
            </a:r>
          </a:p>
        </p:txBody>
      </p:sp>
      <p:sp>
        <p:nvSpPr>
          <p:cNvPr id="32" name="Google Shape;331;g2402a97e5b8_0_2861">
            <a:extLst>
              <a:ext uri="{FF2B5EF4-FFF2-40B4-BE49-F238E27FC236}">
                <a16:creationId xmlns:a16="http://schemas.microsoft.com/office/drawing/2014/main" id="{0CCA5374-ADA4-DA68-E77B-7EA9F10ACE5A}"/>
              </a:ext>
            </a:extLst>
          </p:cNvPr>
          <p:cNvSpPr txBox="1"/>
          <p:nvPr/>
        </p:nvSpPr>
        <p:spPr>
          <a:xfrm>
            <a:off x="447583" y="3348437"/>
            <a:ext cx="1464231" cy="7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 fontAlgn="b"/>
            <a:r>
              <a:rPr lang="en-IN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Drop</a:t>
            </a:r>
            <a: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</a:t>
            </a: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GMV/Transactions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C1C8949-6EF9-C651-5CE2-3E4480E41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320073"/>
              </p:ext>
            </p:extLst>
          </p:nvPr>
        </p:nvGraphicFramePr>
        <p:xfrm>
          <a:off x="6361567" y="1144842"/>
          <a:ext cx="5057215" cy="1280707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103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1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0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Cust_ID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4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2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Final_dependent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2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76FD1B8F-D6B2-67B8-B388-A14511491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78438"/>
              </p:ext>
            </p:extLst>
          </p:nvPr>
        </p:nvGraphicFramePr>
        <p:xfrm>
          <a:off x="5861145" y="2737397"/>
          <a:ext cx="3020557" cy="1327243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62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5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3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Cust_ID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DDA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4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3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2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1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Class 0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102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947297F-5646-394B-D641-2CC2750FA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18204"/>
              </p:ext>
            </p:extLst>
          </p:nvPr>
        </p:nvGraphicFramePr>
        <p:xfrm>
          <a:off x="9044177" y="2737397"/>
          <a:ext cx="3020557" cy="134138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2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Cust_ID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Final_dependent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102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103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6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105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85890A56-89D7-0C83-ECD9-A7234204F90D}"/>
              </a:ext>
            </a:extLst>
          </p:cNvPr>
          <p:cNvSpPr/>
          <p:nvPr/>
        </p:nvSpPr>
        <p:spPr>
          <a:xfrm>
            <a:off x="5754864" y="4320554"/>
            <a:ext cx="35160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Multi-label Classification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have multiple classes at once.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Classes are non- mutually exclusive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Classes can be predicted individually as binary classification or using </a:t>
            </a:r>
          </a:p>
          <a:p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multi-output classifier.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34CA9A-5558-986C-72DF-40277BBDC9D3}"/>
              </a:ext>
            </a:extLst>
          </p:cNvPr>
          <p:cNvSpPr/>
          <p:nvPr/>
        </p:nvSpPr>
        <p:spPr>
          <a:xfrm>
            <a:off x="9060700" y="4303421"/>
            <a:ext cx="32193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Multi-Class Classification</a:t>
            </a:r>
          </a:p>
          <a:p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have only one output class at once.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classes are mutually exclusive.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SoftMax function is applied on final layer to select class having highest probability.</a:t>
            </a:r>
          </a:p>
        </p:txBody>
      </p:sp>
      <p:sp>
        <p:nvSpPr>
          <p:cNvPr id="49" name="Google Shape;331;g2402a97e5b8_0_2861">
            <a:extLst>
              <a:ext uri="{FF2B5EF4-FFF2-40B4-BE49-F238E27FC236}">
                <a16:creationId xmlns:a16="http://schemas.microsoft.com/office/drawing/2014/main" id="{D736D20C-A2B5-D0F0-DE5A-F6C9BA334417}"/>
              </a:ext>
            </a:extLst>
          </p:cNvPr>
          <p:cNvSpPr txBox="1"/>
          <p:nvPr/>
        </p:nvSpPr>
        <p:spPr>
          <a:xfrm>
            <a:off x="-260535" y="4103063"/>
            <a:ext cx="1464231" cy="7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 fontAlgn="b"/>
            <a:r>
              <a:rPr lang="en-IN" sz="11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Drop</a:t>
            </a:r>
            <a: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</a:t>
            </a: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 </a:t>
            </a:r>
          </a:p>
          <a:p>
            <a:pPr algn="ctr" rtl="0" fontAlgn="b"/>
            <a:r>
              <a:rPr lang="en-IN" sz="1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Engagement</a:t>
            </a:r>
          </a:p>
        </p:txBody>
      </p:sp>
    </p:spTree>
    <p:extLst>
      <p:ext uri="{BB962C8B-B14F-4D97-AF65-F5344CB8AC3E}">
        <p14:creationId xmlns:p14="http://schemas.microsoft.com/office/powerpoint/2010/main" val="150489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A130A5-68B9-58E1-C8F6-65298C237543}"/>
              </a:ext>
            </a:extLst>
          </p:cNvPr>
          <p:cNvSpPr/>
          <p:nvPr/>
        </p:nvSpPr>
        <p:spPr>
          <a:xfrm rot="5400000">
            <a:off x="9036768" y="3208242"/>
            <a:ext cx="2705147" cy="34875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Google Shape;381;g2402a97e5b8_0_2861">
            <a:extLst>
              <a:ext uri="{FF2B5EF4-FFF2-40B4-BE49-F238E27FC236}">
                <a16:creationId xmlns:a16="http://schemas.microsoft.com/office/drawing/2014/main" id="{FDD8F388-87AE-E66C-9310-6CC79AD8E29B}"/>
              </a:ext>
            </a:extLst>
          </p:cNvPr>
          <p:cNvSpPr txBox="1"/>
          <p:nvPr/>
        </p:nvSpPr>
        <p:spPr>
          <a:xfrm>
            <a:off x="137717" y="200920"/>
            <a:ext cx="4314463" cy="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44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Features </a:t>
            </a:r>
            <a:r>
              <a:rPr lang="en-IN" sz="2844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coverage</a:t>
            </a:r>
            <a:endParaRPr lang="en-IN" sz="1867" dirty="0">
              <a:solidFill>
                <a:schemeClr val="accent2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9C1EDE-CD4D-E378-45B5-2B0657384961}"/>
              </a:ext>
            </a:extLst>
          </p:cNvPr>
          <p:cNvGrpSpPr/>
          <p:nvPr/>
        </p:nvGrpSpPr>
        <p:grpSpPr>
          <a:xfrm>
            <a:off x="1517238" y="961001"/>
            <a:ext cx="5757914" cy="5239816"/>
            <a:chOff x="3496328" y="607445"/>
            <a:chExt cx="5967133" cy="5850482"/>
          </a:xfrm>
          <a:effectLst/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FE0075A-BF6A-C56F-5A0D-8D79D653B544}"/>
                </a:ext>
              </a:extLst>
            </p:cNvPr>
            <p:cNvSpPr/>
            <p:nvPr/>
          </p:nvSpPr>
          <p:spPr>
            <a:xfrm>
              <a:off x="3775565" y="902640"/>
              <a:ext cx="5245101" cy="5245101"/>
            </a:xfrm>
            <a:prstGeom prst="ellipse">
              <a:avLst/>
            </a:prstGeom>
            <a:gradFill flip="none" rotWithShape="1">
              <a:gsLst>
                <a:gs pos="0">
                  <a:srgbClr val="D0D5D9"/>
                </a:gs>
                <a:gs pos="100000">
                  <a:srgbClr val="FFFFFF"/>
                </a:gs>
              </a:gsLst>
              <a:lin ang="2700000" scaled="1"/>
              <a:tileRect/>
            </a:gradFill>
            <a:ln>
              <a:solidFill>
                <a:schemeClr val="bg1"/>
              </a:solidFill>
            </a:ln>
            <a:effectLst>
              <a:outerShdw blurRad="5588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8CB10324-3C12-27C8-4D14-F6D6B51F42A6}"/>
                </a:ext>
              </a:extLst>
            </p:cNvPr>
            <p:cNvSpPr/>
            <p:nvPr/>
          </p:nvSpPr>
          <p:spPr>
            <a:xfrm>
              <a:off x="3496328" y="607445"/>
              <a:ext cx="5835492" cy="5835492"/>
            </a:xfrm>
            <a:prstGeom prst="pie">
              <a:avLst>
                <a:gd name="adj1" fmla="val 581560"/>
                <a:gd name="adj2" fmla="val 541534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317500" dist="38100" dir="8100000" algn="tr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Partial Circle 6">
              <a:extLst>
                <a:ext uri="{FF2B5EF4-FFF2-40B4-BE49-F238E27FC236}">
                  <a16:creationId xmlns:a16="http://schemas.microsoft.com/office/drawing/2014/main" id="{43DA541F-E8E4-D6A4-C60E-5130951C5DC7}"/>
                </a:ext>
              </a:extLst>
            </p:cNvPr>
            <p:cNvSpPr/>
            <p:nvPr/>
          </p:nvSpPr>
          <p:spPr>
            <a:xfrm>
              <a:off x="3496328" y="614935"/>
              <a:ext cx="5835492" cy="5835492"/>
            </a:xfrm>
            <a:prstGeom prst="pie">
              <a:avLst>
                <a:gd name="adj1" fmla="val 18957060"/>
                <a:gd name="adj2" fmla="val 59233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254000" dist="38100" dir="5400000" sx="103000" sy="103000" algn="t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Partial Circle 7">
              <a:extLst>
                <a:ext uri="{FF2B5EF4-FFF2-40B4-BE49-F238E27FC236}">
                  <a16:creationId xmlns:a16="http://schemas.microsoft.com/office/drawing/2014/main" id="{05ECEF4C-10F1-66B6-630D-A216496A6BA4}"/>
                </a:ext>
              </a:extLst>
            </p:cNvPr>
            <p:cNvSpPr/>
            <p:nvPr/>
          </p:nvSpPr>
          <p:spPr>
            <a:xfrm>
              <a:off x="3496328" y="622435"/>
              <a:ext cx="5835492" cy="5835492"/>
            </a:xfrm>
            <a:prstGeom prst="pie">
              <a:avLst>
                <a:gd name="adj1" fmla="val 16188495"/>
                <a:gd name="adj2" fmla="val 18964374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254000" dist="38100" dir="2700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0EEC8B-8A2E-FEED-45F2-2BB35F08656B}"/>
                </a:ext>
              </a:extLst>
            </p:cNvPr>
            <p:cNvSpPr txBox="1"/>
            <p:nvPr/>
          </p:nvSpPr>
          <p:spPr>
            <a:xfrm>
              <a:off x="3844495" y="2804828"/>
              <a:ext cx="2758191" cy="309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spc="300" dirty="0">
                  <a:solidFill>
                    <a:srgbClr val="FFFFFF">
                      <a:lumMod val="50000"/>
                    </a:srgb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Customer Service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A0BADA-3014-742D-8B18-9D2F766E6725}"/>
                </a:ext>
              </a:extLst>
            </p:cNvPr>
            <p:cNvSpPr txBox="1"/>
            <p:nvPr/>
          </p:nvSpPr>
          <p:spPr>
            <a:xfrm>
              <a:off x="3844495" y="3293394"/>
              <a:ext cx="1836776" cy="292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Distinct A</a:t>
              </a:r>
              <a:r>
                <a:rPr lang="en-IN" sz="11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ttributes: 40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F39A795-5110-2130-F209-CDD2F924F35B}"/>
                </a:ext>
              </a:extLst>
            </p:cNvPr>
            <p:cNvSpPr/>
            <p:nvPr/>
          </p:nvSpPr>
          <p:spPr>
            <a:xfrm>
              <a:off x="4257207" y="2323475"/>
              <a:ext cx="299803" cy="29980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422541-CB6B-BE34-AB0D-4594B1E863A6}"/>
                </a:ext>
              </a:extLst>
            </p:cNvPr>
            <p:cNvSpPr/>
            <p:nvPr/>
          </p:nvSpPr>
          <p:spPr>
            <a:xfrm>
              <a:off x="4612981" y="1840651"/>
              <a:ext cx="299803" cy="29980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13AE9C-CE0D-29D3-1525-E984B4BCDFEE}"/>
                </a:ext>
              </a:extLst>
            </p:cNvPr>
            <p:cNvSpPr/>
            <p:nvPr/>
          </p:nvSpPr>
          <p:spPr>
            <a:xfrm>
              <a:off x="5073688" y="1485239"/>
              <a:ext cx="299803" cy="29980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4" name="Graphic 13" descr="Downward trend">
              <a:extLst>
                <a:ext uri="{FF2B5EF4-FFF2-40B4-BE49-F238E27FC236}">
                  <a16:creationId xmlns:a16="http://schemas.microsoft.com/office/drawing/2014/main" id="{19F0C220-F7E1-7D70-0BD9-4EB0CC1D3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2686" y="1862834"/>
              <a:ext cx="504000" cy="504000"/>
            </a:xfrm>
            <a:prstGeom prst="rect">
              <a:avLst/>
            </a:prstGeom>
          </p:spPr>
        </p:pic>
        <p:pic>
          <p:nvPicPr>
            <p:cNvPr id="15" name="Graphic 14" descr="Upward trend">
              <a:extLst>
                <a:ext uri="{FF2B5EF4-FFF2-40B4-BE49-F238E27FC236}">
                  <a16:creationId xmlns:a16="http://schemas.microsoft.com/office/drawing/2014/main" id="{35A03193-A775-FBB7-679D-FE5F2E7AE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2024" y="3007257"/>
              <a:ext cx="504000" cy="504000"/>
            </a:xfrm>
            <a:prstGeom prst="rect">
              <a:avLst/>
            </a:prstGeom>
          </p:spPr>
        </p:pic>
        <p:pic>
          <p:nvPicPr>
            <p:cNvPr id="16" name="Graphic 15" descr="Bar chart">
              <a:extLst>
                <a:ext uri="{FF2B5EF4-FFF2-40B4-BE49-F238E27FC236}">
                  <a16:creationId xmlns:a16="http://schemas.microsoft.com/office/drawing/2014/main" id="{E392A388-A2F0-F7C1-EF10-B3B04107D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8919" y="4131081"/>
              <a:ext cx="504000" cy="57888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BCDF7F-FD55-06C3-E84E-12442A65AC98}"/>
                </a:ext>
              </a:extLst>
            </p:cNvPr>
            <p:cNvSpPr txBox="1"/>
            <p:nvPr/>
          </p:nvSpPr>
          <p:spPr>
            <a:xfrm>
              <a:off x="6537914" y="1236688"/>
              <a:ext cx="2038662" cy="292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spc="3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App Activity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3B9C81-0926-9B63-3C6D-D8DF2D85122B}"/>
                </a:ext>
              </a:extLst>
            </p:cNvPr>
            <p:cNvSpPr txBox="1"/>
            <p:nvPr/>
          </p:nvSpPr>
          <p:spPr>
            <a:xfrm>
              <a:off x="7290263" y="2571699"/>
              <a:ext cx="2038662" cy="481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spc="3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Transaction Activity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9A916E-70FC-DF9C-A6B6-0A235FD15DBC}"/>
                </a:ext>
              </a:extLst>
            </p:cNvPr>
            <p:cNvSpPr txBox="1"/>
            <p:nvPr/>
          </p:nvSpPr>
          <p:spPr>
            <a:xfrm>
              <a:off x="7424799" y="4157954"/>
              <a:ext cx="2038662" cy="481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spc="3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Transaction</a:t>
              </a:r>
            </a:p>
            <a:p>
              <a:r>
                <a:rPr lang="en-IN" sz="1100" spc="3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Failure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B3A5A4-9D10-5F95-CD37-B4B1132B9ED5}"/>
                </a:ext>
              </a:extLst>
            </p:cNvPr>
            <p:cNvSpPr txBox="1"/>
            <p:nvPr/>
          </p:nvSpPr>
          <p:spPr>
            <a:xfrm>
              <a:off x="6525447" y="1496205"/>
              <a:ext cx="1610393" cy="309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b="1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23 Attributes</a:t>
              </a:r>
              <a:endParaRPr lang="en-IN" sz="12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65E0E3-8335-A4F3-6C2E-26F04AB58BEA}"/>
                </a:ext>
              </a:extLst>
            </p:cNvPr>
            <p:cNvSpPr txBox="1"/>
            <p:nvPr/>
          </p:nvSpPr>
          <p:spPr>
            <a:xfrm>
              <a:off x="7741003" y="3040592"/>
              <a:ext cx="1587922" cy="274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1000" b="1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35 Attributes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1793AEE-A309-7372-8346-703C85DD93F2}"/>
                </a:ext>
              </a:extLst>
            </p:cNvPr>
            <p:cNvSpPr txBox="1"/>
            <p:nvPr/>
          </p:nvSpPr>
          <p:spPr>
            <a:xfrm>
              <a:off x="7341878" y="4636202"/>
              <a:ext cx="1587922" cy="44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1000" b="1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27 Attributes</a:t>
              </a:r>
            </a:p>
            <a:p>
              <a:pPr algn="just"/>
              <a:endParaRPr lang="en-IN" sz="10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F3E78F-D38E-6672-6812-37D7E4D3A24D}"/>
                </a:ext>
              </a:extLst>
            </p:cNvPr>
            <p:cNvSpPr/>
            <p:nvPr/>
          </p:nvSpPr>
          <p:spPr>
            <a:xfrm>
              <a:off x="5806274" y="2918359"/>
              <a:ext cx="1209121" cy="1209122"/>
            </a:xfrm>
            <a:prstGeom prst="ellipse">
              <a:avLst/>
            </a:prstGeom>
            <a:gradFill flip="none" rotWithShape="1">
              <a:gsLst>
                <a:gs pos="0">
                  <a:srgbClr val="D0D5D9"/>
                </a:gs>
                <a:gs pos="100000">
                  <a:srgbClr val="FFFFFF"/>
                </a:gs>
              </a:gsLst>
              <a:lin ang="2700000" scaled="1"/>
              <a:tileRect/>
            </a:gradFill>
            <a:ln>
              <a:solidFill>
                <a:schemeClr val="bg1"/>
              </a:solidFill>
            </a:ln>
            <a:effectLst>
              <a:outerShdw blurRad="330200" dist="38100" dir="2700000" sx="103000" sy="103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4" name="Partial Circle 23">
            <a:extLst>
              <a:ext uri="{FF2B5EF4-FFF2-40B4-BE49-F238E27FC236}">
                <a16:creationId xmlns:a16="http://schemas.microsoft.com/office/drawing/2014/main" id="{C02D3C58-0777-B450-1469-0D8F1E02E861}"/>
              </a:ext>
            </a:extLst>
          </p:cNvPr>
          <p:cNvSpPr/>
          <p:nvPr/>
        </p:nvSpPr>
        <p:spPr>
          <a:xfrm>
            <a:off x="1523999" y="1044433"/>
            <a:ext cx="5630889" cy="5149668"/>
          </a:xfrm>
          <a:prstGeom prst="pie">
            <a:avLst>
              <a:gd name="adj1" fmla="val 4684535"/>
              <a:gd name="adj2" fmla="val 730498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317500" dist="38100" dir="8100000" algn="tr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56862C-A356-B656-BC31-88E844DB3106}"/>
              </a:ext>
            </a:extLst>
          </p:cNvPr>
          <p:cNvSpPr/>
          <p:nvPr/>
        </p:nvSpPr>
        <p:spPr>
          <a:xfrm>
            <a:off x="3758411" y="2936922"/>
            <a:ext cx="1209600" cy="1209122"/>
          </a:xfrm>
          <a:prstGeom prst="ellipse">
            <a:avLst/>
          </a:prstGeom>
          <a:gradFill flip="none" rotWithShape="1">
            <a:gsLst>
              <a:gs pos="0">
                <a:srgbClr val="D0D5D9"/>
              </a:gs>
              <a:gs pos="100000">
                <a:srgbClr val="FFFFFF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  <a:effectLst>
            <a:outerShdw blurRad="330200" dist="38100" dir="2700000" sx="103000" sy="103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130 +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Distinct Attributes</a:t>
            </a:r>
            <a:endParaRPr lang="en-IN" sz="11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1C93AB-36C4-E54A-91D6-35FDA5153685}"/>
              </a:ext>
            </a:extLst>
          </p:cNvPr>
          <p:cNvSpPr txBox="1"/>
          <p:nvPr/>
        </p:nvSpPr>
        <p:spPr>
          <a:xfrm>
            <a:off x="3400974" y="4859689"/>
            <a:ext cx="148821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spc="3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</a:t>
            </a:r>
          </a:p>
          <a:p>
            <a:r>
              <a:rPr lang="en-IN" sz="1050" spc="3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Demographics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7EB8FF-D21D-75C5-D6C6-E8B86030D2CE}"/>
              </a:ext>
            </a:extLst>
          </p:cNvPr>
          <p:cNvSpPr txBox="1"/>
          <p:nvPr/>
        </p:nvSpPr>
        <p:spPr>
          <a:xfrm>
            <a:off x="3574089" y="5225864"/>
            <a:ext cx="1532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 Attributes</a:t>
            </a:r>
          </a:p>
          <a:p>
            <a:pPr algn="just"/>
            <a:endParaRPr lang="en-IN" sz="10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9" name="Graphic 28" descr="Group with solid fill">
            <a:extLst>
              <a:ext uri="{FF2B5EF4-FFF2-40B4-BE49-F238E27FC236}">
                <a16:creationId xmlns:a16="http://schemas.microsoft.com/office/drawing/2014/main" id="{1AC8D8D1-E107-5586-F283-8F840595C1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186" y="5375804"/>
            <a:ext cx="539772" cy="500339"/>
          </a:xfrm>
          <a:prstGeom prst="rect">
            <a:avLst/>
          </a:prstGeom>
        </p:spPr>
      </p:pic>
      <p:pic>
        <p:nvPicPr>
          <p:cNvPr id="30" name="Graphic 29" descr="Customer review with solid fill">
            <a:extLst>
              <a:ext uri="{FF2B5EF4-FFF2-40B4-BE49-F238E27FC236}">
                <a16:creationId xmlns:a16="http://schemas.microsoft.com/office/drawing/2014/main" id="{E923AA7D-C065-F13C-E70B-6C9943F05F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74" y="3778404"/>
            <a:ext cx="559326" cy="51846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814319" y="860503"/>
            <a:ext cx="2683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mobile_recharge_pg_page_land_growth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qr_scans_open_growth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mobile_recharge_page_land_growth 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1931" y="2707539"/>
            <a:ext cx="34875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RU_MB_prepaid_avg_gmv_Growth_Rate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RU_DTH_avg_gmv_Growth_Rate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RU_INS_txn_cnt_Growth_Rate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7031" y="4952021"/>
            <a:ext cx="23152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Txn_f_num_failed_txns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Txn_f_UPI_failed_txns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Txn_f_unique_L1_issue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-75534" y="3338329"/>
            <a:ext cx="19350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Days_since_last_complaint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num_tickets_opened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avg_resolution_time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1695" y="5871705"/>
            <a:ext cx="1689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Popular city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002060"/>
                </a:solidFill>
                <a:latin typeface="Open Sans" panose="020B0606030504020204"/>
              </a:rPr>
              <a:t>Tenure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6232238-BD9E-56AE-9A01-6E6731C4F9F6}"/>
              </a:ext>
            </a:extLst>
          </p:cNvPr>
          <p:cNvSpPr txBox="1"/>
          <p:nvPr/>
        </p:nvSpPr>
        <p:spPr>
          <a:xfrm>
            <a:off x="8911337" y="3785029"/>
            <a:ext cx="1824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 selected:</a:t>
            </a:r>
            <a:endParaRPr lang="en-IN" sz="1400" b="1" dirty="0">
              <a:solidFill>
                <a:srgbClr val="00B0F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180" name="Chart 179">
            <a:extLst>
              <a:ext uri="{FF2B5EF4-FFF2-40B4-BE49-F238E27FC236}">
                <a16:creationId xmlns:a16="http://schemas.microsoft.com/office/drawing/2014/main" id="{F6D88016-71B8-9C5F-E733-A553D6E4AC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768826"/>
              </p:ext>
            </p:extLst>
          </p:nvPr>
        </p:nvGraphicFramePr>
        <p:xfrm>
          <a:off x="9089090" y="4274867"/>
          <a:ext cx="3498915" cy="2201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7770E0AA-8A7E-7E4F-2CE6-AD049F0C8F53}"/>
              </a:ext>
            </a:extLst>
          </p:cNvPr>
          <p:cNvSpPr txBox="1"/>
          <p:nvPr/>
        </p:nvSpPr>
        <p:spPr>
          <a:xfrm>
            <a:off x="11058936" y="4170609"/>
            <a:ext cx="1035103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</a:t>
            </a:r>
            <a:endParaRPr lang="en-US" sz="11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50.0%</a:t>
            </a:r>
            <a:endParaRPr lang="en-IN" sz="11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27016F7-3A1D-B522-B796-60A8692532CD}"/>
              </a:ext>
            </a:extLst>
          </p:cNvPr>
          <p:cNvCxnSpPr>
            <a:cxnSpLocks/>
          </p:cNvCxnSpPr>
          <p:nvPr/>
        </p:nvCxnSpPr>
        <p:spPr>
          <a:xfrm flipH="1" flipV="1">
            <a:off x="11401131" y="4608242"/>
            <a:ext cx="350714" cy="292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2E7AE75C-8D32-3967-7608-86F161235E16}"/>
              </a:ext>
            </a:extLst>
          </p:cNvPr>
          <p:cNvSpPr txBox="1"/>
          <p:nvPr/>
        </p:nvSpPr>
        <p:spPr>
          <a:xfrm>
            <a:off x="9089090" y="4074812"/>
            <a:ext cx="2035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Demographics</a:t>
            </a:r>
            <a:endParaRPr lang="en-US" sz="11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12.0%</a:t>
            </a:r>
            <a:endParaRPr lang="en-IN" sz="11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3B8C708-83B2-1F3A-EC63-4BB4409124A4}"/>
              </a:ext>
            </a:extLst>
          </p:cNvPr>
          <p:cNvCxnSpPr/>
          <p:nvPr/>
        </p:nvCxnSpPr>
        <p:spPr>
          <a:xfrm>
            <a:off x="9796350" y="5818370"/>
            <a:ext cx="717604" cy="6796"/>
          </a:xfrm>
          <a:prstGeom prst="line">
            <a:avLst/>
          </a:prstGeom>
          <a:ln>
            <a:solidFill>
              <a:srgbClr val="7F8F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Oval 184">
            <a:extLst>
              <a:ext uri="{FF2B5EF4-FFF2-40B4-BE49-F238E27FC236}">
                <a16:creationId xmlns:a16="http://schemas.microsoft.com/office/drawing/2014/main" id="{9D923F73-70C8-3190-A537-CC6A0043DB65}"/>
              </a:ext>
            </a:extLst>
          </p:cNvPr>
          <p:cNvSpPr/>
          <p:nvPr/>
        </p:nvSpPr>
        <p:spPr>
          <a:xfrm>
            <a:off x="9669815" y="5757461"/>
            <a:ext cx="130680" cy="118800"/>
          </a:xfrm>
          <a:prstGeom prst="ellipse">
            <a:avLst/>
          </a:prstGeom>
          <a:solidFill>
            <a:srgbClr val="7F8F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523F5B84-C5C8-C009-4159-2D5F4F20B919}"/>
              </a:ext>
            </a:extLst>
          </p:cNvPr>
          <p:cNvSpPr/>
          <p:nvPr/>
        </p:nvSpPr>
        <p:spPr>
          <a:xfrm>
            <a:off x="11676255" y="4544143"/>
            <a:ext cx="130680" cy="1188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47DBE7A-F71A-F836-8C9A-E669384FD620}"/>
              </a:ext>
            </a:extLst>
          </p:cNvPr>
          <p:cNvCxnSpPr/>
          <p:nvPr/>
        </p:nvCxnSpPr>
        <p:spPr>
          <a:xfrm>
            <a:off x="10122666" y="4475637"/>
            <a:ext cx="526904" cy="0"/>
          </a:xfrm>
          <a:prstGeom prst="line">
            <a:avLst/>
          </a:prstGeom>
          <a:ln>
            <a:solidFill>
              <a:srgbClr val="4A66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5F9463F8-0EF3-6538-D336-753CF5822772}"/>
              </a:ext>
            </a:extLst>
          </p:cNvPr>
          <p:cNvSpPr/>
          <p:nvPr/>
        </p:nvSpPr>
        <p:spPr>
          <a:xfrm>
            <a:off x="10095359" y="4408947"/>
            <a:ext cx="130680" cy="118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B209054-8615-3C8A-72FC-2B68DD147F27}"/>
              </a:ext>
            </a:extLst>
          </p:cNvPr>
          <p:cNvSpPr txBox="1"/>
          <p:nvPr/>
        </p:nvSpPr>
        <p:spPr>
          <a:xfrm>
            <a:off x="9378437" y="5394362"/>
            <a:ext cx="552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CST</a:t>
            </a: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13.0%</a:t>
            </a:r>
            <a:endParaRPr lang="en-IN" sz="11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4AC6169-042F-8D47-A70C-349E9A3913CF}"/>
              </a:ext>
            </a:extLst>
          </p:cNvPr>
          <p:cNvSpPr txBox="1"/>
          <p:nvPr/>
        </p:nvSpPr>
        <p:spPr>
          <a:xfrm>
            <a:off x="8327264" y="4697808"/>
            <a:ext cx="2186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Txn Activity</a:t>
            </a:r>
            <a:endParaRPr lang="en-US" sz="11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35.0%</a:t>
            </a:r>
            <a:endParaRPr lang="en-IN" sz="1100" b="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BF30964-A19C-9672-A1BB-FBE6834BBF59}"/>
              </a:ext>
            </a:extLst>
          </p:cNvPr>
          <p:cNvCxnSpPr/>
          <p:nvPr/>
        </p:nvCxnSpPr>
        <p:spPr>
          <a:xfrm>
            <a:off x="9827704" y="4931864"/>
            <a:ext cx="3958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val 191">
            <a:extLst>
              <a:ext uri="{FF2B5EF4-FFF2-40B4-BE49-F238E27FC236}">
                <a16:creationId xmlns:a16="http://schemas.microsoft.com/office/drawing/2014/main" id="{164B50DA-0774-A108-E308-3C52A5CC8C59}"/>
              </a:ext>
            </a:extLst>
          </p:cNvPr>
          <p:cNvSpPr/>
          <p:nvPr/>
        </p:nvSpPr>
        <p:spPr>
          <a:xfrm>
            <a:off x="9713825" y="4881320"/>
            <a:ext cx="143748" cy="118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p:pic>
        <p:nvPicPr>
          <p:cNvPr id="34" name="Graphic 33" descr="Briefcase with solid fill">
            <a:extLst>
              <a:ext uri="{FF2B5EF4-FFF2-40B4-BE49-F238E27FC236}">
                <a16:creationId xmlns:a16="http://schemas.microsoft.com/office/drawing/2014/main" id="{0D1C3299-DF1B-40B9-0AD8-055703C53A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5805" y="4813651"/>
            <a:ext cx="702626" cy="70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25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700" y="306401"/>
            <a:ext cx="104347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IN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Feature </a:t>
            </a:r>
            <a:r>
              <a:rPr lang="en-US" sz="2800" b="1" dirty="0">
                <a:solidFill>
                  <a:srgbClr val="143F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Reduction Techniques </a:t>
            </a:r>
            <a:r>
              <a:rPr lang="en-US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– Multiclass modifications</a:t>
            </a:r>
            <a:endParaRPr lang="en-IN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43264" y="6089368"/>
            <a:ext cx="352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85024" y="6089368"/>
            <a:ext cx="1180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are the techniques which are used differently to reduce the features in multi-class classification model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86AF95-8560-C03F-4B7A-5084D0B57FDF}"/>
              </a:ext>
            </a:extLst>
          </p:cNvPr>
          <p:cNvGrpSpPr/>
          <p:nvPr/>
        </p:nvGrpSpPr>
        <p:grpSpPr>
          <a:xfrm>
            <a:off x="566057" y="1283362"/>
            <a:ext cx="1175657" cy="1970314"/>
            <a:chOff x="566057" y="1066800"/>
            <a:chExt cx="1175657" cy="197031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5F2AADD-167F-C573-CCB5-D1EE2EF296A4}"/>
                </a:ext>
              </a:extLst>
            </p:cNvPr>
            <p:cNvSpPr/>
            <p:nvPr/>
          </p:nvSpPr>
          <p:spPr>
            <a:xfrm>
              <a:off x="566057" y="1066800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CF2F52-37B8-EB60-BE1F-D42446898D5B}"/>
                </a:ext>
              </a:extLst>
            </p:cNvPr>
            <p:cNvSpPr/>
            <p:nvPr/>
          </p:nvSpPr>
          <p:spPr>
            <a:xfrm>
              <a:off x="566057" y="1164771"/>
              <a:ext cx="87086" cy="620486"/>
            </a:xfrm>
            <a:prstGeom prst="rect">
              <a:avLst/>
            </a:prstGeom>
            <a:solidFill>
              <a:srgbClr val="DC2A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68A9D1-AB49-DDDD-B0A6-1EC1F53A3172}"/>
                </a:ext>
              </a:extLst>
            </p:cNvPr>
            <p:cNvSpPr txBox="1"/>
            <p:nvPr/>
          </p:nvSpPr>
          <p:spPr>
            <a:xfrm>
              <a:off x="653143" y="1542755"/>
              <a:ext cx="1088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DQ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BF3343-CE0B-1995-7CE8-50D6458729C0}"/>
              </a:ext>
            </a:extLst>
          </p:cNvPr>
          <p:cNvGrpSpPr/>
          <p:nvPr/>
        </p:nvGrpSpPr>
        <p:grpSpPr>
          <a:xfrm>
            <a:off x="2823747" y="1283362"/>
            <a:ext cx="1175657" cy="1970314"/>
            <a:chOff x="566057" y="1066800"/>
            <a:chExt cx="1175657" cy="197031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06ED4F-CF3D-935B-31AC-18DAA3209D58}"/>
                </a:ext>
              </a:extLst>
            </p:cNvPr>
            <p:cNvSpPr/>
            <p:nvPr/>
          </p:nvSpPr>
          <p:spPr>
            <a:xfrm>
              <a:off x="566057" y="1066800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C87F01-5F2D-BE8B-736D-C518D4C6F7AC}"/>
                </a:ext>
              </a:extLst>
            </p:cNvPr>
            <p:cNvSpPr/>
            <p:nvPr/>
          </p:nvSpPr>
          <p:spPr>
            <a:xfrm>
              <a:off x="566057" y="1164771"/>
              <a:ext cx="87086" cy="620486"/>
            </a:xfrm>
            <a:prstGeom prst="rect">
              <a:avLst/>
            </a:prstGeom>
            <a:solidFill>
              <a:srgbClr val="F7D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73F816-4735-5E11-A966-9D001D51CF00}"/>
                </a:ext>
              </a:extLst>
            </p:cNvPr>
            <p:cNvSpPr txBox="1"/>
            <p:nvPr/>
          </p:nvSpPr>
          <p:spPr>
            <a:xfrm>
              <a:off x="653143" y="1542755"/>
              <a:ext cx="1088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Encoding/Imputation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511C20-1D6C-0A80-7189-EA352FD9EB69}"/>
              </a:ext>
            </a:extLst>
          </p:cNvPr>
          <p:cNvGrpSpPr/>
          <p:nvPr/>
        </p:nvGrpSpPr>
        <p:grpSpPr>
          <a:xfrm>
            <a:off x="5081437" y="1283362"/>
            <a:ext cx="1175657" cy="1970314"/>
            <a:chOff x="566057" y="1066800"/>
            <a:chExt cx="1175657" cy="19703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87E4F8-24D7-828D-A364-D8F7A8BAD13C}"/>
                </a:ext>
              </a:extLst>
            </p:cNvPr>
            <p:cNvSpPr/>
            <p:nvPr/>
          </p:nvSpPr>
          <p:spPr>
            <a:xfrm>
              <a:off x="566057" y="1066800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3BBEEE-E3C8-5BC3-9D96-058315D5FC8E}"/>
                </a:ext>
              </a:extLst>
            </p:cNvPr>
            <p:cNvSpPr/>
            <p:nvPr/>
          </p:nvSpPr>
          <p:spPr>
            <a:xfrm>
              <a:off x="566057" y="1164771"/>
              <a:ext cx="87086" cy="620486"/>
            </a:xfrm>
            <a:prstGeom prst="rect">
              <a:avLst/>
            </a:prstGeom>
            <a:solidFill>
              <a:srgbClr val="0BD6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497D53B-4BA5-DA04-F823-31B7BB9D3521}"/>
                </a:ext>
              </a:extLst>
            </p:cNvPr>
            <p:cNvSpPr txBox="1"/>
            <p:nvPr/>
          </p:nvSpPr>
          <p:spPr>
            <a:xfrm>
              <a:off x="653143" y="1542755"/>
              <a:ext cx="1088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– Score*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B89D3F-2E2B-E8DC-B566-5917453767FC}"/>
              </a:ext>
            </a:extLst>
          </p:cNvPr>
          <p:cNvGrpSpPr/>
          <p:nvPr/>
        </p:nvGrpSpPr>
        <p:grpSpPr>
          <a:xfrm>
            <a:off x="7339127" y="1283362"/>
            <a:ext cx="1175657" cy="1970314"/>
            <a:chOff x="566057" y="1066800"/>
            <a:chExt cx="1175657" cy="19703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306DC0-AE04-5400-32F8-2EB514EC5FA3}"/>
                </a:ext>
              </a:extLst>
            </p:cNvPr>
            <p:cNvSpPr/>
            <p:nvPr/>
          </p:nvSpPr>
          <p:spPr>
            <a:xfrm>
              <a:off x="566057" y="1066800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17D4DFF-946A-35ED-6DB4-3E6DEC3270D0}"/>
                </a:ext>
              </a:extLst>
            </p:cNvPr>
            <p:cNvSpPr/>
            <p:nvPr/>
          </p:nvSpPr>
          <p:spPr>
            <a:xfrm>
              <a:off x="566057" y="1164771"/>
              <a:ext cx="87086" cy="620486"/>
            </a:xfrm>
            <a:prstGeom prst="rect">
              <a:avLst/>
            </a:prstGeom>
            <a:solidFill>
              <a:srgbClr val="6E8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CAA7A0-AC98-DEF4-28E8-F7B7D7986E62}"/>
                </a:ext>
              </a:extLst>
            </p:cNvPr>
            <p:cNvSpPr txBox="1"/>
            <p:nvPr/>
          </p:nvSpPr>
          <p:spPr>
            <a:xfrm>
              <a:off x="653143" y="1542755"/>
              <a:ext cx="1088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PSI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09BB5D-ABBD-BA93-6806-9A653F56B0CE}"/>
              </a:ext>
            </a:extLst>
          </p:cNvPr>
          <p:cNvGrpSpPr/>
          <p:nvPr/>
        </p:nvGrpSpPr>
        <p:grpSpPr>
          <a:xfrm>
            <a:off x="9596818" y="1283362"/>
            <a:ext cx="1175657" cy="1970314"/>
            <a:chOff x="566057" y="1066800"/>
            <a:chExt cx="1175657" cy="197031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F264D6A-5F8E-3CE6-7292-9CBEAA9DF732}"/>
                </a:ext>
              </a:extLst>
            </p:cNvPr>
            <p:cNvSpPr/>
            <p:nvPr/>
          </p:nvSpPr>
          <p:spPr>
            <a:xfrm>
              <a:off x="566057" y="1066800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EC5F9D5-3B7F-469E-C0CD-40DEFA0589E1}"/>
                </a:ext>
              </a:extLst>
            </p:cNvPr>
            <p:cNvSpPr/>
            <p:nvPr/>
          </p:nvSpPr>
          <p:spPr>
            <a:xfrm>
              <a:off x="566057" y="1164771"/>
              <a:ext cx="87086" cy="620486"/>
            </a:xfrm>
            <a:prstGeom prst="rect">
              <a:avLst/>
            </a:prstGeom>
            <a:solidFill>
              <a:srgbClr val="1477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2138B5-A6EA-597D-D42D-9D4B03524D28}"/>
                </a:ext>
              </a:extLst>
            </p:cNvPr>
            <p:cNvSpPr txBox="1"/>
            <p:nvPr/>
          </p:nvSpPr>
          <p:spPr>
            <a:xfrm>
              <a:off x="653143" y="1542755"/>
              <a:ext cx="1088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Bivariate Analysis*</a:t>
              </a:r>
              <a:endParaRPr lang="en-IN" sz="1000" b="1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212E33-9B42-348F-801D-4C082A6ED01E}"/>
              </a:ext>
            </a:extLst>
          </p:cNvPr>
          <p:cNvGrpSpPr/>
          <p:nvPr/>
        </p:nvGrpSpPr>
        <p:grpSpPr>
          <a:xfrm>
            <a:off x="1811410" y="4039192"/>
            <a:ext cx="1175657" cy="1970314"/>
            <a:chOff x="1811410" y="3821473"/>
            <a:chExt cx="1175657" cy="197031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1D2EED7-5C0E-5478-0775-9A09FA706DFA}"/>
                </a:ext>
              </a:extLst>
            </p:cNvPr>
            <p:cNvSpPr/>
            <p:nvPr/>
          </p:nvSpPr>
          <p:spPr>
            <a:xfrm flipV="1">
              <a:off x="1811410" y="3821473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983FB9-607C-D20D-0E5F-D0548E07B69B}"/>
                </a:ext>
              </a:extLst>
            </p:cNvPr>
            <p:cNvSpPr/>
            <p:nvPr/>
          </p:nvSpPr>
          <p:spPr>
            <a:xfrm flipV="1">
              <a:off x="1811410" y="5073330"/>
              <a:ext cx="87086" cy="620486"/>
            </a:xfrm>
            <a:prstGeom prst="rect">
              <a:avLst/>
            </a:prstGeom>
            <a:solidFill>
              <a:srgbClr val="DEA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94B835-12D1-1B99-5C76-5EB4FBA2B4F9}"/>
                </a:ext>
              </a:extLst>
            </p:cNvPr>
            <p:cNvSpPr txBox="1"/>
            <p:nvPr/>
          </p:nvSpPr>
          <p:spPr>
            <a:xfrm>
              <a:off x="1898496" y="5069611"/>
              <a:ext cx="1088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Information Value*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F1850B-0C37-191E-F519-DBE5AB71FA0B}"/>
              </a:ext>
            </a:extLst>
          </p:cNvPr>
          <p:cNvGrpSpPr/>
          <p:nvPr/>
        </p:nvGrpSpPr>
        <p:grpSpPr>
          <a:xfrm>
            <a:off x="4069100" y="4039192"/>
            <a:ext cx="1175657" cy="1970314"/>
            <a:chOff x="4069100" y="3821473"/>
            <a:chExt cx="1175657" cy="1970314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51AB9A-B716-5680-6BE2-B1E5523BD13C}"/>
                </a:ext>
              </a:extLst>
            </p:cNvPr>
            <p:cNvSpPr/>
            <p:nvPr/>
          </p:nvSpPr>
          <p:spPr>
            <a:xfrm flipV="1">
              <a:off x="4069100" y="3821473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BB137F0-1472-2D4E-E550-1B2EBD2161E7}"/>
                </a:ext>
              </a:extLst>
            </p:cNvPr>
            <p:cNvSpPr/>
            <p:nvPr/>
          </p:nvSpPr>
          <p:spPr>
            <a:xfrm flipV="1">
              <a:off x="4069100" y="5073330"/>
              <a:ext cx="87086" cy="620486"/>
            </a:xfrm>
            <a:prstGeom prst="rect">
              <a:avLst/>
            </a:prstGeom>
            <a:solidFill>
              <a:srgbClr val="64DD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203EB5-4FFD-F10C-6B92-13941F75C835}"/>
                </a:ext>
              </a:extLst>
            </p:cNvPr>
            <p:cNvSpPr txBox="1"/>
            <p:nvPr/>
          </p:nvSpPr>
          <p:spPr>
            <a:xfrm>
              <a:off x="4156186" y="5069611"/>
              <a:ext cx="1088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IV after Encoding*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226002-C48A-DEE4-AD4C-C5017C5DA327}"/>
              </a:ext>
            </a:extLst>
          </p:cNvPr>
          <p:cNvGrpSpPr/>
          <p:nvPr/>
        </p:nvGrpSpPr>
        <p:grpSpPr>
          <a:xfrm>
            <a:off x="6326790" y="4039192"/>
            <a:ext cx="1175657" cy="1970314"/>
            <a:chOff x="6326790" y="3821473"/>
            <a:chExt cx="1175657" cy="1970314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A8A5AA-9666-2187-F99D-C3E278CF6EA9}"/>
                </a:ext>
              </a:extLst>
            </p:cNvPr>
            <p:cNvSpPr/>
            <p:nvPr/>
          </p:nvSpPr>
          <p:spPr>
            <a:xfrm flipV="1">
              <a:off x="6326790" y="3821473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BFDE19-8B46-82A6-B5AE-C2B75988DA1B}"/>
                </a:ext>
              </a:extLst>
            </p:cNvPr>
            <p:cNvSpPr/>
            <p:nvPr/>
          </p:nvSpPr>
          <p:spPr>
            <a:xfrm flipV="1">
              <a:off x="6326790" y="5073330"/>
              <a:ext cx="87086" cy="620486"/>
            </a:xfrm>
            <a:prstGeom prst="rect">
              <a:avLst/>
            </a:prstGeom>
            <a:solidFill>
              <a:srgbClr val="5122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54A7B0-271C-420A-C86D-707350B3859B}"/>
                </a:ext>
              </a:extLst>
            </p:cNvPr>
            <p:cNvSpPr txBox="1"/>
            <p:nvPr/>
          </p:nvSpPr>
          <p:spPr>
            <a:xfrm>
              <a:off x="6413876" y="5069611"/>
              <a:ext cx="1088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Correlation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5B9D0C0-AB85-7E12-24EB-6E57DBDD34FE}"/>
              </a:ext>
            </a:extLst>
          </p:cNvPr>
          <p:cNvGrpSpPr/>
          <p:nvPr/>
        </p:nvGrpSpPr>
        <p:grpSpPr>
          <a:xfrm>
            <a:off x="8584480" y="4039192"/>
            <a:ext cx="1175657" cy="1970314"/>
            <a:chOff x="8584480" y="3821473"/>
            <a:chExt cx="1175657" cy="1970314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DAC84E-78C5-4CF6-3582-03EC1DFFDE70}"/>
                </a:ext>
              </a:extLst>
            </p:cNvPr>
            <p:cNvSpPr/>
            <p:nvPr/>
          </p:nvSpPr>
          <p:spPr>
            <a:xfrm flipV="1">
              <a:off x="8584480" y="3821473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FD4BF8F-10E9-33FA-BC17-AC3A890C38BD}"/>
                </a:ext>
              </a:extLst>
            </p:cNvPr>
            <p:cNvSpPr/>
            <p:nvPr/>
          </p:nvSpPr>
          <p:spPr>
            <a:xfrm flipV="1">
              <a:off x="8584480" y="5073330"/>
              <a:ext cx="87086" cy="620486"/>
            </a:xfrm>
            <a:prstGeom prst="rect">
              <a:avLst/>
            </a:prstGeom>
            <a:solidFill>
              <a:srgbClr val="6519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D2AA17E-5D0F-CE59-8270-DC28F24B9429}"/>
                </a:ext>
              </a:extLst>
            </p:cNvPr>
            <p:cNvSpPr txBox="1"/>
            <p:nvPr/>
          </p:nvSpPr>
          <p:spPr>
            <a:xfrm>
              <a:off x="8671566" y="5069611"/>
              <a:ext cx="10885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FI using random Variable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9D42A33-613B-13D1-F0BD-5CAC7F764005}"/>
              </a:ext>
            </a:extLst>
          </p:cNvPr>
          <p:cNvGrpSpPr/>
          <p:nvPr/>
        </p:nvGrpSpPr>
        <p:grpSpPr>
          <a:xfrm>
            <a:off x="10842171" y="4039192"/>
            <a:ext cx="1175657" cy="1970314"/>
            <a:chOff x="10842171" y="3821473"/>
            <a:chExt cx="1175657" cy="1970314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0D7A33D-D0A9-747B-B2B1-7E80126C958F}"/>
                </a:ext>
              </a:extLst>
            </p:cNvPr>
            <p:cNvSpPr/>
            <p:nvPr/>
          </p:nvSpPr>
          <p:spPr>
            <a:xfrm flipV="1">
              <a:off x="10842171" y="3821473"/>
              <a:ext cx="359229" cy="1970314"/>
            </a:xfrm>
            <a:custGeom>
              <a:avLst/>
              <a:gdLst>
                <a:gd name="connsiteX0" fmla="*/ 0 w 359229"/>
                <a:gd name="connsiteY0" fmla="*/ 1970314 h 1970314"/>
                <a:gd name="connsiteX1" fmla="*/ 0 w 359229"/>
                <a:gd name="connsiteY1" fmla="*/ 0 h 1970314"/>
                <a:gd name="connsiteX2" fmla="*/ 359229 w 359229"/>
                <a:gd name="connsiteY2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229" h="1970314">
                  <a:moveTo>
                    <a:pt x="0" y="1970314"/>
                  </a:moveTo>
                  <a:lnTo>
                    <a:pt x="0" y="0"/>
                  </a:lnTo>
                  <a:lnTo>
                    <a:pt x="359229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004FD9C-2745-3370-C327-4D7673218B42}"/>
                </a:ext>
              </a:extLst>
            </p:cNvPr>
            <p:cNvSpPr/>
            <p:nvPr/>
          </p:nvSpPr>
          <p:spPr>
            <a:xfrm flipV="1">
              <a:off x="10842171" y="5073330"/>
              <a:ext cx="87086" cy="620486"/>
            </a:xfrm>
            <a:prstGeom prst="rect">
              <a:avLst/>
            </a:prstGeom>
            <a:solidFill>
              <a:srgbClr val="40E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4051DA8-4C04-E409-BFC9-F34A6B765401}"/>
                </a:ext>
              </a:extLst>
            </p:cNvPr>
            <p:cNvSpPr txBox="1"/>
            <p:nvPr/>
          </p:nvSpPr>
          <p:spPr>
            <a:xfrm>
              <a:off x="10929257" y="5069611"/>
              <a:ext cx="1088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Model Iterations</a:t>
              </a:r>
              <a:endParaRPr lang="en-IN" sz="1000" b="1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1BB59A4C-E235-A064-2CFF-FCCDFCD569AE}"/>
              </a:ext>
            </a:extLst>
          </p:cNvPr>
          <p:cNvSpPr/>
          <p:nvPr/>
        </p:nvSpPr>
        <p:spPr>
          <a:xfrm>
            <a:off x="0" y="2815353"/>
            <a:ext cx="12192000" cy="1681382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>
            <a:innerShdw blurRad="2032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275157B5-35E2-0E56-96C0-55F5CFBCE4EA}"/>
              </a:ext>
            </a:extLst>
          </p:cNvPr>
          <p:cNvSpPr/>
          <p:nvPr/>
        </p:nvSpPr>
        <p:spPr>
          <a:xfrm>
            <a:off x="10362070" y="3198490"/>
            <a:ext cx="1548000" cy="900000"/>
          </a:xfrm>
          <a:prstGeom prst="homePlate">
            <a:avLst/>
          </a:prstGeom>
          <a:gradFill>
            <a:gsLst>
              <a:gs pos="0">
                <a:srgbClr val="09C7B5"/>
              </a:gs>
              <a:gs pos="100000">
                <a:srgbClr val="59F8E8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Arrow: Pentagon 54">
            <a:extLst>
              <a:ext uri="{FF2B5EF4-FFF2-40B4-BE49-F238E27FC236}">
                <a16:creationId xmlns:a16="http://schemas.microsoft.com/office/drawing/2014/main" id="{48347B9D-473B-FABB-942C-A2FB1FACB2FB}"/>
              </a:ext>
            </a:extLst>
          </p:cNvPr>
          <p:cNvSpPr/>
          <p:nvPr/>
        </p:nvSpPr>
        <p:spPr>
          <a:xfrm>
            <a:off x="9315792" y="3198490"/>
            <a:ext cx="1548000" cy="900000"/>
          </a:xfrm>
          <a:prstGeom prst="homePlate">
            <a:avLst/>
          </a:prstGeom>
          <a:gradFill>
            <a:gsLst>
              <a:gs pos="0">
                <a:srgbClr val="06466E"/>
              </a:gs>
              <a:gs pos="100000">
                <a:srgbClr val="20A4F3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Arrow: Pentagon 55">
            <a:extLst>
              <a:ext uri="{FF2B5EF4-FFF2-40B4-BE49-F238E27FC236}">
                <a16:creationId xmlns:a16="http://schemas.microsoft.com/office/drawing/2014/main" id="{D4BFDD99-3DDD-946F-3857-3DC03D62CAEA}"/>
              </a:ext>
            </a:extLst>
          </p:cNvPr>
          <p:cNvSpPr/>
          <p:nvPr/>
        </p:nvSpPr>
        <p:spPr>
          <a:xfrm>
            <a:off x="8228781" y="3198490"/>
            <a:ext cx="1548000" cy="900000"/>
          </a:xfrm>
          <a:prstGeom prst="homePlate">
            <a:avLst/>
          </a:prstGeom>
          <a:gradFill>
            <a:gsLst>
              <a:gs pos="0">
                <a:srgbClr val="3B0E3E"/>
              </a:gs>
              <a:gs pos="100000">
                <a:srgbClr val="7E1F86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Arrow: Pentagon 56">
            <a:extLst>
              <a:ext uri="{FF2B5EF4-FFF2-40B4-BE49-F238E27FC236}">
                <a16:creationId xmlns:a16="http://schemas.microsoft.com/office/drawing/2014/main" id="{E1623FC5-F1E1-DF1F-A233-E69BC0FB5841}"/>
              </a:ext>
            </a:extLst>
          </p:cNvPr>
          <p:cNvSpPr/>
          <p:nvPr/>
        </p:nvSpPr>
        <p:spPr>
          <a:xfrm>
            <a:off x="7112029" y="3196719"/>
            <a:ext cx="1548000" cy="900000"/>
          </a:xfrm>
          <a:prstGeom prst="homePlate">
            <a:avLst/>
          </a:prstGeom>
          <a:gradFill>
            <a:gsLst>
              <a:gs pos="0">
                <a:srgbClr val="324A8E"/>
              </a:gs>
              <a:gs pos="100000">
                <a:srgbClr val="8CA0D7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Arrow: Pentagon 57">
            <a:extLst>
              <a:ext uri="{FF2B5EF4-FFF2-40B4-BE49-F238E27FC236}">
                <a16:creationId xmlns:a16="http://schemas.microsoft.com/office/drawing/2014/main" id="{8190D713-5CD4-FCFB-5673-0E8840494067}"/>
              </a:ext>
            </a:extLst>
          </p:cNvPr>
          <p:cNvSpPr/>
          <p:nvPr/>
        </p:nvSpPr>
        <p:spPr>
          <a:xfrm>
            <a:off x="6034927" y="3191903"/>
            <a:ext cx="1548000" cy="900000"/>
          </a:xfrm>
          <a:prstGeom prst="homePlate">
            <a:avLst/>
          </a:prstGeom>
          <a:gradFill>
            <a:gsLst>
              <a:gs pos="0">
                <a:srgbClr val="331529"/>
              </a:gs>
              <a:gs pos="100000">
                <a:srgbClr val="542344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Arrow: Pentagon 58">
            <a:extLst>
              <a:ext uri="{FF2B5EF4-FFF2-40B4-BE49-F238E27FC236}">
                <a16:creationId xmlns:a16="http://schemas.microsoft.com/office/drawing/2014/main" id="{83BFCBF5-ADF8-03A4-6ACF-15726B471460}"/>
              </a:ext>
            </a:extLst>
          </p:cNvPr>
          <p:cNvSpPr/>
          <p:nvPr/>
        </p:nvSpPr>
        <p:spPr>
          <a:xfrm>
            <a:off x="4929218" y="3203636"/>
            <a:ext cx="1548000" cy="900000"/>
          </a:xfrm>
          <a:prstGeom prst="homePlate">
            <a:avLst/>
          </a:prstGeom>
          <a:gradFill>
            <a:gsLst>
              <a:gs pos="0">
                <a:srgbClr val="008669"/>
              </a:gs>
              <a:gs pos="100000">
                <a:srgbClr val="10FFCB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Arrow: Pentagon 59">
            <a:extLst>
              <a:ext uri="{FF2B5EF4-FFF2-40B4-BE49-F238E27FC236}">
                <a16:creationId xmlns:a16="http://schemas.microsoft.com/office/drawing/2014/main" id="{035B07AC-8DF5-13E5-CB90-184F98BBAC40}"/>
              </a:ext>
            </a:extLst>
          </p:cNvPr>
          <p:cNvSpPr/>
          <p:nvPr/>
        </p:nvSpPr>
        <p:spPr>
          <a:xfrm>
            <a:off x="3797637" y="3196719"/>
            <a:ext cx="1548000" cy="900000"/>
          </a:xfrm>
          <a:prstGeom prst="homePlate">
            <a:avLst/>
          </a:prstGeom>
          <a:gradFill>
            <a:gsLst>
              <a:gs pos="0">
                <a:srgbClr val="03C0CF"/>
              </a:gs>
              <a:gs pos="100000">
                <a:srgbClr val="B5F8FE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Arrow: Pentagon 60">
            <a:extLst>
              <a:ext uri="{FF2B5EF4-FFF2-40B4-BE49-F238E27FC236}">
                <a16:creationId xmlns:a16="http://schemas.microsoft.com/office/drawing/2014/main" id="{7C279887-0A93-86D0-13CE-0CCC177453DB}"/>
              </a:ext>
            </a:extLst>
          </p:cNvPr>
          <p:cNvSpPr/>
          <p:nvPr/>
        </p:nvSpPr>
        <p:spPr>
          <a:xfrm>
            <a:off x="2679661" y="3203636"/>
            <a:ext cx="1548000" cy="900000"/>
          </a:xfrm>
          <a:prstGeom prst="homePlate">
            <a:avLst/>
          </a:prstGeom>
          <a:gradFill>
            <a:gsLst>
              <a:gs pos="0">
                <a:srgbClr val="CC9306"/>
              </a:gs>
              <a:gs pos="100000">
                <a:srgbClr val="FBD87F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Arrow: Pentagon 61">
            <a:extLst>
              <a:ext uri="{FF2B5EF4-FFF2-40B4-BE49-F238E27FC236}">
                <a16:creationId xmlns:a16="http://schemas.microsoft.com/office/drawing/2014/main" id="{DA37D9B8-7B61-A50A-2D7C-6CED1C0A0A21}"/>
              </a:ext>
            </a:extLst>
          </p:cNvPr>
          <p:cNvSpPr/>
          <p:nvPr/>
        </p:nvSpPr>
        <p:spPr>
          <a:xfrm>
            <a:off x="1544958" y="3203636"/>
            <a:ext cx="1548000" cy="900000"/>
          </a:xfrm>
          <a:prstGeom prst="homePlate">
            <a:avLst/>
          </a:prstGeom>
          <a:gradFill>
            <a:gsLst>
              <a:gs pos="0">
                <a:srgbClr val="B2450E"/>
              </a:gs>
              <a:gs pos="100000">
                <a:srgbClr val="FCE4D8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CD5492AB-8969-80EE-34D6-C57FDCD1E315}"/>
              </a:ext>
            </a:extLst>
          </p:cNvPr>
          <p:cNvSpPr/>
          <p:nvPr/>
        </p:nvSpPr>
        <p:spPr>
          <a:xfrm>
            <a:off x="429350" y="3196719"/>
            <a:ext cx="1548000" cy="900000"/>
          </a:xfrm>
          <a:prstGeom prst="homePlate">
            <a:avLst/>
          </a:prstGeom>
          <a:gradFill>
            <a:gsLst>
              <a:gs pos="0">
                <a:srgbClr val="C7094D"/>
              </a:gs>
              <a:gs pos="100000">
                <a:srgbClr val="F75590"/>
              </a:gs>
            </a:gsLst>
            <a:lin ang="0" scaled="1"/>
          </a:gradFill>
          <a:ln>
            <a:noFill/>
          </a:ln>
          <a:effectLst>
            <a:outerShdw blurRad="190500" dist="635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F65F936-38AC-8110-4179-FC308D13D866}"/>
              </a:ext>
            </a:extLst>
          </p:cNvPr>
          <p:cNvSpPr/>
          <p:nvPr/>
        </p:nvSpPr>
        <p:spPr>
          <a:xfrm>
            <a:off x="429350" y="3646719"/>
            <a:ext cx="11588478" cy="450000"/>
          </a:xfrm>
          <a:custGeom>
            <a:avLst/>
            <a:gdLst>
              <a:gd name="connsiteX0" fmla="*/ 0 w 11588478"/>
              <a:gd name="connsiteY0" fmla="*/ 0 h 450000"/>
              <a:gd name="connsiteX1" fmla="*/ 11588478 w 11588478"/>
              <a:gd name="connsiteY1" fmla="*/ 0 h 450000"/>
              <a:gd name="connsiteX2" fmla="*/ 11138478 w 11588478"/>
              <a:gd name="connsiteY2" fmla="*/ 450000 h 450000"/>
              <a:gd name="connsiteX3" fmla="*/ 0 w 11588478"/>
              <a:gd name="connsiteY3" fmla="*/ 450000 h 45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8478" h="450000">
                <a:moveTo>
                  <a:pt x="0" y="0"/>
                </a:moveTo>
                <a:lnTo>
                  <a:pt x="11588478" y="0"/>
                </a:lnTo>
                <a:lnTo>
                  <a:pt x="11138478" y="450000"/>
                </a:lnTo>
                <a:lnTo>
                  <a:pt x="0" y="450000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84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A9F841-55C9-3EE0-3965-46A72AD945F8}"/>
              </a:ext>
            </a:extLst>
          </p:cNvPr>
          <p:cNvSpPr/>
          <p:nvPr/>
        </p:nvSpPr>
        <p:spPr>
          <a:xfrm rot="5400000">
            <a:off x="-1003024" y="2616984"/>
            <a:ext cx="4292601" cy="1883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IN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8" name="Google Shape;238;p64"/>
          <p:cNvSpPr txBox="1">
            <a:spLocks noGrp="1"/>
          </p:cNvSpPr>
          <p:nvPr>
            <p:ph type="sldNum" idx="12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fld id="{00000000-1234-1234-1234-123412341234}" type="slidenum">
              <a:rPr lang="en-US"/>
              <a:pPr/>
              <a:t>13</a:t>
            </a:fld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230;p63">
            <a:extLst>
              <a:ext uri="{FF2B5EF4-FFF2-40B4-BE49-F238E27FC236}">
                <a16:creationId xmlns:a16="http://schemas.microsoft.com/office/drawing/2014/main" id="{18CFD9F9-D14A-6DB2-0DE0-451BBDA5BDF9}"/>
              </a:ext>
            </a:extLst>
          </p:cNvPr>
          <p:cNvSpPr txBox="1"/>
          <p:nvPr/>
        </p:nvSpPr>
        <p:spPr>
          <a:xfrm>
            <a:off x="201721" y="-17730"/>
            <a:ext cx="10994588" cy="10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143F6A"/>
                </a:solidFill>
                <a:latin typeface="Open Sans"/>
                <a:ea typeface="Open Sans"/>
                <a:cs typeface="Open Sans"/>
                <a:sym typeface="Open Sans"/>
              </a:rPr>
              <a:t>Retention N30</a:t>
            </a:r>
            <a:r>
              <a:rPr lang="en-US" sz="2800" b="1" kern="0" dirty="0">
                <a:solidFill>
                  <a:srgbClr val="3477B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b="1" kern="0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New </a:t>
            </a:r>
            <a:r>
              <a:rPr lang="en-US" sz="2800" b="1" kern="0" dirty="0">
                <a:solidFill>
                  <a:srgbClr val="143F6A"/>
                </a:solidFill>
                <a:latin typeface="Open Sans"/>
                <a:ea typeface="Open Sans"/>
                <a:cs typeface="Open Sans"/>
                <a:sym typeface="Open Sans"/>
              </a:rPr>
              <a:t>Model</a:t>
            </a:r>
            <a:r>
              <a:rPr lang="en-US" sz="2800" b="1" kern="0" dirty="0">
                <a:solidFill>
                  <a:srgbClr val="3477B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b="1" kern="0" dirty="0">
                <a:solidFill>
                  <a:srgbClr val="00BAF2"/>
                </a:solidFill>
                <a:latin typeface="Open Sans"/>
                <a:ea typeface="Open Sans"/>
                <a:cs typeface="Open Sans"/>
                <a:sym typeface="Open Sans"/>
              </a:rPr>
              <a:t>Validation</a:t>
            </a:r>
            <a:endParaRPr lang="en-US" sz="2800" b="1" kern="0" dirty="0">
              <a:solidFill>
                <a:srgbClr val="3477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Multi-Segment Multi-Class ML model for </a:t>
            </a:r>
            <a:r>
              <a:rPr lang="en-US" b="1" kern="0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precision targeting</a:t>
            </a:r>
            <a:endParaRPr lang="en-US" sz="2000" kern="0" dirty="0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2;p63">
            <a:extLst>
              <a:ext uri="{FF2B5EF4-FFF2-40B4-BE49-F238E27FC236}">
                <a16:creationId xmlns:a16="http://schemas.microsoft.com/office/drawing/2014/main" id="{25C47F26-41B8-2DF8-FEB8-B427139ABDAD}"/>
              </a:ext>
            </a:extLst>
          </p:cNvPr>
          <p:cNvSpPr txBox="1"/>
          <p:nvPr/>
        </p:nvSpPr>
        <p:spPr>
          <a:xfrm>
            <a:off x="286597" y="1244601"/>
            <a:ext cx="1770803" cy="4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000" b="1" kern="0" dirty="0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2000" b="1" kern="0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b="1" kern="0" dirty="0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customer segments based on their app behaviour</a:t>
            </a: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1400" b="1" kern="0" dirty="0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1400" b="1" kern="0" dirty="0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2000" b="1" kern="0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 sz="1400" b="1" kern="0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 Classes based on customers transaction &amp; app activity</a:t>
            </a:r>
            <a:endParaRPr lang="en-US" sz="1400" b="1" kern="0" dirty="0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1400" b="1" kern="0" dirty="0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lang="en-US" sz="1400" b="1" kern="0" dirty="0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2000" b="1" kern="0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400" b="1" kern="0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robability of Churn along with Severity in </a:t>
            </a:r>
            <a:r>
              <a:rPr lang="en-US" sz="1400" b="1" i="1" kern="0" dirty="0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next 30 days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523F6-1288-351E-7235-D03C3F77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1" y="1009053"/>
            <a:ext cx="7693212" cy="5016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ACC94D-BDFE-9B9C-FE7C-8604F48110F7}"/>
              </a:ext>
            </a:extLst>
          </p:cNvPr>
          <p:cNvSpPr txBox="1"/>
          <p:nvPr/>
        </p:nvSpPr>
        <p:spPr>
          <a:xfrm>
            <a:off x="6629400" y="6199109"/>
            <a:ext cx="5542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1200" i="1" kern="0" dirty="0">
                <a:solidFill>
                  <a:srgbClr val="7030A0"/>
                </a:solidFill>
                <a:cs typeface="Arial"/>
                <a:sym typeface="Arial"/>
              </a:rPr>
              <a:t>*Out-of-Time (OOT) Validation results for  MAU over  performance</a:t>
            </a: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248533DA-BF0E-F8C9-A3AF-46A7AE31C047}"/>
              </a:ext>
            </a:extLst>
          </p:cNvPr>
          <p:cNvSpPr/>
          <p:nvPr/>
        </p:nvSpPr>
        <p:spPr>
          <a:xfrm>
            <a:off x="2336800" y="1587500"/>
            <a:ext cx="1155700" cy="3949700"/>
          </a:xfrm>
          <a:prstGeom prst="chevron">
            <a:avLst>
              <a:gd name="adj" fmla="val 8003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F884D8-373D-E1F1-9FFA-D6C7253845D5}"/>
              </a:ext>
            </a:extLst>
          </p:cNvPr>
          <p:cNvSpPr/>
          <p:nvPr/>
        </p:nvSpPr>
        <p:spPr>
          <a:xfrm>
            <a:off x="5829300" y="1803400"/>
            <a:ext cx="2413000" cy="3009900"/>
          </a:xfrm>
          <a:custGeom>
            <a:avLst/>
            <a:gdLst>
              <a:gd name="connsiteX0" fmla="*/ 0 w 2413000"/>
              <a:gd name="connsiteY0" fmla="*/ 402175 h 3009900"/>
              <a:gd name="connsiteX1" fmla="*/ 402175 w 2413000"/>
              <a:gd name="connsiteY1" fmla="*/ 0 h 3009900"/>
              <a:gd name="connsiteX2" fmla="*/ 970565 w 2413000"/>
              <a:gd name="connsiteY2" fmla="*/ 0 h 3009900"/>
              <a:gd name="connsiteX3" fmla="*/ 1490695 w 2413000"/>
              <a:gd name="connsiteY3" fmla="*/ 0 h 3009900"/>
              <a:gd name="connsiteX4" fmla="*/ 2010825 w 2413000"/>
              <a:gd name="connsiteY4" fmla="*/ 0 h 3009900"/>
              <a:gd name="connsiteX5" fmla="*/ 2413000 w 2413000"/>
              <a:gd name="connsiteY5" fmla="*/ 402175 h 3009900"/>
              <a:gd name="connsiteX6" fmla="*/ 2413000 w 2413000"/>
              <a:gd name="connsiteY6" fmla="*/ 909452 h 3009900"/>
              <a:gd name="connsiteX7" fmla="*/ 2413000 w 2413000"/>
              <a:gd name="connsiteY7" fmla="*/ 1416728 h 3009900"/>
              <a:gd name="connsiteX8" fmla="*/ 2413000 w 2413000"/>
              <a:gd name="connsiteY8" fmla="*/ 2012227 h 3009900"/>
              <a:gd name="connsiteX9" fmla="*/ 2413000 w 2413000"/>
              <a:gd name="connsiteY9" fmla="*/ 2607725 h 3009900"/>
              <a:gd name="connsiteX10" fmla="*/ 2010825 w 2413000"/>
              <a:gd name="connsiteY10" fmla="*/ 3009900 h 3009900"/>
              <a:gd name="connsiteX11" fmla="*/ 1458522 w 2413000"/>
              <a:gd name="connsiteY11" fmla="*/ 3009900 h 3009900"/>
              <a:gd name="connsiteX12" fmla="*/ 890132 w 2413000"/>
              <a:gd name="connsiteY12" fmla="*/ 3009900 h 3009900"/>
              <a:gd name="connsiteX13" fmla="*/ 402175 w 2413000"/>
              <a:gd name="connsiteY13" fmla="*/ 3009900 h 3009900"/>
              <a:gd name="connsiteX14" fmla="*/ 0 w 2413000"/>
              <a:gd name="connsiteY14" fmla="*/ 2607725 h 3009900"/>
              <a:gd name="connsiteX15" fmla="*/ 0 w 2413000"/>
              <a:gd name="connsiteY15" fmla="*/ 2034282 h 3009900"/>
              <a:gd name="connsiteX16" fmla="*/ 0 w 2413000"/>
              <a:gd name="connsiteY16" fmla="*/ 1482895 h 3009900"/>
              <a:gd name="connsiteX17" fmla="*/ 0 w 2413000"/>
              <a:gd name="connsiteY17" fmla="*/ 997674 h 3009900"/>
              <a:gd name="connsiteX18" fmla="*/ 0 w 2413000"/>
              <a:gd name="connsiteY18" fmla="*/ 402175 h 300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13000" h="3009900" extrusionOk="0">
                <a:moveTo>
                  <a:pt x="0" y="402175"/>
                </a:moveTo>
                <a:cubicBezTo>
                  <a:pt x="-31760" y="160470"/>
                  <a:pt x="130362" y="18652"/>
                  <a:pt x="402175" y="0"/>
                </a:cubicBezTo>
                <a:cubicBezTo>
                  <a:pt x="624661" y="3678"/>
                  <a:pt x="783663" y="-23192"/>
                  <a:pt x="970565" y="0"/>
                </a:cubicBezTo>
                <a:cubicBezTo>
                  <a:pt x="1157467" y="23192"/>
                  <a:pt x="1384811" y="5488"/>
                  <a:pt x="1490695" y="0"/>
                </a:cubicBezTo>
                <a:cubicBezTo>
                  <a:pt x="1596579" y="-5488"/>
                  <a:pt x="1829853" y="-24458"/>
                  <a:pt x="2010825" y="0"/>
                </a:cubicBezTo>
                <a:cubicBezTo>
                  <a:pt x="2224558" y="-26997"/>
                  <a:pt x="2420555" y="152103"/>
                  <a:pt x="2413000" y="402175"/>
                </a:cubicBezTo>
                <a:cubicBezTo>
                  <a:pt x="2393388" y="531165"/>
                  <a:pt x="2388200" y="707715"/>
                  <a:pt x="2413000" y="909452"/>
                </a:cubicBezTo>
                <a:cubicBezTo>
                  <a:pt x="2437800" y="1111189"/>
                  <a:pt x="2413758" y="1308474"/>
                  <a:pt x="2413000" y="1416728"/>
                </a:cubicBezTo>
                <a:cubicBezTo>
                  <a:pt x="2412242" y="1524982"/>
                  <a:pt x="2397147" y="1810265"/>
                  <a:pt x="2413000" y="2012227"/>
                </a:cubicBezTo>
                <a:cubicBezTo>
                  <a:pt x="2428853" y="2214189"/>
                  <a:pt x="2415071" y="2336514"/>
                  <a:pt x="2413000" y="2607725"/>
                </a:cubicBezTo>
                <a:cubicBezTo>
                  <a:pt x="2383365" y="2828145"/>
                  <a:pt x="2238148" y="2995618"/>
                  <a:pt x="2010825" y="3009900"/>
                </a:cubicBezTo>
                <a:cubicBezTo>
                  <a:pt x="1885058" y="3033092"/>
                  <a:pt x="1672179" y="3025481"/>
                  <a:pt x="1458522" y="3009900"/>
                </a:cubicBezTo>
                <a:cubicBezTo>
                  <a:pt x="1244865" y="2994319"/>
                  <a:pt x="1108082" y="2991360"/>
                  <a:pt x="890132" y="3009900"/>
                </a:cubicBezTo>
                <a:cubicBezTo>
                  <a:pt x="672182" y="3028441"/>
                  <a:pt x="641782" y="2991889"/>
                  <a:pt x="402175" y="3009900"/>
                </a:cubicBezTo>
                <a:cubicBezTo>
                  <a:pt x="150689" y="3014723"/>
                  <a:pt x="-15483" y="2819157"/>
                  <a:pt x="0" y="2607725"/>
                </a:cubicBezTo>
                <a:cubicBezTo>
                  <a:pt x="-3259" y="2457763"/>
                  <a:pt x="-17583" y="2298103"/>
                  <a:pt x="0" y="2034282"/>
                </a:cubicBezTo>
                <a:cubicBezTo>
                  <a:pt x="17583" y="1770461"/>
                  <a:pt x="-3121" y="1628086"/>
                  <a:pt x="0" y="1482895"/>
                </a:cubicBezTo>
                <a:cubicBezTo>
                  <a:pt x="3121" y="1337704"/>
                  <a:pt x="5254" y="1114501"/>
                  <a:pt x="0" y="997674"/>
                </a:cubicBezTo>
                <a:cubicBezTo>
                  <a:pt x="-5254" y="880847"/>
                  <a:pt x="-16430" y="545027"/>
                  <a:pt x="0" y="402175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88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4"/>
          <p:cNvSpPr txBox="1">
            <a:spLocks noGrp="1"/>
          </p:cNvSpPr>
          <p:nvPr>
            <p:ph type="sldNum" idx="12"/>
          </p:nvPr>
        </p:nvSpPr>
        <p:spPr>
          <a:xfrm>
            <a:off x="11479820" y="6535009"/>
            <a:ext cx="677334" cy="13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fld id="{00000000-1234-1234-1234-123412341234}" type="slidenum">
              <a:rPr lang="en-US"/>
              <a:pPr/>
              <a:t>14</a:t>
            </a:fld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64"/>
          <p:cNvSpPr txBox="1"/>
          <p:nvPr/>
        </p:nvSpPr>
        <p:spPr>
          <a:xfrm>
            <a:off x="278533" y="-74857"/>
            <a:ext cx="10994588" cy="101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143F6A"/>
                </a:solidFill>
                <a:latin typeface="Open Sans"/>
                <a:ea typeface="Open Sans"/>
                <a:cs typeface="Open Sans"/>
                <a:sym typeface="Open Sans"/>
              </a:rPr>
              <a:t>Targeting</a:t>
            </a:r>
            <a:r>
              <a:rPr lang="en-US" sz="2800" b="1" kern="0" dirty="0">
                <a:solidFill>
                  <a:srgbClr val="3477B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b="1" kern="0" dirty="0">
                <a:solidFill>
                  <a:srgbClr val="00BAF2"/>
                </a:solidFill>
                <a:latin typeface="Open Sans"/>
                <a:ea typeface="Open Sans"/>
                <a:cs typeface="Open Sans"/>
                <a:sym typeface="Open Sans"/>
              </a:rPr>
              <a:t>Strategy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2000" b="1" kern="0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Differential</a:t>
            </a:r>
            <a:r>
              <a:rPr lang="en-US" sz="2000" b="1" kern="0" dirty="0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 channel, communication and treatment as per </a:t>
            </a:r>
            <a:r>
              <a:rPr lang="en-US" sz="2000" b="1" kern="0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Micro-Segment</a:t>
            </a:r>
            <a:endParaRPr lang="en-US" sz="2000" kern="0" dirty="0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DAC41-A648-09F2-DB5D-AFED76F2F682}"/>
              </a:ext>
            </a:extLst>
          </p:cNvPr>
          <p:cNvSpPr txBox="1"/>
          <p:nvPr/>
        </p:nvSpPr>
        <p:spPr>
          <a:xfrm>
            <a:off x="6629400" y="6199109"/>
            <a:ext cx="5542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1200" i="1" kern="0" dirty="0">
                <a:solidFill>
                  <a:srgbClr val="7030A0"/>
                </a:solidFill>
                <a:cs typeface="Arial"/>
                <a:sym typeface="Arial"/>
              </a:rPr>
              <a:t>*Black/Gold/Blue-H correspond to </a:t>
            </a:r>
            <a:r>
              <a:rPr lang="en-US" sz="1200" b="1" i="1" kern="0" dirty="0">
                <a:solidFill>
                  <a:srgbClr val="7030A0"/>
                </a:solidFill>
                <a:cs typeface="Arial"/>
                <a:sym typeface="Arial"/>
              </a:rPr>
              <a:t>Pro-Max/Pro/Classic-High</a:t>
            </a:r>
            <a:r>
              <a:rPr lang="en-US" sz="1200" i="1" kern="0" dirty="0">
                <a:solidFill>
                  <a:srgbClr val="7030A0"/>
                </a:solidFill>
                <a:cs typeface="Arial"/>
                <a:sym typeface="Arial"/>
              </a:rPr>
              <a:t> respectively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8272CE-CC22-A67C-2E07-BA43CB5F4D95}"/>
              </a:ext>
            </a:extLst>
          </p:cNvPr>
          <p:cNvGrpSpPr/>
          <p:nvPr/>
        </p:nvGrpSpPr>
        <p:grpSpPr>
          <a:xfrm>
            <a:off x="12719" y="1028336"/>
            <a:ext cx="12192001" cy="5080000"/>
            <a:chOff x="-1" y="1016000"/>
            <a:chExt cx="12192001" cy="5080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B637C4-9CE2-C767-C892-14EDB7F71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016000"/>
              <a:ext cx="12192001" cy="5080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5F4F5F-9DE2-BA7C-4A53-2C4091F8A9E5}"/>
                </a:ext>
              </a:extLst>
            </p:cNvPr>
            <p:cNvSpPr/>
            <p:nvPr/>
          </p:nvSpPr>
          <p:spPr>
            <a:xfrm>
              <a:off x="9855200" y="4419600"/>
              <a:ext cx="241300" cy="330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n-US" sz="1400" kern="0">
                <a:solidFill>
                  <a:srgbClr val="FFFFFF"/>
                </a:solidFill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198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1D1EA9-5460-E79C-6F85-AEE1313BAD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532081-014E-0BC6-656A-3FE116448E86}"/>
              </a:ext>
            </a:extLst>
          </p:cNvPr>
          <p:cNvSpPr/>
          <p:nvPr/>
        </p:nvSpPr>
        <p:spPr>
          <a:xfrm>
            <a:off x="135700" y="306401"/>
            <a:ext cx="104347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242852"/>
              </a:buClr>
              <a:buSzPts val="2800"/>
            </a:pPr>
            <a:r>
              <a:rPr lang="en-US" sz="2800" b="1" dirty="0">
                <a:solidFill>
                  <a:srgbClr val="297FD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Inferencing </a:t>
            </a:r>
            <a:r>
              <a:rPr lang="en-US" sz="2800" b="1" dirty="0">
                <a:solidFill>
                  <a:srgbClr val="629DD1">
                    <a:lumMod val="7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– Output Schema</a:t>
            </a:r>
            <a:endParaRPr lang="en-IN" dirty="0">
              <a:solidFill>
                <a:srgbClr val="00BAF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ED3792-F673-3FF3-3D77-319BACE35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81561"/>
              </p:ext>
            </p:extLst>
          </p:nvPr>
        </p:nvGraphicFramePr>
        <p:xfrm>
          <a:off x="210879" y="1038336"/>
          <a:ext cx="11835809" cy="5256138"/>
        </p:xfrm>
        <a:graphic>
          <a:graphicData uri="http://schemas.openxmlformats.org/drawingml/2006/table">
            <a:tbl>
              <a:tblPr>
                <a:tableStyleId>{EB344D84-9AFB-497E-A393-DC336BA19D2E}</a:tableStyleId>
              </a:tblPr>
              <a:tblGrid>
                <a:gridCol w="679567">
                  <a:extLst>
                    <a:ext uri="{9D8B030D-6E8A-4147-A177-3AD203B41FA5}">
                      <a16:colId xmlns:a16="http://schemas.microsoft.com/office/drawing/2014/main" val="4235158202"/>
                    </a:ext>
                  </a:extLst>
                </a:gridCol>
                <a:gridCol w="509676">
                  <a:extLst>
                    <a:ext uri="{9D8B030D-6E8A-4147-A177-3AD203B41FA5}">
                      <a16:colId xmlns:a16="http://schemas.microsoft.com/office/drawing/2014/main" val="2285823949"/>
                    </a:ext>
                  </a:extLst>
                </a:gridCol>
                <a:gridCol w="863618">
                  <a:extLst>
                    <a:ext uri="{9D8B030D-6E8A-4147-A177-3AD203B41FA5}">
                      <a16:colId xmlns:a16="http://schemas.microsoft.com/office/drawing/2014/main" val="2228074483"/>
                    </a:ext>
                  </a:extLst>
                </a:gridCol>
                <a:gridCol w="453045">
                  <a:extLst>
                    <a:ext uri="{9D8B030D-6E8A-4147-A177-3AD203B41FA5}">
                      <a16:colId xmlns:a16="http://schemas.microsoft.com/office/drawing/2014/main" val="446666415"/>
                    </a:ext>
                  </a:extLst>
                </a:gridCol>
                <a:gridCol w="608779">
                  <a:extLst>
                    <a:ext uri="{9D8B030D-6E8A-4147-A177-3AD203B41FA5}">
                      <a16:colId xmlns:a16="http://schemas.microsoft.com/office/drawing/2014/main" val="963794960"/>
                    </a:ext>
                  </a:extLst>
                </a:gridCol>
                <a:gridCol w="920248">
                  <a:extLst>
                    <a:ext uri="{9D8B030D-6E8A-4147-A177-3AD203B41FA5}">
                      <a16:colId xmlns:a16="http://schemas.microsoft.com/office/drawing/2014/main" val="2330490281"/>
                    </a:ext>
                  </a:extLst>
                </a:gridCol>
                <a:gridCol w="991037">
                  <a:extLst>
                    <a:ext uri="{9D8B030D-6E8A-4147-A177-3AD203B41FA5}">
                      <a16:colId xmlns:a16="http://schemas.microsoft.com/office/drawing/2014/main" val="242016201"/>
                    </a:ext>
                  </a:extLst>
                </a:gridCol>
                <a:gridCol w="991037">
                  <a:extLst>
                    <a:ext uri="{9D8B030D-6E8A-4147-A177-3AD203B41FA5}">
                      <a16:colId xmlns:a16="http://schemas.microsoft.com/office/drawing/2014/main" val="1275442044"/>
                    </a:ext>
                  </a:extLst>
                </a:gridCol>
                <a:gridCol w="1090140">
                  <a:extLst>
                    <a:ext uri="{9D8B030D-6E8A-4147-A177-3AD203B41FA5}">
                      <a16:colId xmlns:a16="http://schemas.microsoft.com/office/drawing/2014/main" val="3096399713"/>
                    </a:ext>
                  </a:extLst>
                </a:gridCol>
                <a:gridCol w="651253">
                  <a:extLst>
                    <a:ext uri="{9D8B030D-6E8A-4147-A177-3AD203B41FA5}">
                      <a16:colId xmlns:a16="http://schemas.microsoft.com/office/drawing/2014/main" val="3795118141"/>
                    </a:ext>
                  </a:extLst>
                </a:gridCol>
                <a:gridCol w="651253">
                  <a:extLst>
                    <a:ext uri="{9D8B030D-6E8A-4147-A177-3AD203B41FA5}">
                      <a16:colId xmlns:a16="http://schemas.microsoft.com/office/drawing/2014/main" val="1449843474"/>
                    </a:ext>
                  </a:extLst>
                </a:gridCol>
                <a:gridCol w="906091">
                  <a:extLst>
                    <a:ext uri="{9D8B030D-6E8A-4147-A177-3AD203B41FA5}">
                      <a16:colId xmlns:a16="http://schemas.microsoft.com/office/drawing/2014/main" val="2754043751"/>
                    </a:ext>
                  </a:extLst>
                </a:gridCol>
                <a:gridCol w="1047668">
                  <a:extLst>
                    <a:ext uri="{9D8B030D-6E8A-4147-A177-3AD203B41FA5}">
                      <a16:colId xmlns:a16="http://schemas.microsoft.com/office/drawing/2014/main" val="1516587093"/>
                    </a:ext>
                  </a:extLst>
                </a:gridCol>
                <a:gridCol w="1472397">
                  <a:extLst>
                    <a:ext uri="{9D8B030D-6E8A-4147-A177-3AD203B41FA5}">
                      <a16:colId xmlns:a16="http://schemas.microsoft.com/office/drawing/2014/main" val="1726345322"/>
                    </a:ext>
                  </a:extLst>
                </a:gridCol>
              </a:tblGrid>
              <a:tr h="4401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customer_id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Group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affluence_score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cltv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loyalty_tier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global_cluster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total_transactions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total_sessions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if_txn_before_10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city_tier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is_merchant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top_spending_category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top_spend_decreasing_category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top_visiting_category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553170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1000001019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Very_high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 Max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2.LOYALIST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480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RU_Telecom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extLst>
                  <a:ext uri="{0D108BD9-81ED-4DB2-BD59-A6C34878D82A}">
                    <a16:rowId xmlns:a16="http://schemas.microsoft.com/office/drawing/2014/main" val="3310290296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1000004016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Very_high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4.ATTENTION-SEEKER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Education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Grocery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Deals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44277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1000006001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3.PROMISOR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271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Deals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Online Food Delivery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Deals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extLst>
                  <a:ext uri="{0D108BD9-81ED-4DB2-BD59-A6C34878D82A}">
                    <a16:rowId xmlns:a16="http://schemas.microsoft.com/office/drawing/2014/main" val="2212853783"/>
                  </a:ext>
                </a:extLst>
              </a:tr>
              <a:tr h="407059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1000021238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 Max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2.LOYALIST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Utilities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Grocery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RU-Transit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674975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1000028110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3.PROMISOR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282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RU_Telecom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extLst>
                  <a:ext uri="{0D108BD9-81ED-4DB2-BD59-A6C34878D82A}">
                    <a16:rowId xmlns:a16="http://schemas.microsoft.com/office/drawing/2014/main" val="2714956310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1000034761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Very_high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4.ATTENTION-SEEKER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null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RU_Telecom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480561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1000048271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3.PROMISOR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1149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Utilities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Deals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extLst>
                  <a:ext uri="{0D108BD9-81ED-4DB2-BD59-A6C34878D82A}">
                    <a16:rowId xmlns:a16="http://schemas.microsoft.com/office/drawing/2014/main" val="3168872308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1000059545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3.PROMISOR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272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Others/Missing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null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RU_Telecom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534210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1000069663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Very_high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3.PROMISOR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297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Others/Missing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Utilities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RU_Household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extLst>
                  <a:ext uri="{0D108BD9-81ED-4DB2-BD59-A6C34878D82A}">
                    <a16:rowId xmlns:a16="http://schemas.microsoft.com/office/drawing/2014/main" val="2917546769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1000080902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Classic 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6.NAPSTER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Tier-3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Travel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null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RU_Telecom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612069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1000146878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2.LOYALIST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334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Metro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Recharge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Travel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RU-Transit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/>
                </a:tc>
                <a:extLst>
                  <a:ext uri="{0D108BD9-81ED-4DB2-BD59-A6C34878D82A}">
                    <a16:rowId xmlns:a16="http://schemas.microsoft.com/office/drawing/2014/main" val="3968812263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1000196445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Very_high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PF Pro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2.LOYALIST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359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Metro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Restaurant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Restaurant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RU_Household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289" marR="6289" marT="6289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72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702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TEXTLENGTH" val="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TEXTLENGTH" val="2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TEXTLENGTH" val="3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TEXTLENGTH" val="21"/>
</p:tagLst>
</file>

<file path=ppt/theme/theme1.xml><?xml version="1.0" encoding="utf-8"?>
<a:theme xmlns:a="http://schemas.openxmlformats.org/drawingml/2006/main" name="Default Theme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Theme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Default Theme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25736</TotalTime>
  <Words>2433</Words>
  <Application>Microsoft Office PowerPoint</Application>
  <PresentationFormat>Widescreen</PresentationFormat>
  <Paragraphs>840</Paragraphs>
  <Slides>16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Arial</vt:lpstr>
      <vt:lpstr>Calibri</vt:lpstr>
      <vt:lpstr>Helvetica</vt:lpstr>
      <vt:lpstr>Helvetica Neue</vt:lpstr>
      <vt:lpstr>Inter</vt:lpstr>
      <vt:lpstr>Montserrat</vt:lpstr>
      <vt:lpstr>Noto Sans Symbols</vt:lpstr>
      <vt:lpstr>Open Sans</vt:lpstr>
      <vt:lpstr>Open Sans Light</vt:lpstr>
      <vt:lpstr>Open Sans Semibold</vt:lpstr>
      <vt:lpstr>Open Sans Semibold</vt:lpstr>
      <vt:lpstr>Questrial</vt:lpstr>
      <vt:lpstr>Default Theme</vt:lpstr>
      <vt:lpstr>1_Default Theme</vt:lpstr>
      <vt:lpstr>2_Default Theme</vt:lpstr>
      <vt:lpstr>Central Data Science User Growth &amp; Retention CR30 Retention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Paytm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Data Science User Growth &amp; Retention N30 Retention Model</dc:title>
  <dc:creator>Pankaj Bhatt</dc:creator>
  <cp:lastModifiedBy>Anirudh1 Jain</cp:lastModifiedBy>
  <cp:revision>164</cp:revision>
  <dcterms:created xsi:type="dcterms:W3CDTF">2023-11-02T06:46:49Z</dcterms:created>
  <dcterms:modified xsi:type="dcterms:W3CDTF">2023-11-29T04:28:50Z</dcterms:modified>
</cp:coreProperties>
</file>