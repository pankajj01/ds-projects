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notesSlides/notesSlide1.xml" ContentType="application/vnd.openxmlformats-officedocument.presentationml.notesSlide+xml"/>
  <Override PartName="/ppt/media/image1.jpeg" ContentType="image/jpeg"/>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1DEEE"/>
          </a:solidFill>
        </a:fill>
      </a:tcStyle>
    </a:wholeTbl>
    <a:band2H>
      <a:tcTxStyle b="def" i="def"/>
      <a:tcStyle>
        <a:tcBdr/>
        <a:fill>
          <a:solidFill>
            <a:srgbClr val="EAEFF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7DBE1"/>
          </a:solidFill>
        </a:fill>
      </a:tcStyle>
    </a:wholeTbl>
    <a:band2H>
      <a:tcTxStyle b="def" i="def"/>
      <a:tcStyle>
        <a:tcBdr/>
        <a:fill>
          <a:solidFill>
            <a:srgbClr val="ECEEF1"/>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DBDF"/>
          </a:solidFill>
        </a:fill>
      </a:tcStyle>
    </a:wholeTbl>
    <a:band2H>
      <a:tcTxStyle b="def" i="def"/>
      <a:tcStyle>
        <a:tcBdr/>
        <a:fill>
          <a:solidFill>
            <a:srgbClr val="EFEE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charts/_rels/chart1.xml.rels><?xml version="1.0" encoding="UTF-8"?>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Relationships xmlns="http://schemas.openxmlformats.org/package/2006/relationships"><Relationship Id="rId1" Type="http://schemas.openxmlformats.org/officeDocument/2006/relationships/package" Target="../embeddings/Microsoft_Excel_Sheet14.xlsx"/></Relationships>

</file>

<file path=ppt/charts/_rels/chart15.xml.rels><?xml version="1.0" encoding="UTF-8"?>
<Relationships xmlns="http://schemas.openxmlformats.org/package/2006/relationships"><Relationship Id="rId1" Type="http://schemas.openxmlformats.org/officeDocument/2006/relationships/package" Target="../embeddings/Microsoft_Excel_Sheet15.xlsx"/></Relationships>

</file>

<file path=ppt/charts/_rels/chart16.xml.rels><?xml version="1.0" encoding="UTF-8"?>
<Relationships xmlns="http://schemas.openxmlformats.org/package/2006/relationships"><Relationship Id="rId1" Type="http://schemas.openxmlformats.org/officeDocument/2006/relationships/package" Target="../embeddings/Microsoft_Excel_Sheet16.xlsx"/></Relationships>

</file>

<file path=ppt/charts/_rels/chart17.xml.rels><?xml version="1.0" encoding="UTF-8"?>
<Relationships xmlns="http://schemas.openxmlformats.org/package/2006/relationships"><Relationship Id="rId1" Type="http://schemas.openxmlformats.org/officeDocument/2006/relationships/package" Target="../embeddings/Microsoft_Excel_Sheet17.xlsx"/></Relationships>

</file>

<file path=ppt/charts/_rels/chart18.xml.rels><?xml version="1.0" encoding="UTF-8"?>
<Relationships xmlns="http://schemas.openxmlformats.org/package/2006/relationships"><Relationship Id="rId1" Type="http://schemas.openxmlformats.org/officeDocument/2006/relationships/package" Target="../embeddings/Microsoft_Excel_Sheet18.xlsx"/></Relationships>

</file>

<file path=ppt/charts/chart1.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110607"/>
          <c:y val="0.0566861"/>
          <c:w val="0.784206"/>
          <c:h val="0.861981"/>
        </c:manualLayout>
      </c:layout>
      <c:lineChart>
        <c:grouping val="standard"/>
        <c:varyColors val="0"/>
        <c:ser>
          <c:idx val="0"/>
          <c:order val="0"/>
          <c:tx>
            <c:strRef>
              <c:f>Sheet1!$B$1</c:f>
              <c:strCache>
                <c:ptCount val="1"/>
                <c:pt idx="0">
                  <c:v>Observed Churn Rate</c:v>
                </c:pt>
              </c:strCache>
            </c:strRef>
          </c:tx>
          <c:spPr>
            <a:solidFill>
              <a:srgbClr val="00B0F0"/>
            </a:solidFill>
            <a:ln w="12700" cap="rnd">
              <a:solidFill>
                <a:srgbClr val="002060"/>
              </a:solidFill>
              <a:prstDash val="solid"/>
              <a:round/>
            </a:ln>
            <a:effectLst/>
          </c:spPr>
          <c:marker>
            <c:symbol val="diamond"/>
            <c:size val="4"/>
            <c:spPr>
              <a:solidFill>
                <a:srgbClr val="00B0F0"/>
              </a:solidFill>
              <a:ln w="12700" cap="flat">
                <a:noFill/>
                <a:miter lim="400000"/>
              </a:ln>
              <a:effectLst/>
            </c:spPr>
          </c:marker>
          <c:dLbls>
            <c:numFmt formatCode="0%" sourceLinked="0"/>
            <c:txPr>
              <a:bodyPr/>
              <a:lstStyle/>
              <a:p>
                <a:pPr>
                  <a:defRPr b="0" i="0" strike="noStrike" sz="500" u="none">
                    <a:solidFill>
                      <a:srgbClr val="0070C0"/>
                    </a:solidFill>
                    <a:latin typeface="Open Sans"/>
                  </a:defRPr>
                </a:pPr>
              </a:p>
            </c:txPr>
            <c:dLblPos val="t"/>
            <c:showLegendKey val="0"/>
            <c:showVal val="1"/>
            <c:showCatName val="0"/>
            <c:showSerName val="0"/>
            <c:showPercent val="0"/>
            <c:showBubbleSize val="0"/>
            <c:showLeaderLines val="0"/>
          </c:dLbls>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Sheet1!$B$2:$B$21</c:f>
              <c:numCache>
                <c:ptCount val="20"/>
                <c:pt idx="0">
                  <c:v>0.915484</c:v>
                </c:pt>
                <c:pt idx="1">
                  <c:v>0.876739</c:v>
                </c:pt>
                <c:pt idx="2">
                  <c:v>0.840812</c:v>
                </c:pt>
                <c:pt idx="3">
                  <c:v>0.809781</c:v>
                </c:pt>
                <c:pt idx="4">
                  <c:v>0.743506</c:v>
                </c:pt>
                <c:pt idx="5">
                  <c:v>0.656610</c:v>
                </c:pt>
                <c:pt idx="6">
                  <c:v>0.618876</c:v>
                </c:pt>
                <c:pt idx="7">
                  <c:v>0.540716</c:v>
                </c:pt>
                <c:pt idx="8">
                  <c:v>0.452912</c:v>
                </c:pt>
                <c:pt idx="9">
                  <c:v>0.365728</c:v>
                </c:pt>
                <c:pt idx="10">
                  <c:v>0.291963</c:v>
                </c:pt>
                <c:pt idx="11">
                  <c:v>0.214103</c:v>
                </c:pt>
                <c:pt idx="12">
                  <c:v>0.152179</c:v>
                </c:pt>
                <c:pt idx="13">
                  <c:v>0.103587</c:v>
                </c:pt>
                <c:pt idx="14">
                  <c:v>0.066913</c:v>
                </c:pt>
                <c:pt idx="15">
                  <c:v>0.040088</c:v>
                </c:pt>
                <c:pt idx="16">
                  <c:v>0.022596</c:v>
                </c:pt>
                <c:pt idx="17">
                  <c:v>0.011299</c:v>
                </c:pt>
                <c:pt idx="18">
                  <c:v>0.004730</c:v>
                </c:pt>
                <c:pt idx="19">
                  <c:v>0.001374</c:v>
                </c:pt>
              </c:numCache>
            </c:numRef>
          </c:val>
          <c:smooth val="0"/>
        </c:ser>
        <c:marker val="1"/>
        <c:axId val="2094734552"/>
        <c:axId val="2094734553"/>
      </c:lineChart>
      <c:lineChart>
        <c:grouping val="standard"/>
        <c:varyColors val="0"/>
        <c:ser>
          <c:idx val="1"/>
          <c:order val="1"/>
          <c:tx>
            <c:strRef>
              <c:f>Sheet1!$C$1</c:f>
              <c:strCache>
                <c:ptCount val="1"/>
                <c:pt idx="0">
                  <c:v>Cumm. Churn %</c:v>
                </c:pt>
              </c:strCache>
            </c:strRef>
          </c:tx>
          <c:spPr>
            <a:solidFill>
              <a:srgbClr val="00B0F0"/>
            </a:solidFill>
            <a:ln w="12700" cap="flat">
              <a:solidFill>
                <a:srgbClr val="0070C0"/>
              </a:solidFill>
              <a:custDash>
                <a:ds d="700000" sp="400000"/>
              </a:custDash>
              <a:round/>
            </a:ln>
            <a:effectLst/>
          </c:spPr>
          <c:marker>
            <c:symbol val="diamond"/>
            <c:size val="4"/>
            <c:spPr>
              <a:solidFill>
                <a:srgbClr val="00B0F0"/>
              </a:solidFill>
              <a:ln w="12700" cap="flat">
                <a:noFill/>
                <a:miter lim="400000"/>
              </a:ln>
              <a:effectLst/>
            </c:spPr>
          </c:marker>
          <c:dLbls>
            <c:numFmt formatCode="0%" sourceLinked="0"/>
            <c:txPr>
              <a:bodyPr/>
              <a:lstStyle/>
              <a:p>
                <a:pPr>
                  <a:defRPr b="0" i="0" strike="noStrike" sz="700" u="none">
                    <a:solidFill>
                      <a:srgbClr val="002060"/>
                    </a:solidFill>
                    <a:latin typeface="Open Sans"/>
                  </a:defRPr>
                </a:pPr>
              </a:p>
            </c:txPr>
            <c:dLblPos val="t"/>
            <c:showLegendKey val="0"/>
            <c:showVal val="0"/>
            <c:showCatName val="0"/>
            <c:showSerName val="0"/>
            <c:showPercent val="0"/>
            <c:showBubbleSize val="0"/>
            <c:showLeaderLines val="0"/>
          </c:dLbls>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Sheet1!$C$2:$C$21</c:f>
              <c:numCache>
                <c:ptCount val="20"/>
                <c:pt idx="0">
                  <c:v>0.099074</c:v>
                </c:pt>
                <c:pt idx="1">
                  <c:v>0.237675</c:v>
                </c:pt>
                <c:pt idx="2">
                  <c:v>0.359570</c:v>
                </c:pt>
                <c:pt idx="3">
                  <c:v>0.479181</c:v>
                </c:pt>
                <c:pt idx="4">
                  <c:v>0.577535</c:v>
                </c:pt>
                <c:pt idx="5">
                  <c:v>0.659167</c:v>
                </c:pt>
                <c:pt idx="6">
                  <c:v>0.733728</c:v>
                </c:pt>
                <c:pt idx="7">
                  <c:v>0.796195</c:v>
                </c:pt>
                <c:pt idx="8">
                  <c:v>0.847024</c:v>
                </c:pt>
                <c:pt idx="9">
                  <c:v>0.889030</c:v>
                </c:pt>
                <c:pt idx="10">
                  <c:v>0.923615</c:v>
                </c:pt>
                <c:pt idx="11">
                  <c:v>0.949457</c:v>
                </c:pt>
                <c:pt idx="12">
                  <c:v>0.968275</c:v>
                </c:pt>
                <c:pt idx="13">
                  <c:v>0.981266</c:v>
                </c:pt>
                <c:pt idx="14">
                  <c:v>0.989660</c:v>
                </c:pt>
                <c:pt idx="15">
                  <c:v>0.994719</c:v>
                </c:pt>
                <c:pt idx="16">
                  <c:v>0.997621</c:v>
                </c:pt>
                <c:pt idx="17">
                  <c:v>0.999118</c:v>
                </c:pt>
                <c:pt idx="18">
                  <c:v>0.999784</c:v>
                </c:pt>
                <c:pt idx="19">
                  <c:v>1.000000</c:v>
                </c:pt>
              </c:numCache>
            </c:numRef>
          </c:val>
          <c:smooth val="0"/>
        </c:ser>
        <c:marker val="1"/>
        <c:axId val="2094734555"/>
        <c:axId val="2094734556"/>
      </c:lineChart>
      <c:catAx>
        <c:axId val="2094734552"/>
        <c:scaling>
          <c:orientation val="minMax"/>
        </c:scaling>
        <c:delete val="0"/>
        <c:axPos val="b"/>
        <c:numFmt formatCode="General" sourceLinked="0"/>
        <c:majorTickMark val="none"/>
        <c:minorTickMark val="none"/>
        <c:tickLblPos val="low"/>
        <c:spPr>
          <a:ln w="12700" cap="flat">
            <a:solidFill>
              <a:srgbClr val="002060"/>
            </a:solidFill>
            <a:prstDash val="solid"/>
            <a:round/>
          </a:ln>
        </c:spPr>
        <c:txPr>
          <a:bodyPr rot="0"/>
          <a:lstStyle/>
          <a:p>
            <a:pPr>
              <a:defRPr b="0" i="0" strike="noStrike" sz="600" u="none">
                <a:solidFill>
                  <a:srgbClr val="FFFFFF"/>
                </a:solidFill>
                <a:latin typeface="Open Sans"/>
              </a:defRPr>
            </a:pPr>
          </a:p>
        </c:txPr>
        <c:crossAx val="2094734553"/>
        <c:crosses val="autoZero"/>
        <c:auto val="1"/>
        <c:lblAlgn val="ctr"/>
        <c:noMultiLvlLbl val="1"/>
      </c:catAx>
      <c:valAx>
        <c:axId val="2094734553"/>
        <c:scaling>
          <c:orientation val="minMax"/>
        </c:scaling>
        <c:delete val="0"/>
        <c:axPos val="l"/>
        <c:title>
          <c:tx>
            <c:rich>
              <a:bodyPr rot="-5400000"/>
              <a:lstStyle/>
              <a:p>
                <a:pPr>
                  <a:defRPr b="1" i="0" strike="noStrike" sz="900" u="none">
                    <a:solidFill>
                      <a:srgbClr val="0070C0"/>
                    </a:solidFill>
                    <a:latin typeface="Open Sans"/>
                  </a:defRPr>
                </a:pPr>
                <a:r>
                  <a:rPr b="1" i="0" strike="noStrike" sz="900" u="none">
                    <a:solidFill>
                      <a:srgbClr val="0070C0"/>
                    </a:solidFill>
                    <a:latin typeface="Open Sans"/>
                  </a:rPr>
                  <a:t>Observed 
Churn Rate</a:t>
                </a:r>
              </a:p>
            </c:rich>
          </c:tx>
          <c:layout/>
          <c:overlay val="1"/>
        </c:title>
        <c:numFmt formatCode="0%" sourceLinked="0"/>
        <c:majorTickMark val="none"/>
        <c:minorTickMark val="none"/>
        <c:tickLblPos val="nextTo"/>
        <c:spPr>
          <a:ln w="12700" cap="flat">
            <a:noFill/>
            <a:prstDash val="solid"/>
            <a:round/>
          </a:ln>
        </c:spPr>
        <c:txPr>
          <a:bodyPr rot="0"/>
          <a:lstStyle/>
          <a:p>
            <a:pPr>
              <a:defRPr b="0" i="0" strike="noStrike" sz="600" u="none">
                <a:solidFill>
                  <a:srgbClr val="0070C0"/>
                </a:solidFill>
                <a:latin typeface="Open Sans"/>
              </a:defRPr>
            </a:pPr>
          </a:p>
        </c:txPr>
        <c:crossAx val="2094734552"/>
        <c:crosses val="autoZero"/>
        <c:crossBetween val="between"/>
        <c:majorUnit val="0.25"/>
        <c:minorUnit val="0.125"/>
      </c:valAx>
      <c:catAx>
        <c:axId val="2094734555"/>
        <c:scaling>
          <c:orientation val="minMax"/>
        </c:scaling>
        <c:delete val="0"/>
        <c:axPos val="b"/>
        <c:majorTickMark val="out"/>
        <c:minorTickMark val="none"/>
        <c:tickLblPos val="none"/>
        <c:spPr>
          <a:ln w="12700" cap="flat">
            <a:noFill/>
            <a:prstDash val="solid"/>
            <a:round/>
          </a:ln>
        </c:spPr>
        <c:crossAx val="2094734556"/>
        <c:crosses val="autoZero"/>
        <c:auto val="1"/>
        <c:lblAlgn val="ctr"/>
        <c:noMultiLvlLbl val="1"/>
      </c:catAx>
      <c:valAx>
        <c:axId val="2094734556"/>
        <c:scaling>
          <c:orientation val="minMax"/>
          <c:max val="1.1"/>
          <c:min val="0"/>
        </c:scaling>
        <c:delete val="0"/>
        <c:axPos val="r"/>
        <c:title>
          <c:tx>
            <c:rich>
              <a:bodyPr rot="-5400000"/>
              <a:lstStyle/>
              <a:p>
                <a:pPr>
                  <a:defRPr b="1" i="0" strike="noStrike" sz="800" u="none">
                    <a:solidFill>
                      <a:srgbClr val="0070C0"/>
                    </a:solidFill>
                    <a:latin typeface="Open Sans"/>
                  </a:defRPr>
                </a:pPr>
                <a:r>
                  <a:rPr b="1" i="0" strike="noStrike" sz="800" u="none">
                    <a:solidFill>
                      <a:srgbClr val="0070C0"/>
                    </a:solidFill>
                    <a:latin typeface="Open Sans"/>
                  </a:rPr>
                  <a:t>Cumm. 
Churn %</a:t>
                </a:r>
              </a:p>
            </c:rich>
          </c:tx>
          <c:layout/>
          <c:overlay val="1"/>
        </c:title>
        <c:numFmt formatCode="0%" sourceLinked="0"/>
        <c:majorTickMark val="none"/>
        <c:minorTickMark val="none"/>
        <c:tickLblPos val="nextTo"/>
        <c:spPr>
          <a:ln w="12700" cap="flat">
            <a:noFill/>
            <a:prstDash val="solid"/>
            <a:round/>
          </a:ln>
        </c:spPr>
        <c:txPr>
          <a:bodyPr rot="0"/>
          <a:lstStyle/>
          <a:p>
            <a:pPr>
              <a:defRPr b="0" i="0" strike="noStrike" sz="600" u="none">
                <a:solidFill>
                  <a:srgbClr val="0070C0"/>
                </a:solidFill>
                <a:latin typeface="Open Sans"/>
              </a:defRPr>
            </a:pPr>
          </a:p>
        </c:txPr>
        <c:crossAx val="2094734555"/>
        <c:crosses val="max"/>
        <c:crossBetween val="between"/>
        <c:majorUnit val="0.275"/>
        <c:minorUnit val="0.1375"/>
      </c:valAx>
      <c:spPr>
        <a:noFill/>
        <a:ln w="12700" cap="flat">
          <a:noFill/>
          <a:miter lim="400000"/>
        </a:ln>
        <a:effectLst/>
      </c:spPr>
    </c:plotArea>
    <c:legend>
      <c:legendPos val="r"/>
      <c:layout>
        <c:manualLayout>
          <c:xMode val="edge"/>
          <c:yMode val="edge"/>
          <c:x val="0.676387"/>
          <c:y val="0.646913"/>
          <c:w val="0.203669"/>
          <c:h val="0.122176"/>
        </c:manualLayout>
      </c:layout>
      <c:overlay val="1"/>
      <c:spPr>
        <a:noFill/>
        <a:ln w="12700" cap="flat">
          <a:noFill/>
          <a:miter lim="400000"/>
        </a:ln>
        <a:effectLst/>
      </c:spPr>
      <c:txPr>
        <a:bodyPr rot="0"/>
        <a:lstStyle/>
        <a:p>
          <a:pPr>
            <a:defRPr b="1" i="0" strike="noStrike" sz="500" u="none">
              <a:solidFill>
                <a:srgbClr val="0070C0"/>
              </a:solidFill>
              <a:latin typeface="Open Sans"/>
            </a:defRPr>
          </a:pPr>
        </a:p>
      </c:txPr>
    </c:legend>
    <c:plotVisOnly val="1"/>
    <c:dispBlanksAs val="gap"/>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103972"/>
          <c:y val="0.0771692"/>
          <c:w val="0.790056"/>
          <c:h val="0.842992"/>
        </c:manualLayout>
      </c:layout>
      <c:lineChart>
        <c:grouping val="standard"/>
        <c:varyColors val="0"/>
        <c:ser>
          <c:idx val="0"/>
          <c:order val="0"/>
          <c:tx>
            <c:strRef>
              <c:f>Sheet1!$B$1</c:f>
              <c:strCache>
                <c:ptCount val="1"/>
                <c:pt idx="0">
                  <c:v>Observed Churn Rate</c:v>
                </c:pt>
              </c:strCache>
            </c:strRef>
          </c:tx>
          <c:spPr>
            <a:solidFill>
              <a:srgbClr val="00B0F0"/>
            </a:solidFill>
            <a:ln w="12700" cap="rnd">
              <a:solidFill>
                <a:srgbClr val="002060"/>
              </a:solidFill>
              <a:prstDash val="solid"/>
              <a:round/>
            </a:ln>
            <a:effectLst/>
          </c:spPr>
          <c:marker>
            <c:symbol val="diamond"/>
            <c:size val="4"/>
            <c:spPr>
              <a:solidFill>
                <a:srgbClr val="00B0F0"/>
              </a:solidFill>
              <a:ln w="12700" cap="flat">
                <a:noFill/>
                <a:miter lim="400000"/>
              </a:ln>
              <a:effectLst/>
            </c:spPr>
          </c:marker>
          <c:dLbls>
            <c:numFmt formatCode="0%" sourceLinked="0"/>
            <c:txPr>
              <a:bodyPr/>
              <a:lstStyle/>
              <a:p>
                <a:pPr>
                  <a:defRPr b="0" i="0" strike="noStrike" sz="500" u="none">
                    <a:solidFill>
                      <a:srgbClr val="0070C0"/>
                    </a:solidFill>
                    <a:latin typeface="Open Sans"/>
                  </a:defRPr>
                </a:pPr>
              </a:p>
            </c:txPr>
            <c:dLblPos val="t"/>
            <c:showLegendKey val="0"/>
            <c:showVal val="1"/>
            <c:showCatName val="0"/>
            <c:showSerName val="0"/>
            <c:showPercent val="0"/>
            <c:showBubbleSize val="0"/>
            <c:showLeaderLines val="0"/>
          </c:dLbls>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Sheet1!$B$2:$B$21</c:f>
              <c:numCache>
                <c:ptCount val="20"/>
                <c:pt idx="0">
                  <c:v>0.897841</c:v>
                </c:pt>
                <c:pt idx="1">
                  <c:v>0.861762</c:v>
                </c:pt>
                <c:pt idx="2">
                  <c:v>0.839277</c:v>
                </c:pt>
                <c:pt idx="3">
                  <c:v>0.807717</c:v>
                </c:pt>
                <c:pt idx="4">
                  <c:v>0.761261</c:v>
                </c:pt>
                <c:pt idx="5">
                  <c:v>0.695915</c:v>
                </c:pt>
                <c:pt idx="6">
                  <c:v>0.647124</c:v>
                </c:pt>
                <c:pt idx="7">
                  <c:v>0.573232</c:v>
                </c:pt>
                <c:pt idx="8">
                  <c:v>0.485661</c:v>
                </c:pt>
                <c:pt idx="9">
                  <c:v>0.406572</c:v>
                </c:pt>
                <c:pt idx="10">
                  <c:v>0.333918</c:v>
                </c:pt>
                <c:pt idx="11">
                  <c:v>0.264100</c:v>
                </c:pt>
                <c:pt idx="12">
                  <c:v>0.199794</c:v>
                </c:pt>
                <c:pt idx="13">
                  <c:v>0.144713</c:v>
                </c:pt>
                <c:pt idx="14">
                  <c:v>0.099423</c:v>
                </c:pt>
                <c:pt idx="15">
                  <c:v>0.066205</c:v>
                </c:pt>
                <c:pt idx="16">
                  <c:v>0.042192</c:v>
                </c:pt>
                <c:pt idx="17">
                  <c:v>0.022133</c:v>
                </c:pt>
                <c:pt idx="18">
                  <c:v>0.009496</c:v>
                </c:pt>
                <c:pt idx="19">
                  <c:v>0.003380</c:v>
                </c:pt>
              </c:numCache>
            </c:numRef>
          </c:val>
          <c:smooth val="0"/>
        </c:ser>
        <c:marker val="1"/>
        <c:axId val="2094734552"/>
        <c:axId val="2094734553"/>
      </c:lineChart>
      <c:lineChart>
        <c:grouping val="standard"/>
        <c:varyColors val="0"/>
        <c:ser>
          <c:idx val="1"/>
          <c:order val="1"/>
          <c:tx>
            <c:strRef>
              <c:f>Sheet1!$C$1</c:f>
              <c:strCache>
                <c:ptCount val="1"/>
                <c:pt idx="0">
                  <c:v>Cumm. Churn %</c:v>
                </c:pt>
              </c:strCache>
            </c:strRef>
          </c:tx>
          <c:spPr>
            <a:solidFill>
              <a:srgbClr val="00B0F0"/>
            </a:solidFill>
            <a:ln w="12700" cap="flat">
              <a:solidFill>
                <a:srgbClr val="0070C0"/>
              </a:solidFill>
              <a:custDash>
                <a:ds d="700000" sp="400000"/>
              </a:custDash>
              <a:round/>
            </a:ln>
            <a:effectLst/>
          </c:spPr>
          <c:marker>
            <c:symbol val="diamond"/>
            <c:size val="4"/>
            <c:spPr>
              <a:solidFill>
                <a:srgbClr val="00B0F0"/>
              </a:solidFill>
              <a:ln w="12700" cap="flat">
                <a:noFill/>
                <a:miter lim="400000"/>
              </a:ln>
              <a:effectLst/>
            </c:spPr>
          </c:marker>
          <c:dLbls>
            <c:numFmt formatCode="0%" sourceLinked="0"/>
            <c:txPr>
              <a:bodyPr/>
              <a:lstStyle/>
              <a:p>
                <a:pPr>
                  <a:defRPr b="0" i="0" strike="noStrike" sz="700" u="none">
                    <a:solidFill>
                      <a:srgbClr val="002060"/>
                    </a:solidFill>
                    <a:latin typeface="Open Sans"/>
                  </a:defRPr>
                </a:pPr>
              </a:p>
            </c:txPr>
            <c:dLblPos val="t"/>
            <c:showLegendKey val="0"/>
            <c:showVal val="0"/>
            <c:showCatName val="0"/>
            <c:showSerName val="0"/>
            <c:showPercent val="0"/>
            <c:showBubbleSize val="0"/>
            <c:showLeaderLines val="0"/>
          </c:dLbls>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Sheet1!$C$2:$C$21</c:f>
              <c:numCache>
                <c:ptCount val="20"/>
                <c:pt idx="0">
                  <c:v>0.110006</c:v>
                </c:pt>
                <c:pt idx="1">
                  <c:v>0.215592</c:v>
                </c:pt>
                <c:pt idx="2">
                  <c:v>0.318423</c:v>
                </c:pt>
                <c:pt idx="3">
                  <c:v>0.417387</c:v>
                </c:pt>
                <c:pt idx="4">
                  <c:v>0.510660</c:v>
                </c:pt>
                <c:pt idx="5">
                  <c:v>0.595925</c:v>
                </c:pt>
                <c:pt idx="6">
                  <c:v>0.675213</c:v>
                </c:pt>
                <c:pt idx="7">
                  <c:v>0.745447</c:v>
                </c:pt>
                <c:pt idx="8">
                  <c:v>0.804952</c:v>
                </c:pt>
                <c:pt idx="9">
                  <c:v>0.854767</c:v>
                </c:pt>
                <c:pt idx="10">
                  <c:v>0.895679</c:v>
                </c:pt>
                <c:pt idx="11">
                  <c:v>0.928038</c:v>
                </c:pt>
                <c:pt idx="12">
                  <c:v>0.952517</c:v>
                </c:pt>
                <c:pt idx="13">
                  <c:v>0.970248</c:v>
                </c:pt>
                <c:pt idx="14">
                  <c:v>0.982429</c:v>
                </c:pt>
                <c:pt idx="15">
                  <c:v>0.990541</c:v>
                </c:pt>
                <c:pt idx="16">
                  <c:v>0.995711</c:v>
                </c:pt>
                <c:pt idx="17">
                  <c:v>0.998422</c:v>
                </c:pt>
                <c:pt idx="18">
                  <c:v>0.999586</c:v>
                </c:pt>
                <c:pt idx="19">
                  <c:v>1.000000</c:v>
                </c:pt>
              </c:numCache>
            </c:numRef>
          </c:val>
          <c:smooth val="0"/>
        </c:ser>
        <c:marker val="1"/>
        <c:axId val="2094734555"/>
        <c:axId val="2094734556"/>
      </c:lineChart>
      <c:catAx>
        <c:axId val="2094734552"/>
        <c:scaling>
          <c:orientation val="minMax"/>
        </c:scaling>
        <c:delete val="0"/>
        <c:axPos val="b"/>
        <c:numFmt formatCode="General" sourceLinked="0"/>
        <c:majorTickMark val="none"/>
        <c:minorTickMark val="none"/>
        <c:tickLblPos val="low"/>
        <c:spPr>
          <a:ln w="12700" cap="flat">
            <a:solidFill>
              <a:srgbClr val="002060"/>
            </a:solidFill>
            <a:prstDash val="solid"/>
            <a:round/>
          </a:ln>
        </c:spPr>
        <c:txPr>
          <a:bodyPr rot="0"/>
          <a:lstStyle/>
          <a:p>
            <a:pPr>
              <a:defRPr b="0" i="0" strike="noStrike" sz="600" u="none">
                <a:solidFill>
                  <a:srgbClr val="FFFFFF"/>
                </a:solidFill>
                <a:latin typeface="Open Sans"/>
              </a:defRPr>
            </a:pPr>
          </a:p>
        </c:txPr>
        <c:crossAx val="2094734553"/>
        <c:crosses val="autoZero"/>
        <c:auto val="1"/>
        <c:lblAlgn val="ctr"/>
        <c:noMultiLvlLbl val="1"/>
      </c:catAx>
      <c:valAx>
        <c:axId val="2094734553"/>
        <c:scaling>
          <c:orientation val="minMax"/>
        </c:scaling>
        <c:delete val="0"/>
        <c:axPos val="l"/>
        <c:title>
          <c:tx>
            <c:rich>
              <a:bodyPr rot="-5400000"/>
              <a:lstStyle/>
              <a:p>
                <a:pPr>
                  <a:defRPr b="1" i="0" strike="noStrike" sz="900" u="none">
                    <a:solidFill>
                      <a:srgbClr val="0070C0"/>
                    </a:solidFill>
                    <a:latin typeface="Open Sans"/>
                  </a:defRPr>
                </a:pPr>
                <a:r>
                  <a:rPr b="1" i="0" strike="noStrike" sz="900" u="none">
                    <a:solidFill>
                      <a:srgbClr val="0070C0"/>
                    </a:solidFill>
                    <a:latin typeface="Open Sans"/>
                  </a:rPr>
                  <a:t>Observed 
Churn Rate</a:t>
                </a:r>
              </a:p>
            </c:rich>
          </c:tx>
          <c:layout/>
          <c:overlay val="1"/>
        </c:title>
        <c:numFmt formatCode="0%" sourceLinked="0"/>
        <c:majorTickMark val="none"/>
        <c:minorTickMark val="none"/>
        <c:tickLblPos val="nextTo"/>
        <c:spPr>
          <a:ln w="12700" cap="flat">
            <a:noFill/>
            <a:prstDash val="solid"/>
            <a:round/>
          </a:ln>
        </c:spPr>
        <c:txPr>
          <a:bodyPr rot="0"/>
          <a:lstStyle/>
          <a:p>
            <a:pPr>
              <a:defRPr b="0" i="0" strike="noStrike" sz="600" u="none">
                <a:solidFill>
                  <a:srgbClr val="0070C0"/>
                </a:solidFill>
                <a:latin typeface="Open Sans"/>
              </a:defRPr>
            </a:pPr>
          </a:p>
        </c:txPr>
        <c:crossAx val="2094734552"/>
        <c:crosses val="autoZero"/>
        <c:crossBetween val="between"/>
        <c:majorUnit val="0.225"/>
        <c:minorUnit val="0.1125"/>
      </c:valAx>
      <c:catAx>
        <c:axId val="2094734555"/>
        <c:scaling>
          <c:orientation val="minMax"/>
        </c:scaling>
        <c:delete val="0"/>
        <c:axPos val="b"/>
        <c:majorTickMark val="out"/>
        <c:minorTickMark val="none"/>
        <c:tickLblPos val="none"/>
        <c:spPr>
          <a:ln w="12700" cap="flat">
            <a:noFill/>
            <a:prstDash val="solid"/>
            <a:round/>
          </a:ln>
        </c:spPr>
        <c:crossAx val="2094734556"/>
        <c:crosses val="autoZero"/>
        <c:auto val="1"/>
        <c:lblAlgn val="ctr"/>
        <c:noMultiLvlLbl val="1"/>
      </c:catAx>
      <c:valAx>
        <c:axId val="2094734556"/>
        <c:scaling>
          <c:orientation val="minMax"/>
          <c:max val="1.1"/>
          <c:min val="0"/>
        </c:scaling>
        <c:delete val="0"/>
        <c:axPos val="r"/>
        <c:title>
          <c:tx>
            <c:rich>
              <a:bodyPr rot="-5400000"/>
              <a:lstStyle/>
              <a:p>
                <a:pPr>
                  <a:defRPr b="1" i="0" strike="noStrike" sz="800" u="none">
                    <a:solidFill>
                      <a:srgbClr val="0070C0"/>
                    </a:solidFill>
                    <a:latin typeface="Open Sans"/>
                  </a:defRPr>
                </a:pPr>
                <a:r>
                  <a:rPr b="1" i="0" strike="noStrike" sz="800" u="none">
                    <a:solidFill>
                      <a:srgbClr val="0070C0"/>
                    </a:solidFill>
                    <a:latin typeface="Open Sans"/>
                  </a:rPr>
                  <a:t>Cumm. 
Churn %</a:t>
                </a:r>
              </a:p>
            </c:rich>
          </c:tx>
          <c:layout/>
          <c:overlay val="1"/>
        </c:title>
        <c:numFmt formatCode="0%" sourceLinked="0"/>
        <c:majorTickMark val="none"/>
        <c:minorTickMark val="none"/>
        <c:tickLblPos val="nextTo"/>
        <c:spPr>
          <a:ln w="12700" cap="flat">
            <a:noFill/>
            <a:prstDash val="solid"/>
            <a:round/>
          </a:ln>
        </c:spPr>
        <c:txPr>
          <a:bodyPr rot="0"/>
          <a:lstStyle/>
          <a:p>
            <a:pPr>
              <a:defRPr b="0" i="0" strike="noStrike" sz="600" u="none">
                <a:solidFill>
                  <a:srgbClr val="0070C0"/>
                </a:solidFill>
                <a:latin typeface="Open Sans"/>
              </a:defRPr>
            </a:pPr>
          </a:p>
        </c:txPr>
        <c:crossAx val="2094734555"/>
        <c:crosses val="max"/>
        <c:crossBetween val="between"/>
        <c:majorUnit val="0.275"/>
        <c:minorUnit val="0.1375"/>
      </c:valAx>
      <c:spPr>
        <a:noFill/>
        <a:ln w="12700" cap="flat">
          <a:noFill/>
          <a:miter lim="400000"/>
        </a:ln>
        <a:effectLst/>
      </c:spPr>
    </c:plotArea>
    <c:legend>
      <c:legendPos val="r"/>
      <c:layout>
        <c:manualLayout>
          <c:xMode val="edge"/>
          <c:yMode val="edge"/>
          <c:x val="0.673973"/>
          <c:y val="0.654445"/>
          <c:w val="0.205188"/>
          <c:h val="0.120066"/>
        </c:manualLayout>
      </c:layout>
      <c:overlay val="1"/>
      <c:spPr>
        <a:noFill/>
        <a:ln w="12700" cap="flat">
          <a:noFill/>
          <a:miter lim="400000"/>
        </a:ln>
        <a:effectLst/>
      </c:spPr>
      <c:txPr>
        <a:bodyPr rot="0"/>
        <a:lstStyle/>
        <a:p>
          <a:pPr>
            <a:defRPr b="1" i="0" strike="noStrike" sz="500" u="none">
              <a:solidFill>
                <a:srgbClr val="0070C0"/>
              </a:solidFill>
              <a:latin typeface="Open Sans"/>
            </a:defRPr>
          </a:pPr>
        </a:p>
      </c:txPr>
    </c:legend>
    <c:plotVisOnly val="1"/>
    <c:dispBlanksAs val="gap"/>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0508038"/>
          <c:y val="0.0433163"/>
          <c:w val="0.944044"/>
          <c:h val="0.78935"/>
        </c:manualLayout>
      </c:layout>
      <c:areaChart>
        <c:grouping val="standard"/>
        <c:varyColors val="0"/>
        <c:ser>
          <c:idx val="0"/>
          <c:order val="0"/>
          <c:tx>
            <c:strRef>
              <c:f>Sheet1!$B$1</c:f>
              <c:strCache>
                <c:ptCount val="1"/>
                <c:pt idx="0">
                  <c:v>#Accounts</c:v>
                </c:pt>
              </c:strCache>
            </c:strRef>
          </c:tx>
          <c:spPr>
            <a:solidFill>
              <a:srgbClr val="0070C0"/>
            </a:solidFill>
            <a:ln w="12700" cap="flat">
              <a:noFill/>
              <a:miter lim="400000"/>
            </a:ln>
            <a:effectLst/>
          </c:spPr>
          <c:dLbls>
            <c:numFmt formatCode="0" sourceLinked="0"/>
            <c:txPr>
              <a:bodyPr/>
              <a:lstStyle/>
              <a:p>
                <a:pPr>
                  <a:defRPr b="0" i="0" strike="noStrike" sz="1000" u="none">
                    <a:solidFill>
                      <a:srgbClr val="002060"/>
                    </a:solidFill>
                    <a:latin typeface="Open Sans"/>
                  </a:defRPr>
                </a:pPr>
              </a:p>
            </c:txPr>
            <c:showLegendKey val="0"/>
            <c:showVal val="0"/>
            <c:showCatName val="0"/>
            <c:showSerName val="0"/>
            <c:showPercent val="0"/>
            <c:showBubbleSize val="0"/>
            <c:showLeaderLines val="0"/>
          </c:dLbls>
          <c:cat>
            <c:strRef>
              <c:f>Sheet1!$A$2:$A$25</c:f>
              <c:strCache>
                <c:ptCount val="24"/>
                <c:pt idx="0">
                  <c:v>202012</c:v>
                </c:pt>
                <c:pt idx="1">
                  <c:v>202101</c:v>
                </c:pt>
                <c:pt idx="2">
                  <c:v>202102</c:v>
                </c:pt>
                <c:pt idx="3">
                  <c:v>202103</c:v>
                </c:pt>
                <c:pt idx="4">
                  <c:v>202104</c:v>
                </c:pt>
                <c:pt idx="5">
                  <c:v>202105</c:v>
                </c:pt>
                <c:pt idx="6">
                  <c:v>202106</c:v>
                </c:pt>
                <c:pt idx="7">
                  <c:v>202107</c:v>
                </c:pt>
                <c:pt idx="8">
                  <c:v>202108</c:v>
                </c:pt>
                <c:pt idx="9">
                  <c:v>202109</c:v>
                </c:pt>
                <c:pt idx="10">
                  <c:v>202110</c:v>
                </c:pt>
                <c:pt idx="11">
                  <c:v>202111</c:v>
                </c:pt>
                <c:pt idx="12">
                  <c:v>202112</c:v>
                </c:pt>
                <c:pt idx="13">
                  <c:v>202201</c:v>
                </c:pt>
                <c:pt idx="14">
                  <c:v>202202</c:v>
                </c:pt>
                <c:pt idx="15">
                  <c:v>202203</c:v>
                </c:pt>
                <c:pt idx="16">
                  <c:v>202204</c:v>
                </c:pt>
                <c:pt idx="17">
                  <c:v>202205</c:v>
                </c:pt>
                <c:pt idx="18">
                  <c:v>202206</c:v>
                </c:pt>
                <c:pt idx="19">
                  <c:v>202207</c:v>
                </c:pt>
                <c:pt idx="20">
                  <c:v>202208</c:v>
                </c:pt>
                <c:pt idx="21">
                  <c:v>202209</c:v>
                </c:pt>
                <c:pt idx="22">
                  <c:v>202210</c:v>
                </c:pt>
                <c:pt idx="23">
                  <c:v>202211</c:v>
                </c:pt>
              </c:strCache>
            </c:strRef>
          </c:cat>
          <c:val>
            <c:numRef>
              <c:f>Sheet1!$B$2:$B$25</c:f>
              <c:numCache>
                <c:ptCount val="24"/>
                <c:pt idx="0">
                  <c:v>323267.000000</c:v>
                </c:pt>
                <c:pt idx="1">
                  <c:v>324505.000000</c:v>
                </c:pt>
                <c:pt idx="2">
                  <c:v>331963.000000</c:v>
                </c:pt>
                <c:pt idx="3">
                  <c:v>334191.000000</c:v>
                </c:pt>
                <c:pt idx="4">
                  <c:v>333964.000000</c:v>
                </c:pt>
                <c:pt idx="5">
                  <c:v>338117.000000</c:v>
                </c:pt>
                <c:pt idx="6">
                  <c:v>340217.000000</c:v>
                </c:pt>
                <c:pt idx="7">
                  <c:v>342303.000000</c:v>
                </c:pt>
                <c:pt idx="8">
                  <c:v>339180.000000</c:v>
                </c:pt>
                <c:pt idx="9">
                  <c:v>346332.000000</c:v>
                </c:pt>
                <c:pt idx="10">
                  <c:v>348107.000000</c:v>
                </c:pt>
                <c:pt idx="11">
                  <c:v>349810.000000</c:v>
                </c:pt>
                <c:pt idx="12">
                  <c:v>350139.000000</c:v>
                </c:pt>
                <c:pt idx="13">
                  <c:v>344019.000000</c:v>
                </c:pt>
                <c:pt idx="14">
                  <c:v>336617.000000</c:v>
                </c:pt>
                <c:pt idx="15">
                  <c:v>348289.000000</c:v>
                </c:pt>
                <c:pt idx="16">
                  <c:v>346764.000000</c:v>
                </c:pt>
                <c:pt idx="17">
                  <c:v>346996.000000</c:v>
                </c:pt>
                <c:pt idx="18">
                  <c:v>346172.000000</c:v>
                </c:pt>
                <c:pt idx="19">
                  <c:v>345446.000000</c:v>
                </c:pt>
                <c:pt idx="20">
                  <c:v>344587.000000</c:v>
                </c:pt>
                <c:pt idx="21">
                  <c:v>343863.000000</c:v>
                </c:pt>
                <c:pt idx="22">
                  <c:v>342693.000000</c:v>
                </c:pt>
                <c:pt idx="23">
                  <c:v>332069.000000</c:v>
                </c:pt>
              </c:numCache>
            </c:numRef>
          </c:val>
        </c:ser>
        <c:axId val="2094734552"/>
        <c:axId val="2094734553"/>
      </c:areaChart>
      <c:catAx>
        <c:axId val="2094734552"/>
        <c:scaling>
          <c:orientation val="minMax"/>
        </c:scaling>
        <c:delete val="0"/>
        <c:axPos val="b"/>
        <c:numFmt formatCode="0" sourceLinked="0"/>
        <c:majorTickMark val="out"/>
        <c:minorTickMark val="none"/>
        <c:tickLblPos val="low"/>
        <c:spPr>
          <a:ln w="12700" cap="flat">
            <a:solidFill>
              <a:srgbClr val="D9D9D9"/>
            </a:solidFill>
            <a:prstDash val="solid"/>
            <a:round/>
          </a:ln>
        </c:spPr>
        <c:txPr>
          <a:bodyPr rot="-16200000"/>
          <a:lstStyle/>
          <a:p>
            <a:pPr>
              <a:defRPr b="0" i="0" strike="noStrike" sz="600" u="none">
                <a:solidFill>
                  <a:srgbClr val="002060"/>
                </a:solidFill>
                <a:latin typeface="Open Sans"/>
              </a:defRPr>
            </a:pPr>
          </a:p>
        </c:txPr>
        <c:crossAx val="2094734553"/>
        <c:crosses val="autoZero"/>
        <c:auto val="1"/>
        <c:lblAlgn val="ctr"/>
        <c:noMultiLvlLbl val="1"/>
      </c:catAx>
      <c:valAx>
        <c:axId val="2094734553"/>
        <c:scaling>
          <c:orientation val="minMax"/>
          <c:min val="0"/>
        </c:scaling>
        <c:delete val="0"/>
        <c:axPos val="l"/>
        <c:majorGridlines>
          <c:spPr>
            <a:ln w="12700" cap="flat">
              <a:solidFill>
                <a:srgbClr val="D9D9D9"/>
              </a:solidFill>
              <a:prstDash val="solid"/>
              <a:round/>
            </a:ln>
          </c:spPr>
        </c:majorGridlines>
        <c:title>
          <c:tx>
            <c:rich>
              <a:bodyPr rot="-5400000"/>
              <a:lstStyle/>
              <a:p>
                <a:pPr>
                  <a:defRPr b="0" i="0" strike="noStrike" sz="1000" u="none">
                    <a:solidFill>
                      <a:srgbClr val="002060"/>
                    </a:solidFill>
                    <a:latin typeface="Open Sans"/>
                  </a:defRPr>
                </a:pPr>
                <a:r>
                  <a:rPr b="0" i="0" strike="noStrike" sz="1000" u="none">
                    <a:solidFill>
                      <a:srgbClr val="002060"/>
                    </a:solidFill>
                    <a:latin typeface="Open Sans"/>
                  </a:rPr>
                  <a:t>Thousands</a:t>
                </a:r>
              </a:p>
            </c:rich>
          </c:tx>
          <c:layout/>
          <c:overlay val="1"/>
        </c:title>
        <c:numFmt formatCode="#,##0," sourceLinked="0"/>
        <c:majorTickMark val="none"/>
        <c:minorTickMark val="none"/>
        <c:tickLblPos val="nextTo"/>
        <c:spPr>
          <a:ln w="12700" cap="flat">
            <a:noFill/>
            <a:prstDash val="solid"/>
            <a:round/>
          </a:ln>
        </c:spPr>
        <c:txPr>
          <a:bodyPr rot="0"/>
          <a:lstStyle/>
          <a:p>
            <a:pPr>
              <a:defRPr b="0" i="0" strike="noStrike" sz="600" u="none">
                <a:solidFill>
                  <a:srgbClr val="002060"/>
                </a:solidFill>
                <a:latin typeface="Open Sans"/>
              </a:defRPr>
            </a:pPr>
          </a:p>
        </c:txPr>
        <c:crossAx val="2094734552"/>
        <c:crosses val="autoZero"/>
        <c:crossBetween val="midCat"/>
        <c:majorUnit val="90000"/>
        <c:minorUnit val="45000"/>
      </c:valAx>
      <c:spPr>
        <a:noFill/>
        <a:ln w="12700" cap="flat">
          <a:noFill/>
          <a:miter lim="400000"/>
        </a:ln>
        <a:effectLst/>
      </c:spPr>
    </c:plotArea>
    <c:plotVisOnly val="1"/>
    <c:dispBlanksAs val="gap"/>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110607"/>
          <c:y val="0.0566861"/>
          <c:w val="0.784206"/>
          <c:h val="0.861981"/>
        </c:manualLayout>
      </c:layout>
      <c:lineChart>
        <c:grouping val="standard"/>
        <c:varyColors val="0"/>
        <c:ser>
          <c:idx val="0"/>
          <c:order val="0"/>
          <c:tx>
            <c:strRef>
              <c:f>Sheet1!$B$1</c:f>
              <c:strCache>
                <c:ptCount val="1"/>
                <c:pt idx="0">
                  <c:v>Observed Churn Rate</c:v>
                </c:pt>
              </c:strCache>
            </c:strRef>
          </c:tx>
          <c:spPr>
            <a:solidFill>
              <a:srgbClr val="00B0F0"/>
            </a:solidFill>
            <a:ln w="12700" cap="rnd">
              <a:solidFill>
                <a:srgbClr val="002060"/>
              </a:solidFill>
              <a:prstDash val="solid"/>
              <a:round/>
            </a:ln>
            <a:effectLst/>
          </c:spPr>
          <c:marker>
            <c:symbol val="diamond"/>
            <c:size val="4"/>
            <c:spPr>
              <a:solidFill>
                <a:srgbClr val="00B0F0"/>
              </a:solidFill>
              <a:ln w="12700" cap="flat">
                <a:noFill/>
                <a:miter lim="400000"/>
              </a:ln>
              <a:effectLst/>
            </c:spPr>
          </c:marker>
          <c:dLbls>
            <c:numFmt formatCode="0%" sourceLinked="0"/>
            <c:txPr>
              <a:bodyPr/>
              <a:lstStyle/>
              <a:p>
                <a:pPr>
                  <a:defRPr b="0" i="0" strike="noStrike" sz="500" u="none">
                    <a:solidFill>
                      <a:srgbClr val="0070C0"/>
                    </a:solidFill>
                    <a:latin typeface="Open Sans"/>
                  </a:defRPr>
                </a:pPr>
              </a:p>
            </c:txPr>
            <c:dLblPos val="t"/>
            <c:showLegendKey val="0"/>
            <c:showVal val="1"/>
            <c:showCatName val="0"/>
            <c:showSerName val="0"/>
            <c:showPercent val="0"/>
            <c:showBubbleSize val="0"/>
            <c:showLeaderLines val="0"/>
          </c:dLbls>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Sheet1!$B$2:$B$21</c:f>
              <c:numCache>
                <c:ptCount val="20"/>
                <c:pt idx="0">
                  <c:v>0.915484</c:v>
                </c:pt>
                <c:pt idx="1">
                  <c:v>0.876739</c:v>
                </c:pt>
                <c:pt idx="2">
                  <c:v>0.840812</c:v>
                </c:pt>
                <c:pt idx="3">
                  <c:v>0.809781</c:v>
                </c:pt>
                <c:pt idx="4">
                  <c:v>0.743506</c:v>
                </c:pt>
                <c:pt idx="5">
                  <c:v>0.656610</c:v>
                </c:pt>
                <c:pt idx="6">
                  <c:v>0.618876</c:v>
                </c:pt>
                <c:pt idx="7">
                  <c:v>0.540716</c:v>
                </c:pt>
                <c:pt idx="8">
                  <c:v>0.452912</c:v>
                </c:pt>
                <c:pt idx="9">
                  <c:v>0.365728</c:v>
                </c:pt>
                <c:pt idx="10">
                  <c:v>0.291963</c:v>
                </c:pt>
                <c:pt idx="11">
                  <c:v>0.214103</c:v>
                </c:pt>
                <c:pt idx="12">
                  <c:v>0.152179</c:v>
                </c:pt>
                <c:pt idx="13">
                  <c:v>0.103587</c:v>
                </c:pt>
                <c:pt idx="14">
                  <c:v>0.066913</c:v>
                </c:pt>
                <c:pt idx="15">
                  <c:v>0.040088</c:v>
                </c:pt>
                <c:pt idx="16">
                  <c:v>0.022596</c:v>
                </c:pt>
                <c:pt idx="17">
                  <c:v>0.011299</c:v>
                </c:pt>
                <c:pt idx="18">
                  <c:v>0.004730</c:v>
                </c:pt>
                <c:pt idx="19">
                  <c:v>0.001374</c:v>
                </c:pt>
              </c:numCache>
            </c:numRef>
          </c:val>
          <c:smooth val="0"/>
        </c:ser>
        <c:marker val="1"/>
        <c:axId val="2094734552"/>
        <c:axId val="2094734553"/>
      </c:lineChart>
      <c:lineChart>
        <c:grouping val="standard"/>
        <c:varyColors val="0"/>
        <c:ser>
          <c:idx val="1"/>
          <c:order val="1"/>
          <c:tx>
            <c:strRef>
              <c:f>Sheet1!$C$1</c:f>
              <c:strCache>
                <c:ptCount val="1"/>
                <c:pt idx="0">
                  <c:v>Cumm. Churn %</c:v>
                </c:pt>
              </c:strCache>
            </c:strRef>
          </c:tx>
          <c:spPr>
            <a:solidFill>
              <a:srgbClr val="00B0F0"/>
            </a:solidFill>
            <a:ln w="12700" cap="flat">
              <a:solidFill>
                <a:srgbClr val="0070C0"/>
              </a:solidFill>
              <a:custDash>
                <a:ds d="700000" sp="400000"/>
              </a:custDash>
              <a:round/>
            </a:ln>
            <a:effectLst/>
          </c:spPr>
          <c:marker>
            <c:symbol val="diamond"/>
            <c:size val="4"/>
            <c:spPr>
              <a:solidFill>
                <a:srgbClr val="00B0F0"/>
              </a:solidFill>
              <a:ln w="12700" cap="flat">
                <a:noFill/>
                <a:miter lim="400000"/>
              </a:ln>
              <a:effectLst/>
            </c:spPr>
          </c:marker>
          <c:dLbls>
            <c:numFmt formatCode="0%" sourceLinked="0"/>
            <c:txPr>
              <a:bodyPr/>
              <a:lstStyle/>
              <a:p>
                <a:pPr>
                  <a:defRPr b="0" i="0" strike="noStrike" sz="700" u="none">
                    <a:solidFill>
                      <a:srgbClr val="002060"/>
                    </a:solidFill>
                    <a:latin typeface="Open Sans"/>
                  </a:defRPr>
                </a:pPr>
              </a:p>
            </c:txPr>
            <c:dLblPos val="t"/>
            <c:showLegendKey val="0"/>
            <c:showVal val="0"/>
            <c:showCatName val="0"/>
            <c:showSerName val="0"/>
            <c:showPercent val="0"/>
            <c:showBubbleSize val="0"/>
            <c:showLeaderLines val="0"/>
          </c:dLbls>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Sheet1!$C$2:$C$21</c:f>
              <c:numCache>
                <c:ptCount val="20"/>
                <c:pt idx="0">
                  <c:v>0.099074</c:v>
                </c:pt>
                <c:pt idx="1">
                  <c:v>0.237675</c:v>
                </c:pt>
                <c:pt idx="2">
                  <c:v>0.359570</c:v>
                </c:pt>
                <c:pt idx="3">
                  <c:v>0.479181</c:v>
                </c:pt>
                <c:pt idx="4">
                  <c:v>0.577535</c:v>
                </c:pt>
                <c:pt idx="5">
                  <c:v>0.659167</c:v>
                </c:pt>
                <c:pt idx="6">
                  <c:v>0.733728</c:v>
                </c:pt>
                <c:pt idx="7">
                  <c:v>0.796195</c:v>
                </c:pt>
                <c:pt idx="8">
                  <c:v>0.847024</c:v>
                </c:pt>
                <c:pt idx="9">
                  <c:v>0.889030</c:v>
                </c:pt>
                <c:pt idx="10">
                  <c:v>0.923615</c:v>
                </c:pt>
                <c:pt idx="11">
                  <c:v>0.949457</c:v>
                </c:pt>
                <c:pt idx="12">
                  <c:v>0.968275</c:v>
                </c:pt>
                <c:pt idx="13">
                  <c:v>0.981266</c:v>
                </c:pt>
                <c:pt idx="14">
                  <c:v>0.989660</c:v>
                </c:pt>
                <c:pt idx="15">
                  <c:v>0.994719</c:v>
                </c:pt>
                <c:pt idx="16">
                  <c:v>0.997621</c:v>
                </c:pt>
                <c:pt idx="17">
                  <c:v>0.999118</c:v>
                </c:pt>
                <c:pt idx="18">
                  <c:v>0.999784</c:v>
                </c:pt>
                <c:pt idx="19">
                  <c:v>1.000000</c:v>
                </c:pt>
              </c:numCache>
            </c:numRef>
          </c:val>
          <c:smooth val="0"/>
        </c:ser>
        <c:marker val="1"/>
        <c:axId val="2094734555"/>
        <c:axId val="2094734556"/>
      </c:lineChart>
      <c:catAx>
        <c:axId val="2094734552"/>
        <c:scaling>
          <c:orientation val="minMax"/>
        </c:scaling>
        <c:delete val="0"/>
        <c:axPos val="b"/>
        <c:numFmt formatCode="General" sourceLinked="0"/>
        <c:majorTickMark val="none"/>
        <c:minorTickMark val="none"/>
        <c:tickLblPos val="low"/>
        <c:spPr>
          <a:ln w="12700" cap="flat">
            <a:solidFill>
              <a:srgbClr val="002060"/>
            </a:solidFill>
            <a:prstDash val="solid"/>
            <a:round/>
          </a:ln>
        </c:spPr>
        <c:txPr>
          <a:bodyPr rot="0"/>
          <a:lstStyle/>
          <a:p>
            <a:pPr>
              <a:defRPr b="0" i="0" strike="noStrike" sz="600" u="none">
                <a:solidFill>
                  <a:srgbClr val="0070C0"/>
                </a:solidFill>
                <a:latin typeface="Open Sans"/>
              </a:defRPr>
            </a:pPr>
          </a:p>
        </c:txPr>
        <c:crossAx val="2094734553"/>
        <c:crosses val="autoZero"/>
        <c:auto val="1"/>
        <c:lblAlgn val="ctr"/>
        <c:noMultiLvlLbl val="1"/>
      </c:catAx>
      <c:valAx>
        <c:axId val="2094734553"/>
        <c:scaling>
          <c:orientation val="minMax"/>
        </c:scaling>
        <c:delete val="0"/>
        <c:axPos val="l"/>
        <c:title>
          <c:tx>
            <c:rich>
              <a:bodyPr rot="-5400000"/>
              <a:lstStyle/>
              <a:p>
                <a:pPr>
                  <a:defRPr b="1" i="0" strike="noStrike" sz="900" u="none">
                    <a:solidFill>
                      <a:srgbClr val="0070C0"/>
                    </a:solidFill>
                    <a:latin typeface="Open Sans"/>
                  </a:defRPr>
                </a:pPr>
                <a:r>
                  <a:rPr b="1" i="0" strike="noStrike" sz="900" u="none">
                    <a:solidFill>
                      <a:srgbClr val="0070C0"/>
                    </a:solidFill>
                    <a:latin typeface="Open Sans"/>
                  </a:rPr>
                  <a:t>Observed 
Churn Rate</a:t>
                </a:r>
              </a:p>
            </c:rich>
          </c:tx>
          <c:layout/>
          <c:overlay val="1"/>
        </c:title>
        <c:numFmt formatCode="0%" sourceLinked="0"/>
        <c:majorTickMark val="none"/>
        <c:minorTickMark val="none"/>
        <c:tickLblPos val="nextTo"/>
        <c:spPr>
          <a:ln w="12700" cap="flat">
            <a:noFill/>
            <a:prstDash val="solid"/>
            <a:round/>
          </a:ln>
        </c:spPr>
        <c:txPr>
          <a:bodyPr rot="0"/>
          <a:lstStyle/>
          <a:p>
            <a:pPr>
              <a:defRPr b="0" i="0" strike="noStrike" sz="600" u="none">
                <a:solidFill>
                  <a:srgbClr val="0070C0"/>
                </a:solidFill>
                <a:latin typeface="Open Sans"/>
              </a:defRPr>
            </a:pPr>
          </a:p>
        </c:txPr>
        <c:crossAx val="2094734552"/>
        <c:crosses val="autoZero"/>
        <c:crossBetween val="between"/>
        <c:majorUnit val="0.25"/>
        <c:minorUnit val="0.125"/>
      </c:valAx>
      <c:catAx>
        <c:axId val="2094734555"/>
        <c:scaling>
          <c:orientation val="minMax"/>
        </c:scaling>
        <c:delete val="0"/>
        <c:axPos val="b"/>
        <c:majorTickMark val="out"/>
        <c:minorTickMark val="none"/>
        <c:tickLblPos val="none"/>
        <c:spPr>
          <a:ln w="12700" cap="flat">
            <a:noFill/>
            <a:prstDash val="solid"/>
            <a:round/>
          </a:ln>
        </c:spPr>
        <c:crossAx val="2094734556"/>
        <c:crosses val="autoZero"/>
        <c:auto val="1"/>
        <c:lblAlgn val="ctr"/>
        <c:noMultiLvlLbl val="1"/>
      </c:catAx>
      <c:valAx>
        <c:axId val="2094734556"/>
        <c:scaling>
          <c:orientation val="minMax"/>
          <c:max val="1.1"/>
          <c:min val="0"/>
        </c:scaling>
        <c:delete val="0"/>
        <c:axPos val="r"/>
        <c:title>
          <c:tx>
            <c:rich>
              <a:bodyPr rot="-5400000"/>
              <a:lstStyle/>
              <a:p>
                <a:pPr>
                  <a:defRPr b="1" i="0" strike="noStrike" sz="800" u="none">
                    <a:solidFill>
                      <a:srgbClr val="0070C0"/>
                    </a:solidFill>
                    <a:latin typeface="Open Sans"/>
                  </a:defRPr>
                </a:pPr>
                <a:r>
                  <a:rPr b="1" i="0" strike="noStrike" sz="800" u="none">
                    <a:solidFill>
                      <a:srgbClr val="0070C0"/>
                    </a:solidFill>
                    <a:latin typeface="Open Sans"/>
                  </a:rPr>
                  <a:t>Cumm. 
Churn %</a:t>
                </a:r>
              </a:p>
            </c:rich>
          </c:tx>
          <c:layout/>
          <c:overlay val="1"/>
        </c:title>
        <c:numFmt formatCode="0%" sourceLinked="0"/>
        <c:majorTickMark val="none"/>
        <c:minorTickMark val="none"/>
        <c:tickLblPos val="nextTo"/>
        <c:spPr>
          <a:ln w="12700" cap="flat">
            <a:noFill/>
            <a:prstDash val="solid"/>
            <a:round/>
          </a:ln>
        </c:spPr>
        <c:txPr>
          <a:bodyPr rot="0"/>
          <a:lstStyle/>
          <a:p>
            <a:pPr>
              <a:defRPr b="0" i="0" strike="noStrike" sz="600" u="none">
                <a:solidFill>
                  <a:srgbClr val="0070C0"/>
                </a:solidFill>
                <a:latin typeface="Open Sans"/>
              </a:defRPr>
            </a:pPr>
          </a:p>
        </c:txPr>
        <c:crossAx val="2094734555"/>
        <c:crosses val="max"/>
        <c:crossBetween val="between"/>
        <c:majorUnit val="0.275"/>
        <c:minorUnit val="0.1375"/>
      </c:valAx>
      <c:spPr>
        <a:noFill/>
        <a:ln w="12700" cap="flat">
          <a:noFill/>
          <a:miter lim="400000"/>
        </a:ln>
        <a:effectLst/>
      </c:spPr>
    </c:plotArea>
    <c:legend>
      <c:legendPos val="r"/>
      <c:layout>
        <c:manualLayout>
          <c:xMode val="edge"/>
          <c:yMode val="edge"/>
          <c:x val="0.676387"/>
          <c:y val="0.646913"/>
          <c:w val="0.203669"/>
          <c:h val="0.122176"/>
        </c:manualLayout>
      </c:layout>
      <c:overlay val="1"/>
      <c:spPr>
        <a:noFill/>
        <a:ln w="12700" cap="flat">
          <a:noFill/>
          <a:miter lim="400000"/>
        </a:ln>
        <a:effectLst/>
      </c:spPr>
      <c:txPr>
        <a:bodyPr rot="0"/>
        <a:lstStyle/>
        <a:p>
          <a:pPr>
            <a:defRPr b="1" i="0" strike="noStrike" sz="500" u="none">
              <a:solidFill>
                <a:srgbClr val="0070C0"/>
              </a:solidFill>
              <a:latin typeface="Open Sans"/>
            </a:defRPr>
          </a:pPr>
        </a:p>
      </c:txPr>
    </c:legend>
    <c:plotVisOnly val="1"/>
    <c:dispBlanksAs val="gap"/>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469102"/>
          <c:y val="0.0472312"/>
          <c:w val="0.486931"/>
          <c:h val="0.798463"/>
        </c:manualLayout>
      </c:layout>
      <c:barChart>
        <c:barDir val="bar"/>
        <c:grouping val="clustered"/>
        <c:varyColors val="0"/>
        <c:ser>
          <c:idx val="0"/>
          <c:order val="0"/>
          <c:tx>
            <c:strRef>
              <c:f>Sheet1!$B$1</c:f>
              <c:strCache>
                <c:ptCount val="1"/>
                <c:pt idx="0">
                  <c:v>&lt;=₹5</c:v>
                </c:pt>
              </c:strCache>
            </c:strRef>
          </c:tx>
          <c:spPr>
            <a:solidFill>
              <a:srgbClr val="0070C0"/>
            </a:solidFill>
            <a:ln w="12700" cap="flat">
              <a:noFill/>
              <a:miter lim="400000"/>
            </a:ln>
            <a:effectLst/>
          </c:spPr>
          <c:invertIfNegative val="0"/>
          <c:dLbls>
            <c:numFmt formatCode="0%" sourceLinked="0"/>
            <c:txPr>
              <a:bodyPr/>
              <a:lstStyle/>
              <a:p>
                <a:pPr>
                  <a:defRPr b="0" i="0" strike="noStrike" sz="600" u="none">
                    <a:solidFill>
                      <a:srgbClr val="002060"/>
                    </a:solidFill>
                    <a:latin typeface="Open Sans"/>
                  </a:defRPr>
                </a:pPr>
              </a:p>
            </c:txPr>
            <c:dLblPos val="outEnd"/>
            <c:showLegendKey val="0"/>
            <c:showVal val="0"/>
            <c:showCatName val="0"/>
            <c:showSerName val="0"/>
            <c:showPercent val="0"/>
            <c:showBubbleSize val="0"/>
            <c:showLeaderLines val="0"/>
          </c:dLbls>
          <c:cat>
            <c:strRef>
              <c:f>Sheet1!$A$2:$A$8</c:f>
              <c:strCache>
                <c:ptCount val="7"/>
                <c:pt idx="0">
                  <c:v>CHAMPION</c:v>
                </c:pt>
                <c:pt idx="1">
                  <c:v>LOYALIST</c:v>
                </c:pt>
                <c:pt idx="2">
                  <c:v>PROMISOR</c:v>
                </c:pt>
                <c:pt idx="3">
                  <c:v>ATTENTION-SEEKER</c:v>
                </c:pt>
                <c:pt idx="4">
                  <c:v>POTENTIALIST</c:v>
                </c:pt>
                <c:pt idx="5">
                  <c:v>NAPSTER</c:v>
                </c:pt>
                <c:pt idx="6">
                  <c:v>HIBERNATOR</c:v>
                </c:pt>
              </c:strCache>
            </c:strRef>
          </c:cat>
          <c:val>
            <c:numRef>
              <c:f>Sheet1!$B$2:$B$8</c:f>
              <c:numCache>
                <c:ptCount val="7"/>
                <c:pt idx="0">
                  <c:v>0.004911</c:v>
                </c:pt>
                <c:pt idx="1">
                  <c:v>0.014548</c:v>
                </c:pt>
                <c:pt idx="2">
                  <c:v>0.088372</c:v>
                </c:pt>
                <c:pt idx="3">
                  <c:v>0.058455</c:v>
                </c:pt>
                <c:pt idx="4">
                  <c:v>0.025762</c:v>
                </c:pt>
                <c:pt idx="5">
                  <c:v>0.307221</c:v>
                </c:pt>
                <c:pt idx="6">
                  <c:v>0.500731</c:v>
                </c:pt>
              </c:numCache>
            </c:numRef>
          </c:val>
        </c:ser>
        <c:gapWidth val="182"/>
        <c:overlap val="0"/>
        <c:axId val="2094734552"/>
        <c:axId val="2094734553"/>
      </c:barChart>
      <c:catAx>
        <c:axId val="2094734552"/>
        <c:scaling>
          <c:orientation val="maxMin"/>
        </c:scaling>
        <c:delete val="0"/>
        <c:axPos val="l"/>
        <c:numFmt formatCode="General" sourceLinked="0"/>
        <c:majorTickMark val="none"/>
        <c:minorTickMark val="none"/>
        <c:tickLblPos val="nextTo"/>
        <c:spPr>
          <a:ln w="12700" cap="flat">
            <a:solidFill>
              <a:srgbClr val="00B0F0"/>
            </a:solidFill>
            <a:prstDash val="solid"/>
            <a:round/>
          </a:ln>
        </c:spPr>
        <c:txPr>
          <a:bodyPr rot="0"/>
          <a:lstStyle/>
          <a:p>
            <a:pPr>
              <a:defRPr b="0" i="0" strike="noStrike" sz="600" u="none">
                <a:solidFill>
                  <a:srgbClr val="002060"/>
                </a:solidFill>
                <a:latin typeface="Open Sans"/>
              </a:defRPr>
            </a:pPr>
          </a:p>
        </c:txPr>
        <c:crossAx val="2094734553"/>
        <c:crosses val="autoZero"/>
        <c:auto val="1"/>
        <c:lblAlgn val="ctr"/>
        <c:noMultiLvlLbl val="1"/>
      </c:catAx>
      <c:valAx>
        <c:axId val="2094734553"/>
        <c:scaling>
          <c:orientation val="minMax"/>
        </c:scaling>
        <c:delete val="0"/>
        <c:axPos val="b"/>
        <c:numFmt formatCode="0%" sourceLinked="0"/>
        <c:majorTickMark val="none"/>
        <c:minorTickMark val="none"/>
        <c:tickLblPos val="high"/>
        <c:spPr>
          <a:ln w="12700" cap="flat">
            <a:noFill/>
            <a:prstDash val="solid"/>
            <a:round/>
          </a:ln>
        </c:spPr>
        <c:txPr>
          <a:bodyPr rot="0"/>
          <a:lstStyle/>
          <a:p>
            <a:pPr>
              <a:defRPr b="0" i="0" strike="noStrike" sz="600" u="none">
                <a:solidFill>
                  <a:srgbClr val="002060"/>
                </a:solidFill>
                <a:latin typeface="Open Sans"/>
              </a:defRPr>
            </a:pPr>
          </a:p>
        </c:txPr>
        <c:crossAx val="2094734552"/>
        <c:crosses val="autoZero"/>
        <c:crossBetween val="between"/>
        <c:majorUnit val="0.15"/>
        <c:minorUnit val="0.075"/>
      </c:valAx>
      <c:spPr>
        <a:noFill/>
        <a:ln w="12700" cap="flat">
          <a:noFill/>
          <a:miter lim="400000"/>
        </a:ln>
        <a:effectLst/>
      </c:spPr>
    </c:plotArea>
    <c:legend>
      <c:legendPos val="b"/>
      <c:layout>
        <c:manualLayout>
          <c:xMode val="edge"/>
          <c:yMode val="edge"/>
          <c:x val="0.622852"/>
          <c:y val="0.940269"/>
          <c:w val="0.202789"/>
          <c:h val="0.0597312"/>
        </c:manualLayout>
      </c:layout>
      <c:overlay val="1"/>
      <c:spPr>
        <a:noFill/>
        <a:ln w="12700" cap="flat">
          <a:noFill/>
          <a:miter lim="400000"/>
        </a:ln>
        <a:effectLst/>
      </c:spPr>
      <c:txPr>
        <a:bodyPr rot="0"/>
        <a:lstStyle/>
        <a:p>
          <a:pPr>
            <a:defRPr b="0" i="0" strike="noStrike" sz="600" u="none">
              <a:solidFill>
                <a:srgbClr val="002060"/>
              </a:solidFill>
              <a:latin typeface="Open Sans"/>
            </a:defRPr>
          </a:pPr>
        </a:p>
      </c:txPr>
    </c:legend>
    <c:plotVisOnly val="1"/>
    <c:dispBlanksAs val="gap"/>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0924434"/>
          <c:y val="0.0472312"/>
          <c:w val="0.832395"/>
          <c:h val="0.798463"/>
        </c:manualLayout>
      </c:layout>
      <c:barChart>
        <c:barDir val="bar"/>
        <c:grouping val="clustered"/>
        <c:varyColors val="0"/>
        <c:ser>
          <c:idx val="0"/>
          <c:order val="0"/>
          <c:tx>
            <c:strRef>
              <c:f>Sheet1!$B$1</c:f>
              <c:strCache>
                <c:ptCount val="1"/>
                <c:pt idx="0">
                  <c:v>&lt;=₹25</c:v>
                </c:pt>
              </c:strCache>
            </c:strRef>
          </c:tx>
          <c:spPr>
            <a:solidFill>
              <a:srgbClr val="0070C0"/>
            </a:solidFill>
            <a:ln w="12700" cap="flat">
              <a:noFill/>
              <a:miter lim="400000"/>
            </a:ln>
            <a:effectLst/>
          </c:spPr>
          <c:invertIfNegative val="0"/>
          <c:dLbls>
            <c:numFmt formatCode="0%" sourceLinked="0"/>
            <c:txPr>
              <a:bodyPr/>
              <a:lstStyle/>
              <a:p>
                <a:pPr>
                  <a:defRPr b="0" i="0" strike="noStrike" sz="600" u="none">
                    <a:solidFill>
                      <a:srgbClr val="002060"/>
                    </a:solidFill>
                    <a:latin typeface="Open Sans"/>
                  </a:defRPr>
                </a:pPr>
              </a:p>
            </c:txPr>
            <c:dLblPos val="outEnd"/>
            <c:showLegendKey val="0"/>
            <c:showVal val="0"/>
            <c:showCatName val="0"/>
            <c:showSerName val="0"/>
            <c:showPercent val="0"/>
            <c:showBubbleSize val="0"/>
            <c:showLeaderLines val="0"/>
          </c:dLbls>
          <c:cat>
            <c:strRef>
              <c:f>Sheet1!$A$2:$A$8</c:f>
              <c:strCache>
                <c:ptCount val="7"/>
                <c:pt idx="0">
                  <c:v>CHAMPION</c:v>
                </c:pt>
                <c:pt idx="1">
                  <c:v>LOYALIST</c:v>
                </c:pt>
                <c:pt idx="2">
                  <c:v>PROMISOR</c:v>
                </c:pt>
                <c:pt idx="3">
                  <c:v>ATTENTION-SEEKER</c:v>
                </c:pt>
                <c:pt idx="4">
                  <c:v>POTENTIALIST</c:v>
                </c:pt>
                <c:pt idx="5">
                  <c:v>NAPSTER</c:v>
                </c:pt>
                <c:pt idx="6">
                  <c:v>HIBERNATOR</c:v>
                </c:pt>
              </c:strCache>
            </c:strRef>
          </c:cat>
          <c:val>
            <c:numRef>
              <c:f>Sheet1!$B$2:$B$8</c:f>
              <c:numCache>
                <c:ptCount val="7"/>
                <c:pt idx="0">
                  <c:v>0.020922</c:v>
                </c:pt>
                <c:pt idx="1">
                  <c:v>0.086110</c:v>
                </c:pt>
                <c:pt idx="2">
                  <c:v>0.247115</c:v>
                </c:pt>
                <c:pt idx="3">
                  <c:v>0.096281</c:v>
                </c:pt>
                <c:pt idx="4">
                  <c:v>0.048368</c:v>
                </c:pt>
                <c:pt idx="5">
                  <c:v>0.320482</c:v>
                </c:pt>
                <c:pt idx="6">
                  <c:v>0.180722</c:v>
                </c:pt>
              </c:numCache>
            </c:numRef>
          </c:val>
        </c:ser>
        <c:gapWidth val="182"/>
        <c:overlap val="0"/>
        <c:axId val="2094734552"/>
        <c:axId val="2094734553"/>
      </c:barChart>
      <c:catAx>
        <c:axId val="2094734552"/>
        <c:scaling>
          <c:orientation val="maxMin"/>
        </c:scaling>
        <c:delete val="0"/>
        <c:axPos val="l"/>
        <c:numFmt formatCode="General" sourceLinked="0"/>
        <c:majorTickMark val="none"/>
        <c:minorTickMark val="none"/>
        <c:tickLblPos val="none"/>
        <c:spPr>
          <a:ln w="12700" cap="flat">
            <a:noFill/>
            <a:prstDash val="solid"/>
            <a:round/>
          </a:ln>
        </c:spPr>
        <c:txPr>
          <a:bodyPr rot="0"/>
          <a:lstStyle/>
          <a:p>
            <a:pPr>
              <a:defRPr b="0" i="0" strike="noStrike" sz="600" u="none">
                <a:solidFill>
                  <a:srgbClr val="002060"/>
                </a:solidFill>
                <a:latin typeface="Open Sans"/>
              </a:defRPr>
            </a:pPr>
          </a:p>
        </c:txPr>
        <c:crossAx val="2094734553"/>
        <c:crosses val="autoZero"/>
        <c:auto val="1"/>
        <c:lblAlgn val="ctr"/>
        <c:noMultiLvlLbl val="1"/>
      </c:catAx>
      <c:valAx>
        <c:axId val="2094734553"/>
        <c:scaling>
          <c:orientation val="minMax"/>
          <c:max val="0.6"/>
          <c:min val="0"/>
        </c:scaling>
        <c:delete val="0"/>
        <c:axPos val="b"/>
        <c:numFmt formatCode="0%" sourceLinked="0"/>
        <c:majorTickMark val="none"/>
        <c:minorTickMark val="none"/>
        <c:tickLblPos val="high"/>
        <c:spPr>
          <a:ln w="12700" cap="flat">
            <a:noFill/>
            <a:prstDash val="solid"/>
            <a:round/>
          </a:ln>
        </c:spPr>
        <c:txPr>
          <a:bodyPr rot="0"/>
          <a:lstStyle/>
          <a:p>
            <a:pPr>
              <a:defRPr b="0" i="0" strike="noStrike" sz="600" u="none">
                <a:solidFill>
                  <a:srgbClr val="002060"/>
                </a:solidFill>
                <a:latin typeface="Open Sans"/>
              </a:defRPr>
            </a:pPr>
          </a:p>
        </c:txPr>
        <c:crossAx val="2094734552"/>
        <c:crosses val="autoZero"/>
        <c:crossBetween val="between"/>
        <c:majorUnit val="0.6"/>
        <c:minorUnit val="0.3"/>
      </c:valAx>
      <c:spPr>
        <a:noFill/>
        <a:ln w="12700" cap="flat">
          <a:noFill/>
          <a:miter lim="400000"/>
        </a:ln>
        <a:effectLst/>
      </c:spPr>
    </c:plotArea>
    <c:legend>
      <c:legendPos val="b"/>
      <c:layout>
        <c:manualLayout>
          <c:xMode val="edge"/>
          <c:yMode val="edge"/>
          <c:x val="0.274388"/>
          <c:y val="0.940269"/>
          <c:w val="0.381329"/>
          <c:h val="0.0597312"/>
        </c:manualLayout>
      </c:layout>
      <c:overlay val="1"/>
      <c:spPr>
        <a:noFill/>
        <a:ln w="12700" cap="flat">
          <a:noFill/>
          <a:miter lim="400000"/>
        </a:ln>
        <a:effectLst/>
      </c:spPr>
      <c:txPr>
        <a:bodyPr rot="0"/>
        <a:lstStyle/>
        <a:p>
          <a:pPr>
            <a:defRPr b="0" i="0" strike="noStrike" sz="600" u="none">
              <a:solidFill>
                <a:srgbClr val="002060"/>
              </a:solidFill>
              <a:latin typeface="Open Sans"/>
            </a:defRPr>
          </a:pPr>
        </a:p>
      </c:txPr>
    </c:legend>
    <c:plotVisOnly val="1"/>
    <c:dispBlanksAs val="gap"/>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0924434"/>
          <c:y val="0.0472312"/>
          <c:w val="0.832395"/>
          <c:h val="0.798463"/>
        </c:manualLayout>
      </c:layout>
      <c:barChart>
        <c:barDir val="bar"/>
        <c:grouping val="clustered"/>
        <c:varyColors val="0"/>
        <c:ser>
          <c:idx val="0"/>
          <c:order val="0"/>
          <c:tx>
            <c:strRef>
              <c:f>Sheet1!$B$1</c:f>
              <c:strCache>
                <c:ptCount val="1"/>
                <c:pt idx="0">
                  <c:v>&lt;=₹50</c:v>
                </c:pt>
              </c:strCache>
            </c:strRef>
          </c:tx>
          <c:spPr>
            <a:solidFill>
              <a:srgbClr val="0070C0"/>
            </a:solidFill>
            <a:ln w="12700" cap="flat">
              <a:noFill/>
              <a:miter lim="400000"/>
            </a:ln>
            <a:effectLst/>
          </c:spPr>
          <c:invertIfNegative val="0"/>
          <c:dLbls>
            <c:numFmt formatCode="0%" sourceLinked="0"/>
            <c:txPr>
              <a:bodyPr/>
              <a:lstStyle/>
              <a:p>
                <a:pPr>
                  <a:defRPr b="0" i="0" strike="noStrike" sz="600" u="none">
                    <a:solidFill>
                      <a:srgbClr val="002060"/>
                    </a:solidFill>
                    <a:latin typeface="Open Sans"/>
                  </a:defRPr>
                </a:pPr>
              </a:p>
            </c:txPr>
            <c:dLblPos val="outEnd"/>
            <c:showLegendKey val="0"/>
            <c:showVal val="0"/>
            <c:showCatName val="0"/>
            <c:showSerName val="0"/>
            <c:showPercent val="0"/>
            <c:showBubbleSize val="0"/>
            <c:showLeaderLines val="0"/>
          </c:dLbls>
          <c:cat>
            <c:strRef>
              <c:f>Sheet1!$A$2:$A$8</c:f>
              <c:strCache>
                <c:ptCount val="7"/>
                <c:pt idx="0">
                  <c:v>CHAMPION</c:v>
                </c:pt>
                <c:pt idx="1">
                  <c:v>LOYALIST</c:v>
                </c:pt>
                <c:pt idx="2">
                  <c:v>PROMISOR</c:v>
                </c:pt>
                <c:pt idx="3">
                  <c:v>ATTENTION-SEEKER</c:v>
                </c:pt>
                <c:pt idx="4">
                  <c:v>POTENTIALIST</c:v>
                </c:pt>
                <c:pt idx="5">
                  <c:v>NAPSTER</c:v>
                </c:pt>
                <c:pt idx="6">
                  <c:v>HIBERNATOR</c:v>
                </c:pt>
              </c:strCache>
            </c:strRef>
          </c:cat>
          <c:val>
            <c:numRef>
              <c:f>Sheet1!$B$2:$B$8</c:f>
              <c:numCache>
                <c:ptCount val="7"/>
                <c:pt idx="0">
                  <c:v>0.043414</c:v>
                </c:pt>
                <c:pt idx="1">
                  <c:v>0.184863</c:v>
                </c:pt>
                <c:pt idx="2">
                  <c:v>0.349658</c:v>
                </c:pt>
                <c:pt idx="3">
                  <c:v>0.093856</c:v>
                </c:pt>
                <c:pt idx="4">
                  <c:v>0.051005</c:v>
                </c:pt>
                <c:pt idx="5">
                  <c:v>0.181798</c:v>
                </c:pt>
                <c:pt idx="6">
                  <c:v>0.095406</c:v>
                </c:pt>
              </c:numCache>
            </c:numRef>
          </c:val>
        </c:ser>
        <c:gapWidth val="182"/>
        <c:overlap val="0"/>
        <c:axId val="2094734552"/>
        <c:axId val="2094734553"/>
      </c:barChart>
      <c:catAx>
        <c:axId val="2094734552"/>
        <c:scaling>
          <c:orientation val="maxMin"/>
        </c:scaling>
        <c:delete val="0"/>
        <c:axPos val="l"/>
        <c:numFmt formatCode="General" sourceLinked="0"/>
        <c:majorTickMark val="none"/>
        <c:minorTickMark val="none"/>
        <c:tickLblPos val="none"/>
        <c:spPr>
          <a:ln w="12700" cap="flat">
            <a:noFill/>
            <a:prstDash val="solid"/>
            <a:round/>
          </a:ln>
        </c:spPr>
        <c:txPr>
          <a:bodyPr rot="0"/>
          <a:lstStyle/>
          <a:p>
            <a:pPr>
              <a:defRPr b="0" i="0" strike="noStrike" sz="600" u="none">
                <a:solidFill>
                  <a:srgbClr val="002060"/>
                </a:solidFill>
                <a:latin typeface="Open Sans"/>
              </a:defRPr>
            </a:pPr>
          </a:p>
        </c:txPr>
        <c:crossAx val="2094734553"/>
        <c:crosses val="autoZero"/>
        <c:auto val="1"/>
        <c:lblAlgn val="ctr"/>
        <c:noMultiLvlLbl val="1"/>
      </c:catAx>
      <c:valAx>
        <c:axId val="2094734553"/>
        <c:scaling>
          <c:orientation val="minMax"/>
          <c:max val="0.6"/>
          <c:min val="0"/>
        </c:scaling>
        <c:delete val="0"/>
        <c:axPos val="b"/>
        <c:numFmt formatCode="0%" sourceLinked="0"/>
        <c:majorTickMark val="none"/>
        <c:minorTickMark val="none"/>
        <c:tickLblPos val="high"/>
        <c:spPr>
          <a:ln w="12700" cap="flat">
            <a:noFill/>
            <a:prstDash val="solid"/>
            <a:round/>
          </a:ln>
        </c:spPr>
        <c:txPr>
          <a:bodyPr rot="0"/>
          <a:lstStyle/>
          <a:p>
            <a:pPr>
              <a:defRPr b="0" i="0" strike="noStrike" sz="600" u="none">
                <a:solidFill>
                  <a:srgbClr val="002060"/>
                </a:solidFill>
                <a:latin typeface="Open Sans"/>
              </a:defRPr>
            </a:pPr>
          </a:p>
        </c:txPr>
        <c:crossAx val="2094734552"/>
        <c:crosses val="autoZero"/>
        <c:crossBetween val="between"/>
        <c:majorUnit val="0.6"/>
        <c:minorUnit val="0.3"/>
      </c:valAx>
      <c:spPr>
        <a:noFill/>
        <a:ln w="12700" cap="flat">
          <a:noFill/>
          <a:miter lim="400000"/>
        </a:ln>
        <a:effectLst/>
      </c:spPr>
    </c:plotArea>
    <c:legend>
      <c:legendPos val="b"/>
      <c:layout>
        <c:manualLayout>
          <c:xMode val="edge"/>
          <c:yMode val="edge"/>
          <c:x val="0.239722"/>
          <c:y val="0.940269"/>
          <c:w val="0.406384"/>
          <c:h val="0.0597312"/>
        </c:manualLayout>
      </c:layout>
      <c:overlay val="1"/>
      <c:spPr>
        <a:noFill/>
        <a:ln w="12700" cap="flat">
          <a:noFill/>
          <a:miter lim="400000"/>
        </a:ln>
        <a:effectLst/>
      </c:spPr>
      <c:txPr>
        <a:bodyPr rot="0"/>
        <a:lstStyle/>
        <a:p>
          <a:pPr>
            <a:defRPr b="0" i="0" strike="noStrike" sz="600" u="none">
              <a:solidFill>
                <a:srgbClr val="002060"/>
              </a:solidFill>
              <a:latin typeface="Open Sans"/>
            </a:defRPr>
          </a:pPr>
        </a:p>
      </c:txPr>
    </c:legend>
    <c:plotVisOnly val="1"/>
    <c:dispBlanksAs val="gap"/>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0924434"/>
          <c:y val="0.0472312"/>
          <c:w val="0.832395"/>
          <c:h val="0.798463"/>
        </c:manualLayout>
      </c:layout>
      <c:barChart>
        <c:barDir val="bar"/>
        <c:grouping val="clustered"/>
        <c:varyColors val="0"/>
        <c:ser>
          <c:idx val="0"/>
          <c:order val="0"/>
          <c:tx>
            <c:strRef>
              <c:f>Sheet1!$B$1</c:f>
              <c:strCache>
                <c:ptCount val="1"/>
                <c:pt idx="0">
                  <c:v>&lt;=₹100</c:v>
                </c:pt>
              </c:strCache>
            </c:strRef>
          </c:tx>
          <c:spPr>
            <a:solidFill>
              <a:srgbClr val="0070C0"/>
            </a:solidFill>
            <a:ln w="12700" cap="flat">
              <a:noFill/>
              <a:miter lim="400000"/>
            </a:ln>
            <a:effectLst/>
          </c:spPr>
          <c:invertIfNegative val="0"/>
          <c:dLbls>
            <c:numFmt formatCode="0%" sourceLinked="0"/>
            <c:txPr>
              <a:bodyPr/>
              <a:lstStyle/>
              <a:p>
                <a:pPr>
                  <a:defRPr b="0" i="0" strike="noStrike" sz="600" u="none">
                    <a:solidFill>
                      <a:srgbClr val="002060"/>
                    </a:solidFill>
                    <a:latin typeface="Open Sans"/>
                  </a:defRPr>
                </a:pPr>
              </a:p>
            </c:txPr>
            <c:dLblPos val="outEnd"/>
            <c:showLegendKey val="0"/>
            <c:showVal val="0"/>
            <c:showCatName val="0"/>
            <c:showSerName val="0"/>
            <c:showPercent val="0"/>
            <c:showBubbleSize val="0"/>
            <c:showLeaderLines val="0"/>
          </c:dLbls>
          <c:cat>
            <c:strRef>
              <c:f>Sheet1!$A$2:$A$8</c:f>
              <c:strCache>
                <c:ptCount val="7"/>
                <c:pt idx="0">
                  <c:v>CHAMPION</c:v>
                </c:pt>
                <c:pt idx="1">
                  <c:v>LOYALIST</c:v>
                </c:pt>
                <c:pt idx="2">
                  <c:v>PROMISOR</c:v>
                </c:pt>
                <c:pt idx="3">
                  <c:v>ATTENTION-SEEKER</c:v>
                </c:pt>
                <c:pt idx="4">
                  <c:v>POTENTIALIST</c:v>
                </c:pt>
                <c:pt idx="5">
                  <c:v>NAPSTER</c:v>
                </c:pt>
                <c:pt idx="6">
                  <c:v>HIBERNATOR</c:v>
                </c:pt>
              </c:strCache>
            </c:strRef>
          </c:cat>
          <c:val>
            <c:numRef>
              <c:f>Sheet1!$B$2:$B$8</c:f>
              <c:numCache>
                <c:ptCount val="7"/>
                <c:pt idx="0">
                  <c:v>0.070000</c:v>
                </c:pt>
                <c:pt idx="1">
                  <c:v>0.290000</c:v>
                </c:pt>
                <c:pt idx="2">
                  <c:v>0.330000</c:v>
                </c:pt>
                <c:pt idx="3">
                  <c:v>0.090000</c:v>
                </c:pt>
                <c:pt idx="4">
                  <c:v>0.050000</c:v>
                </c:pt>
                <c:pt idx="5">
                  <c:v>0.110000</c:v>
                </c:pt>
                <c:pt idx="6">
                  <c:v>0.060000</c:v>
                </c:pt>
              </c:numCache>
            </c:numRef>
          </c:val>
        </c:ser>
        <c:gapWidth val="182"/>
        <c:overlap val="0"/>
        <c:axId val="2094734552"/>
        <c:axId val="2094734553"/>
      </c:barChart>
      <c:catAx>
        <c:axId val="2094734552"/>
        <c:scaling>
          <c:orientation val="maxMin"/>
        </c:scaling>
        <c:delete val="0"/>
        <c:axPos val="l"/>
        <c:numFmt formatCode="General" sourceLinked="0"/>
        <c:majorTickMark val="none"/>
        <c:minorTickMark val="none"/>
        <c:tickLblPos val="none"/>
        <c:spPr>
          <a:ln w="12700" cap="flat">
            <a:noFill/>
            <a:prstDash val="solid"/>
            <a:round/>
          </a:ln>
        </c:spPr>
        <c:txPr>
          <a:bodyPr rot="0"/>
          <a:lstStyle/>
          <a:p>
            <a:pPr>
              <a:defRPr b="0" i="0" strike="noStrike" sz="600" u="none">
                <a:solidFill>
                  <a:srgbClr val="002060"/>
                </a:solidFill>
                <a:latin typeface="Open Sans"/>
              </a:defRPr>
            </a:pPr>
          </a:p>
        </c:txPr>
        <c:crossAx val="2094734553"/>
        <c:crosses val="autoZero"/>
        <c:auto val="1"/>
        <c:lblAlgn val="ctr"/>
        <c:noMultiLvlLbl val="1"/>
      </c:catAx>
      <c:valAx>
        <c:axId val="2094734553"/>
        <c:scaling>
          <c:orientation val="minMax"/>
          <c:max val="0.6"/>
          <c:min val="0"/>
        </c:scaling>
        <c:delete val="0"/>
        <c:axPos val="b"/>
        <c:numFmt formatCode="0%" sourceLinked="0"/>
        <c:majorTickMark val="none"/>
        <c:minorTickMark val="none"/>
        <c:tickLblPos val="high"/>
        <c:spPr>
          <a:ln w="12700" cap="flat">
            <a:noFill/>
            <a:prstDash val="solid"/>
            <a:round/>
          </a:ln>
        </c:spPr>
        <c:txPr>
          <a:bodyPr rot="0"/>
          <a:lstStyle/>
          <a:p>
            <a:pPr>
              <a:defRPr b="0" i="0" strike="noStrike" sz="600" u="none">
                <a:solidFill>
                  <a:srgbClr val="002060"/>
                </a:solidFill>
                <a:latin typeface="Open Sans"/>
              </a:defRPr>
            </a:pPr>
          </a:p>
        </c:txPr>
        <c:crossAx val="2094734552"/>
        <c:crosses val="autoZero"/>
        <c:crossBetween val="between"/>
        <c:majorUnit val="0.6"/>
        <c:minorUnit val="0.3"/>
      </c:valAx>
      <c:spPr>
        <a:noFill/>
        <a:ln w="12700" cap="flat">
          <a:noFill/>
          <a:miter lim="400000"/>
        </a:ln>
        <a:effectLst/>
      </c:spPr>
    </c:plotArea>
    <c:legend>
      <c:legendPos val="b"/>
      <c:layout>
        <c:manualLayout>
          <c:xMode val="edge"/>
          <c:yMode val="edge"/>
          <c:x val="0.205056"/>
          <c:y val="0.940269"/>
          <c:w val="0.44105"/>
          <c:h val="0.0597312"/>
        </c:manualLayout>
      </c:layout>
      <c:overlay val="1"/>
      <c:spPr>
        <a:noFill/>
        <a:ln w="12700" cap="flat">
          <a:noFill/>
          <a:miter lim="400000"/>
        </a:ln>
        <a:effectLst/>
      </c:spPr>
      <c:txPr>
        <a:bodyPr rot="0"/>
        <a:lstStyle/>
        <a:p>
          <a:pPr>
            <a:defRPr b="0" i="0" strike="noStrike" sz="600" u="none">
              <a:solidFill>
                <a:srgbClr val="002060"/>
              </a:solidFill>
              <a:latin typeface="Open Sans"/>
            </a:defRPr>
          </a:pPr>
        </a:p>
      </c:txPr>
    </c:legend>
    <c:plotVisOnly val="1"/>
    <c:dispBlanksAs val="gap"/>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0924434"/>
          <c:y val="0.0472312"/>
          <c:w val="0.832395"/>
          <c:h val="0.798463"/>
        </c:manualLayout>
      </c:layout>
      <c:barChart>
        <c:barDir val="bar"/>
        <c:grouping val="clustered"/>
        <c:varyColors val="0"/>
        <c:ser>
          <c:idx val="0"/>
          <c:order val="0"/>
          <c:tx>
            <c:strRef>
              <c:f>Sheet1!$B$1</c:f>
              <c:strCache>
                <c:ptCount val="1"/>
                <c:pt idx="0">
                  <c:v>&lt;=₹200</c:v>
                </c:pt>
              </c:strCache>
            </c:strRef>
          </c:tx>
          <c:spPr>
            <a:solidFill>
              <a:srgbClr val="0070C0"/>
            </a:solidFill>
            <a:ln w="12700" cap="flat">
              <a:noFill/>
              <a:miter lim="400000"/>
            </a:ln>
            <a:effectLst/>
          </c:spPr>
          <c:invertIfNegative val="0"/>
          <c:dLbls>
            <c:numFmt formatCode="0%" sourceLinked="0"/>
            <c:txPr>
              <a:bodyPr/>
              <a:lstStyle/>
              <a:p>
                <a:pPr>
                  <a:defRPr b="0" i="0" strike="noStrike" sz="600" u="none">
                    <a:solidFill>
                      <a:srgbClr val="002060"/>
                    </a:solidFill>
                    <a:latin typeface="Open Sans"/>
                  </a:defRPr>
                </a:pPr>
              </a:p>
            </c:txPr>
            <c:dLblPos val="outEnd"/>
            <c:showLegendKey val="0"/>
            <c:showVal val="0"/>
            <c:showCatName val="0"/>
            <c:showSerName val="0"/>
            <c:showPercent val="0"/>
            <c:showBubbleSize val="0"/>
            <c:showLeaderLines val="0"/>
          </c:dLbls>
          <c:cat>
            <c:strRef>
              <c:f>Sheet1!$A$2:$A$8</c:f>
              <c:strCache>
                <c:ptCount val="7"/>
                <c:pt idx="0">
                  <c:v>CHAMPION</c:v>
                </c:pt>
                <c:pt idx="1">
                  <c:v>LOYALIST</c:v>
                </c:pt>
                <c:pt idx="2">
                  <c:v>PROMISOR</c:v>
                </c:pt>
                <c:pt idx="3">
                  <c:v>ATTENTION-SEEKER</c:v>
                </c:pt>
                <c:pt idx="4">
                  <c:v>POTENTIALIST</c:v>
                </c:pt>
                <c:pt idx="5">
                  <c:v>NAPSTER</c:v>
                </c:pt>
                <c:pt idx="6">
                  <c:v>HIBERNATOR</c:v>
                </c:pt>
              </c:strCache>
            </c:strRef>
          </c:cat>
          <c:val>
            <c:numRef>
              <c:f>Sheet1!$B$2:$B$8</c:f>
              <c:numCache>
                <c:ptCount val="7"/>
                <c:pt idx="0">
                  <c:v>0.100000</c:v>
                </c:pt>
                <c:pt idx="1">
                  <c:v>0.390000</c:v>
                </c:pt>
                <c:pt idx="2">
                  <c:v>0.280000</c:v>
                </c:pt>
                <c:pt idx="3">
                  <c:v>0.070000</c:v>
                </c:pt>
                <c:pt idx="4">
                  <c:v>0.040000</c:v>
                </c:pt>
                <c:pt idx="5">
                  <c:v>0.080000</c:v>
                </c:pt>
                <c:pt idx="6">
                  <c:v>0.040000</c:v>
                </c:pt>
              </c:numCache>
            </c:numRef>
          </c:val>
        </c:ser>
        <c:gapWidth val="182"/>
        <c:overlap val="0"/>
        <c:axId val="2094734552"/>
        <c:axId val="2094734553"/>
      </c:barChart>
      <c:catAx>
        <c:axId val="2094734552"/>
        <c:scaling>
          <c:orientation val="maxMin"/>
        </c:scaling>
        <c:delete val="0"/>
        <c:axPos val="l"/>
        <c:numFmt formatCode="General" sourceLinked="0"/>
        <c:majorTickMark val="none"/>
        <c:minorTickMark val="none"/>
        <c:tickLblPos val="none"/>
        <c:spPr>
          <a:ln w="12700" cap="flat">
            <a:noFill/>
            <a:prstDash val="solid"/>
            <a:round/>
          </a:ln>
        </c:spPr>
        <c:txPr>
          <a:bodyPr rot="0"/>
          <a:lstStyle/>
          <a:p>
            <a:pPr>
              <a:defRPr b="0" i="0" strike="noStrike" sz="600" u="none">
                <a:solidFill>
                  <a:srgbClr val="002060"/>
                </a:solidFill>
                <a:latin typeface="Open Sans"/>
              </a:defRPr>
            </a:pPr>
          </a:p>
        </c:txPr>
        <c:crossAx val="2094734553"/>
        <c:crosses val="autoZero"/>
        <c:auto val="1"/>
        <c:lblAlgn val="ctr"/>
        <c:noMultiLvlLbl val="1"/>
      </c:catAx>
      <c:valAx>
        <c:axId val="2094734553"/>
        <c:scaling>
          <c:orientation val="minMax"/>
          <c:min val="0"/>
        </c:scaling>
        <c:delete val="0"/>
        <c:axPos val="b"/>
        <c:numFmt formatCode="0%" sourceLinked="0"/>
        <c:majorTickMark val="none"/>
        <c:minorTickMark val="none"/>
        <c:tickLblPos val="high"/>
        <c:spPr>
          <a:ln w="12700" cap="flat">
            <a:noFill/>
            <a:prstDash val="solid"/>
            <a:round/>
          </a:ln>
        </c:spPr>
        <c:txPr>
          <a:bodyPr rot="0"/>
          <a:lstStyle/>
          <a:p>
            <a:pPr>
              <a:defRPr b="0" i="0" strike="noStrike" sz="600" u="none">
                <a:solidFill>
                  <a:srgbClr val="002060"/>
                </a:solidFill>
                <a:latin typeface="Open Sans"/>
              </a:defRPr>
            </a:pPr>
          </a:p>
        </c:txPr>
        <c:crossAx val="2094734552"/>
        <c:crosses val="autoZero"/>
        <c:crossBetween val="between"/>
        <c:majorUnit val="0.1"/>
        <c:minorUnit val="0.05"/>
      </c:valAx>
      <c:spPr>
        <a:noFill/>
        <a:ln w="12700" cap="flat">
          <a:noFill/>
          <a:miter lim="400000"/>
        </a:ln>
        <a:effectLst/>
      </c:spPr>
    </c:plotArea>
    <c:legend>
      <c:legendPos val="b"/>
      <c:layout>
        <c:manualLayout>
          <c:xMode val="edge"/>
          <c:yMode val="edge"/>
          <c:x val="0.147279"/>
          <c:y val="0.940269"/>
          <c:w val="0.498827"/>
          <c:h val="0.0597312"/>
        </c:manualLayout>
      </c:layout>
      <c:overlay val="1"/>
      <c:spPr>
        <a:noFill/>
        <a:ln w="12700" cap="flat">
          <a:noFill/>
          <a:miter lim="400000"/>
        </a:ln>
        <a:effectLst/>
      </c:spPr>
      <c:txPr>
        <a:bodyPr rot="0"/>
        <a:lstStyle/>
        <a:p>
          <a:pPr>
            <a:defRPr b="0" i="0" strike="noStrike" sz="600" u="none">
              <a:solidFill>
                <a:srgbClr val="002060"/>
              </a:solidFill>
              <a:latin typeface="Open Sans"/>
            </a:defRPr>
          </a:pPr>
        </a:p>
      </c:txPr>
    </c:legend>
    <c:plotVisOnly val="1"/>
    <c:dispBlanksAs val="gap"/>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0924434"/>
          <c:y val="0.0472312"/>
          <c:w val="0.832395"/>
          <c:h val="0.798463"/>
        </c:manualLayout>
      </c:layout>
      <c:barChart>
        <c:barDir val="bar"/>
        <c:grouping val="clustered"/>
        <c:varyColors val="0"/>
        <c:ser>
          <c:idx val="0"/>
          <c:order val="0"/>
          <c:tx>
            <c:strRef>
              <c:f>Sheet1!$B$1</c:f>
              <c:strCache>
                <c:ptCount val="1"/>
                <c:pt idx="0">
                  <c:v>&lt;=₹500</c:v>
                </c:pt>
              </c:strCache>
            </c:strRef>
          </c:tx>
          <c:spPr>
            <a:solidFill>
              <a:srgbClr val="0070C0"/>
            </a:solidFill>
            <a:ln w="12700" cap="flat">
              <a:noFill/>
              <a:miter lim="400000"/>
            </a:ln>
            <a:effectLst/>
          </c:spPr>
          <c:invertIfNegative val="0"/>
          <c:dLbls>
            <c:numFmt formatCode="0%" sourceLinked="0"/>
            <c:txPr>
              <a:bodyPr/>
              <a:lstStyle/>
              <a:p>
                <a:pPr>
                  <a:defRPr b="0" i="0" strike="noStrike" sz="600" u="none">
                    <a:solidFill>
                      <a:srgbClr val="002060"/>
                    </a:solidFill>
                    <a:latin typeface="Open Sans"/>
                  </a:defRPr>
                </a:pPr>
              </a:p>
            </c:txPr>
            <c:dLblPos val="outEnd"/>
            <c:showLegendKey val="0"/>
            <c:showVal val="0"/>
            <c:showCatName val="0"/>
            <c:showSerName val="0"/>
            <c:showPercent val="0"/>
            <c:showBubbleSize val="0"/>
            <c:showLeaderLines val="0"/>
          </c:dLbls>
          <c:cat>
            <c:strRef>
              <c:f>Sheet1!$A$2:$A$8</c:f>
              <c:strCache>
                <c:ptCount val="7"/>
                <c:pt idx="0">
                  <c:v>CHAMPION</c:v>
                </c:pt>
                <c:pt idx="1">
                  <c:v>LOYALIST</c:v>
                </c:pt>
                <c:pt idx="2">
                  <c:v>PROMISOR</c:v>
                </c:pt>
                <c:pt idx="3">
                  <c:v>ATTENTION-SEEKER</c:v>
                </c:pt>
                <c:pt idx="4">
                  <c:v>POTENTIALIST</c:v>
                </c:pt>
                <c:pt idx="5">
                  <c:v>NAPSTER</c:v>
                </c:pt>
                <c:pt idx="6">
                  <c:v>HIBERNATOR</c:v>
                </c:pt>
              </c:strCache>
            </c:strRef>
          </c:cat>
          <c:val>
            <c:numRef>
              <c:f>Sheet1!$B$2:$B$8</c:f>
              <c:numCache>
                <c:ptCount val="7"/>
                <c:pt idx="0">
                  <c:v>0.180000</c:v>
                </c:pt>
                <c:pt idx="1">
                  <c:v>0.430000</c:v>
                </c:pt>
                <c:pt idx="2">
                  <c:v>0.210000</c:v>
                </c:pt>
                <c:pt idx="3">
                  <c:v>0.060000</c:v>
                </c:pt>
                <c:pt idx="4">
                  <c:v>0.030000</c:v>
                </c:pt>
                <c:pt idx="5">
                  <c:v>0.050000</c:v>
                </c:pt>
                <c:pt idx="6">
                  <c:v>0.030000</c:v>
                </c:pt>
              </c:numCache>
            </c:numRef>
          </c:val>
        </c:ser>
        <c:gapWidth val="182"/>
        <c:overlap val="0"/>
        <c:axId val="2094734552"/>
        <c:axId val="2094734553"/>
      </c:barChart>
      <c:catAx>
        <c:axId val="2094734552"/>
        <c:scaling>
          <c:orientation val="maxMin"/>
        </c:scaling>
        <c:delete val="0"/>
        <c:axPos val="l"/>
        <c:numFmt formatCode="General" sourceLinked="0"/>
        <c:majorTickMark val="none"/>
        <c:minorTickMark val="none"/>
        <c:tickLblPos val="none"/>
        <c:spPr>
          <a:ln w="12700" cap="flat">
            <a:noFill/>
            <a:prstDash val="solid"/>
            <a:round/>
          </a:ln>
        </c:spPr>
        <c:txPr>
          <a:bodyPr rot="0"/>
          <a:lstStyle/>
          <a:p>
            <a:pPr>
              <a:defRPr b="0" i="0" strike="noStrike" sz="600" u="none">
                <a:solidFill>
                  <a:srgbClr val="002060"/>
                </a:solidFill>
                <a:latin typeface="Open Sans"/>
              </a:defRPr>
            </a:pPr>
          </a:p>
        </c:txPr>
        <c:crossAx val="2094734553"/>
        <c:crosses val="autoZero"/>
        <c:auto val="1"/>
        <c:lblAlgn val="ctr"/>
        <c:noMultiLvlLbl val="1"/>
      </c:catAx>
      <c:valAx>
        <c:axId val="2094734553"/>
        <c:scaling>
          <c:orientation val="minMax"/>
          <c:min val="0"/>
        </c:scaling>
        <c:delete val="0"/>
        <c:axPos val="b"/>
        <c:numFmt formatCode="0%" sourceLinked="0"/>
        <c:majorTickMark val="none"/>
        <c:minorTickMark val="none"/>
        <c:tickLblPos val="high"/>
        <c:spPr>
          <a:ln w="12700" cap="flat">
            <a:noFill/>
            <a:prstDash val="solid"/>
            <a:round/>
          </a:ln>
        </c:spPr>
        <c:txPr>
          <a:bodyPr rot="0"/>
          <a:lstStyle/>
          <a:p>
            <a:pPr>
              <a:defRPr b="0" i="0" strike="noStrike" sz="600" u="none">
                <a:solidFill>
                  <a:srgbClr val="002060"/>
                </a:solidFill>
                <a:latin typeface="Open Sans"/>
              </a:defRPr>
            </a:pPr>
          </a:p>
        </c:txPr>
        <c:crossAx val="2094734552"/>
        <c:crosses val="autoZero"/>
        <c:crossBetween val="between"/>
        <c:majorUnit val="0.125"/>
        <c:minorUnit val="0.0625"/>
      </c:valAx>
      <c:spPr>
        <a:noFill/>
        <a:ln w="12700" cap="flat">
          <a:noFill/>
          <a:miter lim="400000"/>
        </a:ln>
        <a:effectLst/>
      </c:spPr>
    </c:plotArea>
    <c:legend>
      <c:legendPos val="b"/>
      <c:layout>
        <c:manualLayout>
          <c:xMode val="edge"/>
          <c:yMode val="edge"/>
          <c:x val="0.158834"/>
          <c:y val="0.940269"/>
          <c:w val="0.487272"/>
          <c:h val="0.0597312"/>
        </c:manualLayout>
      </c:layout>
      <c:overlay val="1"/>
      <c:spPr>
        <a:noFill/>
        <a:ln w="12700" cap="flat">
          <a:noFill/>
          <a:miter lim="400000"/>
        </a:ln>
        <a:effectLst/>
      </c:spPr>
      <c:txPr>
        <a:bodyPr rot="0"/>
        <a:lstStyle/>
        <a:p>
          <a:pPr>
            <a:defRPr b="0" i="0" strike="noStrike" sz="600" u="none">
              <a:solidFill>
                <a:srgbClr val="002060"/>
              </a:solidFill>
              <a:latin typeface="Open Sans"/>
            </a:defRPr>
          </a:pPr>
        </a:p>
      </c:txPr>
    </c:legend>
    <c:plotVisOnly val="1"/>
    <c:dispBlanksAs val="gap"/>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0924434"/>
          <c:y val="0.0472312"/>
          <c:w val="0.832395"/>
          <c:h val="0.798463"/>
        </c:manualLayout>
      </c:layout>
      <c:barChart>
        <c:barDir val="bar"/>
        <c:grouping val="clustered"/>
        <c:varyColors val="0"/>
        <c:ser>
          <c:idx val="0"/>
          <c:order val="0"/>
          <c:tx>
            <c:strRef>
              <c:f>Sheet1!$B$1</c:f>
              <c:strCache>
                <c:ptCount val="1"/>
                <c:pt idx="0">
                  <c:v>&gt;₹500</c:v>
                </c:pt>
              </c:strCache>
            </c:strRef>
          </c:tx>
          <c:spPr>
            <a:solidFill>
              <a:srgbClr val="0070C0"/>
            </a:solidFill>
            <a:ln w="12700" cap="flat">
              <a:noFill/>
              <a:miter lim="400000"/>
            </a:ln>
            <a:effectLst/>
          </c:spPr>
          <c:invertIfNegative val="0"/>
          <c:dLbls>
            <c:numFmt formatCode="0%" sourceLinked="0"/>
            <c:txPr>
              <a:bodyPr/>
              <a:lstStyle/>
              <a:p>
                <a:pPr>
                  <a:defRPr b="0" i="0" strike="noStrike" sz="600" u="none">
                    <a:solidFill>
                      <a:srgbClr val="002060"/>
                    </a:solidFill>
                    <a:latin typeface="Open Sans"/>
                  </a:defRPr>
                </a:pPr>
              </a:p>
            </c:txPr>
            <c:dLblPos val="outEnd"/>
            <c:showLegendKey val="0"/>
            <c:showVal val="0"/>
            <c:showCatName val="0"/>
            <c:showSerName val="0"/>
            <c:showPercent val="0"/>
            <c:showBubbleSize val="0"/>
            <c:showLeaderLines val="0"/>
          </c:dLbls>
          <c:cat>
            <c:strRef>
              <c:f>Sheet1!$A$2:$A$8</c:f>
              <c:strCache>
                <c:ptCount val="7"/>
                <c:pt idx="0">
                  <c:v>CHAMPION</c:v>
                </c:pt>
                <c:pt idx="1">
                  <c:v>LOYALIST</c:v>
                </c:pt>
                <c:pt idx="2">
                  <c:v>PROMISOR</c:v>
                </c:pt>
                <c:pt idx="3">
                  <c:v>ATTENTION-SEEKER</c:v>
                </c:pt>
                <c:pt idx="4">
                  <c:v>POTENTIALIST</c:v>
                </c:pt>
                <c:pt idx="5">
                  <c:v>NAPSTER</c:v>
                </c:pt>
                <c:pt idx="6">
                  <c:v>HIBERNATOR</c:v>
                </c:pt>
              </c:strCache>
            </c:strRef>
          </c:cat>
          <c:val>
            <c:numRef>
              <c:f>Sheet1!$B$2:$B$8</c:f>
              <c:numCache>
                <c:ptCount val="7"/>
                <c:pt idx="0">
                  <c:v>0.403416</c:v>
                </c:pt>
                <c:pt idx="1">
                  <c:v>0.349760</c:v>
                </c:pt>
                <c:pt idx="2">
                  <c:v>0.108171</c:v>
                </c:pt>
                <c:pt idx="3">
                  <c:v>0.045322</c:v>
                </c:pt>
                <c:pt idx="4">
                  <c:v>0.034240</c:v>
                </c:pt>
                <c:pt idx="5">
                  <c:v>0.038364</c:v>
                </c:pt>
                <c:pt idx="6">
                  <c:v>0.020727</c:v>
                </c:pt>
              </c:numCache>
            </c:numRef>
          </c:val>
        </c:ser>
        <c:gapWidth val="182"/>
        <c:overlap val="0"/>
        <c:axId val="2094734552"/>
        <c:axId val="2094734553"/>
      </c:barChart>
      <c:catAx>
        <c:axId val="2094734552"/>
        <c:scaling>
          <c:orientation val="maxMin"/>
        </c:scaling>
        <c:delete val="0"/>
        <c:axPos val="l"/>
        <c:numFmt formatCode="General" sourceLinked="0"/>
        <c:majorTickMark val="none"/>
        <c:minorTickMark val="none"/>
        <c:tickLblPos val="none"/>
        <c:spPr>
          <a:ln w="12700" cap="flat">
            <a:noFill/>
            <a:prstDash val="solid"/>
            <a:round/>
          </a:ln>
        </c:spPr>
        <c:txPr>
          <a:bodyPr rot="0"/>
          <a:lstStyle/>
          <a:p>
            <a:pPr>
              <a:defRPr b="0" i="0" strike="noStrike" sz="600" u="none">
                <a:solidFill>
                  <a:srgbClr val="002060"/>
                </a:solidFill>
                <a:latin typeface="Open Sans"/>
              </a:defRPr>
            </a:pPr>
          </a:p>
        </c:txPr>
        <c:crossAx val="2094734553"/>
        <c:crosses val="autoZero"/>
        <c:auto val="1"/>
        <c:lblAlgn val="ctr"/>
        <c:noMultiLvlLbl val="1"/>
      </c:catAx>
      <c:valAx>
        <c:axId val="2094734553"/>
        <c:scaling>
          <c:orientation val="minMax"/>
          <c:min val="0"/>
        </c:scaling>
        <c:delete val="0"/>
        <c:axPos val="b"/>
        <c:numFmt formatCode="0%" sourceLinked="0"/>
        <c:majorTickMark val="none"/>
        <c:minorTickMark val="none"/>
        <c:tickLblPos val="high"/>
        <c:spPr>
          <a:ln w="12700" cap="flat">
            <a:noFill/>
            <a:prstDash val="solid"/>
            <a:round/>
          </a:ln>
        </c:spPr>
        <c:txPr>
          <a:bodyPr rot="0"/>
          <a:lstStyle/>
          <a:p>
            <a:pPr>
              <a:defRPr b="0" i="0" strike="noStrike" sz="600" u="none">
                <a:solidFill>
                  <a:srgbClr val="002060"/>
                </a:solidFill>
                <a:latin typeface="Open Sans"/>
              </a:defRPr>
            </a:pPr>
          </a:p>
        </c:txPr>
        <c:crossAx val="2094734552"/>
        <c:crosses val="autoZero"/>
        <c:crossBetween val="between"/>
        <c:majorUnit val="0.125"/>
        <c:minorUnit val="0.0625"/>
      </c:valAx>
      <c:spPr>
        <a:noFill/>
        <a:ln w="12700" cap="flat">
          <a:noFill/>
          <a:miter lim="400000"/>
        </a:ln>
        <a:effectLst/>
      </c:spPr>
    </c:plotArea>
    <c:legend>
      <c:legendPos val="b"/>
      <c:layout>
        <c:manualLayout>
          <c:xMode val="edge"/>
          <c:yMode val="edge"/>
          <c:x val="0.181945"/>
          <c:y val="0.940269"/>
          <c:w val="0.464161"/>
          <c:h val="0.0597312"/>
        </c:manualLayout>
      </c:layout>
      <c:overlay val="1"/>
      <c:spPr>
        <a:noFill/>
        <a:ln w="12700" cap="flat">
          <a:noFill/>
          <a:miter lim="400000"/>
        </a:ln>
        <a:effectLst/>
      </c:spPr>
      <c:txPr>
        <a:bodyPr rot="0"/>
        <a:lstStyle/>
        <a:p>
          <a:pPr>
            <a:defRPr b="0" i="0" strike="noStrike" sz="600" u="none">
              <a:solidFill>
                <a:srgbClr val="002060"/>
              </a:solidFill>
              <a:latin typeface="Open Sans"/>
            </a:defRPr>
          </a:pPr>
        </a:p>
      </c:txPr>
    </c:legend>
    <c:plotVisOnly val="1"/>
    <c:dispBlanksAs val="gap"/>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0924434"/>
          <c:y val="0.0472312"/>
          <c:w val="0.832395"/>
          <c:h val="0.798463"/>
        </c:manualLayout>
      </c:layout>
      <c:barChart>
        <c:barDir val="bar"/>
        <c:grouping val="clustered"/>
        <c:varyColors val="0"/>
        <c:ser>
          <c:idx val="0"/>
          <c:order val="0"/>
          <c:tx>
            <c:strRef>
              <c:f>Sheet1!$B$1</c:f>
              <c:strCache>
                <c:ptCount val="1"/>
                <c:pt idx="0">
                  <c:v>&lt;=₹50</c:v>
                </c:pt>
              </c:strCache>
            </c:strRef>
          </c:tx>
          <c:spPr>
            <a:solidFill>
              <a:srgbClr val="0070C0"/>
            </a:solidFill>
            <a:ln w="12700" cap="flat">
              <a:noFill/>
              <a:miter lim="400000"/>
            </a:ln>
            <a:effectLst/>
          </c:spPr>
          <c:invertIfNegative val="0"/>
          <c:dLbls>
            <c:numFmt formatCode="0%" sourceLinked="0"/>
            <c:txPr>
              <a:bodyPr/>
              <a:lstStyle/>
              <a:p>
                <a:pPr>
                  <a:defRPr b="0" i="0" strike="noStrike" sz="600" u="none">
                    <a:solidFill>
                      <a:srgbClr val="002060"/>
                    </a:solidFill>
                    <a:latin typeface="Open Sans"/>
                  </a:defRPr>
                </a:pPr>
              </a:p>
            </c:txPr>
            <c:dLblPos val="outEnd"/>
            <c:showLegendKey val="0"/>
            <c:showVal val="0"/>
            <c:showCatName val="0"/>
            <c:showSerName val="0"/>
            <c:showPercent val="0"/>
            <c:showBubbleSize val="0"/>
            <c:showLeaderLines val="0"/>
          </c:dLbls>
          <c:cat>
            <c:strRef>
              <c:f>Sheet1!$A$2:$A$8</c:f>
              <c:strCache>
                <c:ptCount val="7"/>
                <c:pt idx="0">
                  <c:v>7</c:v>
                </c:pt>
                <c:pt idx="1">
                  <c:v>6</c:v>
                </c:pt>
                <c:pt idx="2">
                  <c:v>5</c:v>
                </c:pt>
                <c:pt idx="3">
                  <c:v>4</c:v>
                </c:pt>
                <c:pt idx="4">
                  <c:v>3</c:v>
                </c:pt>
                <c:pt idx="5">
                  <c:v>2</c:v>
                </c:pt>
                <c:pt idx="6">
                  <c:v>1</c:v>
                </c:pt>
              </c:strCache>
            </c:strRef>
          </c:cat>
          <c:val>
            <c:numRef>
              <c:f>Sheet1!$B$2:$B$8</c:f>
              <c:numCache>
                <c:ptCount val="7"/>
                <c:pt idx="0">
                  <c:v>0.000314</c:v>
                </c:pt>
                <c:pt idx="1">
                  <c:v>0.017200</c:v>
                </c:pt>
                <c:pt idx="2">
                  <c:v>0.041212</c:v>
                </c:pt>
                <c:pt idx="3">
                  <c:v>0.202574</c:v>
                </c:pt>
                <c:pt idx="4">
                  <c:v>0.408107</c:v>
                </c:pt>
                <c:pt idx="5">
                  <c:v>0.276476</c:v>
                </c:pt>
                <c:pt idx="6">
                  <c:v>0.054117</c:v>
                </c:pt>
              </c:numCache>
            </c:numRef>
          </c:val>
        </c:ser>
        <c:gapWidth val="182"/>
        <c:overlap val="0"/>
        <c:axId val="2094734552"/>
        <c:axId val="2094734553"/>
      </c:barChart>
      <c:catAx>
        <c:axId val="2094734552"/>
        <c:scaling>
          <c:orientation val="maxMin"/>
        </c:scaling>
        <c:delete val="0"/>
        <c:axPos val="l"/>
        <c:numFmt formatCode="General" sourceLinked="0"/>
        <c:majorTickMark val="none"/>
        <c:minorTickMark val="none"/>
        <c:tickLblPos val="none"/>
        <c:spPr>
          <a:ln w="12700" cap="flat">
            <a:noFill/>
            <a:prstDash val="solid"/>
            <a:round/>
          </a:ln>
        </c:spPr>
        <c:txPr>
          <a:bodyPr rot="0"/>
          <a:lstStyle/>
          <a:p>
            <a:pPr>
              <a:defRPr b="0" i="0" strike="noStrike" sz="600" u="none">
                <a:solidFill>
                  <a:srgbClr val="002060"/>
                </a:solidFill>
                <a:latin typeface="Open Sans"/>
              </a:defRPr>
            </a:pPr>
          </a:p>
        </c:txPr>
        <c:crossAx val="2094734553"/>
        <c:crosses val="autoZero"/>
        <c:auto val="1"/>
        <c:lblAlgn val="ctr"/>
        <c:noMultiLvlLbl val="1"/>
      </c:catAx>
      <c:valAx>
        <c:axId val="2094734553"/>
        <c:scaling>
          <c:orientation val="minMax"/>
          <c:max val="0.6"/>
          <c:min val="0"/>
        </c:scaling>
        <c:delete val="0"/>
        <c:axPos val="b"/>
        <c:numFmt formatCode="0%" sourceLinked="0"/>
        <c:majorTickMark val="none"/>
        <c:minorTickMark val="none"/>
        <c:tickLblPos val="high"/>
        <c:spPr>
          <a:ln w="12700" cap="flat">
            <a:noFill/>
            <a:prstDash val="solid"/>
            <a:round/>
          </a:ln>
        </c:spPr>
        <c:txPr>
          <a:bodyPr rot="0"/>
          <a:lstStyle/>
          <a:p>
            <a:pPr>
              <a:defRPr b="0" i="0" strike="noStrike" sz="600" u="none">
                <a:solidFill>
                  <a:srgbClr val="002060"/>
                </a:solidFill>
                <a:latin typeface="Open Sans"/>
              </a:defRPr>
            </a:pPr>
          </a:p>
        </c:txPr>
        <c:crossAx val="2094734552"/>
        <c:crosses val="autoZero"/>
        <c:crossBetween val="between"/>
        <c:majorUnit val="0.6"/>
        <c:minorUnit val="0.3"/>
      </c:valAx>
      <c:spPr>
        <a:noFill/>
        <a:ln w="12700" cap="flat">
          <a:noFill/>
          <a:miter lim="400000"/>
        </a:ln>
        <a:effectLst/>
      </c:spPr>
    </c:plotArea>
    <c:legend>
      <c:legendPos val="b"/>
      <c:layout>
        <c:manualLayout>
          <c:xMode val="edge"/>
          <c:yMode val="edge"/>
          <c:x val="0.239722"/>
          <c:y val="0.940269"/>
          <c:w val="0.406384"/>
          <c:h val="0.0597312"/>
        </c:manualLayout>
      </c:layout>
      <c:overlay val="1"/>
      <c:spPr>
        <a:noFill/>
        <a:ln w="12700" cap="flat">
          <a:noFill/>
          <a:miter lim="400000"/>
        </a:ln>
        <a:effectLst/>
      </c:spPr>
      <c:txPr>
        <a:bodyPr rot="0"/>
        <a:lstStyle/>
        <a:p>
          <a:pPr>
            <a:defRPr b="0" i="0" strike="noStrike" sz="600" u="none">
              <a:solidFill>
                <a:srgbClr val="002060"/>
              </a:solidFill>
              <a:latin typeface="Open Sans"/>
            </a:defRPr>
          </a:pPr>
        </a:p>
      </c:txPr>
    </c:legend>
    <c:plotVisOnly val="1"/>
    <c:dispBlanksAs val="gap"/>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0924434"/>
          <c:y val="0.0472312"/>
          <c:w val="0.832395"/>
          <c:h val="0.798463"/>
        </c:manualLayout>
      </c:layout>
      <c:barChart>
        <c:barDir val="bar"/>
        <c:grouping val="clustered"/>
        <c:varyColors val="0"/>
        <c:ser>
          <c:idx val="0"/>
          <c:order val="0"/>
          <c:tx>
            <c:strRef>
              <c:f>Sheet1!$B$1</c:f>
              <c:strCache>
                <c:ptCount val="1"/>
                <c:pt idx="0">
                  <c:v>&gt;₹500</c:v>
                </c:pt>
              </c:strCache>
            </c:strRef>
          </c:tx>
          <c:spPr>
            <a:solidFill>
              <a:srgbClr val="0070C0"/>
            </a:solidFill>
            <a:ln w="12700" cap="flat">
              <a:noFill/>
              <a:miter lim="400000"/>
            </a:ln>
            <a:effectLst/>
          </c:spPr>
          <c:invertIfNegative val="0"/>
          <c:dLbls>
            <c:numFmt formatCode="0%" sourceLinked="0"/>
            <c:txPr>
              <a:bodyPr/>
              <a:lstStyle/>
              <a:p>
                <a:pPr>
                  <a:defRPr b="0" i="0" strike="noStrike" sz="600" u="none">
                    <a:solidFill>
                      <a:srgbClr val="002060"/>
                    </a:solidFill>
                    <a:latin typeface="Open Sans"/>
                  </a:defRPr>
                </a:pPr>
              </a:p>
            </c:txPr>
            <c:dLblPos val="outEnd"/>
            <c:showLegendKey val="0"/>
            <c:showVal val="0"/>
            <c:showCatName val="0"/>
            <c:showSerName val="0"/>
            <c:showPercent val="0"/>
            <c:showBubbleSize val="0"/>
            <c:showLeaderLines val="0"/>
          </c:dLbls>
          <c:cat>
            <c:strRef>
              <c:f>Sheet1!$A$2:$A$8</c:f>
              <c:strCache>
                <c:ptCount val="7"/>
                <c:pt idx="0">
                  <c:v>7</c:v>
                </c:pt>
                <c:pt idx="1">
                  <c:v>6</c:v>
                </c:pt>
                <c:pt idx="2">
                  <c:v>5</c:v>
                </c:pt>
                <c:pt idx="3">
                  <c:v>4</c:v>
                </c:pt>
                <c:pt idx="4">
                  <c:v>3</c:v>
                </c:pt>
                <c:pt idx="5">
                  <c:v>2</c:v>
                </c:pt>
                <c:pt idx="6">
                  <c:v>1</c:v>
                </c:pt>
              </c:strCache>
            </c:strRef>
          </c:cat>
          <c:val>
            <c:numRef>
              <c:f>Sheet1!$B$2:$B$8</c:f>
              <c:numCache>
                <c:ptCount val="7"/>
                <c:pt idx="0">
                  <c:v>0.088586</c:v>
                </c:pt>
                <c:pt idx="1">
                  <c:v>0.192497</c:v>
                </c:pt>
                <c:pt idx="2">
                  <c:v>0.192213</c:v>
                </c:pt>
                <c:pt idx="3">
                  <c:v>0.375611</c:v>
                </c:pt>
                <c:pt idx="4">
                  <c:v>0.131575</c:v>
                </c:pt>
                <c:pt idx="5">
                  <c:v>0.018703</c:v>
                </c:pt>
                <c:pt idx="6">
                  <c:v>0.000815</c:v>
                </c:pt>
              </c:numCache>
            </c:numRef>
          </c:val>
        </c:ser>
        <c:gapWidth val="182"/>
        <c:overlap val="0"/>
        <c:axId val="2094734552"/>
        <c:axId val="2094734553"/>
      </c:barChart>
      <c:catAx>
        <c:axId val="2094734552"/>
        <c:scaling>
          <c:orientation val="maxMin"/>
        </c:scaling>
        <c:delete val="0"/>
        <c:axPos val="l"/>
        <c:numFmt formatCode="General" sourceLinked="0"/>
        <c:majorTickMark val="none"/>
        <c:minorTickMark val="none"/>
        <c:tickLblPos val="none"/>
        <c:spPr>
          <a:ln w="12700" cap="flat">
            <a:noFill/>
            <a:prstDash val="solid"/>
            <a:round/>
          </a:ln>
        </c:spPr>
        <c:txPr>
          <a:bodyPr rot="0"/>
          <a:lstStyle/>
          <a:p>
            <a:pPr>
              <a:defRPr b="0" i="0" strike="noStrike" sz="600" u="none">
                <a:solidFill>
                  <a:srgbClr val="002060"/>
                </a:solidFill>
                <a:latin typeface="Open Sans"/>
              </a:defRPr>
            </a:pPr>
          </a:p>
        </c:txPr>
        <c:crossAx val="2094734553"/>
        <c:crosses val="autoZero"/>
        <c:auto val="1"/>
        <c:lblAlgn val="ctr"/>
        <c:noMultiLvlLbl val="1"/>
      </c:catAx>
      <c:valAx>
        <c:axId val="2094734553"/>
        <c:scaling>
          <c:orientation val="minMax"/>
          <c:min val="0"/>
        </c:scaling>
        <c:delete val="0"/>
        <c:axPos val="b"/>
        <c:numFmt formatCode="0%" sourceLinked="0"/>
        <c:majorTickMark val="none"/>
        <c:minorTickMark val="none"/>
        <c:tickLblPos val="high"/>
        <c:spPr>
          <a:ln w="12700" cap="flat">
            <a:noFill/>
            <a:prstDash val="solid"/>
            <a:round/>
          </a:ln>
        </c:spPr>
        <c:txPr>
          <a:bodyPr rot="0"/>
          <a:lstStyle/>
          <a:p>
            <a:pPr>
              <a:defRPr b="0" i="0" strike="noStrike" sz="600" u="none">
                <a:solidFill>
                  <a:srgbClr val="002060"/>
                </a:solidFill>
                <a:latin typeface="Open Sans"/>
              </a:defRPr>
            </a:pPr>
          </a:p>
        </c:txPr>
        <c:crossAx val="2094734552"/>
        <c:crosses val="autoZero"/>
        <c:crossBetween val="between"/>
        <c:majorUnit val="0.1"/>
        <c:minorUnit val="0.05"/>
      </c:valAx>
      <c:spPr>
        <a:noFill/>
        <a:ln w="12700" cap="flat">
          <a:noFill/>
          <a:miter lim="400000"/>
        </a:ln>
        <a:effectLst/>
      </c:spPr>
    </c:plotArea>
    <c:legend>
      <c:legendPos val="b"/>
      <c:layout>
        <c:manualLayout>
          <c:xMode val="edge"/>
          <c:yMode val="edge"/>
          <c:x val="0.181945"/>
          <c:y val="0.940269"/>
          <c:w val="0.464161"/>
          <c:h val="0.0597312"/>
        </c:manualLayout>
      </c:layout>
      <c:overlay val="1"/>
      <c:spPr>
        <a:noFill/>
        <a:ln w="12700" cap="flat">
          <a:noFill/>
          <a:miter lim="400000"/>
        </a:ln>
        <a:effectLst/>
      </c:spPr>
      <c:txPr>
        <a:bodyPr rot="0"/>
        <a:lstStyle/>
        <a:p>
          <a:pPr>
            <a:defRPr b="0" i="0" strike="noStrike" sz="600" u="none">
              <a:solidFill>
                <a:srgbClr val="002060"/>
              </a:solidFill>
              <a:latin typeface="Open Sans"/>
            </a:defRPr>
          </a:pPr>
        </a:p>
      </c:txPr>
    </c:legend>
    <c:plotVisOnly val="1"/>
    <c:dispBlanksAs val="gap"/>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0924434"/>
          <c:y val="0.0472312"/>
          <c:w val="0.832395"/>
          <c:h val="0.798463"/>
        </c:manualLayout>
      </c:layout>
      <c:barChart>
        <c:barDir val="bar"/>
        <c:grouping val="clustered"/>
        <c:varyColors val="0"/>
        <c:ser>
          <c:idx val="0"/>
          <c:order val="0"/>
          <c:tx>
            <c:strRef>
              <c:f>Sheet1!$B$1</c:f>
              <c:strCache>
                <c:ptCount val="1"/>
                <c:pt idx="0">
                  <c:v>&lt;=₹200</c:v>
                </c:pt>
              </c:strCache>
            </c:strRef>
          </c:tx>
          <c:spPr>
            <a:solidFill>
              <a:srgbClr val="0070C0"/>
            </a:solidFill>
            <a:ln w="12700" cap="flat">
              <a:noFill/>
              <a:miter lim="400000"/>
            </a:ln>
            <a:effectLst/>
          </c:spPr>
          <c:invertIfNegative val="0"/>
          <c:dLbls>
            <c:numFmt formatCode="0%" sourceLinked="0"/>
            <c:txPr>
              <a:bodyPr/>
              <a:lstStyle/>
              <a:p>
                <a:pPr>
                  <a:defRPr b="0" i="0" strike="noStrike" sz="600" u="none">
                    <a:solidFill>
                      <a:srgbClr val="002060"/>
                    </a:solidFill>
                    <a:latin typeface="Open Sans"/>
                  </a:defRPr>
                </a:pPr>
              </a:p>
            </c:txPr>
            <c:dLblPos val="outEnd"/>
            <c:showLegendKey val="0"/>
            <c:showVal val="0"/>
            <c:showCatName val="0"/>
            <c:showSerName val="0"/>
            <c:showPercent val="0"/>
            <c:showBubbleSize val="0"/>
            <c:showLeaderLines val="0"/>
          </c:dLbls>
          <c:cat>
            <c:strRef>
              <c:f>Sheet1!$A$2:$A$8</c:f>
              <c:strCache>
                <c:ptCount val="7"/>
                <c:pt idx="0">
                  <c:v>7</c:v>
                </c:pt>
                <c:pt idx="1">
                  <c:v>6</c:v>
                </c:pt>
                <c:pt idx="2">
                  <c:v>5</c:v>
                </c:pt>
                <c:pt idx="3">
                  <c:v>4</c:v>
                </c:pt>
                <c:pt idx="4">
                  <c:v>3</c:v>
                </c:pt>
                <c:pt idx="5">
                  <c:v>2</c:v>
                </c:pt>
                <c:pt idx="6">
                  <c:v>1</c:v>
                </c:pt>
              </c:strCache>
            </c:strRef>
          </c:cat>
          <c:val>
            <c:numRef>
              <c:f>Sheet1!$B$2:$B$8</c:f>
              <c:numCache>
                <c:ptCount val="7"/>
                <c:pt idx="0">
                  <c:v>0.000000</c:v>
                </c:pt>
                <c:pt idx="1">
                  <c:v>0.070000</c:v>
                </c:pt>
                <c:pt idx="2">
                  <c:v>0.110000</c:v>
                </c:pt>
                <c:pt idx="3">
                  <c:v>0.380000</c:v>
                </c:pt>
                <c:pt idx="4">
                  <c:v>0.340000</c:v>
                </c:pt>
                <c:pt idx="5">
                  <c:v>0.100000</c:v>
                </c:pt>
                <c:pt idx="6">
                  <c:v>0.010000</c:v>
                </c:pt>
              </c:numCache>
            </c:numRef>
          </c:val>
        </c:ser>
        <c:gapWidth val="182"/>
        <c:overlap val="0"/>
        <c:axId val="2094734552"/>
        <c:axId val="2094734553"/>
      </c:barChart>
      <c:catAx>
        <c:axId val="2094734552"/>
        <c:scaling>
          <c:orientation val="maxMin"/>
        </c:scaling>
        <c:delete val="0"/>
        <c:axPos val="l"/>
        <c:numFmt formatCode="General" sourceLinked="0"/>
        <c:majorTickMark val="none"/>
        <c:minorTickMark val="none"/>
        <c:tickLblPos val="none"/>
        <c:spPr>
          <a:ln w="12700" cap="flat">
            <a:noFill/>
            <a:prstDash val="solid"/>
            <a:round/>
          </a:ln>
        </c:spPr>
        <c:txPr>
          <a:bodyPr rot="0"/>
          <a:lstStyle/>
          <a:p>
            <a:pPr>
              <a:defRPr b="0" i="0" strike="noStrike" sz="600" u="none">
                <a:solidFill>
                  <a:srgbClr val="002060"/>
                </a:solidFill>
                <a:latin typeface="Open Sans"/>
              </a:defRPr>
            </a:pPr>
          </a:p>
        </c:txPr>
        <c:crossAx val="2094734553"/>
        <c:crosses val="autoZero"/>
        <c:auto val="1"/>
        <c:lblAlgn val="ctr"/>
        <c:noMultiLvlLbl val="1"/>
      </c:catAx>
      <c:valAx>
        <c:axId val="2094734553"/>
        <c:scaling>
          <c:orientation val="minMax"/>
          <c:min val="0"/>
        </c:scaling>
        <c:delete val="0"/>
        <c:axPos val="b"/>
        <c:numFmt formatCode="0%" sourceLinked="0"/>
        <c:majorTickMark val="none"/>
        <c:minorTickMark val="none"/>
        <c:tickLblPos val="high"/>
        <c:spPr>
          <a:ln w="12700" cap="flat">
            <a:noFill/>
            <a:prstDash val="solid"/>
            <a:round/>
          </a:ln>
        </c:spPr>
        <c:txPr>
          <a:bodyPr rot="0"/>
          <a:lstStyle/>
          <a:p>
            <a:pPr>
              <a:defRPr b="0" i="0" strike="noStrike" sz="600" u="none">
                <a:solidFill>
                  <a:srgbClr val="002060"/>
                </a:solidFill>
                <a:latin typeface="Open Sans"/>
              </a:defRPr>
            </a:pPr>
          </a:p>
        </c:txPr>
        <c:crossAx val="2094734552"/>
        <c:crosses val="autoZero"/>
        <c:crossBetween val="between"/>
        <c:majorUnit val="0.1"/>
        <c:minorUnit val="0.05"/>
      </c:valAx>
      <c:spPr>
        <a:noFill/>
        <a:ln w="12700" cap="flat">
          <a:noFill/>
          <a:miter lim="400000"/>
        </a:ln>
        <a:effectLst/>
      </c:spPr>
    </c:plotArea>
    <c:legend>
      <c:legendPos val="b"/>
      <c:layout>
        <c:manualLayout>
          <c:xMode val="edge"/>
          <c:yMode val="edge"/>
          <c:x val="0.147279"/>
          <c:y val="0.940269"/>
          <c:w val="0.498827"/>
          <c:h val="0.0597312"/>
        </c:manualLayout>
      </c:layout>
      <c:overlay val="1"/>
      <c:spPr>
        <a:noFill/>
        <a:ln w="12700" cap="flat">
          <a:noFill/>
          <a:miter lim="400000"/>
        </a:ln>
        <a:effectLst/>
      </c:spPr>
      <c:txPr>
        <a:bodyPr rot="0"/>
        <a:lstStyle/>
        <a:p>
          <a:pPr>
            <a:defRPr b="0" i="0" strike="noStrike" sz="600" u="none">
              <a:solidFill>
                <a:srgbClr val="002060"/>
              </a:solidFill>
              <a:latin typeface="Open Sans"/>
            </a:defRPr>
          </a:pPr>
        </a:p>
      </c:txPr>
    </c:legend>
    <c:plotVisOnly val="1"/>
    <c:dispBlanksAs val="gap"/>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140484"/>
          <c:y val="0.0472312"/>
          <c:w val="0.788333"/>
          <c:h val="0.798463"/>
        </c:manualLayout>
      </c:layout>
      <c:barChart>
        <c:barDir val="bar"/>
        <c:grouping val="clustered"/>
        <c:varyColors val="0"/>
        <c:ser>
          <c:idx val="0"/>
          <c:order val="0"/>
          <c:tx>
            <c:strRef>
              <c:f>Sheet1!$B$1</c:f>
              <c:strCache>
                <c:ptCount val="1"/>
                <c:pt idx="0">
                  <c:v>&lt;=₹5</c:v>
                </c:pt>
              </c:strCache>
            </c:strRef>
          </c:tx>
          <c:spPr>
            <a:solidFill>
              <a:srgbClr val="0070C0"/>
            </a:solidFill>
            <a:ln w="12700" cap="flat">
              <a:noFill/>
              <a:miter lim="400000"/>
            </a:ln>
            <a:effectLst/>
          </c:spPr>
          <c:invertIfNegative val="0"/>
          <c:dLbls>
            <c:numFmt formatCode="0%" sourceLinked="0"/>
            <c:txPr>
              <a:bodyPr/>
              <a:lstStyle/>
              <a:p>
                <a:pPr>
                  <a:defRPr b="0" i="0" strike="noStrike" sz="600" u="none">
                    <a:solidFill>
                      <a:srgbClr val="002060"/>
                    </a:solidFill>
                    <a:latin typeface="Open Sans"/>
                  </a:defRPr>
                </a:pPr>
              </a:p>
            </c:txPr>
            <c:dLblPos val="outEnd"/>
            <c:showLegendKey val="0"/>
            <c:showVal val="0"/>
            <c:showCatName val="0"/>
            <c:showSerName val="0"/>
            <c:showPercent val="0"/>
            <c:showBubbleSize val="0"/>
            <c:showLeaderLines val="0"/>
          </c:dLbls>
          <c:cat>
            <c:strRef>
              <c:f>Sheet1!$A$2:$A$8</c:f>
              <c:strCache>
                <c:ptCount val="7"/>
                <c:pt idx="0">
                  <c:v>7</c:v>
                </c:pt>
                <c:pt idx="1">
                  <c:v>6</c:v>
                </c:pt>
                <c:pt idx="2">
                  <c:v>5</c:v>
                </c:pt>
                <c:pt idx="3">
                  <c:v>4</c:v>
                </c:pt>
                <c:pt idx="4">
                  <c:v>3</c:v>
                </c:pt>
                <c:pt idx="5">
                  <c:v>2</c:v>
                </c:pt>
                <c:pt idx="6">
                  <c:v>1</c:v>
                </c:pt>
              </c:strCache>
            </c:strRef>
          </c:cat>
          <c:val>
            <c:numRef>
              <c:f>Sheet1!$B$2:$B$8</c:f>
              <c:numCache>
                <c:ptCount val="7"/>
                <c:pt idx="0">
                  <c:v>0.000026</c:v>
                </c:pt>
                <c:pt idx="1">
                  <c:v>0.002111</c:v>
                </c:pt>
                <c:pt idx="2">
                  <c:v>0.007965</c:v>
                </c:pt>
                <c:pt idx="3">
                  <c:v>0.112688</c:v>
                </c:pt>
                <c:pt idx="4">
                  <c:v>0.210816</c:v>
                </c:pt>
                <c:pt idx="5">
                  <c:v>0.428550</c:v>
                </c:pt>
                <c:pt idx="6">
                  <c:v>0.237844</c:v>
                </c:pt>
              </c:numCache>
            </c:numRef>
          </c:val>
        </c:ser>
        <c:gapWidth val="182"/>
        <c:overlap val="0"/>
        <c:axId val="2094734552"/>
        <c:axId val="2094734553"/>
      </c:barChart>
      <c:catAx>
        <c:axId val="2094734552"/>
        <c:scaling>
          <c:orientation val="maxMin"/>
        </c:scaling>
        <c:delete val="0"/>
        <c:axPos val="l"/>
        <c:numFmt formatCode="General" sourceLinked="0"/>
        <c:majorTickMark val="none"/>
        <c:minorTickMark val="none"/>
        <c:tickLblPos val="nextTo"/>
        <c:spPr>
          <a:ln w="12700" cap="flat">
            <a:solidFill>
              <a:srgbClr val="00B0F0"/>
            </a:solidFill>
            <a:prstDash val="solid"/>
            <a:round/>
          </a:ln>
        </c:spPr>
        <c:txPr>
          <a:bodyPr rot="0"/>
          <a:lstStyle/>
          <a:p>
            <a:pPr>
              <a:defRPr b="0" i="0" strike="noStrike" sz="600" u="none">
                <a:solidFill>
                  <a:srgbClr val="002060"/>
                </a:solidFill>
                <a:latin typeface="Open Sans"/>
              </a:defRPr>
            </a:pPr>
          </a:p>
        </c:txPr>
        <c:crossAx val="2094734553"/>
        <c:crosses val="autoZero"/>
        <c:auto val="1"/>
        <c:lblAlgn val="ctr"/>
        <c:noMultiLvlLbl val="1"/>
      </c:catAx>
      <c:valAx>
        <c:axId val="2094734553"/>
        <c:scaling>
          <c:orientation val="minMax"/>
        </c:scaling>
        <c:delete val="0"/>
        <c:axPos val="b"/>
        <c:numFmt formatCode="0%" sourceLinked="0"/>
        <c:majorTickMark val="none"/>
        <c:minorTickMark val="none"/>
        <c:tickLblPos val="high"/>
        <c:spPr>
          <a:ln w="12700" cap="flat">
            <a:noFill/>
            <a:prstDash val="solid"/>
            <a:round/>
          </a:ln>
        </c:spPr>
        <c:txPr>
          <a:bodyPr rot="0"/>
          <a:lstStyle/>
          <a:p>
            <a:pPr>
              <a:defRPr b="0" i="0" strike="noStrike" sz="600" u="none">
                <a:solidFill>
                  <a:srgbClr val="002060"/>
                </a:solidFill>
                <a:latin typeface="Open Sans"/>
              </a:defRPr>
            </a:pPr>
          </a:p>
        </c:txPr>
        <c:crossAx val="2094734552"/>
        <c:crosses val="autoZero"/>
        <c:crossBetween val="between"/>
        <c:majorUnit val="0.125"/>
        <c:minorUnit val="0.0625"/>
      </c:valAx>
      <c:spPr>
        <a:noFill/>
        <a:ln w="12700" cap="flat">
          <a:noFill/>
          <a:miter lim="400000"/>
        </a:ln>
        <a:effectLst/>
      </c:spPr>
    </c:plotArea>
    <c:legend>
      <c:legendPos val="b"/>
      <c:layout>
        <c:manualLayout>
          <c:xMode val="edge"/>
          <c:yMode val="edge"/>
          <c:x val="0.389404"/>
          <c:y val="0.940269"/>
          <c:w val="0.328313"/>
          <c:h val="0.0597312"/>
        </c:manualLayout>
      </c:layout>
      <c:overlay val="1"/>
      <c:spPr>
        <a:noFill/>
        <a:ln w="12700" cap="flat">
          <a:noFill/>
          <a:miter lim="400000"/>
        </a:ln>
        <a:effectLst/>
      </c:spPr>
      <c:txPr>
        <a:bodyPr rot="0"/>
        <a:lstStyle/>
        <a:p>
          <a:pPr>
            <a:defRPr b="0" i="0" strike="noStrike" sz="600" u="none">
              <a:solidFill>
                <a:srgbClr val="002060"/>
              </a:solidFill>
              <a:latin typeface="Open Sans"/>
            </a:defRPr>
          </a:pPr>
        </a:p>
      </c:txPr>
    </c:legend>
    <c:plotVisOnly val="1"/>
    <c:dispBlanksAs val="gap"/>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0924434"/>
          <c:y val="0.0472312"/>
          <c:w val="0.832395"/>
          <c:h val="0.798463"/>
        </c:manualLayout>
      </c:layout>
      <c:barChart>
        <c:barDir val="bar"/>
        <c:grouping val="clustered"/>
        <c:varyColors val="0"/>
        <c:ser>
          <c:idx val="0"/>
          <c:order val="0"/>
          <c:tx>
            <c:strRef>
              <c:f>Sheet1!$B$1</c:f>
              <c:strCache>
                <c:ptCount val="1"/>
                <c:pt idx="0">
                  <c:v>&lt;=₹25</c:v>
                </c:pt>
              </c:strCache>
            </c:strRef>
          </c:tx>
          <c:spPr>
            <a:solidFill>
              <a:srgbClr val="0070C0"/>
            </a:solidFill>
            <a:ln w="12700" cap="flat">
              <a:noFill/>
              <a:miter lim="400000"/>
            </a:ln>
            <a:effectLst/>
          </c:spPr>
          <c:invertIfNegative val="0"/>
          <c:dLbls>
            <c:numFmt formatCode="0%" sourceLinked="0"/>
            <c:txPr>
              <a:bodyPr/>
              <a:lstStyle/>
              <a:p>
                <a:pPr>
                  <a:defRPr b="0" i="0" strike="noStrike" sz="600" u="none">
                    <a:solidFill>
                      <a:srgbClr val="002060"/>
                    </a:solidFill>
                    <a:latin typeface="Open Sans"/>
                  </a:defRPr>
                </a:pPr>
              </a:p>
            </c:txPr>
            <c:dLblPos val="outEnd"/>
            <c:showLegendKey val="0"/>
            <c:showVal val="0"/>
            <c:showCatName val="0"/>
            <c:showSerName val="0"/>
            <c:showPercent val="0"/>
            <c:showBubbleSize val="0"/>
            <c:showLeaderLines val="0"/>
          </c:dLbls>
          <c:cat>
            <c:strRef>
              <c:f>Sheet1!$A$2:$A$8</c:f>
              <c:strCache>
                <c:ptCount val="7"/>
                <c:pt idx="0">
                  <c:v>7</c:v>
                </c:pt>
                <c:pt idx="1">
                  <c:v>6</c:v>
                </c:pt>
                <c:pt idx="2">
                  <c:v>5</c:v>
                </c:pt>
                <c:pt idx="3">
                  <c:v>4</c:v>
                </c:pt>
                <c:pt idx="4">
                  <c:v>3</c:v>
                </c:pt>
                <c:pt idx="5">
                  <c:v>2</c:v>
                </c:pt>
                <c:pt idx="6">
                  <c:v>1</c:v>
                </c:pt>
              </c:strCache>
            </c:strRef>
          </c:cat>
          <c:val>
            <c:numRef>
              <c:f>Sheet1!$B$2:$B$8</c:f>
              <c:numCache>
                <c:ptCount val="7"/>
                <c:pt idx="0">
                  <c:v>0.000000</c:v>
                </c:pt>
                <c:pt idx="1">
                  <c:v>0.010000</c:v>
                </c:pt>
                <c:pt idx="2">
                  <c:v>0.020000</c:v>
                </c:pt>
                <c:pt idx="3">
                  <c:v>0.130000</c:v>
                </c:pt>
                <c:pt idx="4">
                  <c:v>0.270000</c:v>
                </c:pt>
                <c:pt idx="5">
                  <c:v>0.340000</c:v>
                </c:pt>
                <c:pt idx="6">
                  <c:v>0.240000</c:v>
                </c:pt>
              </c:numCache>
            </c:numRef>
          </c:val>
        </c:ser>
        <c:gapWidth val="182"/>
        <c:overlap val="0"/>
        <c:axId val="2094734552"/>
        <c:axId val="2094734553"/>
      </c:barChart>
      <c:catAx>
        <c:axId val="2094734552"/>
        <c:scaling>
          <c:orientation val="maxMin"/>
        </c:scaling>
        <c:delete val="0"/>
        <c:axPos val="l"/>
        <c:numFmt formatCode="General" sourceLinked="0"/>
        <c:majorTickMark val="none"/>
        <c:minorTickMark val="none"/>
        <c:tickLblPos val="none"/>
        <c:spPr>
          <a:ln w="12700" cap="flat">
            <a:noFill/>
            <a:prstDash val="solid"/>
            <a:round/>
          </a:ln>
        </c:spPr>
        <c:txPr>
          <a:bodyPr rot="0"/>
          <a:lstStyle/>
          <a:p>
            <a:pPr>
              <a:defRPr b="0" i="0" strike="noStrike" sz="600" u="none">
                <a:solidFill>
                  <a:srgbClr val="002060"/>
                </a:solidFill>
                <a:latin typeface="Open Sans"/>
              </a:defRPr>
            </a:pPr>
          </a:p>
        </c:txPr>
        <c:crossAx val="2094734553"/>
        <c:crosses val="autoZero"/>
        <c:auto val="1"/>
        <c:lblAlgn val="ctr"/>
        <c:noMultiLvlLbl val="1"/>
      </c:catAx>
      <c:valAx>
        <c:axId val="2094734553"/>
        <c:scaling>
          <c:orientation val="minMax"/>
          <c:max val="0.6"/>
          <c:min val="0"/>
        </c:scaling>
        <c:delete val="0"/>
        <c:axPos val="b"/>
        <c:numFmt formatCode="0%" sourceLinked="0"/>
        <c:majorTickMark val="none"/>
        <c:minorTickMark val="none"/>
        <c:tickLblPos val="high"/>
        <c:spPr>
          <a:ln w="12700" cap="flat">
            <a:noFill/>
            <a:prstDash val="solid"/>
            <a:round/>
          </a:ln>
        </c:spPr>
        <c:txPr>
          <a:bodyPr rot="0"/>
          <a:lstStyle/>
          <a:p>
            <a:pPr>
              <a:defRPr b="0" i="0" strike="noStrike" sz="600" u="none">
                <a:solidFill>
                  <a:srgbClr val="002060"/>
                </a:solidFill>
                <a:latin typeface="Open Sans"/>
              </a:defRPr>
            </a:pPr>
          </a:p>
        </c:txPr>
        <c:crossAx val="2094734552"/>
        <c:crosses val="autoZero"/>
        <c:crossBetween val="between"/>
        <c:majorUnit val="0.6"/>
        <c:minorUnit val="0.3"/>
      </c:valAx>
      <c:spPr>
        <a:noFill/>
        <a:ln w="12700" cap="flat">
          <a:noFill/>
          <a:miter lim="400000"/>
        </a:ln>
        <a:effectLst/>
      </c:spPr>
    </c:plotArea>
    <c:legend>
      <c:legendPos val="b"/>
      <c:layout>
        <c:manualLayout>
          <c:xMode val="edge"/>
          <c:yMode val="edge"/>
          <c:x val="0.274388"/>
          <c:y val="0.940269"/>
          <c:w val="0.381329"/>
          <c:h val="0.0597312"/>
        </c:manualLayout>
      </c:layout>
      <c:overlay val="1"/>
      <c:spPr>
        <a:noFill/>
        <a:ln w="12700" cap="flat">
          <a:noFill/>
          <a:miter lim="400000"/>
        </a:ln>
        <a:effectLst/>
      </c:spPr>
      <c:txPr>
        <a:bodyPr rot="0"/>
        <a:lstStyle/>
        <a:p>
          <a:pPr>
            <a:defRPr b="0" i="0" strike="noStrike" sz="600" u="none">
              <a:solidFill>
                <a:srgbClr val="002060"/>
              </a:solidFill>
              <a:latin typeface="Open Sans"/>
            </a:defRPr>
          </a:pPr>
        </a:p>
      </c:txPr>
    </c:legend>
    <c:plotVisOnly val="1"/>
    <c:dispBlanksAs val="gap"/>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0924434"/>
          <c:y val="0.0472312"/>
          <c:w val="0.832395"/>
          <c:h val="0.798463"/>
        </c:manualLayout>
      </c:layout>
      <c:barChart>
        <c:barDir val="bar"/>
        <c:grouping val="clustered"/>
        <c:varyColors val="0"/>
        <c:ser>
          <c:idx val="0"/>
          <c:order val="0"/>
          <c:tx>
            <c:strRef>
              <c:f>Sheet1!$B$1</c:f>
              <c:strCache>
                <c:ptCount val="1"/>
                <c:pt idx="0">
                  <c:v>&lt;=₹100</c:v>
                </c:pt>
              </c:strCache>
            </c:strRef>
          </c:tx>
          <c:spPr>
            <a:solidFill>
              <a:srgbClr val="0070C0"/>
            </a:solidFill>
            <a:ln w="12700" cap="flat">
              <a:noFill/>
              <a:miter lim="400000"/>
            </a:ln>
            <a:effectLst/>
          </c:spPr>
          <c:invertIfNegative val="0"/>
          <c:dLbls>
            <c:numFmt formatCode="0%" sourceLinked="0"/>
            <c:txPr>
              <a:bodyPr/>
              <a:lstStyle/>
              <a:p>
                <a:pPr>
                  <a:defRPr b="0" i="0" strike="noStrike" sz="600" u="none">
                    <a:solidFill>
                      <a:srgbClr val="002060"/>
                    </a:solidFill>
                    <a:latin typeface="Open Sans"/>
                  </a:defRPr>
                </a:pPr>
              </a:p>
            </c:txPr>
            <c:dLblPos val="outEnd"/>
            <c:showLegendKey val="0"/>
            <c:showVal val="0"/>
            <c:showCatName val="0"/>
            <c:showSerName val="0"/>
            <c:showPercent val="0"/>
            <c:showBubbleSize val="0"/>
            <c:showLeaderLines val="0"/>
          </c:dLbls>
          <c:cat>
            <c:strRef>
              <c:f>Sheet1!$A$2:$A$8</c:f>
              <c:strCache>
                <c:ptCount val="7"/>
                <c:pt idx="0">
                  <c:v>7</c:v>
                </c:pt>
                <c:pt idx="1">
                  <c:v>6</c:v>
                </c:pt>
                <c:pt idx="2">
                  <c:v>5</c:v>
                </c:pt>
                <c:pt idx="3">
                  <c:v>4</c:v>
                </c:pt>
                <c:pt idx="4">
                  <c:v>3</c:v>
                </c:pt>
                <c:pt idx="5">
                  <c:v>2</c:v>
                </c:pt>
                <c:pt idx="6">
                  <c:v>1</c:v>
                </c:pt>
              </c:strCache>
            </c:strRef>
          </c:cat>
          <c:val>
            <c:numRef>
              <c:f>Sheet1!$B$2:$B$8</c:f>
              <c:numCache>
                <c:ptCount val="7"/>
                <c:pt idx="0">
                  <c:v>0.000000</c:v>
                </c:pt>
                <c:pt idx="1">
                  <c:v>0.040000</c:v>
                </c:pt>
                <c:pt idx="2">
                  <c:v>0.070000</c:v>
                </c:pt>
                <c:pt idx="3">
                  <c:v>0.290000</c:v>
                </c:pt>
                <c:pt idx="4">
                  <c:v>0.420000</c:v>
                </c:pt>
                <c:pt idx="5">
                  <c:v>0.160000</c:v>
                </c:pt>
                <c:pt idx="6">
                  <c:v>0.020000</c:v>
                </c:pt>
              </c:numCache>
            </c:numRef>
          </c:val>
        </c:ser>
        <c:gapWidth val="182"/>
        <c:overlap val="0"/>
        <c:axId val="2094734552"/>
        <c:axId val="2094734553"/>
      </c:barChart>
      <c:catAx>
        <c:axId val="2094734552"/>
        <c:scaling>
          <c:orientation val="maxMin"/>
        </c:scaling>
        <c:delete val="0"/>
        <c:axPos val="l"/>
        <c:numFmt formatCode="General" sourceLinked="0"/>
        <c:majorTickMark val="none"/>
        <c:minorTickMark val="none"/>
        <c:tickLblPos val="none"/>
        <c:spPr>
          <a:ln w="12700" cap="flat">
            <a:noFill/>
            <a:prstDash val="solid"/>
            <a:round/>
          </a:ln>
        </c:spPr>
        <c:txPr>
          <a:bodyPr rot="0"/>
          <a:lstStyle/>
          <a:p>
            <a:pPr>
              <a:defRPr b="0" i="0" strike="noStrike" sz="600" u="none">
                <a:solidFill>
                  <a:srgbClr val="002060"/>
                </a:solidFill>
                <a:latin typeface="Open Sans"/>
              </a:defRPr>
            </a:pPr>
          </a:p>
        </c:txPr>
        <c:crossAx val="2094734553"/>
        <c:crosses val="autoZero"/>
        <c:auto val="1"/>
        <c:lblAlgn val="ctr"/>
        <c:noMultiLvlLbl val="1"/>
      </c:catAx>
      <c:valAx>
        <c:axId val="2094734553"/>
        <c:scaling>
          <c:orientation val="minMax"/>
          <c:max val="0.6"/>
          <c:min val="0"/>
        </c:scaling>
        <c:delete val="0"/>
        <c:axPos val="b"/>
        <c:numFmt formatCode="0%" sourceLinked="0"/>
        <c:majorTickMark val="none"/>
        <c:minorTickMark val="none"/>
        <c:tickLblPos val="high"/>
        <c:spPr>
          <a:ln w="12700" cap="flat">
            <a:noFill/>
            <a:prstDash val="solid"/>
            <a:round/>
          </a:ln>
        </c:spPr>
        <c:txPr>
          <a:bodyPr rot="0"/>
          <a:lstStyle/>
          <a:p>
            <a:pPr>
              <a:defRPr b="0" i="0" strike="noStrike" sz="600" u="none">
                <a:solidFill>
                  <a:srgbClr val="002060"/>
                </a:solidFill>
                <a:latin typeface="Open Sans"/>
              </a:defRPr>
            </a:pPr>
          </a:p>
        </c:txPr>
        <c:crossAx val="2094734552"/>
        <c:crosses val="autoZero"/>
        <c:crossBetween val="between"/>
        <c:majorUnit val="0.6"/>
        <c:minorUnit val="0.3"/>
      </c:valAx>
      <c:spPr>
        <a:noFill/>
        <a:ln w="12700" cap="flat">
          <a:noFill/>
          <a:miter lim="400000"/>
        </a:ln>
        <a:effectLst/>
      </c:spPr>
    </c:plotArea>
    <c:legend>
      <c:legendPos val="b"/>
      <c:layout>
        <c:manualLayout>
          <c:xMode val="edge"/>
          <c:yMode val="edge"/>
          <c:x val="0.205056"/>
          <c:y val="0.940269"/>
          <c:w val="0.44105"/>
          <c:h val="0.0597312"/>
        </c:manualLayout>
      </c:layout>
      <c:overlay val="1"/>
      <c:spPr>
        <a:noFill/>
        <a:ln w="12700" cap="flat">
          <a:noFill/>
          <a:miter lim="400000"/>
        </a:ln>
        <a:effectLst/>
      </c:spPr>
      <c:txPr>
        <a:bodyPr rot="0"/>
        <a:lstStyle/>
        <a:p>
          <a:pPr>
            <a:defRPr b="0" i="0" strike="noStrike" sz="600" u="none">
              <a:solidFill>
                <a:srgbClr val="002060"/>
              </a:solidFill>
              <a:latin typeface="Open Sans"/>
            </a:defRPr>
          </a:pPr>
        </a:p>
      </c:txPr>
    </c:legend>
    <c:plotVisOnly val="1"/>
    <c:dispBlanksAs val="gap"/>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0924434"/>
          <c:y val="0.0472312"/>
          <c:w val="0.832395"/>
          <c:h val="0.798463"/>
        </c:manualLayout>
      </c:layout>
      <c:barChart>
        <c:barDir val="bar"/>
        <c:grouping val="clustered"/>
        <c:varyColors val="0"/>
        <c:ser>
          <c:idx val="0"/>
          <c:order val="0"/>
          <c:tx>
            <c:strRef>
              <c:f>Sheet1!$B$1</c:f>
              <c:strCache>
                <c:ptCount val="1"/>
                <c:pt idx="0">
                  <c:v>&lt;=₹500</c:v>
                </c:pt>
              </c:strCache>
            </c:strRef>
          </c:tx>
          <c:spPr>
            <a:solidFill>
              <a:srgbClr val="0070C0"/>
            </a:solidFill>
            <a:ln w="12700" cap="flat">
              <a:noFill/>
              <a:miter lim="400000"/>
            </a:ln>
            <a:effectLst/>
          </c:spPr>
          <c:invertIfNegative val="0"/>
          <c:dLbls>
            <c:numFmt formatCode="0%" sourceLinked="0"/>
            <c:txPr>
              <a:bodyPr/>
              <a:lstStyle/>
              <a:p>
                <a:pPr>
                  <a:defRPr b="0" i="0" strike="noStrike" sz="600" u="none">
                    <a:solidFill>
                      <a:srgbClr val="002060"/>
                    </a:solidFill>
                    <a:latin typeface="Open Sans"/>
                  </a:defRPr>
                </a:pPr>
              </a:p>
            </c:txPr>
            <c:dLblPos val="outEnd"/>
            <c:showLegendKey val="0"/>
            <c:showVal val="0"/>
            <c:showCatName val="0"/>
            <c:showSerName val="0"/>
            <c:showPercent val="0"/>
            <c:showBubbleSize val="0"/>
            <c:showLeaderLines val="0"/>
          </c:dLbls>
          <c:cat>
            <c:strRef>
              <c:f>Sheet1!$A$2:$A$8</c:f>
              <c:strCache>
                <c:ptCount val="7"/>
                <c:pt idx="0">
                  <c:v>7</c:v>
                </c:pt>
                <c:pt idx="1">
                  <c:v>6</c:v>
                </c:pt>
                <c:pt idx="2">
                  <c:v>5</c:v>
                </c:pt>
                <c:pt idx="3">
                  <c:v>4</c:v>
                </c:pt>
                <c:pt idx="4">
                  <c:v>3</c:v>
                </c:pt>
                <c:pt idx="5">
                  <c:v>2</c:v>
                </c:pt>
                <c:pt idx="6">
                  <c:v>1</c:v>
                </c:pt>
              </c:strCache>
            </c:strRef>
          </c:cat>
          <c:val>
            <c:numRef>
              <c:f>Sheet1!$B$2:$B$8</c:f>
              <c:numCache>
                <c:ptCount val="7"/>
                <c:pt idx="0">
                  <c:v>0.014827</c:v>
                </c:pt>
                <c:pt idx="1">
                  <c:v>0.110271</c:v>
                </c:pt>
                <c:pt idx="2">
                  <c:v>0.145153</c:v>
                </c:pt>
                <c:pt idx="3">
                  <c:v>0.391646</c:v>
                </c:pt>
                <c:pt idx="4">
                  <c:v>0.264898</c:v>
                </c:pt>
                <c:pt idx="5">
                  <c:v>0.066586</c:v>
                </c:pt>
                <c:pt idx="6">
                  <c:v>0.006619</c:v>
                </c:pt>
              </c:numCache>
            </c:numRef>
          </c:val>
        </c:ser>
        <c:gapWidth val="182"/>
        <c:overlap val="0"/>
        <c:axId val="2094734552"/>
        <c:axId val="2094734553"/>
      </c:barChart>
      <c:catAx>
        <c:axId val="2094734552"/>
        <c:scaling>
          <c:orientation val="maxMin"/>
        </c:scaling>
        <c:delete val="0"/>
        <c:axPos val="l"/>
        <c:numFmt formatCode="General" sourceLinked="0"/>
        <c:majorTickMark val="none"/>
        <c:minorTickMark val="none"/>
        <c:tickLblPos val="none"/>
        <c:spPr>
          <a:ln w="12700" cap="flat">
            <a:noFill/>
            <a:prstDash val="solid"/>
            <a:round/>
          </a:ln>
        </c:spPr>
        <c:txPr>
          <a:bodyPr rot="0"/>
          <a:lstStyle/>
          <a:p>
            <a:pPr>
              <a:defRPr b="0" i="0" strike="noStrike" sz="600" u="none">
                <a:solidFill>
                  <a:srgbClr val="002060"/>
                </a:solidFill>
                <a:latin typeface="Open Sans"/>
              </a:defRPr>
            </a:pPr>
          </a:p>
        </c:txPr>
        <c:crossAx val="2094734553"/>
        <c:crosses val="autoZero"/>
        <c:auto val="1"/>
        <c:lblAlgn val="ctr"/>
        <c:noMultiLvlLbl val="1"/>
      </c:catAx>
      <c:valAx>
        <c:axId val="2094734553"/>
        <c:scaling>
          <c:orientation val="minMax"/>
          <c:min val="0"/>
        </c:scaling>
        <c:delete val="0"/>
        <c:axPos val="b"/>
        <c:numFmt formatCode="0%" sourceLinked="0"/>
        <c:majorTickMark val="none"/>
        <c:minorTickMark val="none"/>
        <c:tickLblPos val="high"/>
        <c:spPr>
          <a:ln w="12700" cap="flat">
            <a:noFill/>
            <a:prstDash val="solid"/>
            <a:round/>
          </a:ln>
        </c:spPr>
        <c:txPr>
          <a:bodyPr rot="0"/>
          <a:lstStyle/>
          <a:p>
            <a:pPr>
              <a:defRPr b="0" i="0" strike="noStrike" sz="600" u="none">
                <a:solidFill>
                  <a:srgbClr val="002060"/>
                </a:solidFill>
                <a:latin typeface="Open Sans"/>
              </a:defRPr>
            </a:pPr>
          </a:p>
        </c:txPr>
        <c:crossAx val="2094734552"/>
        <c:crosses val="autoZero"/>
        <c:crossBetween val="between"/>
        <c:majorUnit val="0.1"/>
        <c:minorUnit val="0.05"/>
      </c:valAx>
      <c:spPr>
        <a:noFill/>
        <a:ln w="12700" cap="flat">
          <a:noFill/>
          <a:miter lim="400000"/>
        </a:ln>
        <a:effectLst/>
      </c:spPr>
    </c:plotArea>
    <c:legend>
      <c:legendPos val="b"/>
      <c:layout>
        <c:manualLayout>
          <c:xMode val="edge"/>
          <c:yMode val="edge"/>
          <c:x val="0.158834"/>
          <c:y val="0.940269"/>
          <c:w val="0.487272"/>
          <c:h val="0.0597312"/>
        </c:manualLayout>
      </c:layout>
      <c:overlay val="1"/>
      <c:spPr>
        <a:noFill/>
        <a:ln w="12700" cap="flat">
          <a:noFill/>
          <a:miter lim="400000"/>
        </a:ln>
        <a:effectLst/>
      </c:spPr>
      <c:txPr>
        <a:bodyPr rot="0"/>
        <a:lstStyle/>
        <a:p>
          <a:pPr>
            <a:defRPr b="0" i="0" strike="noStrike" sz="600" u="none">
              <a:solidFill>
                <a:srgbClr val="002060"/>
              </a:solidFill>
              <a:latin typeface="Open Sans"/>
            </a:defRPr>
          </a:pPr>
        </a:p>
      </c:txPr>
    </c:legend>
    <c:plotVisOnly val="1"/>
    <c:dispBlanksAs val="gap"/>
  </c:chart>
  <c:spPr>
    <a:noFill/>
    <a:ln>
      <a:noFill/>
    </a:ln>
    <a:effectLst/>
  </c:spPr>
  <c:externalData r:id="rId1">
    <c:autoUpdate val="0"/>
  </c:externalData>
</c:chartSpace>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52" name="Shape 152"/>
          <p:cNvSpPr/>
          <p:nvPr>
            <p:ph type="sldImg"/>
          </p:nvPr>
        </p:nvSpPr>
        <p:spPr>
          <a:xfrm>
            <a:off x="1143000" y="685800"/>
            <a:ext cx="4572000" cy="3429000"/>
          </a:xfrm>
          <a:prstGeom prst="rect">
            <a:avLst/>
          </a:prstGeom>
        </p:spPr>
        <p:txBody>
          <a:bodyPr/>
          <a:lstStyle/>
          <a:p>
            <a:pPr/>
          </a:p>
        </p:txBody>
      </p:sp>
      <p:sp>
        <p:nvSpPr>
          <p:cNvPr id="153" name="Shape 153"/>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400">
        <a:latin typeface="+mn-lt"/>
        <a:ea typeface="+mn-ea"/>
        <a:cs typeface="+mn-cs"/>
        <a:sym typeface="Arial"/>
      </a:defRPr>
    </a:lvl1pPr>
    <a:lvl2pPr indent="228600" latinLnBrk="0">
      <a:defRPr sz="1400">
        <a:latin typeface="+mn-lt"/>
        <a:ea typeface="+mn-ea"/>
        <a:cs typeface="+mn-cs"/>
        <a:sym typeface="Arial"/>
      </a:defRPr>
    </a:lvl2pPr>
    <a:lvl3pPr indent="457200" latinLnBrk="0">
      <a:defRPr sz="1400">
        <a:latin typeface="+mn-lt"/>
        <a:ea typeface="+mn-ea"/>
        <a:cs typeface="+mn-cs"/>
        <a:sym typeface="Arial"/>
      </a:defRPr>
    </a:lvl3pPr>
    <a:lvl4pPr indent="685800" latinLnBrk="0">
      <a:defRPr sz="1400">
        <a:latin typeface="+mn-lt"/>
        <a:ea typeface="+mn-ea"/>
        <a:cs typeface="+mn-cs"/>
        <a:sym typeface="Arial"/>
      </a:defRPr>
    </a:lvl4pPr>
    <a:lvl5pPr indent="914400" latinLnBrk="0">
      <a:defRPr sz="1400">
        <a:latin typeface="+mn-lt"/>
        <a:ea typeface="+mn-ea"/>
        <a:cs typeface="+mn-cs"/>
        <a:sym typeface="Arial"/>
      </a:defRPr>
    </a:lvl5pPr>
    <a:lvl6pPr indent="1143000" latinLnBrk="0">
      <a:defRPr sz="1400">
        <a:latin typeface="+mn-lt"/>
        <a:ea typeface="+mn-ea"/>
        <a:cs typeface="+mn-cs"/>
        <a:sym typeface="Arial"/>
      </a:defRPr>
    </a:lvl6pPr>
    <a:lvl7pPr indent="1371600" latinLnBrk="0">
      <a:defRPr sz="1400">
        <a:latin typeface="+mn-lt"/>
        <a:ea typeface="+mn-ea"/>
        <a:cs typeface="+mn-cs"/>
        <a:sym typeface="Arial"/>
      </a:defRPr>
    </a:lvl7pPr>
    <a:lvl8pPr indent="1600200" latinLnBrk="0">
      <a:defRPr sz="1400">
        <a:latin typeface="+mn-lt"/>
        <a:ea typeface="+mn-ea"/>
        <a:cs typeface="+mn-cs"/>
        <a:sym typeface="Arial"/>
      </a:defRPr>
    </a:lvl8pPr>
    <a:lvl9pPr indent="1828800" latinLnBrk="0">
      <a:defRPr sz="1400">
        <a:latin typeface="+mn-lt"/>
        <a:ea typeface="+mn-ea"/>
        <a:cs typeface="+mn-cs"/>
        <a:sym typeface="Arial"/>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8" name="Shape 538"/>
          <p:cNvSpPr/>
          <p:nvPr>
            <p:ph type="sldImg"/>
          </p:nvPr>
        </p:nvSpPr>
        <p:spPr>
          <a:prstGeom prst="rect">
            <a:avLst/>
          </a:prstGeom>
        </p:spPr>
        <p:txBody>
          <a:bodyPr/>
          <a:lstStyle/>
          <a:p>
            <a:pPr/>
          </a:p>
        </p:txBody>
      </p:sp>
      <p:sp>
        <p:nvSpPr>
          <p:cNvPr id="539" name="Shape 539"/>
          <p:cNvSpPr/>
          <p:nvPr>
            <p:ph type="body" sz="quarter" idx="1"/>
          </p:nvPr>
        </p:nvSpPr>
        <p:spPr>
          <a:prstGeom prst="rect">
            <a:avLst/>
          </a:prstGeom>
        </p:spPr>
        <p:txBody>
          <a:bodyPr/>
          <a:lstStyle>
            <a:lvl1pPr marL="457200" indent="-298450">
              <a:buClr>
                <a:srgbClr val="000000"/>
              </a:buClr>
              <a:buSzPts val="1100"/>
              <a:buFont typeface="Arial"/>
              <a:buChar char="●"/>
              <a:defRPr sz="1100"/>
            </a:lvl1pPr>
          </a:lstStyle>
          <a:p>
            <a:pPr/>
            <a:r>
              <a:t>Update CL of Low and Low</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OBJECT">
    <p:spTree>
      <p:nvGrpSpPr>
        <p:cNvPr id="1" name=""/>
        <p:cNvGrpSpPr/>
        <p:nvPr/>
      </p:nvGrpSpPr>
      <p:grpSpPr>
        <a:xfrm>
          <a:off x="0" y="0"/>
          <a:ext cx="0" cy="0"/>
          <a:chOff x="0" y="0"/>
          <a:chExt cx="0" cy="0"/>
        </a:xfrm>
      </p:grpSpPr>
      <p:sp>
        <p:nvSpPr>
          <p:cNvPr id="16" name="Title Text"/>
          <p:cNvSpPr txBox="1"/>
          <p:nvPr>
            <p:ph type="title"/>
          </p:nvPr>
        </p:nvSpPr>
        <p:spPr>
          <a:prstGeom prst="rect">
            <a:avLst/>
          </a:prstGeom>
        </p:spPr>
        <p:txBody>
          <a:bodyPr/>
          <a:lstStyle/>
          <a:p>
            <a:pPr/>
            <a:r>
              <a:t>Title Text</a:t>
            </a:r>
          </a:p>
        </p:txBody>
      </p:sp>
      <p:sp>
        <p:nvSpPr>
          <p:cNvPr id="17"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PICTURE_WITH_CAPTION_TEXT">
    <p:spTree>
      <p:nvGrpSpPr>
        <p:cNvPr id="1" name=""/>
        <p:cNvGrpSpPr/>
        <p:nvPr/>
      </p:nvGrpSpPr>
      <p:grpSpPr>
        <a:xfrm>
          <a:off x="0" y="0"/>
          <a:ext cx="0" cy="0"/>
          <a:chOff x="0" y="0"/>
          <a:chExt cx="0" cy="0"/>
        </a:xfrm>
      </p:grpSpPr>
      <p:sp>
        <p:nvSpPr>
          <p:cNvPr id="25" name="Google Shape;6;p21"/>
          <p:cNvSpPr/>
          <p:nvPr/>
        </p:nvSpPr>
        <p:spPr>
          <a:xfrm>
            <a:off x="0" y="165588"/>
            <a:ext cx="9144000" cy="171301"/>
          </a:xfrm>
          <a:prstGeom prst="rect">
            <a:avLst/>
          </a:prstGeom>
          <a:solidFill>
            <a:srgbClr val="FFFFFF"/>
          </a:solidFill>
          <a:ln w="12700">
            <a:miter lim="400000"/>
          </a:ln>
        </p:spPr>
        <p:txBody>
          <a:bodyPr lIns="45719" rIns="45719" anchor="ctr"/>
          <a:lstStyle/>
          <a:p>
            <a:pPr algn="ctr">
              <a:defRPr sz="1700">
                <a:solidFill>
                  <a:srgbClr val="FFFFFF"/>
                </a:solidFill>
              </a:defRPr>
            </a:pPr>
          </a:p>
        </p:txBody>
      </p:sp>
      <p:pic>
        <p:nvPicPr>
          <p:cNvPr id="26" name="Google Shape;12;p21" descr="Google Shape;12;p21"/>
          <p:cNvPicPr>
            <a:picLocks noChangeAspect="1"/>
          </p:cNvPicPr>
          <p:nvPr/>
        </p:nvPicPr>
        <p:blipFill>
          <a:blip r:embed="rId2">
            <a:extLst/>
          </a:blip>
          <a:stretch>
            <a:fillRect/>
          </a:stretch>
        </p:blipFill>
        <p:spPr>
          <a:xfrm>
            <a:off x="0" y="4873752"/>
            <a:ext cx="9144000" cy="281179"/>
          </a:xfrm>
          <a:prstGeom prst="rect">
            <a:avLst/>
          </a:prstGeom>
          <a:ln w="12700">
            <a:miter lim="400000"/>
          </a:ln>
        </p:spPr>
      </p:pic>
      <p:sp>
        <p:nvSpPr>
          <p:cNvPr id="27" name="Google Shape;14;p21"/>
          <p:cNvSpPr txBox="1"/>
          <p:nvPr/>
        </p:nvSpPr>
        <p:spPr>
          <a:xfrm>
            <a:off x="72432" y="4989614"/>
            <a:ext cx="3091775"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900">
                <a:solidFill>
                  <a:srgbClr val="FFFFFF"/>
                </a:solidFill>
                <a:latin typeface="Open Sans"/>
                <a:ea typeface="Open Sans"/>
                <a:cs typeface="Open Sans"/>
                <a:sym typeface="Open Sans"/>
              </a:defRPr>
            </a:pPr>
            <a:r>
              <a:t>*Strictly Internal and Confidential</a:t>
            </a:r>
            <a:r>
              <a:rPr sz="700"/>
              <a:t> </a:t>
            </a:r>
          </a:p>
        </p:txBody>
      </p:sp>
      <p:sp>
        <p:nvSpPr>
          <p:cNvPr id="28" name="Title Text"/>
          <p:cNvSpPr txBox="1"/>
          <p:nvPr>
            <p:ph type="title"/>
          </p:nvPr>
        </p:nvSpPr>
        <p:spPr>
          <a:xfrm>
            <a:off x="457201" y="594359"/>
            <a:ext cx="2142601" cy="948602"/>
          </a:xfrm>
          <a:prstGeom prst="rect">
            <a:avLst/>
          </a:prstGeom>
        </p:spPr>
        <p:txBody>
          <a:bodyPr anchor="b"/>
          <a:lstStyle>
            <a:lvl1pPr>
              <a:defRPr b="0" sz="2300">
                <a:latin typeface="Open Sans SemiBold"/>
                <a:ea typeface="Open Sans SemiBold"/>
                <a:cs typeface="Open Sans SemiBold"/>
                <a:sym typeface="Open Sans SemiBold"/>
              </a:defRPr>
            </a:lvl1pPr>
          </a:lstStyle>
          <a:p>
            <a:pPr/>
            <a:r>
              <a:t>Title Text</a:t>
            </a:r>
          </a:p>
        </p:txBody>
      </p:sp>
      <p:sp>
        <p:nvSpPr>
          <p:cNvPr id="29" name="Google Shape;27;p29"/>
          <p:cNvSpPr/>
          <p:nvPr>
            <p:ph type="pic" idx="21"/>
          </p:nvPr>
        </p:nvSpPr>
        <p:spPr>
          <a:xfrm>
            <a:off x="2858615" y="628653"/>
            <a:ext cx="5904301" cy="4125301"/>
          </a:xfrm>
          <a:prstGeom prst="rect">
            <a:avLst/>
          </a:prstGeom>
          <a:ln w="76200">
            <a:solidFill>
              <a:srgbClr val="FFFFFF"/>
            </a:solidFill>
            <a:miter lim="800000"/>
          </a:ln>
          <a:effectLst>
            <a:outerShdw sx="100000" sy="100000" kx="0" ky="0" algn="b" rotWithShape="0" blurRad="50800" dist="12700" dir="5400000">
              <a:srgbClr val="000000">
                <a:alpha val="57254"/>
              </a:srgbClr>
            </a:outerShdw>
          </a:effectLst>
        </p:spPr>
        <p:txBody>
          <a:bodyPr lIns="91439" tIns="45719" rIns="91439" bIns="45719">
            <a:noAutofit/>
          </a:bodyPr>
          <a:lstStyle/>
          <a:p>
            <a:pPr/>
          </a:p>
        </p:txBody>
      </p:sp>
      <p:sp>
        <p:nvSpPr>
          <p:cNvPr id="30" name="Body Level One…"/>
          <p:cNvSpPr txBox="1"/>
          <p:nvPr>
            <p:ph type="body" sz="quarter" idx="1"/>
          </p:nvPr>
        </p:nvSpPr>
        <p:spPr>
          <a:xfrm>
            <a:off x="457200" y="1600200"/>
            <a:ext cx="2139601" cy="3182100"/>
          </a:xfrm>
          <a:prstGeom prst="rect">
            <a:avLst/>
          </a:prstGeom>
        </p:spPr>
        <p:txBody>
          <a:bodyPr/>
          <a:lstStyle>
            <a:lvl1pPr marL="228600" indent="0">
              <a:spcBef>
                <a:spcPts val="200"/>
              </a:spcBef>
              <a:buClrTx/>
              <a:buSzTx/>
              <a:buFontTx/>
              <a:buNone/>
              <a:defRPr sz="1300"/>
            </a:lvl1pPr>
            <a:lvl2pPr marL="228600" indent="457200">
              <a:spcBef>
                <a:spcPts val="200"/>
              </a:spcBef>
              <a:buClrTx/>
              <a:buSzTx/>
              <a:buFontTx/>
              <a:buNone/>
              <a:defRPr sz="1300"/>
            </a:lvl2pPr>
            <a:lvl3pPr marL="228600" indent="914400">
              <a:spcBef>
                <a:spcPts val="200"/>
              </a:spcBef>
              <a:buClrTx/>
              <a:buSzTx/>
              <a:buFontTx/>
              <a:buNone/>
              <a:defRPr sz="1300"/>
            </a:lvl3pPr>
            <a:lvl4pPr marL="228600" indent="1371600">
              <a:spcBef>
                <a:spcPts val="200"/>
              </a:spcBef>
              <a:buClrTx/>
              <a:buSzTx/>
              <a:buFontTx/>
              <a:buNone/>
              <a:defRPr sz="1300"/>
            </a:lvl4pPr>
            <a:lvl5pPr marL="228600" indent="1828800">
              <a:spcBef>
                <a:spcPts val="200"/>
              </a:spcBef>
              <a:buClrTx/>
              <a:buSzTx/>
              <a:buFontTx/>
              <a:buNone/>
              <a:defRPr sz="1300"/>
            </a:lvl5pPr>
          </a:lstStyle>
          <a:p>
            <a:pPr/>
            <a:r>
              <a:t>Body Level One</a:t>
            </a:r>
          </a:p>
          <a:p>
            <a:pPr lvl="1"/>
            <a:r>
              <a:t>Body Level Two</a:t>
            </a:r>
          </a:p>
          <a:p>
            <a:pPr lvl="2"/>
            <a:r>
              <a:t>Body Level Three</a:t>
            </a:r>
          </a:p>
          <a:p>
            <a:pPr lvl="3"/>
            <a:r>
              <a:t>Body Level Four</a:t>
            </a:r>
          </a:p>
          <a:p>
            <a:pPr lvl="4"/>
            <a:r>
              <a:t>Body Level Five</a:t>
            </a:r>
          </a:p>
        </p:txBody>
      </p:sp>
      <p:sp>
        <p:nvSpPr>
          <p:cNvPr id="31" name="Google Shape;31;p29"/>
          <p:cNvSpPr/>
          <p:nvPr/>
        </p:nvSpPr>
        <p:spPr>
          <a:xfrm>
            <a:off x="457209" y="4857750"/>
            <a:ext cx="8237702" cy="0"/>
          </a:xfrm>
          <a:prstGeom prst="line">
            <a:avLst/>
          </a:prstGeom>
          <a:ln>
            <a:solidFill>
              <a:schemeClr val="accent1"/>
            </a:solidFill>
          </a:ln>
        </p:spPr>
        <p:txBody>
          <a:bodyPr lIns="45719" rIns="45719"/>
          <a:lstStyle/>
          <a:p>
            <a:pPr/>
          </a:p>
        </p:txBody>
      </p:sp>
      <p:sp>
        <p:nvSpPr>
          <p:cNvPr id="3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VERTICAL_TEXT">
    <p:spTree>
      <p:nvGrpSpPr>
        <p:cNvPr id="1" name=""/>
        <p:cNvGrpSpPr/>
        <p:nvPr/>
      </p:nvGrpSpPr>
      <p:grpSpPr>
        <a:xfrm>
          <a:off x="0" y="0"/>
          <a:ext cx="0" cy="0"/>
          <a:chOff x="0" y="0"/>
          <a:chExt cx="0" cy="0"/>
        </a:xfrm>
      </p:grpSpPr>
      <p:sp>
        <p:nvSpPr>
          <p:cNvPr id="39" name="Google Shape;6;p21"/>
          <p:cNvSpPr/>
          <p:nvPr/>
        </p:nvSpPr>
        <p:spPr>
          <a:xfrm>
            <a:off x="0" y="165588"/>
            <a:ext cx="9144000" cy="171301"/>
          </a:xfrm>
          <a:prstGeom prst="rect">
            <a:avLst/>
          </a:prstGeom>
          <a:solidFill>
            <a:srgbClr val="FFFFFF"/>
          </a:solidFill>
          <a:ln w="12700">
            <a:miter lim="400000"/>
          </a:ln>
        </p:spPr>
        <p:txBody>
          <a:bodyPr lIns="45719" rIns="45719" anchor="ctr"/>
          <a:lstStyle/>
          <a:p>
            <a:pPr algn="ctr">
              <a:defRPr sz="1700">
                <a:solidFill>
                  <a:srgbClr val="FFFFFF"/>
                </a:solidFill>
              </a:defRPr>
            </a:pPr>
          </a:p>
        </p:txBody>
      </p:sp>
      <p:pic>
        <p:nvPicPr>
          <p:cNvPr id="40" name="Google Shape;12;p21" descr="Google Shape;12;p21"/>
          <p:cNvPicPr>
            <a:picLocks noChangeAspect="1"/>
          </p:cNvPicPr>
          <p:nvPr/>
        </p:nvPicPr>
        <p:blipFill>
          <a:blip r:embed="rId2">
            <a:extLst/>
          </a:blip>
          <a:stretch>
            <a:fillRect/>
          </a:stretch>
        </p:blipFill>
        <p:spPr>
          <a:xfrm>
            <a:off x="0" y="4873752"/>
            <a:ext cx="9144000" cy="281179"/>
          </a:xfrm>
          <a:prstGeom prst="rect">
            <a:avLst/>
          </a:prstGeom>
          <a:ln w="12700">
            <a:miter lim="400000"/>
          </a:ln>
        </p:spPr>
      </p:pic>
      <p:sp>
        <p:nvSpPr>
          <p:cNvPr id="41" name="Google Shape;14;p21"/>
          <p:cNvSpPr txBox="1"/>
          <p:nvPr/>
        </p:nvSpPr>
        <p:spPr>
          <a:xfrm>
            <a:off x="72432" y="4989614"/>
            <a:ext cx="3091775"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900">
                <a:solidFill>
                  <a:srgbClr val="FFFFFF"/>
                </a:solidFill>
                <a:latin typeface="Open Sans"/>
                <a:ea typeface="Open Sans"/>
                <a:cs typeface="Open Sans"/>
                <a:sym typeface="Open Sans"/>
              </a:defRPr>
            </a:pPr>
            <a:r>
              <a:t>*Strictly Internal and Confidential</a:t>
            </a:r>
            <a:r>
              <a:rPr sz="700"/>
              <a:t> </a:t>
            </a:r>
          </a:p>
        </p:txBody>
      </p:sp>
      <p:sp>
        <p:nvSpPr>
          <p:cNvPr id="42" name="Title Text"/>
          <p:cNvSpPr txBox="1"/>
          <p:nvPr>
            <p:ph type="title"/>
          </p:nvPr>
        </p:nvSpPr>
        <p:spPr>
          <a:prstGeom prst="rect">
            <a:avLst/>
          </a:prstGeom>
        </p:spPr>
        <p:txBody>
          <a:bodyPr/>
          <a:lstStyle>
            <a:lvl1pPr>
              <a:defRPr b="0" sz="3200">
                <a:latin typeface="Open Sans SemiBold"/>
                <a:ea typeface="Open Sans SemiBold"/>
                <a:cs typeface="Open Sans SemiBold"/>
                <a:sym typeface="Open Sans SemiBold"/>
              </a:defRPr>
            </a:lvl1pPr>
          </a:lstStyle>
          <a:p>
            <a:pPr/>
            <a:r>
              <a:t>Title Text</a:t>
            </a:r>
          </a:p>
        </p:txBody>
      </p:sp>
      <p:sp>
        <p:nvSpPr>
          <p:cNvPr id="43" name="Body Level One…"/>
          <p:cNvSpPr txBox="1"/>
          <p:nvPr>
            <p:ph type="body" idx="1"/>
          </p:nvPr>
        </p:nvSpPr>
        <p:spPr>
          <a:xfrm rot="5400000">
            <a:off x="2743212" y="-1085850"/>
            <a:ext cx="3657601" cy="8229600"/>
          </a:xfrm>
          <a:prstGeom prst="rect">
            <a:avLst/>
          </a:prstGeom>
        </p:spPr>
        <p:txBody>
          <a:bodyPr/>
          <a:lstStyle>
            <a:lvl1pPr indent="-325754">
              <a:spcBef>
                <a:spcPts val="300"/>
              </a:spcBef>
            </a:lvl1pPr>
            <a:lvl2pPr marL="979550" indent="-390905">
              <a:spcBef>
                <a:spcPts val="300"/>
              </a:spcBef>
            </a:lvl2pPr>
            <a:lvl3pPr>
              <a:spcBef>
                <a:spcPts val="300"/>
              </a:spcBef>
            </a:lvl3pPr>
            <a:lvl4pPr marL="2000250" indent="-514350">
              <a:spcBef>
                <a:spcPts val="300"/>
              </a:spcBef>
            </a:lvl4pPr>
            <a:lvl5pPr marL="2530928" indent="-587828">
              <a:spcBef>
                <a:spcPts val="300"/>
              </a:spcBef>
            </a:lvl5pPr>
          </a:lstStyle>
          <a:p>
            <a:pPr/>
            <a:r>
              <a:t>Body Level One</a:t>
            </a:r>
          </a:p>
          <a:p>
            <a:pPr lvl="1"/>
            <a:r>
              <a:t>Body Level Two</a:t>
            </a:r>
          </a:p>
          <a:p>
            <a:pPr lvl="2"/>
            <a:r>
              <a:t>Body Level Three</a:t>
            </a:r>
          </a:p>
          <a:p>
            <a:pPr lvl="3"/>
            <a:r>
              <a:t>Body Level Four</a:t>
            </a:r>
          </a:p>
          <a:p>
            <a:pPr lvl="4"/>
            <a:r>
              <a:t>Body Level Five</a:t>
            </a:r>
          </a:p>
        </p:txBody>
      </p:sp>
      <p:sp>
        <p:nvSpPr>
          <p:cNvPr id="44" name="Slide Number"/>
          <p:cNvSpPr txBox="1"/>
          <p:nvPr>
            <p:ph type="sldNum" sz="quarter" idx="2"/>
          </p:nvPr>
        </p:nvSpPr>
        <p:spPr>
          <a:xfrm>
            <a:off x="7620011" y="17551"/>
            <a:ext cx="259490" cy="239230"/>
          </a:xfrm>
          <a:prstGeom prst="rect">
            <a:avLst/>
          </a:prstGeom>
        </p:spPr>
        <p:txBody>
          <a:bodyPr/>
          <a:lstStyle/>
          <a:p>
            <a:pPr/>
            <a:fld id="{86CB4B4D-7CA3-9044-876B-883B54F8677D}" type="slidenum"/>
          </a:p>
        </p:txBody>
      </p:sp>
      <p:sp>
        <p:nvSpPr>
          <p:cNvPr id="45" name="Google Shape;38;p30"/>
          <p:cNvSpPr/>
          <p:nvPr/>
        </p:nvSpPr>
        <p:spPr>
          <a:xfrm>
            <a:off x="457209" y="4857750"/>
            <a:ext cx="8237702" cy="0"/>
          </a:xfrm>
          <a:prstGeom prst="line">
            <a:avLst/>
          </a:prstGeom>
          <a:ln>
            <a:solidFill>
              <a:schemeClr val="accent1"/>
            </a:solidFill>
          </a:ln>
        </p:spPr>
        <p:txBody>
          <a:bodyPr lIns="45719" rIns="45719"/>
          <a:lstStyle/>
          <a:p>
            <a:pPr/>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VERTICAL_TITLE_AND_VERTICAL_TEXT">
    <p:spTree>
      <p:nvGrpSpPr>
        <p:cNvPr id="1" name=""/>
        <p:cNvGrpSpPr/>
        <p:nvPr/>
      </p:nvGrpSpPr>
      <p:grpSpPr>
        <a:xfrm>
          <a:off x="0" y="0"/>
          <a:ext cx="0" cy="0"/>
          <a:chOff x="0" y="0"/>
          <a:chExt cx="0" cy="0"/>
        </a:xfrm>
      </p:grpSpPr>
      <p:sp>
        <p:nvSpPr>
          <p:cNvPr id="52" name="Google Shape;6;p21"/>
          <p:cNvSpPr/>
          <p:nvPr/>
        </p:nvSpPr>
        <p:spPr>
          <a:xfrm>
            <a:off x="0" y="165588"/>
            <a:ext cx="9144000" cy="171301"/>
          </a:xfrm>
          <a:prstGeom prst="rect">
            <a:avLst/>
          </a:prstGeom>
          <a:solidFill>
            <a:srgbClr val="FFFFFF"/>
          </a:solidFill>
          <a:ln w="12700">
            <a:miter lim="400000"/>
          </a:ln>
        </p:spPr>
        <p:txBody>
          <a:bodyPr lIns="45719" rIns="45719" anchor="ctr"/>
          <a:lstStyle/>
          <a:p>
            <a:pPr algn="ctr">
              <a:defRPr sz="1700">
                <a:solidFill>
                  <a:srgbClr val="FFFFFF"/>
                </a:solidFill>
              </a:defRPr>
            </a:pPr>
          </a:p>
        </p:txBody>
      </p:sp>
      <p:pic>
        <p:nvPicPr>
          <p:cNvPr id="53" name="Google Shape;12;p21" descr="Google Shape;12;p21"/>
          <p:cNvPicPr>
            <a:picLocks noChangeAspect="1"/>
          </p:cNvPicPr>
          <p:nvPr/>
        </p:nvPicPr>
        <p:blipFill>
          <a:blip r:embed="rId2">
            <a:extLst/>
          </a:blip>
          <a:stretch>
            <a:fillRect/>
          </a:stretch>
        </p:blipFill>
        <p:spPr>
          <a:xfrm>
            <a:off x="0" y="4873752"/>
            <a:ext cx="9144000" cy="281179"/>
          </a:xfrm>
          <a:prstGeom prst="rect">
            <a:avLst/>
          </a:prstGeom>
          <a:ln w="12700">
            <a:miter lim="400000"/>
          </a:ln>
        </p:spPr>
      </p:pic>
      <p:sp>
        <p:nvSpPr>
          <p:cNvPr id="54" name="Google Shape;14;p21"/>
          <p:cNvSpPr txBox="1"/>
          <p:nvPr/>
        </p:nvSpPr>
        <p:spPr>
          <a:xfrm>
            <a:off x="72432" y="4989614"/>
            <a:ext cx="3091775"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900">
                <a:solidFill>
                  <a:srgbClr val="FFFFFF"/>
                </a:solidFill>
                <a:latin typeface="Open Sans"/>
                <a:ea typeface="Open Sans"/>
                <a:cs typeface="Open Sans"/>
                <a:sym typeface="Open Sans"/>
              </a:defRPr>
            </a:pPr>
            <a:r>
              <a:t>*Strictly Internal and Confidential</a:t>
            </a:r>
            <a:r>
              <a:rPr sz="700"/>
              <a:t> </a:t>
            </a:r>
          </a:p>
        </p:txBody>
      </p:sp>
      <p:sp>
        <p:nvSpPr>
          <p:cNvPr id="55" name="Title Text"/>
          <p:cNvSpPr txBox="1"/>
          <p:nvPr>
            <p:ph type="title"/>
          </p:nvPr>
        </p:nvSpPr>
        <p:spPr>
          <a:xfrm rot="5400000">
            <a:off x="5457762" y="1628849"/>
            <a:ext cx="4400701" cy="2057401"/>
          </a:xfrm>
          <a:prstGeom prst="rect">
            <a:avLst/>
          </a:prstGeom>
        </p:spPr>
        <p:txBody>
          <a:bodyPr anchor="b"/>
          <a:lstStyle>
            <a:lvl1pPr>
              <a:defRPr b="0" sz="3200">
                <a:latin typeface="Open Sans SemiBold"/>
                <a:ea typeface="Open Sans SemiBold"/>
                <a:cs typeface="Open Sans SemiBold"/>
                <a:sym typeface="Open Sans SemiBold"/>
              </a:defRPr>
            </a:lvl1pPr>
          </a:lstStyle>
          <a:p>
            <a:pPr/>
            <a:r>
              <a:t>Title Text</a:t>
            </a:r>
          </a:p>
        </p:txBody>
      </p:sp>
      <p:sp>
        <p:nvSpPr>
          <p:cNvPr id="56" name="Body Level One…"/>
          <p:cNvSpPr txBox="1"/>
          <p:nvPr>
            <p:ph type="body" idx="1"/>
          </p:nvPr>
        </p:nvSpPr>
        <p:spPr>
          <a:xfrm rot="5400000">
            <a:off x="1266760" y="-352351"/>
            <a:ext cx="4400701" cy="6019801"/>
          </a:xfrm>
          <a:prstGeom prst="rect">
            <a:avLst/>
          </a:prstGeom>
        </p:spPr>
        <p:txBody>
          <a:bodyPr/>
          <a:lstStyle>
            <a:lvl1pPr indent="-325754">
              <a:spcBef>
                <a:spcPts val="300"/>
              </a:spcBef>
            </a:lvl1pPr>
            <a:lvl2pPr marL="979550" indent="-390905">
              <a:spcBef>
                <a:spcPts val="300"/>
              </a:spcBef>
            </a:lvl2pPr>
            <a:lvl3pPr>
              <a:spcBef>
                <a:spcPts val="300"/>
              </a:spcBef>
            </a:lvl3pPr>
            <a:lvl4pPr marL="2000250" indent="-514350">
              <a:spcBef>
                <a:spcPts val="300"/>
              </a:spcBef>
            </a:lvl4pPr>
            <a:lvl5pPr marL="2530928" indent="-587828">
              <a:spcBef>
                <a:spcPts val="300"/>
              </a:spcBef>
            </a:lvl5pPr>
          </a:lstStyle>
          <a:p>
            <a:pPr/>
            <a:r>
              <a:t>Body Level One</a:t>
            </a:r>
          </a:p>
          <a:p>
            <a:pPr lvl="1"/>
            <a:r>
              <a:t>Body Level Two</a:t>
            </a:r>
          </a:p>
          <a:p>
            <a:pPr lvl="2"/>
            <a:r>
              <a:t>Body Level Three</a:t>
            </a:r>
          </a:p>
          <a:p>
            <a:pPr lvl="3"/>
            <a:r>
              <a:t>Body Level Four</a:t>
            </a:r>
          </a:p>
          <a:p>
            <a:pPr lvl="4"/>
            <a:r>
              <a:t>Body Level Five</a:t>
            </a:r>
          </a:p>
        </p:txBody>
      </p:sp>
      <p:sp>
        <p:nvSpPr>
          <p:cNvPr id="57" name="Slide Number"/>
          <p:cNvSpPr txBox="1"/>
          <p:nvPr>
            <p:ph type="sldNum" sz="quarter" idx="2"/>
          </p:nvPr>
        </p:nvSpPr>
        <p:spPr>
          <a:xfrm>
            <a:off x="7620011" y="17551"/>
            <a:ext cx="259490" cy="239230"/>
          </a:xfrm>
          <a:prstGeom prst="rect">
            <a:avLst/>
          </a:prstGeom>
        </p:spPr>
        <p:txBody>
          <a:bodyPr/>
          <a:lstStyle/>
          <a:p>
            <a:pPr/>
            <a:fld id="{86CB4B4D-7CA3-9044-876B-883B54F8677D}" type="slidenum"/>
          </a:p>
        </p:txBody>
      </p:sp>
      <p:sp>
        <p:nvSpPr>
          <p:cNvPr id="58" name="Google Shape;45;p31"/>
          <p:cNvSpPr/>
          <p:nvPr/>
        </p:nvSpPr>
        <p:spPr>
          <a:xfrm>
            <a:off x="457209" y="4857750"/>
            <a:ext cx="8237702" cy="0"/>
          </a:xfrm>
          <a:prstGeom prst="line">
            <a:avLst/>
          </a:prstGeom>
          <a:ln>
            <a:solidFill>
              <a:schemeClr val="accent1"/>
            </a:solidFill>
          </a:ln>
        </p:spPr>
        <p:txBody>
          <a:bodyPr lIns="45719" rIns="45719"/>
          <a:lstStyle/>
          <a:p>
            <a:pPr/>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Only">
    <p:spTree>
      <p:nvGrpSpPr>
        <p:cNvPr id="1" name=""/>
        <p:cNvGrpSpPr/>
        <p:nvPr/>
      </p:nvGrpSpPr>
      <p:grpSpPr>
        <a:xfrm>
          <a:off x="0" y="0"/>
          <a:ext cx="0" cy="0"/>
          <a:chOff x="0" y="0"/>
          <a:chExt cx="0" cy="0"/>
        </a:xfrm>
      </p:grpSpPr>
      <p:sp>
        <p:nvSpPr>
          <p:cNvPr id="65" name="Google Shape;6;p21"/>
          <p:cNvSpPr/>
          <p:nvPr/>
        </p:nvSpPr>
        <p:spPr>
          <a:xfrm>
            <a:off x="0" y="165588"/>
            <a:ext cx="9144000" cy="171301"/>
          </a:xfrm>
          <a:prstGeom prst="rect">
            <a:avLst/>
          </a:prstGeom>
          <a:solidFill>
            <a:srgbClr val="FFFFFF"/>
          </a:solidFill>
          <a:ln w="12700">
            <a:miter lim="400000"/>
          </a:ln>
        </p:spPr>
        <p:txBody>
          <a:bodyPr lIns="45719" rIns="45719" anchor="ctr"/>
          <a:lstStyle/>
          <a:p>
            <a:pPr algn="ctr">
              <a:defRPr sz="1700">
                <a:solidFill>
                  <a:srgbClr val="FFFFFF"/>
                </a:solidFill>
              </a:defRPr>
            </a:pPr>
          </a:p>
        </p:txBody>
      </p:sp>
      <p:pic>
        <p:nvPicPr>
          <p:cNvPr id="66" name="Google Shape;12;p21" descr="Google Shape;12;p21"/>
          <p:cNvPicPr>
            <a:picLocks noChangeAspect="1"/>
          </p:cNvPicPr>
          <p:nvPr/>
        </p:nvPicPr>
        <p:blipFill>
          <a:blip r:embed="rId2">
            <a:extLst/>
          </a:blip>
          <a:stretch>
            <a:fillRect/>
          </a:stretch>
        </p:blipFill>
        <p:spPr>
          <a:xfrm>
            <a:off x="0" y="4873752"/>
            <a:ext cx="9144000" cy="281179"/>
          </a:xfrm>
          <a:prstGeom prst="rect">
            <a:avLst/>
          </a:prstGeom>
          <a:ln w="12700">
            <a:miter lim="400000"/>
          </a:ln>
        </p:spPr>
      </p:pic>
      <p:sp>
        <p:nvSpPr>
          <p:cNvPr id="67" name="Google Shape;14;p21"/>
          <p:cNvSpPr txBox="1"/>
          <p:nvPr/>
        </p:nvSpPr>
        <p:spPr>
          <a:xfrm>
            <a:off x="72432" y="4989614"/>
            <a:ext cx="3091775"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900">
                <a:solidFill>
                  <a:srgbClr val="FFFFFF"/>
                </a:solidFill>
                <a:latin typeface="Open Sans"/>
                <a:ea typeface="Open Sans"/>
                <a:cs typeface="Open Sans"/>
                <a:sym typeface="Open Sans"/>
              </a:defRPr>
            </a:pPr>
            <a:r>
              <a:t>*Strictly Internal and Confidential</a:t>
            </a:r>
            <a:r>
              <a:rPr sz="700"/>
              <a:t> </a:t>
            </a:r>
          </a:p>
        </p:txBody>
      </p:sp>
      <p:sp>
        <p:nvSpPr>
          <p:cNvPr id="68" name="Title Text"/>
          <p:cNvSpPr txBox="1"/>
          <p:nvPr>
            <p:ph type="title"/>
          </p:nvPr>
        </p:nvSpPr>
        <p:spPr>
          <a:prstGeom prst="rect">
            <a:avLst/>
          </a:prstGeom>
        </p:spPr>
        <p:txBody>
          <a:bodyPr/>
          <a:lstStyle>
            <a:lvl1pPr>
              <a:defRPr b="0" sz="3200">
                <a:latin typeface="+mn-lt"/>
                <a:ea typeface="+mn-ea"/>
                <a:cs typeface="+mn-cs"/>
                <a:sym typeface="Arial"/>
              </a:defRPr>
            </a:lvl1pPr>
          </a:lstStyle>
          <a:p>
            <a:pPr/>
            <a:r>
              <a:t>Title Text</a:t>
            </a:r>
          </a:p>
        </p:txBody>
      </p:sp>
      <p:sp>
        <p:nvSpPr>
          <p:cNvPr id="69" name="Google Shape;48;p32"/>
          <p:cNvSpPr/>
          <p:nvPr/>
        </p:nvSpPr>
        <p:spPr>
          <a:xfrm>
            <a:off x="685804" y="832713"/>
            <a:ext cx="1015801" cy="1"/>
          </a:xfrm>
          <a:prstGeom prst="line">
            <a:avLst/>
          </a:prstGeom>
          <a:ln w="66675">
            <a:solidFill>
              <a:schemeClr val="accent2"/>
            </a:solidFill>
          </a:ln>
        </p:spPr>
        <p:txBody>
          <a:bodyPr lIns="45719" rIns="45719"/>
          <a:lstStyle/>
          <a:p>
            <a:pPr/>
          </a:p>
        </p:txBody>
      </p:sp>
      <p:sp>
        <p:nvSpPr>
          <p:cNvPr id="70" name="Slide Number"/>
          <p:cNvSpPr txBox="1"/>
          <p:nvPr>
            <p:ph type="sldNum" sz="quarter" idx="2"/>
          </p:nvPr>
        </p:nvSpPr>
        <p:spPr>
          <a:xfrm>
            <a:off x="457200" y="4910791"/>
            <a:ext cx="259489" cy="23923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Title Subtitle and Content">
    <p:spTree>
      <p:nvGrpSpPr>
        <p:cNvPr id="1" name=""/>
        <p:cNvGrpSpPr/>
        <p:nvPr/>
      </p:nvGrpSpPr>
      <p:grpSpPr>
        <a:xfrm>
          <a:off x="0" y="0"/>
          <a:ext cx="0" cy="0"/>
          <a:chOff x="0" y="0"/>
          <a:chExt cx="0" cy="0"/>
        </a:xfrm>
      </p:grpSpPr>
      <p:sp>
        <p:nvSpPr>
          <p:cNvPr id="77" name="Google Shape;6;p21"/>
          <p:cNvSpPr/>
          <p:nvPr/>
        </p:nvSpPr>
        <p:spPr>
          <a:xfrm>
            <a:off x="0" y="165588"/>
            <a:ext cx="9144000" cy="171301"/>
          </a:xfrm>
          <a:prstGeom prst="rect">
            <a:avLst/>
          </a:prstGeom>
          <a:solidFill>
            <a:srgbClr val="FFFFFF"/>
          </a:solidFill>
          <a:ln w="12700">
            <a:miter lim="400000"/>
          </a:ln>
        </p:spPr>
        <p:txBody>
          <a:bodyPr lIns="45719" rIns="45719" anchor="ctr"/>
          <a:lstStyle/>
          <a:p>
            <a:pPr algn="ctr">
              <a:defRPr sz="1700">
                <a:solidFill>
                  <a:srgbClr val="FFFFFF"/>
                </a:solidFill>
              </a:defRPr>
            </a:pPr>
          </a:p>
        </p:txBody>
      </p:sp>
      <p:pic>
        <p:nvPicPr>
          <p:cNvPr id="78" name="Google Shape;12;p21" descr="Google Shape;12;p21"/>
          <p:cNvPicPr>
            <a:picLocks noChangeAspect="1"/>
          </p:cNvPicPr>
          <p:nvPr/>
        </p:nvPicPr>
        <p:blipFill>
          <a:blip r:embed="rId2">
            <a:extLst/>
          </a:blip>
          <a:stretch>
            <a:fillRect/>
          </a:stretch>
        </p:blipFill>
        <p:spPr>
          <a:xfrm>
            <a:off x="0" y="4873752"/>
            <a:ext cx="9144000" cy="281179"/>
          </a:xfrm>
          <a:prstGeom prst="rect">
            <a:avLst/>
          </a:prstGeom>
          <a:ln w="12700">
            <a:miter lim="400000"/>
          </a:ln>
        </p:spPr>
      </p:pic>
      <p:sp>
        <p:nvSpPr>
          <p:cNvPr id="79" name="Google Shape;14;p21"/>
          <p:cNvSpPr txBox="1"/>
          <p:nvPr/>
        </p:nvSpPr>
        <p:spPr>
          <a:xfrm>
            <a:off x="72432" y="4989614"/>
            <a:ext cx="3091775"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900">
                <a:solidFill>
                  <a:srgbClr val="FFFFFF"/>
                </a:solidFill>
                <a:latin typeface="Open Sans"/>
                <a:ea typeface="Open Sans"/>
                <a:cs typeface="Open Sans"/>
                <a:sym typeface="Open Sans"/>
              </a:defRPr>
            </a:pPr>
            <a:r>
              <a:t>*Strictly Internal and Confidential</a:t>
            </a:r>
            <a:r>
              <a:rPr sz="700"/>
              <a:t> </a:t>
            </a:r>
          </a:p>
        </p:txBody>
      </p:sp>
      <p:sp>
        <p:nvSpPr>
          <p:cNvPr id="80" name="Title Text"/>
          <p:cNvSpPr txBox="1"/>
          <p:nvPr>
            <p:ph type="title"/>
          </p:nvPr>
        </p:nvSpPr>
        <p:spPr>
          <a:prstGeom prst="rect">
            <a:avLst/>
          </a:prstGeom>
        </p:spPr>
        <p:txBody>
          <a:bodyPr/>
          <a:lstStyle>
            <a:lvl1pPr>
              <a:defRPr b="0" sz="3200">
                <a:latin typeface="+mn-lt"/>
                <a:ea typeface="+mn-ea"/>
                <a:cs typeface="+mn-cs"/>
                <a:sym typeface="Arial"/>
              </a:defRPr>
            </a:lvl1pPr>
          </a:lstStyle>
          <a:p>
            <a:pPr/>
            <a:r>
              <a:t>Title Text</a:t>
            </a:r>
          </a:p>
        </p:txBody>
      </p:sp>
      <p:sp>
        <p:nvSpPr>
          <p:cNvPr id="81" name="Body Level One…"/>
          <p:cNvSpPr txBox="1"/>
          <p:nvPr>
            <p:ph type="body" idx="1"/>
          </p:nvPr>
        </p:nvSpPr>
        <p:spPr>
          <a:xfrm>
            <a:off x="688658" y="1142875"/>
            <a:ext cx="7766702" cy="3482700"/>
          </a:xfrm>
          <a:prstGeom prst="rect">
            <a:avLst/>
          </a:prstGeom>
        </p:spPr>
        <p:txBody>
          <a:bodyPr/>
          <a:lstStyle>
            <a:lvl1pPr>
              <a:buClr>
                <a:srgbClr val="ED1951"/>
              </a:buClr>
            </a:lvl1pPr>
            <a:lvl2pPr>
              <a:buClr>
                <a:srgbClr val="ED1951"/>
              </a:buClr>
            </a:lvl2pPr>
            <a:lvl3pPr>
              <a:buClr>
                <a:srgbClr val="ED1951"/>
              </a:buClr>
            </a:lvl3pPr>
            <a:lvl4pPr>
              <a:buClr>
                <a:srgbClr val="ED1951"/>
              </a:buClr>
            </a:lvl4pPr>
            <a:lvl5pPr>
              <a:buClr>
                <a:srgbClr val="ED1951"/>
              </a:buClr>
            </a:lvl5pPr>
          </a:lstStyle>
          <a:p>
            <a:pPr/>
            <a:r>
              <a:t>Body Level One</a:t>
            </a:r>
          </a:p>
          <a:p>
            <a:pPr lvl="1"/>
            <a:r>
              <a:t>Body Level Two</a:t>
            </a:r>
          </a:p>
          <a:p>
            <a:pPr lvl="2"/>
            <a:r>
              <a:t>Body Level Three</a:t>
            </a:r>
          </a:p>
          <a:p>
            <a:pPr lvl="3"/>
            <a:r>
              <a:t>Body Level Four</a:t>
            </a:r>
          </a:p>
          <a:p>
            <a:pPr lvl="4"/>
            <a:r>
              <a:t>Body Level Five</a:t>
            </a:r>
          </a:p>
        </p:txBody>
      </p:sp>
      <p:sp>
        <p:nvSpPr>
          <p:cNvPr id="82" name="Google Shape;54;p33"/>
          <p:cNvSpPr txBox="1"/>
          <p:nvPr>
            <p:ph type="body" sz="quarter" idx="21"/>
          </p:nvPr>
        </p:nvSpPr>
        <p:spPr>
          <a:xfrm>
            <a:off x="704438" y="858145"/>
            <a:ext cx="7772401" cy="304801"/>
          </a:xfrm>
          <a:prstGeom prst="rect">
            <a:avLst/>
          </a:prstGeom>
        </p:spPr>
        <p:txBody>
          <a:bodyPr/>
          <a:lstStyle/>
          <a:p>
            <a:pPr marL="228600" indent="0">
              <a:lnSpc>
                <a:spcPct val="86000"/>
              </a:lnSpc>
              <a:spcBef>
                <a:spcPts val="0"/>
              </a:spcBef>
              <a:buClrTx/>
              <a:buSzTx/>
              <a:buFontTx/>
              <a:buNone/>
              <a:defRPr sz="1400">
                <a:solidFill>
                  <a:srgbClr val="666666"/>
                </a:solidFill>
                <a:latin typeface="+mn-lt"/>
                <a:ea typeface="+mn-ea"/>
                <a:cs typeface="+mn-cs"/>
                <a:sym typeface="Arial"/>
              </a:defRPr>
            </a:pPr>
          </a:p>
        </p:txBody>
      </p:sp>
      <p:sp>
        <p:nvSpPr>
          <p:cNvPr id="83" name="Google Shape;55;p33"/>
          <p:cNvSpPr/>
          <p:nvPr/>
        </p:nvSpPr>
        <p:spPr>
          <a:xfrm>
            <a:off x="685803" y="832713"/>
            <a:ext cx="1015801" cy="1"/>
          </a:xfrm>
          <a:prstGeom prst="line">
            <a:avLst/>
          </a:prstGeom>
          <a:ln w="66675">
            <a:solidFill>
              <a:schemeClr val="accent2"/>
            </a:solidFill>
          </a:ln>
        </p:spPr>
        <p:txBody>
          <a:bodyPr lIns="45719" rIns="45719"/>
          <a:lstStyle/>
          <a:p>
            <a:pPr/>
          </a:p>
        </p:txBody>
      </p:sp>
      <p:sp>
        <p:nvSpPr>
          <p:cNvPr id="84" name="Slide Number"/>
          <p:cNvSpPr txBox="1"/>
          <p:nvPr>
            <p:ph type="sldNum" sz="quarter" idx="2"/>
          </p:nvPr>
        </p:nvSpPr>
        <p:spPr>
          <a:xfrm>
            <a:off x="457200" y="4910791"/>
            <a:ext cx="259489" cy="23923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1_Title and Content">
    <p:spTree>
      <p:nvGrpSpPr>
        <p:cNvPr id="1" name=""/>
        <p:cNvGrpSpPr/>
        <p:nvPr/>
      </p:nvGrpSpPr>
      <p:grpSpPr>
        <a:xfrm>
          <a:off x="0" y="0"/>
          <a:ext cx="0" cy="0"/>
          <a:chOff x="0" y="0"/>
          <a:chExt cx="0" cy="0"/>
        </a:xfrm>
      </p:grpSpPr>
      <p:sp>
        <p:nvSpPr>
          <p:cNvPr id="91" name="Google Shape;6;p21"/>
          <p:cNvSpPr/>
          <p:nvPr/>
        </p:nvSpPr>
        <p:spPr>
          <a:xfrm>
            <a:off x="0" y="165588"/>
            <a:ext cx="9144000" cy="171301"/>
          </a:xfrm>
          <a:prstGeom prst="rect">
            <a:avLst/>
          </a:prstGeom>
          <a:solidFill>
            <a:srgbClr val="FFFFFF"/>
          </a:solidFill>
          <a:ln w="12700">
            <a:miter lim="400000"/>
          </a:ln>
        </p:spPr>
        <p:txBody>
          <a:bodyPr lIns="45719" rIns="45719" anchor="ctr"/>
          <a:lstStyle/>
          <a:p>
            <a:pPr algn="ctr">
              <a:defRPr sz="1700">
                <a:solidFill>
                  <a:srgbClr val="FFFFFF"/>
                </a:solidFill>
              </a:defRPr>
            </a:pPr>
          </a:p>
        </p:txBody>
      </p:sp>
      <p:pic>
        <p:nvPicPr>
          <p:cNvPr id="92" name="Google Shape;12;p21" descr="Google Shape;12;p21"/>
          <p:cNvPicPr>
            <a:picLocks noChangeAspect="1"/>
          </p:cNvPicPr>
          <p:nvPr/>
        </p:nvPicPr>
        <p:blipFill>
          <a:blip r:embed="rId2">
            <a:extLst/>
          </a:blip>
          <a:stretch>
            <a:fillRect/>
          </a:stretch>
        </p:blipFill>
        <p:spPr>
          <a:xfrm>
            <a:off x="0" y="4873752"/>
            <a:ext cx="9144000" cy="281179"/>
          </a:xfrm>
          <a:prstGeom prst="rect">
            <a:avLst/>
          </a:prstGeom>
          <a:ln w="12700">
            <a:miter lim="400000"/>
          </a:ln>
        </p:spPr>
      </p:pic>
      <p:sp>
        <p:nvSpPr>
          <p:cNvPr id="93" name="Google Shape;14;p21"/>
          <p:cNvSpPr txBox="1"/>
          <p:nvPr/>
        </p:nvSpPr>
        <p:spPr>
          <a:xfrm>
            <a:off x="72432" y="4989614"/>
            <a:ext cx="3091775"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900">
                <a:solidFill>
                  <a:srgbClr val="FFFFFF"/>
                </a:solidFill>
                <a:latin typeface="Open Sans"/>
                <a:ea typeface="Open Sans"/>
                <a:cs typeface="Open Sans"/>
                <a:sym typeface="Open Sans"/>
              </a:defRPr>
            </a:pPr>
            <a:r>
              <a:t>*Strictly Internal and Confidential</a:t>
            </a:r>
            <a:r>
              <a:rPr sz="700"/>
              <a:t> </a:t>
            </a:r>
          </a:p>
        </p:txBody>
      </p:sp>
      <p:pic>
        <p:nvPicPr>
          <p:cNvPr id="94" name="Google Shape;59;p34" descr="Google Shape;59;p34"/>
          <p:cNvPicPr>
            <a:picLocks noChangeAspect="1"/>
          </p:cNvPicPr>
          <p:nvPr/>
        </p:nvPicPr>
        <p:blipFill>
          <a:blip r:embed="rId3">
            <a:extLst/>
          </a:blip>
          <a:stretch>
            <a:fillRect/>
          </a:stretch>
        </p:blipFill>
        <p:spPr>
          <a:xfrm>
            <a:off x="2" y="4873757"/>
            <a:ext cx="8229612" cy="281180"/>
          </a:xfrm>
          <a:prstGeom prst="rect">
            <a:avLst/>
          </a:prstGeom>
          <a:ln w="12700">
            <a:miter lim="400000"/>
          </a:ln>
        </p:spPr>
      </p:pic>
      <p:sp>
        <p:nvSpPr>
          <p:cNvPr id="95" name="Title Text"/>
          <p:cNvSpPr txBox="1"/>
          <p:nvPr>
            <p:ph type="title"/>
          </p:nvPr>
        </p:nvSpPr>
        <p:spPr>
          <a:xfrm>
            <a:off x="441167" y="12459"/>
            <a:ext cx="8229601" cy="743101"/>
          </a:xfrm>
          <a:prstGeom prst="rect">
            <a:avLst/>
          </a:prstGeom>
        </p:spPr>
        <p:txBody>
          <a:bodyPr/>
          <a:lstStyle/>
          <a:p>
            <a:pPr/>
            <a:r>
              <a:t>Title Text</a:t>
            </a:r>
          </a:p>
        </p:txBody>
      </p:sp>
      <p:sp>
        <p:nvSpPr>
          <p:cNvPr id="96" name="Body Level One…"/>
          <p:cNvSpPr txBox="1"/>
          <p:nvPr>
            <p:ph type="body" idx="1"/>
          </p:nvPr>
        </p:nvSpPr>
        <p:spPr>
          <a:xfrm>
            <a:off x="441167" y="1001213"/>
            <a:ext cx="8229601" cy="3657601"/>
          </a:xfrm>
          <a:prstGeom prst="rect">
            <a:avLst/>
          </a:prstGeom>
        </p:spPr>
        <p:txBody>
          <a:bodyPr/>
          <a:lstStyle>
            <a:lvl1pPr indent="-325754"/>
            <a:lvl2pPr marL="979550" indent="-390905"/>
            <a:lvl4pPr marL="2000250" indent="-514350"/>
            <a:lvl5pPr marL="2530928" indent="-587828"/>
          </a:lstStyle>
          <a:p>
            <a:pPr/>
            <a:r>
              <a:t>Body Level One</a:t>
            </a:r>
          </a:p>
          <a:p>
            <a:pPr lvl="1"/>
            <a:r>
              <a:t>Body Level Two</a:t>
            </a:r>
          </a:p>
          <a:p>
            <a:pPr lvl="2"/>
            <a:r>
              <a:t>Body Level Three</a:t>
            </a:r>
          </a:p>
          <a:p>
            <a:pPr lvl="3"/>
            <a:r>
              <a:t>Body Level Four</a:t>
            </a:r>
          </a:p>
          <a:p>
            <a:pPr lvl="4"/>
            <a:r>
              <a:t>Body Level Five</a:t>
            </a:r>
          </a:p>
        </p:txBody>
      </p:sp>
      <p:sp>
        <p:nvSpPr>
          <p:cNvPr id="97" name="Slide Number"/>
          <p:cNvSpPr txBox="1"/>
          <p:nvPr>
            <p:ph type="sldNum" sz="quarter" idx="2"/>
          </p:nvPr>
        </p:nvSpPr>
        <p:spPr>
          <a:xfrm>
            <a:off x="8782874" y="4640587"/>
            <a:ext cx="259490" cy="239230"/>
          </a:xfrm>
          <a:prstGeom prst="rect">
            <a:avLst/>
          </a:prstGeom>
        </p:spPr>
        <p:txBody>
          <a:bodyPr/>
          <a:lstStyle>
            <a:lvl1pPr algn="r"/>
          </a:lstStyle>
          <a:p>
            <a:pPr/>
            <a:fld id="{86CB4B4D-7CA3-9044-876B-883B54F8677D}" type="slidenum"/>
          </a:p>
        </p:txBody>
      </p:sp>
      <p:sp>
        <p:nvSpPr>
          <p:cNvPr id="98" name="Google Shape;63;p34"/>
          <p:cNvSpPr txBox="1"/>
          <p:nvPr/>
        </p:nvSpPr>
        <p:spPr>
          <a:xfrm>
            <a:off x="72432" y="4989614"/>
            <a:ext cx="3091775"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900">
                <a:solidFill>
                  <a:srgbClr val="FFFFFF"/>
                </a:solidFill>
                <a:latin typeface="Open Sans"/>
                <a:ea typeface="Open Sans"/>
                <a:cs typeface="Open Sans"/>
                <a:sym typeface="Open Sans"/>
              </a:defRPr>
            </a:pPr>
            <a:r>
              <a:t>*Strictly Internal and Confidential</a:t>
            </a:r>
            <a:r>
              <a:rPr sz="700"/>
              <a:t> </a:t>
            </a:r>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7_Title and Content">
    <p:spTree>
      <p:nvGrpSpPr>
        <p:cNvPr id="1" name=""/>
        <p:cNvGrpSpPr/>
        <p:nvPr/>
      </p:nvGrpSpPr>
      <p:grpSpPr>
        <a:xfrm>
          <a:off x="0" y="0"/>
          <a:ext cx="0" cy="0"/>
          <a:chOff x="0" y="0"/>
          <a:chExt cx="0" cy="0"/>
        </a:xfrm>
      </p:grpSpPr>
      <p:sp>
        <p:nvSpPr>
          <p:cNvPr id="105" name="Google Shape;6;p21"/>
          <p:cNvSpPr/>
          <p:nvPr/>
        </p:nvSpPr>
        <p:spPr>
          <a:xfrm>
            <a:off x="0" y="165588"/>
            <a:ext cx="9144000" cy="171301"/>
          </a:xfrm>
          <a:prstGeom prst="rect">
            <a:avLst/>
          </a:prstGeom>
          <a:solidFill>
            <a:srgbClr val="FFFFFF"/>
          </a:solidFill>
          <a:ln w="12700">
            <a:miter lim="400000"/>
          </a:ln>
        </p:spPr>
        <p:txBody>
          <a:bodyPr lIns="45719" rIns="45719" anchor="ctr"/>
          <a:lstStyle/>
          <a:p>
            <a:pPr algn="ctr">
              <a:defRPr sz="1700">
                <a:solidFill>
                  <a:srgbClr val="FFFFFF"/>
                </a:solidFill>
              </a:defRPr>
            </a:pPr>
          </a:p>
        </p:txBody>
      </p:sp>
      <p:pic>
        <p:nvPicPr>
          <p:cNvPr id="106" name="Google Shape;12;p21" descr="Google Shape;12;p21"/>
          <p:cNvPicPr>
            <a:picLocks noChangeAspect="1"/>
          </p:cNvPicPr>
          <p:nvPr/>
        </p:nvPicPr>
        <p:blipFill>
          <a:blip r:embed="rId2">
            <a:extLst/>
          </a:blip>
          <a:stretch>
            <a:fillRect/>
          </a:stretch>
        </p:blipFill>
        <p:spPr>
          <a:xfrm>
            <a:off x="0" y="4873752"/>
            <a:ext cx="9144000" cy="281179"/>
          </a:xfrm>
          <a:prstGeom prst="rect">
            <a:avLst/>
          </a:prstGeom>
          <a:ln w="12700">
            <a:miter lim="400000"/>
          </a:ln>
        </p:spPr>
      </p:pic>
      <p:sp>
        <p:nvSpPr>
          <p:cNvPr id="107" name="Google Shape;14;p21"/>
          <p:cNvSpPr txBox="1"/>
          <p:nvPr/>
        </p:nvSpPr>
        <p:spPr>
          <a:xfrm>
            <a:off x="72432" y="4989614"/>
            <a:ext cx="3091775"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900">
                <a:solidFill>
                  <a:srgbClr val="FFFFFF"/>
                </a:solidFill>
                <a:latin typeface="Open Sans"/>
                <a:ea typeface="Open Sans"/>
                <a:cs typeface="Open Sans"/>
                <a:sym typeface="Open Sans"/>
              </a:defRPr>
            </a:pPr>
            <a:r>
              <a:t>*Strictly Internal and Confidential</a:t>
            </a:r>
            <a:r>
              <a:rPr sz="700"/>
              <a:t> </a:t>
            </a:r>
          </a:p>
        </p:txBody>
      </p:sp>
      <p:pic>
        <p:nvPicPr>
          <p:cNvPr id="108" name="Google Shape;65;p35" descr="Google Shape;65;p35"/>
          <p:cNvPicPr>
            <a:picLocks noChangeAspect="1"/>
          </p:cNvPicPr>
          <p:nvPr/>
        </p:nvPicPr>
        <p:blipFill>
          <a:blip r:embed="rId3">
            <a:extLst/>
          </a:blip>
          <a:stretch>
            <a:fillRect/>
          </a:stretch>
        </p:blipFill>
        <p:spPr>
          <a:xfrm>
            <a:off x="2" y="4873752"/>
            <a:ext cx="8891580" cy="273417"/>
          </a:xfrm>
          <a:prstGeom prst="rect">
            <a:avLst/>
          </a:prstGeom>
          <a:ln w="12700">
            <a:miter lim="400000"/>
          </a:ln>
        </p:spPr>
      </p:pic>
      <p:sp>
        <p:nvSpPr>
          <p:cNvPr id="109" name="Title Text"/>
          <p:cNvSpPr txBox="1"/>
          <p:nvPr>
            <p:ph type="title"/>
          </p:nvPr>
        </p:nvSpPr>
        <p:spPr>
          <a:xfrm>
            <a:off x="457200" y="400050"/>
            <a:ext cx="8229600" cy="742801"/>
          </a:xfrm>
          <a:prstGeom prst="rect">
            <a:avLst/>
          </a:prstGeom>
        </p:spPr>
        <p:txBody>
          <a:bodyPr lIns="0" tIns="0" rIns="0" bIns="0" anchor="b"/>
          <a:lstStyle>
            <a:lvl1pPr>
              <a:defRPr sz="2500"/>
            </a:lvl1pPr>
          </a:lstStyle>
          <a:p>
            <a:pPr/>
            <a:r>
              <a:t>Title Text</a:t>
            </a:r>
          </a:p>
        </p:txBody>
      </p:sp>
      <p:sp>
        <p:nvSpPr>
          <p:cNvPr id="110" name="Slide Number"/>
          <p:cNvSpPr txBox="1"/>
          <p:nvPr>
            <p:ph type="sldNum" sz="quarter" idx="2"/>
          </p:nvPr>
        </p:nvSpPr>
        <p:spPr>
          <a:xfrm>
            <a:off x="8736383" y="4636127"/>
            <a:ext cx="306021" cy="289254"/>
          </a:xfrm>
          <a:prstGeom prst="rect">
            <a:avLst/>
          </a:prstGeom>
        </p:spPr>
        <p:txBody>
          <a:bodyPr lIns="33649" tIns="33649" rIns="33649" bIns="33649" anchor="t"/>
          <a:lstStyle>
            <a:lvl1pPr algn="r">
              <a:defRPr sz="1600"/>
            </a:lvl1pPr>
          </a:lstStyle>
          <a:p>
            <a:pPr/>
            <a:fld id="{86CB4B4D-7CA3-9044-876B-883B54F8677D}" type="slidenum"/>
          </a:p>
        </p:txBody>
      </p:sp>
      <p:sp>
        <p:nvSpPr>
          <p:cNvPr id="111" name="Google Shape;71;p35"/>
          <p:cNvSpPr txBox="1"/>
          <p:nvPr/>
        </p:nvSpPr>
        <p:spPr>
          <a:xfrm>
            <a:off x="72432" y="4989614"/>
            <a:ext cx="3091775"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900">
                <a:solidFill>
                  <a:srgbClr val="FFFFFF"/>
                </a:solidFill>
                <a:latin typeface="Open Sans"/>
                <a:ea typeface="Open Sans"/>
                <a:cs typeface="Open Sans"/>
                <a:sym typeface="Open Sans"/>
              </a:defRPr>
            </a:pPr>
            <a:r>
              <a:t>*Strictly Internal and Confidential</a:t>
            </a:r>
            <a:r>
              <a:rPr sz="700"/>
              <a:t> </a:t>
            </a:r>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_AND_BODY_1">
    <p:spTree>
      <p:nvGrpSpPr>
        <p:cNvPr id="1" name=""/>
        <p:cNvGrpSpPr/>
        <p:nvPr/>
      </p:nvGrpSpPr>
      <p:grpSpPr>
        <a:xfrm>
          <a:off x="0" y="0"/>
          <a:ext cx="0" cy="0"/>
          <a:chOff x="0" y="0"/>
          <a:chExt cx="0" cy="0"/>
        </a:xfrm>
      </p:grpSpPr>
      <p:sp>
        <p:nvSpPr>
          <p:cNvPr id="118" name="Google Shape;6;p21"/>
          <p:cNvSpPr/>
          <p:nvPr/>
        </p:nvSpPr>
        <p:spPr>
          <a:xfrm>
            <a:off x="0" y="165588"/>
            <a:ext cx="9144000" cy="171301"/>
          </a:xfrm>
          <a:prstGeom prst="rect">
            <a:avLst/>
          </a:prstGeom>
          <a:solidFill>
            <a:srgbClr val="FFFFFF"/>
          </a:solidFill>
          <a:ln w="12700">
            <a:miter lim="400000"/>
          </a:ln>
        </p:spPr>
        <p:txBody>
          <a:bodyPr lIns="45719" rIns="45719" anchor="ctr"/>
          <a:lstStyle/>
          <a:p>
            <a:pPr algn="ctr">
              <a:defRPr sz="1700">
                <a:solidFill>
                  <a:srgbClr val="FFFFFF"/>
                </a:solidFill>
              </a:defRPr>
            </a:pPr>
          </a:p>
        </p:txBody>
      </p:sp>
      <p:pic>
        <p:nvPicPr>
          <p:cNvPr id="119" name="Google Shape;12;p21" descr="Google Shape;12;p21"/>
          <p:cNvPicPr>
            <a:picLocks noChangeAspect="1"/>
          </p:cNvPicPr>
          <p:nvPr/>
        </p:nvPicPr>
        <p:blipFill>
          <a:blip r:embed="rId2">
            <a:extLst/>
          </a:blip>
          <a:stretch>
            <a:fillRect/>
          </a:stretch>
        </p:blipFill>
        <p:spPr>
          <a:xfrm>
            <a:off x="0" y="4873752"/>
            <a:ext cx="9144000" cy="281179"/>
          </a:xfrm>
          <a:prstGeom prst="rect">
            <a:avLst/>
          </a:prstGeom>
          <a:ln w="12700">
            <a:miter lim="400000"/>
          </a:ln>
        </p:spPr>
      </p:pic>
      <p:sp>
        <p:nvSpPr>
          <p:cNvPr id="120" name="Google Shape;14;p21"/>
          <p:cNvSpPr txBox="1"/>
          <p:nvPr/>
        </p:nvSpPr>
        <p:spPr>
          <a:xfrm>
            <a:off x="72432" y="4989614"/>
            <a:ext cx="3091775"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900">
                <a:solidFill>
                  <a:srgbClr val="FFFFFF"/>
                </a:solidFill>
                <a:latin typeface="Open Sans"/>
                <a:ea typeface="Open Sans"/>
                <a:cs typeface="Open Sans"/>
                <a:sym typeface="Open Sans"/>
              </a:defRPr>
            </a:pPr>
            <a:r>
              <a:t>*Strictly Internal and Confidential</a:t>
            </a:r>
            <a:r>
              <a:rPr sz="700"/>
              <a:t> </a:t>
            </a:r>
          </a:p>
        </p:txBody>
      </p:sp>
      <p:sp>
        <p:nvSpPr>
          <p:cNvPr id="121" name="Title Text"/>
          <p:cNvSpPr txBox="1"/>
          <p:nvPr>
            <p:ph type="title"/>
          </p:nvPr>
        </p:nvSpPr>
        <p:spPr>
          <a:xfrm>
            <a:off x="311699" y="445025"/>
            <a:ext cx="8520602" cy="572701"/>
          </a:xfrm>
          <a:prstGeom prst="rect">
            <a:avLst/>
          </a:prstGeom>
        </p:spPr>
        <p:txBody>
          <a:bodyPr/>
          <a:lstStyle>
            <a:lvl1pPr>
              <a:defRPr b="0" sz="3200">
                <a:latin typeface="Open Sans Light"/>
                <a:ea typeface="Open Sans Light"/>
                <a:cs typeface="Open Sans Light"/>
                <a:sym typeface="Open Sans Light"/>
              </a:defRPr>
            </a:lvl1pPr>
          </a:lstStyle>
          <a:p>
            <a:pPr/>
            <a:r>
              <a:t>Title Text</a:t>
            </a:r>
          </a:p>
        </p:txBody>
      </p:sp>
      <p:sp>
        <p:nvSpPr>
          <p:cNvPr id="122" name="Body Level One…"/>
          <p:cNvSpPr txBox="1"/>
          <p:nvPr>
            <p:ph type="body" idx="1"/>
          </p:nvPr>
        </p:nvSpPr>
        <p:spPr>
          <a:xfrm>
            <a:off x="311699" y="1152475"/>
            <a:ext cx="8520602" cy="3416400"/>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2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_AND_BODY_2">
    <p:spTree>
      <p:nvGrpSpPr>
        <p:cNvPr id="1" name=""/>
        <p:cNvGrpSpPr/>
        <p:nvPr/>
      </p:nvGrpSpPr>
      <p:grpSpPr>
        <a:xfrm>
          <a:off x="0" y="0"/>
          <a:ext cx="0" cy="0"/>
          <a:chOff x="0" y="0"/>
          <a:chExt cx="0" cy="0"/>
        </a:xfrm>
      </p:grpSpPr>
      <p:sp>
        <p:nvSpPr>
          <p:cNvPr id="130" name="Google Shape;6;p21"/>
          <p:cNvSpPr/>
          <p:nvPr/>
        </p:nvSpPr>
        <p:spPr>
          <a:xfrm>
            <a:off x="0" y="165588"/>
            <a:ext cx="9144000" cy="171301"/>
          </a:xfrm>
          <a:prstGeom prst="rect">
            <a:avLst/>
          </a:prstGeom>
          <a:solidFill>
            <a:srgbClr val="FFFFFF"/>
          </a:solidFill>
          <a:ln w="12700">
            <a:miter lim="400000"/>
          </a:ln>
        </p:spPr>
        <p:txBody>
          <a:bodyPr lIns="45719" rIns="45719" anchor="ctr"/>
          <a:lstStyle/>
          <a:p>
            <a:pPr algn="ctr">
              <a:defRPr sz="1700">
                <a:solidFill>
                  <a:srgbClr val="FFFFFF"/>
                </a:solidFill>
              </a:defRPr>
            </a:pPr>
          </a:p>
        </p:txBody>
      </p:sp>
      <p:pic>
        <p:nvPicPr>
          <p:cNvPr id="131" name="Google Shape;12;p21" descr="Google Shape;12;p21"/>
          <p:cNvPicPr>
            <a:picLocks noChangeAspect="1"/>
          </p:cNvPicPr>
          <p:nvPr/>
        </p:nvPicPr>
        <p:blipFill>
          <a:blip r:embed="rId2">
            <a:extLst/>
          </a:blip>
          <a:stretch>
            <a:fillRect/>
          </a:stretch>
        </p:blipFill>
        <p:spPr>
          <a:xfrm>
            <a:off x="0" y="4873752"/>
            <a:ext cx="9144000" cy="281179"/>
          </a:xfrm>
          <a:prstGeom prst="rect">
            <a:avLst/>
          </a:prstGeom>
          <a:ln w="12700">
            <a:miter lim="400000"/>
          </a:ln>
        </p:spPr>
      </p:pic>
      <p:sp>
        <p:nvSpPr>
          <p:cNvPr id="132" name="Google Shape;14;p21"/>
          <p:cNvSpPr txBox="1"/>
          <p:nvPr/>
        </p:nvSpPr>
        <p:spPr>
          <a:xfrm>
            <a:off x="72432" y="4989614"/>
            <a:ext cx="3091775"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900">
                <a:solidFill>
                  <a:srgbClr val="FFFFFF"/>
                </a:solidFill>
                <a:latin typeface="Open Sans"/>
                <a:ea typeface="Open Sans"/>
                <a:cs typeface="Open Sans"/>
                <a:sym typeface="Open Sans"/>
              </a:defRPr>
            </a:pPr>
            <a:r>
              <a:t>*Strictly Internal and Confidential</a:t>
            </a:r>
            <a:r>
              <a:rPr sz="700"/>
              <a:t> </a:t>
            </a:r>
          </a:p>
        </p:txBody>
      </p:sp>
      <p:sp>
        <p:nvSpPr>
          <p:cNvPr id="133" name="Title Text"/>
          <p:cNvSpPr txBox="1"/>
          <p:nvPr>
            <p:ph type="title"/>
          </p:nvPr>
        </p:nvSpPr>
        <p:spPr>
          <a:xfrm>
            <a:off x="311699" y="445025"/>
            <a:ext cx="8520602" cy="572701"/>
          </a:xfrm>
          <a:prstGeom prst="rect">
            <a:avLst/>
          </a:prstGeom>
        </p:spPr>
        <p:txBody>
          <a:bodyPr/>
          <a:lstStyle>
            <a:lvl1pPr>
              <a:defRPr b="0" sz="3200">
                <a:latin typeface="Open Sans Light"/>
                <a:ea typeface="Open Sans Light"/>
                <a:cs typeface="Open Sans Light"/>
                <a:sym typeface="Open Sans Light"/>
              </a:defRPr>
            </a:lvl1pPr>
          </a:lstStyle>
          <a:p>
            <a:pPr/>
            <a:r>
              <a:t>Title Text</a:t>
            </a:r>
          </a:p>
        </p:txBody>
      </p:sp>
      <p:sp>
        <p:nvSpPr>
          <p:cNvPr id="134" name="Body Level One…"/>
          <p:cNvSpPr txBox="1"/>
          <p:nvPr>
            <p:ph type="body" idx="1"/>
          </p:nvPr>
        </p:nvSpPr>
        <p:spPr>
          <a:xfrm>
            <a:off x="311699" y="1152475"/>
            <a:ext cx="8520602" cy="3416400"/>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35" name="Slide Number"/>
          <p:cNvSpPr txBox="1"/>
          <p:nvPr>
            <p:ph type="sldNum" sz="quarter" idx="2"/>
          </p:nvPr>
        </p:nvSpPr>
        <p:spPr>
          <a:xfrm>
            <a:off x="8472458" y="4740402"/>
            <a:ext cx="259490" cy="23923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2_Title Subtitle Only">
    <p:spTree>
      <p:nvGrpSpPr>
        <p:cNvPr id="1" name=""/>
        <p:cNvGrpSpPr/>
        <p:nvPr/>
      </p:nvGrpSpPr>
      <p:grpSpPr>
        <a:xfrm>
          <a:off x="0" y="0"/>
          <a:ext cx="0" cy="0"/>
          <a:chOff x="0" y="0"/>
          <a:chExt cx="0" cy="0"/>
        </a:xfrm>
      </p:grpSpPr>
      <p:sp>
        <p:nvSpPr>
          <p:cNvPr id="142" name="Google Shape;6;p21"/>
          <p:cNvSpPr/>
          <p:nvPr/>
        </p:nvSpPr>
        <p:spPr>
          <a:xfrm>
            <a:off x="0" y="165588"/>
            <a:ext cx="9144000" cy="171301"/>
          </a:xfrm>
          <a:prstGeom prst="rect">
            <a:avLst/>
          </a:prstGeom>
          <a:solidFill>
            <a:srgbClr val="FFFFFF"/>
          </a:solidFill>
          <a:ln w="12700">
            <a:miter lim="400000"/>
          </a:ln>
        </p:spPr>
        <p:txBody>
          <a:bodyPr lIns="45719" rIns="45719" anchor="ctr"/>
          <a:lstStyle/>
          <a:p>
            <a:pPr algn="ctr">
              <a:defRPr sz="1700">
                <a:solidFill>
                  <a:srgbClr val="FFFFFF"/>
                </a:solidFill>
              </a:defRPr>
            </a:pPr>
          </a:p>
        </p:txBody>
      </p:sp>
      <p:pic>
        <p:nvPicPr>
          <p:cNvPr id="143" name="Google Shape;12;p21" descr="Google Shape;12;p21"/>
          <p:cNvPicPr>
            <a:picLocks noChangeAspect="1"/>
          </p:cNvPicPr>
          <p:nvPr/>
        </p:nvPicPr>
        <p:blipFill>
          <a:blip r:embed="rId2">
            <a:extLst/>
          </a:blip>
          <a:stretch>
            <a:fillRect/>
          </a:stretch>
        </p:blipFill>
        <p:spPr>
          <a:xfrm>
            <a:off x="0" y="4873752"/>
            <a:ext cx="9144000" cy="281179"/>
          </a:xfrm>
          <a:prstGeom prst="rect">
            <a:avLst/>
          </a:prstGeom>
          <a:ln w="12700">
            <a:miter lim="400000"/>
          </a:ln>
        </p:spPr>
      </p:pic>
      <p:sp>
        <p:nvSpPr>
          <p:cNvPr id="144" name="Google Shape;14;p21"/>
          <p:cNvSpPr txBox="1"/>
          <p:nvPr/>
        </p:nvSpPr>
        <p:spPr>
          <a:xfrm>
            <a:off x="72432" y="4989614"/>
            <a:ext cx="3091775"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900">
                <a:solidFill>
                  <a:srgbClr val="FFFFFF"/>
                </a:solidFill>
                <a:latin typeface="Open Sans"/>
                <a:ea typeface="Open Sans"/>
                <a:cs typeface="Open Sans"/>
                <a:sym typeface="Open Sans"/>
              </a:defRPr>
            </a:pPr>
            <a:r>
              <a:t>*Strictly Internal and Confidential</a:t>
            </a:r>
            <a:r>
              <a:rPr sz="700"/>
              <a:t> </a:t>
            </a:r>
          </a:p>
        </p:txBody>
      </p:sp>
      <p:sp>
        <p:nvSpPr>
          <p:cNvPr id="145" name="Google Shape;89;p13"/>
          <p:cNvSpPr/>
          <p:nvPr/>
        </p:nvSpPr>
        <p:spPr>
          <a:xfrm>
            <a:off x="578924" y="1844516"/>
            <a:ext cx="1015801" cy="1"/>
          </a:xfrm>
          <a:prstGeom prst="line">
            <a:avLst/>
          </a:prstGeom>
          <a:ln w="66675">
            <a:solidFill>
              <a:srgbClr val="FF9300"/>
            </a:solidFill>
          </a:ln>
        </p:spPr>
        <p:txBody>
          <a:bodyPr lIns="45719" rIns="45719"/>
          <a:lstStyle/>
          <a:p>
            <a:pPr/>
          </a:p>
        </p:txBody>
      </p:sp>
      <p:sp>
        <p:nvSpPr>
          <p:cNvPr id="146" name="Slide Number"/>
          <p:cNvSpPr txBox="1"/>
          <p:nvPr>
            <p:ph type="sldNum" sz="quarter" idx="2"/>
          </p:nvPr>
        </p:nvSpPr>
        <p:spPr>
          <a:xfrm>
            <a:off x="8990865" y="4873185"/>
            <a:ext cx="127001" cy="127001"/>
          </a:xfrm>
          <a:prstGeom prst="rect">
            <a:avLst/>
          </a:prstGeom>
        </p:spPr>
        <p:txBody>
          <a:bodyPr lIns="0" tIns="0" rIns="0" bIns="0" anchor="b"/>
          <a:lstStyle>
            <a:lvl1pPr algn="r">
              <a:defRPr sz="600">
                <a:solidFill>
                  <a:srgbClr val="333333"/>
                </a:solidFill>
                <a:latin typeface="+mj-lt"/>
                <a:ea typeface="+mj-ea"/>
                <a:cs typeface="+mj-cs"/>
                <a:sym typeface="Helvetica"/>
              </a:defRPr>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Google Shape;6;p21"/>
          <p:cNvSpPr/>
          <p:nvPr/>
        </p:nvSpPr>
        <p:spPr>
          <a:xfrm>
            <a:off x="0" y="165588"/>
            <a:ext cx="9144000" cy="171301"/>
          </a:xfrm>
          <a:prstGeom prst="rect">
            <a:avLst/>
          </a:prstGeom>
          <a:solidFill>
            <a:srgbClr val="FFFFFF"/>
          </a:solidFill>
          <a:ln w="12700">
            <a:miter lim="400000"/>
          </a:ln>
        </p:spPr>
        <p:txBody>
          <a:bodyPr lIns="45719" rIns="45719" anchor="ctr"/>
          <a:lstStyle/>
          <a:p>
            <a:pPr algn="ctr">
              <a:defRPr sz="1700">
                <a:solidFill>
                  <a:srgbClr val="FFFFFF"/>
                </a:solidFill>
              </a:defRPr>
            </a:pPr>
          </a:p>
        </p:txBody>
      </p:sp>
      <p:pic>
        <p:nvPicPr>
          <p:cNvPr id="3" name="Google Shape;12;p21" descr="Google Shape;12;p21"/>
          <p:cNvPicPr>
            <a:picLocks noChangeAspect="1"/>
          </p:cNvPicPr>
          <p:nvPr/>
        </p:nvPicPr>
        <p:blipFill>
          <a:blip r:embed="rId2">
            <a:extLst/>
          </a:blip>
          <a:stretch>
            <a:fillRect/>
          </a:stretch>
        </p:blipFill>
        <p:spPr>
          <a:xfrm>
            <a:off x="0" y="4873752"/>
            <a:ext cx="9144000" cy="281179"/>
          </a:xfrm>
          <a:prstGeom prst="rect">
            <a:avLst/>
          </a:prstGeom>
          <a:ln w="12700">
            <a:miter lim="400000"/>
          </a:ln>
        </p:spPr>
      </p:pic>
      <p:sp>
        <p:nvSpPr>
          <p:cNvPr id="4" name="Google Shape;14;p21"/>
          <p:cNvSpPr txBox="1"/>
          <p:nvPr/>
        </p:nvSpPr>
        <p:spPr>
          <a:xfrm>
            <a:off x="72432" y="4989614"/>
            <a:ext cx="3091775"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900">
                <a:solidFill>
                  <a:srgbClr val="FFFFFF"/>
                </a:solidFill>
                <a:latin typeface="Open Sans"/>
                <a:ea typeface="Open Sans"/>
                <a:cs typeface="Open Sans"/>
                <a:sym typeface="Open Sans"/>
              </a:defRPr>
            </a:pPr>
            <a:r>
              <a:t>*Strictly Internal and Confidential</a:t>
            </a:r>
            <a:r>
              <a:rPr sz="700"/>
              <a:t> </a:t>
            </a:r>
          </a:p>
        </p:txBody>
      </p:sp>
      <p:pic>
        <p:nvPicPr>
          <p:cNvPr id="5" name="Google Shape;19;p23" descr="Google Shape;19;p23"/>
          <p:cNvPicPr>
            <a:picLocks noChangeAspect="1"/>
          </p:cNvPicPr>
          <p:nvPr/>
        </p:nvPicPr>
        <p:blipFill>
          <a:blip r:embed="rId2">
            <a:extLst/>
          </a:blip>
          <a:stretch>
            <a:fillRect/>
          </a:stretch>
        </p:blipFill>
        <p:spPr>
          <a:xfrm>
            <a:off x="0" y="4873752"/>
            <a:ext cx="9144000" cy="281179"/>
          </a:xfrm>
          <a:prstGeom prst="rect">
            <a:avLst/>
          </a:prstGeom>
          <a:ln w="12700">
            <a:miter lim="400000"/>
          </a:ln>
        </p:spPr>
      </p:pic>
      <p:sp>
        <p:nvSpPr>
          <p:cNvPr id="6" name="Title Text"/>
          <p:cNvSpPr txBox="1"/>
          <p:nvPr>
            <p:ph type="title"/>
          </p:nvPr>
        </p:nvSpPr>
        <p:spPr>
          <a:xfrm>
            <a:off x="457201" y="400050"/>
            <a:ext cx="8229601" cy="7428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chor="ctr">
            <a:normAutofit fontScale="100000" lnSpcReduction="0"/>
          </a:bodyPr>
          <a:lstStyle/>
          <a:p>
            <a:pPr/>
            <a:r>
              <a:t>Title Text</a:t>
            </a:r>
          </a:p>
        </p:txBody>
      </p:sp>
      <p:sp>
        <p:nvSpPr>
          <p:cNvPr id="7" name="Body Level One…"/>
          <p:cNvSpPr txBox="1"/>
          <p:nvPr>
            <p:ph type="body" idx="1"/>
          </p:nvPr>
        </p:nvSpPr>
        <p:spPr>
          <a:xfrm>
            <a:off x="457201" y="1200150"/>
            <a:ext cx="8229601" cy="3657600"/>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8" name="Google Shape;24;p23"/>
          <p:cNvSpPr txBox="1"/>
          <p:nvPr/>
        </p:nvSpPr>
        <p:spPr>
          <a:xfrm>
            <a:off x="72432" y="4989614"/>
            <a:ext cx="3091775" cy="2311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p>
            <a:pPr>
              <a:defRPr sz="900">
                <a:solidFill>
                  <a:srgbClr val="FFFFFF"/>
                </a:solidFill>
                <a:latin typeface="Open Sans"/>
                <a:ea typeface="Open Sans"/>
                <a:cs typeface="Open Sans"/>
                <a:sym typeface="Open Sans"/>
              </a:defRPr>
            </a:pPr>
            <a:r>
              <a:t>*Strictly Internal and Confidential</a:t>
            </a:r>
            <a:r>
              <a:rPr sz="700"/>
              <a:t> </a:t>
            </a:r>
          </a:p>
        </p:txBody>
      </p:sp>
      <p:sp>
        <p:nvSpPr>
          <p:cNvPr id="9" name="Slide Number"/>
          <p:cNvSpPr txBox="1"/>
          <p:nvPr>
            <p:ph type="sldNum" sz="quarter" idx="2"/>
          </p:nvPr>
        </p:nvSpPr>
        <p:spPr>
          <a:xfrm>
            <a:off x="6553200" y="4627562"/>
            <a:ext cx="2133600" cy="279401"/>
          </a:xfrm>
          <a:prstGeom prst="rect">
            <a:avLst/>
          </a:prstGeom>
          <a:ln w="12700">
            <a:miter lim="400000"/>
          </a:ln>
        </p:spPr>
        <p:txBody>
          <a:bodyPr wrap="none" lIns="45699" tIns="45699" rIns="45699" bIns="45699" anchor="ctr">
            <a:spAutoFit/>
          </a:bodyPr>
          <a:lstStyle>
            <a:lvl1pPr>
              <a:defRPr sz="11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transition xmlns:p14="http://schemas.microsoft.com/office/powerpoint/2010/main" spd="med" advClick="1"/>
  <p:txStyles>
    <p:titleStyle>
      <a:lvl1pPr marL="0" marR="0" indent="0" algn="l" defTabSz="914400" rtl="0" latinLnBrk="0">
        <a:lnSpc>
          <a:spcPct val="100000"/>
        </a:lnSpc>
        <a:spcBef>
          <a:spcPts val="0"/>
        </a:spcBef>
        <a:spcAft>
          <a:spcPts val="0"/>
        </a:spcAft>
        <a:buClrTx/>
        <a:buSzTx/>
        <a:buFontTx/>
        <a:buNone/>
        <a:tabLst/>
        <a:defRPr b="1" baseline="0" cap="none" i="0" spc="0" strike="noStrike" sz="2700" u="none">
          <a:solidFill>
            <a:srgbClr val="242852"/>
          </a:solidFill>
          <a:uFillTx/>
          <a:latin typeface="Open Sans Semibold"/>
          <a:ea typeface="Open Sans Semibold"/>
          <a:cs typeface="Open Sans Semibold"/>
          <a:sym typeface="Open Sans Semibold"/>
        </a:defRPr>
      </a:lvl1pPr>
      <a:lvl2pPr marL="0" marR="0" indent="0" algn="l" defTabSz="914400" rtl="0" latinLnBrk="0">
        <a:lnSpc>
          <a:spcPct val="100000"/>
        </a:lnSpc>
        <a:spcBef>
          <a:spcPts val="0"/>
        </a:spcBef>
        <a:spcAft>
          <a:spcPts val="0"/>
        </a:spcAft>
        <a:buClrTx/>
        <a:buSzTx/>
        <a:buFontTx/>
        <a:buNone/>
        <a:tabLst/>
        <a:defRPr b="1" baseline="0" cap="none" i="0" spc="0" strike="noStrike" sz="2700" u="none">
          <a:solidFill>
            <a:srgbClr val="242852"/>
          </a:solidFill>
          <a:uFillTx/>
          <a:latin typeface="Open Sans Semibold"/>
          <a:ea typeface="Open Sans Semibold"/>
          <a:cs typeface="Open Sans Semibold"/>
          <a:sym typeface="Open Sans Semibold"/>
        </a:defRPr>
      </a:lvl2pPr>
      <a:lvl3pPr marL="0" marR="0" indent="0" algn="l" defTabSz="914400" rtl="0" latinLnBrk="0">
        <a:lnSpc>
          <a:spcPct val="100000"/>
        </a:lnSpc>
        <a:spcBef>
          <a:spcPts val="0"/>
        </a:spcBef>
        <a:spcAft>
          <a:spcPts val="0"/>
        </a:spcAft>
        <a:buClrTx/>
        <a:buSzTx/>
        <a:buFontTx/>
        <a:buNone/>
        <a:tabLst/>
        <a:defRPr b="1" baseline="0" cap="none" i="0" spc="0" strike="noStrike" sz="2700" u="none">
          <a:solidFill>
            <a:srgbClr val="242852"/>
          </a:solidFill>
          <a:uFillTx/>
          <a:latin typeface="Open Sans Semibold"/>
          <a:ea typeface="Open Sans Semibold"/>
          <a:cs typeface="Open Sans Semibold"/>
          <a:sym typeface="Open Sans Semibold"/>
        </a:defRPr>
      </a:lvl3pPr>
      <a:lvl4pPr marL="0" marR="0" indent="0" algn="l" defTabSz="914400" rtl="0" latinLnBrk="0">
        <a:lnSpc>
          <a:spcPct val="100000"/>
        </a:lnSpc>
        <a:spcBef>
          <a:spcPts val="0"/>
        </a:spcBef>
        <a:spcAft>
          <a:spcPts val="0"/>
        </a:spcAft>
        <a:buClrTx/>
        <a:buSzTx/>
        <a:buFontTx/>
        <a:buNone/>
        <a:tabLst/>
        <a:defRPr b="1" baseline="0" cap="none" i="0" spc="0" strike="noStrike" sz="2700" u="none">
          <a:solidFill>
            <a:srgbClr val="242852"/>
          </a:solidFill>
          <a:uFillTx/>
          <a:latin typeface="Open Sans Semibold"/>
          <a:ea typeface="Open Sans Semibold"/>
          <a:cs typeface="Open Sans Semibold"/>
          <a:sym typeface="Open Sans Semibold"/>
        </a:defRPr>
      </a:lvl4pPr>
      <a:lvl5pPr marL="0" marR="0" indent="0" algn="l" defTabSz="914400" rtl="0" latinLnBrk="0">
        <a:lnSpc>
          <a:spcPct val="100000"/>
        </a:lnSpc>
        <a:spcBef>
          <a:spcPts val="0"/>
        </a:spcBef>
        <a:spcAft>
          <a:spcPts val="0"/>
        </a:spcAft>
        <a:buClrTx/>
        <a:buSzTx/>
        <a:buFontTx/>
        <a:buNone/>
        <a:tabLst/>
        <a:defRPr b="1" baseline="0" cap="none" i="0" spc="0" strike="noStrike" sz="2700" u="none">
          <a:solidFill>
            <a:srgbClr val="242852"/>
          </a:solidFill>
          <a:uFillTx/>
          <a:latin typeface="Open Sans Semibold"/>
          <a:ea typeface="Open Sans Semibold"/>
          <a:cs typeface="Open Sans Semibold"/>
          <a:sym typeface="Open Sans Semibold"/>
        </a:defRPr>
      </a:lvl5pPr>
      <a:lvl6pPr marL="0" marR="0" indent="0" algn="l" defTabSz="914400" rtl="0" latinLnBrk="0">
        <a:lnSpc>
          <a:spcPct val="100000"/>
        </a:lnSpc>
        <a:spcBef>
          <a:spcPts val="0"/>
        </a:spcBef>
        <a:spcAft>
          <a:spcPts val="0"/>
        </a:spcAft>
        <a:buClrTx/>
        <a:buSzTx/>
        <a:buFontTx/>
        <a:buNone/>
        <a:tabLst/>
        <a:defRPr b="1" baseline="0" cap="none" i="0" spc="0" strike="noStrike" sz="2700" u="none">
          <a:solidFill>
            <a:srgbClr val="242852"/>
          </a:solidFill>
          <a:uFillTx/>
          <a:latin typeface="Open Sans Semibold"/>
          <a:ea typeface="Open Sans Semibold"/>
          <a:cs typeface="Open Sans Semibold"/>
          <a:sym typeface="Open Sans Semibold"/>
        </a:defRPr>
      </a:lvl6pPr>
      <a:lvl7pPr marL="0" marR="0" indent="0" algn="l" defTabSz="914400" rtl="0" latinLnBrk="0">
        <a:lnSpc>
          <a:spcPct val="100000"/>
        </a:lnSpc>
        <a:spcBef>
          <a:spcPts val="0"/>
        </a:spcBef>
        <a:spcAft>
          <a:spcPts val="0"/>
        </a:spcAft>
        <a:buClrTx/>
        <a:buSzTx/>
        <a:buFontTx/>
        <a:buNone/>
        <a:tabLst/>
        <a:defRPr b="1" baseline="0" cap="none" i="0" spc="0" strike="noStrike" sz="2700" u="none">
          <a:solidFill>
            <a:srgbClr val="242852"/>
          </a:solidFill>
          <a:uFillTx/>
          <a:latin typeface="Open Sans Semibold"/>
          <a:ea typeface="Open Sans Semibold"/>
          <a:cs typeface="Open Sans Semibold"/>
          <a:sym typeface="Open Sans Semibold"/>
        </a:defRPr>
      </a:lvl7pPr>
      <a:lvl8pPr marL="0" marR="0" indent="0" algn="l" defTabSz="914400" rtl="0" latinLnBrk="0">
        <a:lnSpc>
          <a:spcPct val="100000"/>
        </a:lnSpc>
        <a:spcBef>
          <a:spcPts val="0"/>
        </a:spcBef>
        <a:spcAft>
          <a:spcPts val="0"/>
        </a:spcAft>
        <a:buClrTx/>
        <a:buSzTx/>
        <a:buFontTx/>
        <a:buNone/>
        <a:tabLst/>
        <a:defRPr b="1" baseline="0" cap="none" i="0" spc="0" strike="noStrike" sz="2700" u="none">
          <a:solidFill>
            <a:srgbClr val="242852"/>
          </a:solidFill>
          <a:uFillTx/>
          <a:latin typeface="Open Sans Semibold"/>
          <a:ea typeface="Open Sans Semibold"/>
          <a:cs typeface="Open Sans Semibold"/>
          <a:sym typeface="Open Sans Semibold"/>
        </a:defRPr>
      </a:lvl8pPr>
      <a:lvl9pPr marL="0" marR="0" indent="0" algn="l" defTabSz="914400" rtl="0" latinLnBrk="0">
        <a:lnSpc>
          <a:spcPct val="100000"/>
        </a:lnSpc>
        <a:spcBef>
          <a:spcPts val="0"/>
        </a:spcBef>
        <a:spcAft>
          <a:spcPts val="0"/>
        </a:spcAft>
        <a:buClrTx/>
        <a:buSzTx/>
        <a:buFontTx/>
        <a:buNone/>
        <a:tabLst/>
        <a:defRPr b="1" baseline="0" cap="none" i="0" spc="0" strike="noStrike" sz="2700" u="none">
          <a:solidFill>
            <a:srgbClr val="242852"/>
          </a:solidFill>
          <a:uFillTx/>
          <a:latin typeface="Open Sans Semibold"/>
          <a:ea typeface="Open Sans Semibold"/>
          <a:cs typeface="Open Sans Semibold"/>
          <a:sym typeface="Open Sans Semibold"/>
        </a:defRPr>
      </a:lvl9pPr>
    </p:titleStyle>
    <p:bodyStyle>
      <a:lvl1pPr marL="457200" marR="0" indent="-358140" algn="l" defTabSz="914400" rtl="0" latinLnBrk="0">
        <a:lnSpc>
          <a:spcPct val="100000"/>
        </a:lnSpc>
        <a:spcBef>
          <a:spcPts val="400"/>
        </a:spcBef>
        <a:spcAft>
          <a:spcPts val="0"/>
        </a:spcAft>
        <a:buClr>
          <a:schemeClr val="accent1"/>
        </a:buClr>
        <a:buSzPts val="2400"/>
        <a:buFont typeface="Arial"/>
        <a:buChar char="•"/>
        <a:tabLst/>
        <a:defRPr b="0" baseline="0" cap="none" i="0" spc="0" strike="noStrike" sz="2400" u="none">
          <a:solidFill>
            <a:srgbClr val="000000"/>
          </a:solidFill>
          <a:uFillTx/>
          <a:latin typeface="Open Sans Light"/>
          <a:ea typeface="Open Sans Light"/>
          <a:cs typeface="Open Sans Light"/>
          <a:sym typeface="Open Sans Light"/>
        </a:defRPr>
      </a:lvl1pPr>
      <a:lvl2pPr marL="981710" marR="0" indent="-403860" algn="l" defTabSz="914400" rtl="0" latinLnBrk="0">
        <a:lnSpc>
          <a:spcPct val="100000"/>
        </a:lnSpc>
        <a:spcBef>
          <a:spcPts val="400"/>
        </a:spcBef>
        <a:spcAft>
          <a:spcPts val="0"/>
        </a:spcAft>
        <a:buClr>
          <a:schemeClr val="accent1"/>
        </a:buClr>
        <a:buSzPts val="2400"/>
        <a:buFont typeface="Arial"/>
        <a:buChar char="•"/>
        <a:tabLst/>
        <a:defRPr b="0" baseline="0" cap="none" i="0" spc="0" strike="noStrike" sz="2400" u="none">
          <a:solidFill>
            <a:srgbClr val="000000"/>
          </a:solidFill>
          <a:uFillTx/>
          <a:latin typeface="Open Sans Light"/>
          <a:ea typeface="Open Sans Light"/>
          <a:cs typeface="Open Sans Light"/>
          <a:sym typeface="Open Sans Light"/>
        </a:defRPr>
      </a:lvl2pPr>
      <a:lvl3pPr marL="1482089" marR="0" indent="-441958" algn="l" defTabSz="914400" rtl="0" latinLnBrk="0">
        <a:lnSpc>
          <a:spcPct val="100000"/>
        </a:lnSpc>
        <a:spcBef>
          <a:spcPts val="400"/>
        </a:spcBef>
        <a:spcAft>
          <a:spcPts val="0"/>
        </a:spcAft>
        <a:buClr>
          <a:schemeClr val="accent1"/>
        </a:buClr>
        <a:buSzPts val="2400"/>
        <a:buFont typeface="Arial"/>
        <a:buChar char="•"/>
        <a:tabLst/>
        <a:defRPr b="0" baseline="0" cap="none" i="0" spc="0" strike="noStrike" sz="2400" u="none">
          <a:solidFill>
            <a:srgbClr val="000000"/>
          </a:solidFill>
          <a:uFillTx/>
          <a:latin typeface="Open Sans Light"/>
          <a:ea typeface="Open Sans Light"/>
          <a:cs typeface="Open Sans Light"/>
          <a:sym typeface="Open Sans Light"/>
        </a:defRPr>
      </a:lvl3pPr>
      <a:lvl4pPr marL="1993900" marR="0" indent="-495300" algn="l" defTabSz="914400" rtl="0" latinLnBrk="0">
        <a:lnSpc>
          <a:spcPct val="100000"/>
        </a:lnSpc>
        <a:spcBef>
          <a:spcPts val="400"/>
        </a:spcBef>
        <a:spcAft>
          <a:spcPts val="0"/>
        </a:spcAft>
        <a:buClr>
          <a:schemeClr val="accent1"/>
        </a:buClr>
        <a:buSzPts val="2400"/>
        <a:buFont typeface="Arial"/>
        <a:buChar char="•"/>
        <a:tabLst/>
        <a:defRPr b="0" baseline="0" cap="none" i="0" spc="0" strike="noStrike" sz="2400" u="none">
          <a:solidFill>
            <a:srgbClr val="000000"/>
          </a:solidFill>
          <a:uFillTx/>
          <a:latin typeface="Open Sans Light"/>
          <a:ea typeface="Open Sans Light"/>
          <a:cs typeface="Open Sans Light"/>
          <a:sym typeface="Open Sans Light"/>
        </a:defRPr>
      </a:lvl4pPr>
      <a:lvl5pPr marL="2512785" marR="0" indent="-544285" algn="l" defTabSz="914400" rtl="0" latinLnBrk="0">
        <a:lnSpc>
          <a:spcPct val="100000"/>
        </a:lnSpc>
        <a:spcBef>
          <a:spcPts val="400"/>
        </a:spcBef>
        <a:spcAft>
          <a:spcPts val="0"/>
        </a:spcAft>
        <a:buClr>
          <a:schemeClr val="accent1"/>
        </a:buClr>
        <a:buSzPts val="2400"/>
        <a:buFont typeface="Arial"/>
        <a:buChar char="•"/>
        <a:tabLst/>
        <a:defRPr b="0" baseline="0" cap="none" i="0" spc="0" strike="noStrike" sz="2400" u="none">
          <a:solidFill>
            <a:srgbClr val="000000"/>
          </a:solidFill>
          <a:uFillTx/>
          <a:latin typeface="Open Sans Light"/>
          <a:ea typeface="Open Sans Light"/>
          <a:cs typeface="Open Sans Light"/>
          <a:sym typeface="Open Sans Light"/>
        </a:defRPr>
      </a:lvl5pPr>
      <a:lvl6pPr marL="3033346" marR="0" indent="-633046" algn="l" defTabSz="914400" rtl="0" latinLnBrk="0">
        <a:lnSpc>
          <a:spcPct val="100000"/>
        </a:lnSpc>
        <a:spcBef>
          <a:spcPts val="400"/>
        </a:spcBef>
        <a:spcAft>
          <a:spcPts val="0"/>
        </a:spcAft>
        <a:buClr>
          <a:schemeClr val="accent1"/>
        </a:buClr>
        <a:buSzPts val="2400"/>
        <a:buFont typeface="Arial"/>
        <a:buChar char="•"/>
        <a:tabLst/>
        <a:defRPr b="0" baseline="0" cap="none" i="0" spc="0" strike="noStrike" sz="2400" u="none">
          <a:solidFill>
            <a:srgbClr val="000000"/>
          </a:solidFill>
          <a:uFillTx/>
          <a:latin typeface="Open Sans Light"/>
          <a:ea typeface="Open Sans Light"/>
          <a:cs typeface="Open Sans Light"/>
          <a:sym typeface="Open Sans Light"/>
        </a:defRPr>
      </a:lvl6pPr>
      <a:lvl7pPr marL="3490546" marR="0" indent="-633046" algn="l" defTabSz="914400" rtl="0" latinLnBrk="0">
        <a:lnSpc>
          <a:spcPct val="100000"/>
        </a:lnSpc>
        <a:spcBef>
          <a:spcPts val="400"/>
        </a:spcBef>
        <a:spcAft>
          <a:spcPts val="0"/>
        </a:spcAft>
        <a:buClr>
          <a:schemeClr val="accent1"/>
        </a:buClr>
        <a:buSzPts val="2400"/>
        <a:buFont typeface="Arial"/>
        <a:buChar char="•"/>
        <a:tabLst/>
        <a:defRPr b="0" baseline="0" cap="none" i="0" spc="0" strike="noStrike" sz="2400" u="none">
          <a:solidFill>
            <a:srgbClr val="000000"/>
          </a:solidFill>
          <a:uFillTx/>
          <a:latin typeface="Open Sans Light"/>
          <a:ea typeface="Open Sans Light"/>
          <a:cs typeface="Open Sans Light"/>
          <a:sym typeface="Open Sans Light"/>
        </a:defRPr>
      </a:lvl7pPr>
      <a:lvl8pPr marL="3947746" marR="0" indent="-633046" algn="l" defTabSz="914400" rtl="0" latinLnBrk="0">
        <a:lnSpc>
          <a:spcPct val="100000"/>
        </a:lnSpc>
        <a:spcBef>
          <a:spcPts val="400"/>
        </a:spcBef>
        <a:spcAft>
          <a:spcPts val="0"/>
        </a:spcAft>
        <a:buClr>
          <a:schemeClr val="accent1"/>
        </a:buClr>
        <a:buSzPts val="2400"/>
        <a:buFont typeface="Arial"/>
        <a:buChar char="•"/>
        <a:tabLst/>
        <a:defRPr b="0" baseline="0" cap="none" i="0" spc="0" strike="noStrike" sz="2400" u="none">
          <a:solidFill>
            <a:srgbClr val="000000"/>
          </a:solidFill>
          <a:uFillTx/>
          <a:latin typeface="Open Sans Light"/>
          <a:ea typeface="Open Sans Light"/>
          <a:cs typeface="Open Sans Light"/>
          <a:sym typeface="Open Sans Light"/>
        </a:defRPr>
      </a:lvl8pPr>
      <a:lvl9pPr marL="4404946" marR="0" indent="-633046" algn="l" defTabSz="914400" rtl="0" latinLnBrk="0">
        <a:lnSpc>
          <a:spcPct val="100000"/>
        </a:lnSpc>
        <a:spcBef>
          <a:spcPts val="400"/>
        </a:spcBef>
        <a:spcAft>
          <a:spcPts val="0"/>
        </a:spcAft>
        <a:buClr>
          <a:schemeClr val="accent1"/>
        </a:buClr>
        <a:buSzPts val="2400"/>
        <a:buFont typeface="Arial"/>
        <a:buChar char="•"/>
        <a:tabLst/>
        <a:defRPr b="0" baseline="0" cap="none" i="0" spc="0" strike="noStrike" sz="2400" u="none">
          <a:solidFill>
            <a:srgbClr val="000000"/>
          </a:solidFill>
          <a:uFillTx/>
          <a:latin typeface="Open Sans Light"/>
          <a:ea typeface="Open Sans Light"/>
          <a:cs typeface="Open Sans Light"/>
          <a:sym typeface="Open Sans Light"/>
        </a:defRPr>
      </a:lvl9pPr>
    </p:bodyStyle>
    <p:otherStyle>
      <a:lvl1pPr marL="0" marR="0" indent="0" algn="l"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Arial"/>
        </a:defRPr>
      </a:lvl1pPr>
      <a:lvl2pPr marL="0" marR="0" indent="0" algn="l"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Arial"/>
        </a:defRPr>
      </a:lvl2pPr>
      <a:lvl3pPr marL="0" marR="0" indent="0" algn="l"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Arial"/>
        </a:defRPr>
      </a:lvl3pPr>
      <a:lvl4pPr marL="0" marR="0" indent="0" algn="l"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Arial"/>
        </a:defRPr>
      </a:lvl4pPr>
      <a:lvl5pPr marL="0" marR="0" indent="0" algn="l"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Arial"/>
        </a:defRPr>
      </a:lvl5pPr>
      <a:lvl6pPr marL="0" marR="0" indent="0" algn="l"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Arial"/>
        </a:defRPr>
      </a:lvl6pPr>
      <a:lvl7pPr marL="0" marR="0" indent="0" algn="l"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Arial"/>
        </a:defRPr>
      </a:lvl7pPr>
      <a:lvl8pPr marL="0" marR="0" indent="0" algn="l"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Arial"/>
        </a:defRPr>
      </a:lvl8pPr>
      <a:lvl9pPr marL="0" marR="0" indent="0" algn="l" defTabSz="914400" rtl="0" latinLnBrk="0">
        <a:lnSpc>
          <a:spcPct val="100000"/>
        </a:lnSpc>
        <a:spcBef>
          <a:spcPts val="0"/>
        </a:spcBef>
        <a:spcAft>
          <a:spcPts val="0"/>
        </a:spcAft>
        <a:buClrTx/>
        <a:buSzTx/>
        <a:buFontTx/>
        <a:buNone/>
        <a:tabLst/>
        <a:defRPr b="0" baseline="0" cap="none" i="0" spc="0" strike="noStrike" sz="1100" u="none">
          <a:solidFill>
            <a:schemeClr val="tx1"/>
          </a:solidFill>
          <a:uFillTx/>
          <a:latin typeface="+mn-lt"/>
          <a:ea typeface="+mn-ea"/>
          <a:cs typeface="+mn-cs"/>
          <a:sym typeface="Arial"/>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 Id="rId10" Type="http://schemas.openxmlformats.org/officeDocument/2006/relationships/image" Target="../media/image12.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7.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slide" Target="slide12.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png"/><Relationship Id="rId3" Type="http://schemas.openxmlformats.org/officeDocument/2006/relationships/image" Target="../media/image1.jpe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2.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3.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png"/><Relationship Id="rId3" Type="http://schemas.openxmlformats.org/officeDocument/2006/relationships/image" Target="../media/image25.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4.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chart" Target="../charts/chart7.xml"/><Relationship Id="rId5" Type="http://schemas.openxmlformats.org/officeDocument/2006/relationships/chart" Target="../charts/chart8.xml"/><Relationship Id="rId6" Type="http://schemas.openxmlformats.org/officeDocument/2006/relationships/chart" Target="../charts/chart9.xml"/><Relationship Id="rId7" Type="http://schemas.openxmlformats.org/officeDocument/2006/relationships/chart" Target="../charts/chart10.xml"/><Relationship Id="rId8" Type="http://schemas.openxmlformats.org/officeDocument/2006/relationships/chart" Target="../charts/chart11.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chart" Target="../charts/chart12.xml"/><Relationship Id="rId3" Type="http://schemas.openxmlformats.org/officeDocument/2006/relationships/chart" Target="../charts/chart13.xml"/><Relationship Id="rId4" Type="http://schemas.openxmlformats.org/officeDocument/2006/relationships/chart" Target="../charts/chart14.xml"/><Relationship Id="rId5" Type="http://schemas.openxmlformats.org/officeDocument/2006/relationships/chart" Target="../charts/chart15.xml"/><Relationship Id="rId6" Type="http://schemas.openxmlformats.org/officeDocument/2006/relationships/chart" Target="../charts/chart16.xml"/><Relationship Id="rId7" Type="http://schemas.openxmlformats.org/officeDocument/2006/relationships/chart" Target="../charts/chart17.xml"/><Relationship Id="rId8" Type="http://schemas.openxmlformats.org/officeDocument/2006/relationships/chart" Target="../charts/chart18.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5" name="Google Shape;136;p22"/>
          <p:cNvSpPr txBox="1"/>
          <p:nvPr>
            <p:ph type="title" idx="4294967295"/>
          </p:nvPr>
        </p:nvSpPr>
        <p:spPr>
          <a:xfrm>
            <a:off x="507615" y="422053"/>
            <a:ext cx="6697737" cy="1406401"/>
          </a:xfrm>
          <a:prstGeom prst="rect">
            <a:avLst/>
          </a:prstGeom>
        </p:spPr>
        <p:txBody>
          <a:bodyPr lIns="44424" tIns="44424" rIns="44424" bIns="44424"/>
          <a:lstStyle/>
          <a:p>
            <a:pPr>
              <a:defRPr sz="3200">
                <a:solidFill>
                  <a:srgbClr val="002060"/>
                </a:solidFill>
                <a:latin typeface="Open Sans"/>
                <a:ea typeface="Open Sans"/>
                <a:cs typeface="Open Sans"/>
                <a:sym typeface="Open Sans"/>
              </a:defRPr>
            </a:pPr>
            <a:r>
              <a:t>Paytm Customer</a:t>
            </a:r>
            <a:r>
              <a:rPr>
                <a:solidFill>
                  <a:srgbClr val="00B0F0"/>
                </a:solidFill>
              </a:rPr>
              <a:t> Value </a:t>
            </a:r>
            <a:r>
              <a:t>and</a:t>
            </a:r>
            <a:r>
              <a:rPr>
                <a:solidFill>
                  <a:srgbClr val="00B0F0"/>
                </a:solidFill>
              </a:rPr>
              <a:t> Retention </a:t>
            </a:r>
            <a:r>
              <a:t>Rate</a:t>
            </a:r>
          </a:p>
        </p:txBody>
      </p:sp>
      <p:sp>
        <p:nvSpPr>
          <p:cNvPr id="156" name="Google Shape;138;p22"/>
          <p:cNvSpPr txBox="1"/>
          <p:nvPr/>
        </p:nvSpPr>
        <p:spPr>
          <a:xfrm>
            <a:off x="433433" y="2903796"/>
            <a:ext cx="6409563" cy="820367"/>
          </a:xfrm>
          <a:prstGeom prst="rect">
            <a:avLst/>
          </a:prstGeom>
          <a:ln w="12700">
            <a:miter lim="400000"/>
          </a:ln>
          <a:extLst>
            <a:ext uri="{C572A759-6A51-4108-AA02-DFA0A04FC94B}">
              <ma14:wrappingTextBoxFlag xmlns:ma14="http://schemas.microsoft.com/office/mac/drawingml/2011/main" val="1"/>
            </a:ext>
          </a:extLst>
        </p:spPr>
        <p:txBody>
          <a:bodyPr lIns="60932" tIns="60932" rIns="60932" bIns="60932">
            <a:spAutoFit/>
          </a:bodyPr>
          <a:lstStyle/>
          <a:p>
            <a:pPr>
              <a:spcBef>
                <a:spcPts val="400"/>
              </a:spcBef>
              <a:defRPr b="1" sz="1800">
                <a:solidFill>
                  <a:srgbClr val="808080"/>
                </a:solidFill>
                <a:latin typeface="Open Sans"/>
                <a:ea typeface="Open Sans"/>
                <a:cs typeface="Open Sans"/>
                <a:sym typeface="Open Sans"/>
              </a:defRPr>
            </a:pPr>
            <a:endParaRPr sz="2400">
              <a:latin typeface="Open Sans Light"/>
              <a:ea typeface="Open Sans Light"/>
              <a:cs typeface="Open Sans Light"/>
              <a:sym typeface="Open Sans Light"/>
            </a:endParaRPr>
          </a:p>
          <a:p>
            <a:pPr>
              <a:spcBef>
                <a:spcPts val="400"/>
              </a:spcBef>
              <a:defRPr sz="1800">
                <a:solidFill>
                  <a:srgbClr val="808080"/>
                </a:solidFill>
                <a:latin typeface="Open Sans"/>
                <a:ea typeface="Open Sans"/>
                <a:cs typeface="Open Sans"/>
                <a:sym typeface="Open Sans"/>
              </a:defRPr>
            </a:pPr>
            <a:r>
              <a:t>V1.2</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8" name="Google Shape;154;p2"/>
          <p:cNvSpPr txBox="1"/>
          <p:nvPr/>
        </p:nvSpPr>
        <p:spPr>
          <a:xfrm>
            <a:off x="9538" y="64936"/>
            <a:ext cx="8111481" cy="5511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ctr">
            <a:spAutoFit/>
          </a:bodyPr>
          <a:lstStyle/>
          <a:p>
            <a:pPr>
              <a:defRPr b="1" sz="2400">
                <a:solidFill>
                  <a:srgbClr val="002060"/>
                </a:solidFill>
                <a:latin typeface="Open Sans"/>
                <a:ea typeface="Open Sans"/>
                <a:cs typeface="Open Sans"/>
                <a:sym typeface="Open Sans"/>
              </a:defRPr>
            </a:pPr>
            <a:r>
              <a:t>Customer</a:t>
            </a:r>
            <a:r>
              <a:rPr>
                <a:solidFill>
                  <a:srgbClr val="00B0F0"/>
                </a:solidFill>
              </a:rPr>
              <a:t> Value</a:t>
            </a:r>
          </a:p>
        </p:txBody>
      </p:sp>
      <p:sp>
        <p:nvSpPr>
          <p:cNvPr id="159" name="Google Shape;155;p2"/>
          <p:cNvSpPr/>
          <p:nvPr/>
        </p:nvSpPr>
        <p:spPr>
          <a:xfrm>
            <a:off x="-18001" y="620662"/>
            <a:ext cx="9180002" cy="1"/>
          </a:xfrm>
          <a:prstGeom prst="line">
            <a:avLst/>
          </a:prstGeom>
          <a:ln w="31750">
            <a:solidFill>
              <a:srgbClr val="072B62"/>
            </a:solidFill>
          </a:ln>
        </p:spPr>
        <p:txBody>
          <a:bodyPr lIns="45719" rIns="45719"/>
          <a:lstStyle/>
          <a:p>
            <a:pPr/>
          </a:p>
        </p:txBody>
      </p:sp>
      <p:grpSp>
        <p:nvGrpSpPr>
          <p:cNvPr id="168" name="Group 33"/>
          <p:cNvGrpSpPr/>
          <p:nvPr/>
        </p:nvGrpSpPr>
        <p:grpSpPr>
          <a:xfrm>
            <a:off x="1601569" y="561393"/>
            <a:ext cx="5435034" cy="676486"/>
            <a:chOff x="0" y="0"/>
            <a:chExt cx="5435032" cy="676484"/>
          </a:xfrm>
        </p:grpSpPr>
        <p:sp>
          <p:nvSpPr>
            <p:cNvPr id="160" name="TextBox 51"/>
            <p:cNvSpPr txBox="1"/>
            <p:nvPr/>
          </p:nvSpPr>
          <p:spPr>
            <a:xfrm>
              <a:off x="0" y="169277"/>
              <a:ext cx="2941379" cy="30876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b="1">
                  <a:solidFill>
                    <a:srgbClr val="00B0F0"/>
                  </a:solidFill>
                  <a:latin typeface="Open Sans"/>
                  <a:ea typeface="Open Sans"/>
                  <a:cs typeface="Open Sans"/>
                  <a:sym typeface="Open Sans"/>
                </a:defRPr>
              </a:pPr>
              <a:r>
                <a:t>Customer Value (CV)</a:t>
              </a:r>
              <a:r>
                <a:rPr>
                  <a:solidFill>
                    <a:srgbClr val="002060"/>
                  </a:solidFill>
                </a:rPr>
                <a:t> =𝒇𝒏  </a:t>
              </a:r>
            </a:p>
          </p:txBody>
        </p:sp>
        <p:sp>
          <p:nvSpPr>
            <p:cNvPr id="161" name="TextBox 2"/>
            <p:cNvSpPr txBox="1"/>
            <p:nvPr/>
          </p:nvSpPr>
          <p:spPr>
            <a:xfrm>
              <a:off x="2206635" y="69601"/>
              <a:ext cx="1214281" cy="523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lgn="ctr">
                <a:defRPr b="1">
                  <a:solidFill>
                    <a:srgbClr val="002060"/>
                  </a:solidFill>
                  <a:latin typeface="Open Sans"/>
                  <a:ea typeface="Open Sans"/>
                  <a:cs typeface="Open Sans"/>
                  <a:sym typeface="Open Sans"/>
                </a:defRPr>
              </a:pPr>
              <a:r>
                <a:t>Category</a:t>
              </a:r>
            </a:p>
            <a:p>
              <a:pPr algn="ctr">
                <a:defRPr b="1">
                  <a:solidFill>
                    <a:srgbClr val="002060"/>
                  </a:solidFill>
                  <a:latin typeface="Open Sans"/>
                  <a:ea typeface="Open Sans"/>
                  <a:cs typeface="Open Sans"/>
                  <a:sym typeface="Open Sans"/>
                </a:defRPr>
              </a:pPr>
              <a:r>
                <a:t>Margins</a:t>
              </a:r>
            </a:p>
          </p:txBody>
        </p:sp>
        <p:sp>
          <p:nvSpPr>
            <p:cNvPr id="162" name="TextBox 13"/>
            <p:cNvSpPr txBox="1"/>
            <p:nvPr/>
          </p:nvSpPr>
          <p:spPr>
            <a:xfrm>
              <a:off x="3081605" y="176902"/>
              <a:ext cx="1425063" cy="3073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lgn="ctr">
                <a:defRPr b="1">
                  <a:solidFill>
                    <a:srgbClr val="0070C0"/>
                  </a:solidFill>
                  <a:latin typeface="Open Sans"/>
                  <a:ea typeface="Open Sans"/>
                  <a:cs typeface="Open Sans"/>
                  <a:sym typeface="Open Sans"/>
                </a:defRPr>
              </a:lvl1pPr>
            </a:lstStyle>
            <a:p>
              <a:pPr/>
              <a:r>
                <a:t>Lending</a:t>
              </a:r>
            </a:p>
          </p:txBody>
        </p:sp>
        <p:sp>
          <p:nvSpPr>
            <p:cNvPr id="163" name="TextBox 23"/>
            <p:cNvSpPr txBox="1"/>
            <p:nvPr/>
          </p:nvSpPr>
          <p:spPr>
            <a:xfrm>
              <a:off x="3165987" y="12377"/>
              <a:ext cx="259195" cy="574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sz="3200">
                  <a:solidFill>
                    <a:srgbClr val="FF9300"/>
                  </a:solidFill>
                  <a:latin typeface="Open Sans"/>
                  <a:ea typeface="Open Sans"/>
                  <a:cs typeface="Open Sans"/>
                  <a:sym typeface="Open Sans"/>
                </a:defRPr>
              </a:lvl1pPr>
            </a:lstStyle>
            <a:p>
              <a:pPr/>
              <a:r>
                <a:t>|</a:t>
              </a:r>
            </a:p>
          </p:txBody>
        </p:sp>
        <p:sp>
          <p:nvSpPr>
            <p:cNvPr id="164" name="TextBox 25"/>
            <p:cNvSpPr txBox="1"/>
            <p:nvPr/>
          </p:nvSpPr>
          <p:spPr>
            <a:xfrm>
              <a:off x="4188709" y="78168"/>
              <a:ext cx="1207494" cy="523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lgn="ctr">
                <a:defRPr b="1">
                  <a:solidFill>
                    <a:srgbClr val="00B0F0"/>
                  </a:solidFill>
                  <a:latin typeface="Open Sans"/>
                  <a:ea typeface="Open Sans"/>
                  <a:cs typeface="Open Sans"/>
                  <a:sym typeface="Open Sans"/>
                </a:defRPr>
              </a:pPr>
              <a:r>
                <a:t>Payment</a:t>
              </a:r>
            </a:p>
            <a:p>
              <a:pPr algn="ctr">
                <a:defRPr b="1">
                  <a:solidFill>
                    <a:srgbClr val="00B0F0"/>
                  </a:solidFill>
                  <a:latin typeface="Open Sans"/>
                  <a:ea typeface="Open Sans"/>
                  <a:cs typeface="Open Sans"/>
                  <a:sym typeface="Open Sans"/>
                </a:defRPr>
              </a:pPr>
              <a:r>
                <a:t>Margins</a:t>
              </a:r>
            </a:p>
          </p:txBody>
        </p:sp>
        <p:sp>
          <p:nvSpPr>
            <p:cNvPr id="165" name="TextBox 27"/>
            <p:cNvSpPr txBox="1"/>
            <p:nvPr/>
          </p:nvSpPr>
          <p:spPr>
            <a:xfrm>
              <a:off x="4106602" y="17197"/>
              <a:ext cx="259195" cy="574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sz="3200">
                  <a:solidFill>
                    <a:srgbClr val="FF9300"/>
                  </a:solidFill>
                  <a:latin typeface="Open Sans"/>
                  <a:ea typeface="Open Sans"/>
                  <a:cs typeface="Open Sans"/>
                  <a:sym typeface="Open Sans"/>
                </a:defRPr>
              </a:lvl1pPr>
            </a:lstStyle>
            <a:p>
              <a:pPr/>
              <a:r>
                <a:t>|</a:t>
              </a:r>
            </a:p>
          </p:txBody>
        </p:sp>
        <p:sp>
          <p:nvSpPr>
            <p:cNvPr id="166" name="TextBox 29"/>
            <p:cNvSpPr txBox="1"/>
            <p:nvPr/>
          </p:nvSpPr>
          <p:spPr>
            <a:xfrm>
              <a:off x="5175838" y="0"/>
              <a:ext cx="259195" cy="6375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sz="3600">
                  <a:solidFill>
                    <a:srgbClr val="002060"/>
                  </a:solidFill>
                  <a:latin typeface="Open Sans"/>
                  <a:ea typeface="Open Sans"/>
                  <a:cs typeface="Open Sans"/>
                  <a:sym typeface="Open Sans"/>
                </a:defRPr>
              </a:lvl1pPr>
            </a:lstStyle>
            <a:p>
              <a:pPr/>
              <a:r>
                <a:t>) </a:t>
              </a:r>
            </a:p>
          </p:txBody>
        </p:sp>
        <p:sp>
          <p:nvSpPr>
            <p:cNvPr id="167" name="TextBox 31"/>
            <p:cNvSpPr txBox="1"/>
            <p:nvPr/>
          </p:nvSpPr>
          <p:spPr>
            <a:xfrm rot="10800000">
              <a:off x="2173986" y="38944"/>
              <a:ext cx="259195" cy="637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sz="3600">
                  <a:solidFill>
                    <a:srgbClr val="002060"/>
                  </a:solidFill>
                  <a:latin typeface="Open Sans"/>
                  <a:ea typeface="Open Sans"/>
                  <a:cs typeface="Open Sans"/>
                  <a:sym typeface="Open Sans"/>
                </a:defRPr>
              </a:lvl1pPr>
            </a:lstStyle>
            <a:p>
              <a:pPr/>
              <a:r>
                <a:t>) </a:t>
              </a:r>
            </a:p>
          </p:txBody>
        </p:sp>
      </p:grpSp>
      <p:grpSp>
        <p:nvGrpSpPr>
          <p:cNvPr id="221" name="Group 45"/>
          <p:cNvGrpSpPr/>
          <p:nvPr/>
        </p:nvGrpSpPr>
        <p:grpSpPr>
          <a:xfrm>
            <a:off x="70337" y="1191204"/>
            <a:ext cx="9003326" cy="3383021"/>
            <a:chOff x="0" y="332084"/>
            <a:chExt cx="9003324" cy="3383019"/>
          </a:xfrm>
        </p:grpSpPr>
        <p:grpSp>
          <p:nvGrpSpPr>
            <p:cNvPr id="209" name="Group 55"/>
            <p:cNvGrpSpPr/>
            <p:nvPr/>
          </p:nvGrpSpPr>
          <p:grpSpPr>
            <a:xfrm>
              <a:off x="2853820" y="457763"/>
              <a:ext cx="3295684" cy="3219589"/>
              <a:chOff x="422949" y="457763"/>
              <a:chExt cx="3295683" cy="3219588"/>
            </a:xfrm>
          </p:grpSpPr>
          <p:grpSp>
            <p:nvGrpSpPr>
              <p:cNvPr id="171" name="Isosceles Triangle 1"/>
              <p:cNvGrpSpPr/>
              <p:nvPr/>
            </p:nvGrpSpPr>
            <p:grpSpPr>
              <a:xfrm>
                <a:off x="970434" y="457763"/>
                <a:ext cx="1562184" cy="1701407"/>
                <a:chOff x="257693" y="456250"/>
                <a:chExt cx="1562183" cy="1701406"/>
              </a:xfrm>
            </p:grpSpPr>
            <p:sp>
              <p:nvSpPr>
                <p:cNvPr id="169" name="Triangle"/>
                <p:cNvSpPr/>
                <p:nvPr/>
              </p:nvSpPr>
              <p:spPr>
                <a:xfrm rot="9428493">
                  <a:off x="481226" y="618794"/>
                  <a:ext cx="1115119" cy="1376319"/>
                </a:xfrm>
                <a:prstGeom prst="triangle">
                  <a:avLst/>
                </a:prstGeom>
                <a:gradFill flip="none" rotWithShape="1">
                  <a:gsLst>
                    <a:gs pos="0">
                      <a:srgbClr val="DBD4DD"/>
                    </a:gs>
                    <a:gs pos="50000">
                      <a:srgbClr val="E8E3E9"/>
                    </a:gs>
                    <a:gs pos="100000">
                      <a:srgbClr val="F3F1F4"/>
                    </a:gs>
                  </a:gsLst>
                  <a:path path="circle">
                    <a:fillToRect l="37721" t="-19636" r="62278" b="119636"/>
                  </a:path>
                </a:gradFill>
                <a:ln w="12700" cap="flat">
                  <a:noFill/>
                  <a:miter lim="400000"/>
                </a:ln>
                <a:effectLst/>
              </p:spPr>
              <p:txBody>
                <a:bodyPr wrap="square" lIns="45719" tIns="45719" rIns="45719" bIns="45719" numCol="1" anchor="ctr">
                  <a:noAutofit/>
                </a:bodyPr>
                <a:lstStyle/>
                <a:p>
                  <a:pPr algn="ctr">
                    <a:defRPr sz="900">
                      <a:solidFill>
                        <a:srgbClr val="242852"/>
                      </a:solidFill>
                      <a:latin typeface="Open Sans"/>
                      <a:ea typeface="Open Sans"/>
                      <a:cs typeface="Open Sans"/>
                      <a:sym typeface="Open Sans"/>
                    </a:defRPr>
                  </a:pPr>
                </a:p>
              </p:txBody>
            </p:sp>
            <p:sp>
              <p:nvSpPr>
                <p:cNvPr id="170" name="Movies"/>
                <p:cNvSpPr txBox="1"/>
                <p:nvPr/>
              </p:nvSpPr>
              <p:spPr>
                <a:xfrm rot="9428493">
                  <a:off x="672033" y="874325"/>
                  <a:ext cx="466184" cy="2311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ctr">
                  <a:spAutoFit/>
                </a:bodyPr>
                <a:lstStyle>
                  <a:lvl1pPr algn="ctr">
                    <a:defRPr sz="900">
                      <a:solidFill>
                        <a:srgbClr val="242852"/>
                      </a:solidFill>
                      <a:latin typeface="Open Sans"/>
                      <a:ea typeface="Open Sans"/>
                      <a:cs typeface="Open Sans"/>
                      <a:sym typeface="Open Sans"/>
                    </a:defRPr>
                  </a:lvl1pPr>
                </a:lstStyle>
                <a:p>
                  <a:pPr/>
                  <a:r>
                    <a:t>Movies</a:t>
                  </a:r>
                </a:p>
              </p:txBody>
            </p:sp>
          </p:grpSp>
          <p:grpSp>
            <p:nvGrpSpPr>
              <p:cNvPr id="174" name="Isosceles Triangle 4"/>
              <p:cNvGrpSpPr/>
              <p:nvPr/>
            </p:nvGrpSpPr>
            <p:grpSpPr>
              <a:xfrm>
                <a:off x="464806" y="962866"/>
                <a:ext cx="1707126" cy="1578342"/>
                <a:chOff x="453112" y="264191"/>
                <a:chExt cx="1707125" cy="1578340"/>
              </a:xfrm>
            </p:grpSpPr>
            <p:sp>
              <p:nvSpPr>
                <p:cNvPr id="172" name="Triangle"/>
                <p:cNvSpPr/>
                <p:nvPr/>
              </p:nvSpPr>
              <p:spPr>
                <a:xfrm rot="6832475">
                  <a:off x="747203" y="367556"/>
                  <a:ext cx="1118945" cy="1371613"/>
                </a:xfrm>
                <a:prstGeom prst="triangle">
                  <a:avLst/>
                </a:prstGeom>
                <a:gradFill flip="none" rotWithShape="1">
                  <a:gsLst>
                    <a:gs pos="0">
                      <a:srgbClr val="DBD4DD"/>
                    </a:gs>
                    <a:gs pos="50000">
                      <a:srgbClr val="E8E3E9"/>
                    </a:gs>
                    <a:gs pos="100000">
                      <a:srgbClr val="F3F1F4"/>
                    </a:gs>
                  </a:gsLst>
                  <a:path path="circle">
                    <a:fillToRect l="37721" t="-19636" r="62278" b="119636"/>
                  </a:path>
                </a:gradFill>
                <a:ln w="12700" cap="flat">
                  <a:noFill/>
                  <a:miter lim="400000"/>
                </a:ln>
                <a:effectLst/>
              </p:spPr>
              <p:txBody>
                <a:bodyPr wrap="square" lIns="45719" tIns="45719" rIns="45719" bIns="45719" numCol="1" anchor="ctr">
                  <a:noAutofit/>
                </a:bodyPr>
                <a:lstStyle/>
                <a:p>
                  <a:pPr algn="ctr">
                    <a:defRPr sz="900">
                      <a:solidFill>
                        <a:srgbClr val="242852"/>
                      </a:solidFill>
                      <a:latin typeface="Open Sans"/>
                      <a:ea typeface="Open Sans"/>
                      <a:cs typeface="Open Sans"/>
                      <a:sym typeface="Open Sans"/>
                    </a:defRPr>
                  </a:pPr>
                </a:p>
              </p:txBody>
            </p:sp>
            <p:sp>
              <p:nvSpPr>
                <p:cNvPr id="173" name="Recharge…"/>
                <p:cNvSpPr txBox="1"/>
                <p:nvPr/>
              </p:nvSpPr>
              <p:spPr>
                <a:xfrm rot="6832475">
                  <a:off x="693244" y="729156"/>
                  <a:ext cx="599739" cy="370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ctr">
                  <a:spAutoFit/>
                </a:bodyPr>
                <a:lstStyle/>
                <a:p>
                  <a:pPr algn="ctr">
                    <a:defRPr sz="900">
                      <a:solidFill>
                        <a:srgbClr val="242852"/>
                      </a:solidFill>
                      <a:latin typeface="Open Sans"/>
                      <a:ea typeface="Open Sans"/>
                      <a:cs typeface="Open Sans"/>
                      <a:sym typeface="Open Sans"/>
                    </a:defRPr>
                  </a:pPr>
                  <a:r>
                    <a:t>Recharge</a:t>
                  </a:r>
                  <a:endParaRPr>
                    <a:solidFill>
                      <a:srgbClr val="FFFFFF"/>
                    </a:solidFill>
                  </a:endParaRPr>
                </a:p>
                <a:p>
                  <a:pPr algn="ctr">
                    <a:defRPr sz="900">
                      <a:solidFill>
                        <a:srgbClr val="242852"/>
                      </a:solidFill>
                      <a:latin typeface="Open Sans"/>
                      <a:ea typeface="Open Sans"/>
                      <a:cs typeface="Open Sans"/>
                      <a:sym typeface="Open Sans"/>
                    </a:defRPr>
                  </a:pPr>
                  <a:r>
                    <a:t> Utilities</a:t>
                  </a:r>
                </a:p>
              </p:txBody>
            </p:sp>
          </p:grpSp>
          <p:grpSp>
            <p:nvGrpSpPr>
              <p:cNvPr id="177" name="Isosceles Triangle 5"/>
              <p:cNvGrpSpPr/>
              <p:nvPr/>
            </p:nvGrpSpPr>
            <p:grpSpPr>
              <a:xfrm>
                <a:off x="970468" y="1983765"/>
                <a:ext cx="1548745" cy="1693376"/>
                <a:chOff x="251488" y="32241"/>
                <a:chExt cx="1548743" cy="1693374"/>
              </a:xfrm>
            </p:grpSpPr>
            <p:sp>
              <p:nvSpPr>
                <p:cNvPr id="175" name="Triangle"/>
                <p:cNvSpPr/>
                <p:nvPr/>
              </p:nvSpPr>
              <p:spPr>
                <a:xfrm rot="1316984">
                  <a:off x="468301" y="190769"/>
                  <a:ext cx="1115118" cy="1376319"/>
                </a:xfrm>
                <a:prstGeom prst="triangle">
                  <a:avLst/>
                </a:prstGeom>
                <a:gradFill flip="none" rotWithShape="1">
                  <a:gsLst>
                    <a:gs pos="0">
                      <a:srgbClr val="DBD4DD"/>
                    </a:gs>
                    <a:gs pos="50000">
                      <a:srgbClr val="E8E3E9"/>
                    </a:gs>
                    <a:gs pos="100000">
                      <a:srgbClr val="F3F1F4"/>
                    </a:gs>
                  </a:gsLst>
                  <a:path path="circle">
                    <a:fillToRect l="37721" t="-19636" r="62278" b="119636"/>
                  </a:path>
                </a:gradFill>
                <a:ln w="12700" cap="flat">
                  <a:noFill/>
                  <a:miter lim="400000"/>
                </a:ln>
                <a:effectLst/>
              </p:spPr>
              <p:txBody>
                <a:bodyPr wrap="square" lIns="45719" tIns="45719" rIns="45719" bIns="45719" numCol="1" anchor="ctr">
                  <a:noAutofit/>
                </a:bodyPr>
                <a:lstStyle/>
                <a:p>
                  <a:pPr algn="ctr">
                    <a:defRPr sz="900">
                      <a:solidFill>
                        <a:srgbClr val="242852"/>
                      </a:solidFill>
                      <a:latin typeface="Open Sans"/>
                      <a:ea typeface="Open Sans"/>
                      <a:cs typeface="Open Sans"/>
                      <a:sym typeface="Open Sans"/>
                    </a:defRPr>
                  </a:pPr>
                </a:p>
              </p:txBody>
            </p:sp>
            <p:sp>
              <p:nvSpPr>
                <p:cNvPr id="176" name="Deals and GV"/>
                <p:cNvSpPr txBox="1"/>
                <p:nvPr/>
              </p:nvSpPr>
              <p:spPr>
                <a:xfrm rot="1316984">
                  <a:off x="664186" y="942796"/>
                  <a:ext cx="466120" cy="5105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900">
                      <a:solidFill>
                        <a:srgbClr val="242852"/>
                      </a:solidFill>
                      <a:latin typeface="Open Sans"/>
                      <a:ea typeface="Open Sans"/>
                      <a:cs typeface="Open Sans"/>
                      <a:sym typeface="Open Sans"/>
                    </a:defRPr>
                  </a:lvl1pPr>
                </a:lstStyle>
                <a:p>
                  <a:pPr/>
                  <a:r>
                    <a:t>Deals and GV</a:t>
                  </a:r>
                </a:p>
              </p:txBody>
            </p:sp>
          </p:grpSp>
          <p:grpSp>
            <p:nvGrpSpPr>
              <p:cNvPr id="180" name="Isosceles Triangle 6"/>
              <p:cNvGrpSpPr/>
              <p:nvPr/>
            </p:nvGrpSpPr>
            <p:grpSpPr>
              <a:xfrm>
                <a:off x="457711" y="1609702"/>
                <a:ext cx="1682447" cy="1537667"/>
                <a:chOff x="457711" y="80748"/>
                <a:chExt cx="1682445" cy="1537665"/>
              </a:xfrm>
            </p:grpSpPr>
            <p:sp>
              <p:nvSpPr>
                <p:cNvPr id="178" name="Triangle"/>
                <p:cNvSpPr/>
                <p:nvPr/>
              </p:nvSpPr>
              <p:spPr>
                <a:xfrm rot="4134130">
                  <a:off x="739462" y="163775"/>
                  <a:ext cx="1118945" cy="1371613"/>
                </a:xfrm>
                <a:prstGeom prst="triangle">
                  <a:avLst/>
                </a:prstGeom>
                <a:gradFill flip="none" rotWithShape="1">
                  <a:gsLst>
                    <a:gs pos="0">
                      <a:srgbClr val="DBD4DD"/>
                    </a:gs>
                    <a:gs pos="50000">
                      <a:srgbClr val="E8E3E9"/>
                    </a:gs>
                    <a:gs pos="100000">
                      <a:srgbClr val="F3F1F4"/>
                    </a:gs>
                  </a:gsLst>
                  <a:path path="circle">
                    <a:fillToRect l="37721" t="-19636" r="62278" b="119636"/>
                  </a:path>
                </a:gradFill>
                <a:ln w="12700" cap="flat">
                  <a:noFill/>
                  <a:miter lim="400000"/>
                </a:ln>
                <a:effectLst/>
              </p:spPr>
              <p:txBody>
                <a:bodyPr wrap="square" lIns="45719" tIns="45719" rIns="45719" bIns="45719" numCol="1" anchor="ctr">
                  <a:noAutofit/>
                </a:bodyPr>
                <a:lstStyle/>
                <a:p>
                  <a:pPr algn="ctr">
                    <a:defRPr sz="900">
                      <a:solidFill>
                        <a:srgbClr val="242852"/>
                      </a:solidFill>
                      <a:latin typeface="Open Sans"/>
                      <a:ea typeface="Open Sans"/>
                      <a:cs typeface="Open Sans"/>
                      <a:sym typeface="Open Sans"/>
                    </a:defRPr>
                  </a:pPr>
                </a:p>
              </p:txBody>
            </p:sp>
            <p:sp>
              <p:nvSpPr>
                <p:cNvPr id="179" name="Travel"/>
                <p:cNvSpPr txBox="1"/>
                <p:nvPr/>
              </p:nvSpPr>
              <p:spPr>
                <a:xfrm rot="4134130">
                  <a:off x="745001" y="857443"/>
                  <a:ext cx="468032" cy="2311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900">
                      <a:solidFill>
                        <a:srgbClr val="242852"/>
                      </a:solidFill>
                      <a:latin typeface="Open Sans"/>
                      <a:ea typeface="Open Sans"/>
                      <a:cs typeface="Open Sans"/>
                      <a:sym typeface="Open Sans"/>
                    </a:defRPr>
                  </a:lvl1pPr>
                </a:lstStyle>
                <a:p>
                  <a:pPr/>
                  <a:r>
                    <a:t>Travel</a:t>
                  </a:r>
                </a:p>
              </p:txBody>
            </p:sp>
          </p:grpSp>
          <p:grpSp>
            <p:nvGrpSpPr>
              <p:cNvPr id="183" name="Isosceles Triangle 7"/>
              <p:cNvGrpSpPr/>
              <p:nvPr/>
            </p:nvGrpSpPr>
            <p:grpSpPr>
              <a:xfrm>
                <a:off x="1589113" y="457896"/>
                <a:ext cx="1603098" cy="1718159"/>
                <a:chOff x="82897" y="457896"/>
                <a:chExt cx="1603096" cy="1718157"/>
              </a:xfrm>
            </p:grpSpPr>
            <p:sp>
              <p:nvSpPr>
                <p:cNvPr id="181" name="Triangle"/>
                <p:cNvSpPr/>
                <p:nvPr/>
              </p:nvSpPr>
              <p:spPr>
                <a:xfrm rot="12162665">
                  <a:off x="303544" y="628816"/>
                  <a:ext cx="1161804" cy="1376319"/>
                </a:xfrm>
                <a:prstGeom prst="triangle">
                  <a:avLst/>
                </a:prstGeom>
                <a:gradFill flip="none" rotWithShape="1">
                  <a:gsLst>
                    <a:gs pos="0">
                      <a:srgbClr val="DBD4DD"/>
                    </a:gs>
                    <a:gs pos="50000">
                      <a:srgbClr val="E8E3E9"/>
                    </a:gs>
                    <a:gs pos="100000">
                      <a:srgbClr val="F3F1F4"/>
                    </a:gs>
                  </a:gsLst>
                  <a:path path="circle">
                    <a:fillToRect l="37721" t="-19636" r="62278" b="119636"/>
                  </a:path>
                </a:gradFill>
                <a:ln w="12700" cap="flat">
                  <a:noFill/>
                  <a:miter lim="400000"/>
                </a:ln>
                <a:effectLst/>
              </p:spPr>
              <p:txBody>
                <a:bodyPr wrap="square" lIns="45719" tIns="45719" rIns="45719" bIns="45719" numCol="1" anchor="ctr">
                  <a:noAutofit/>
                </a:bodyPr>
                <a:lstStyle/>
                <a:p>
                  <a:pPr algn="ctr">
                    <a:defRPr sz="900">
                      <a:solidFill>
                        <a:srgbClr val="242852"/>
                      </a:solidFill>
                      <a:latin typeface="Open Sans"/>
                      <a:ea typeface="Open Sans"/>
                      <a:cs typeface="Open Sans"/>
                      <a:sym typeface="Open Sans"/>
                    </a:defRPr>
                  </a:pPr>
                </a:p>
              </p:txBody>
            </p:sp>
            <p:sp>
              <p:nvSpPr>
                <p:cNvPr id="182" name="PG Txns"/>
                <p:cNvSpPr txBox="1"/>
                <p:nvPr/>
              </p:nvSpPr>
              <p:spPr>
                <a:xfrm rot="12162665">
                  <a:off x="743930" y="884004"/>
                  <a:ext cx="546719" cy="2311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ctr">
                  <a:spAutoFit/>
                </a:bodyPr>
                <a:lstStyle>
                  <a:lvl1pPr algn="ctr">
                    <a:defRPr sz="900">
                      <a:solidFill>
                        <a:srgbClr val="242852"/>
                      </a:solidFill>
                      <a:latin typeface="Open Sans"/>
                      <a:ea typeface="Open Sans"/>
                      <a:cs typeface="Open Sans"/>
                      <a:sym typeface="Open Sans"/>
                    </a:defRPr>
                  </a:lvl1pPr>
                </a:lstStyle>
                <a:p>
                  <a:pPr/>
                  <a:r>
                    <a:t>PG Txns</a:t>
                  </a:r>
                </a:p>
              </p:txBody>
            </p:sp>
          </p:grpSp>
          <p:grpSp>
            <p:nvGrpSpPr>
              <p:cNvPr id="186" name="Isosceles Triangle 8"/>
              <p:cNvGrpSpPr/>
              <p:nvPr/>
            </p:nvGrpSpPr>
            <p:grpSpPr>
              <a:xfrm>
                <a:off x="1989411" y="981029"/>
                <a:ext cx="1687772" cy="1546208"/>
                <a:chOff x="31946" y="249197"/>
                <a:chExt cx="1687770" cy="1546207"/>
              </a:xfrm>
            </p:grpSpPr>
            <p:sp>
              <p:nvSpPr>
                <p:cNvPr id="184" name="Triangle"/>
                <p:cNvSpPr/>
                <p:nvPr/>
              </p:nvSpPr>
              <p:spPr>
                <a:xfrm rot="14900351">
                  <a:off x="316360" y="336495"/>
                  <a:ext cx="1118945" cy="1371613"/>
                </a:xfrm>
                <a:prstGeom prst="triangle">
                  <a:avLst/>
                </a:prstGeom>
                <a:gradFill flip="none" rotWithShape="1">
                  <a:gsLst>
                    <a:gs pos="0">
                      <a:srgbClr val="DBD4DD"/>
                    </a:gs>
                    <a:gs pos="50000">
                      <a:srgbClr val="E8E3E9"/>
                    </a:gs>
                    <a:gs pos="100000">
                      <a:srgbClr val="F3F1F4"/>
                    </a:gs>
                  </a:gsLst>
                  <a:path path="circle">
                    <a:fillToRect l="37721" t="-19636" r="62278" b="119636"/>
                  </a:path>
                </a:gradFill>
                <a:ln w="12700" cap="flat">
                  <a:noFill/>
                  <a:miter lim="400000"/>
                </a:ln>
                <a:effectLst/>
              </p:spPr>
              <p:txBody>
                <a:bodyPr wrap="square" lIns="45719" tIns="45719" rIns="45719" bIns="45719" numCol="1" anchor="ctr">
                  <a:noAutofit/>
                </a:bodyPr>
                <a:lstStyle/>
                <a:p>
                  <a:pPr algn="ctr">
                    <a:defRPr sz="900">
                      <a:solidFill>
                        <a:srgbClr val="242852"/>
                      </a:solidFill>
                      <a:latin typeface="Open Sans"/>
                      <a:ea typeface="Open Sans"/>
                      <a:cs typeface="Open Sans"/>
                      <a:sym typeface="Open Sans"/>
                    </a:defRPr>
                  </a:pPr>
                </a:p>
              </p:txBody>
            </p:sp>
            <p:sp>
              <p:nvSpPr>
                <p:cNvPr id="185" name="Paytm Wallet"/>
                <p:cNvSpPr txBox="1"/>
                <p:nvPr/>
              </p:nvSpPr>
              <p:spPr>
                <a:xfrm rot="14900351">
                  <a:off x="960505" y="710312"/>
                  <a:ext cx="468032" cy="370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sz="900">
                      <a:solidFill>
                        <a:srgbClr val="242852"/>
                      </a:solidFill>
                      <a:latin typeface="Open Sans"/>
                      <a:ea typeface="Open Sans"/>
                      <a:cs typeface="Open Sans"/>
                      <a:sym typeface="Open Sans"/>
                    </a:defRPr>
                  </a:lvl1pPr>
                </a:lstStyle>
                <a:p>
                  <a:pPr/>
                  <a:r>
                    <a:t>Paytm Wallet</a:t>
                  </a:r>
                </a:p>
              </p:txBody>
            </p:sp>
          </p:grpSp>
          <p:grpSp>
            <p:nvGrpSpPr>
              <p:cNvPr id="189" name="Isosceles Triangle 9"/>
              <p:cNvGrpSpPr/>
              <p:nvPr/>
            </p:nvGrpSpPr>
            <p:grpSpPr>
              <a:xfrm>
                <a:off x="1992902" y="1609737"/>
                <a:ext cx="1690981" cy="1551413"/>
                <a:chOff x="32434" y="80243"/>
                <a:chExt cx="1690980" cy="1551411"/>
              </a:xfrm>
            </p:grpSpPr>
            <p:sp>
              <p:nvSpPr>
                <p:cNvPr id="187" name="Triangle"/>
                <p:cNvSpPr/>
                <p:nvPr/>
              </p:nvSpPr>
              <p:spPr>
                <a:xfrm rot="17520526">
                  <a:off x="318452" y="170143"/>
                  <a:ext cx="1118945" cy="1371613"/>
                </a:xfrm>
                <a:prstGeom prst="triangle">
                  <a:avLst/>
                </a:prstGeom>
                <a:gradFill flip="none" rotWithShape="1">
                  <a:gsLst>
                    <a:gs pos="0">
                      <a:srgbClr val="DBD4DD"/>
                    </a:gs>
                    <a:gs pos="50000">
                      <a:srgbClr val="E8E3E9"/>
                    </a:gs>
                    <a:gs pos="100000">
                      <a:srgbClr val="F3F1F4"/>
                    </a:gs>
                  </a:gsLst>
                  <a:path path="circle">
                    <a:fillToRect l="37721" t="-19636" r="62278" b="119636"/>
                  </a:path>
                </a:gradFill>
                <a:ln w="12700" cap="flat">
                  <a:noFill/>
                  <a:miter lim="400000"/>
                </a:ln>
                <a:effectLst/>
              </p:spPr>
              <p:txBody>
                <a:bodyPr wrap="square" lIns="45719" tIns="45719" rIns="45719" bIns="45719" numCol="1" anchor="ctr">
                  <a:noAutofit/>
                </a:bodyPr>
                <a:lstStyle/>
                <a:p>
                  <a:pPr algn="ctr">
                    <a:defRPr sz="800">
                      <a:solidFill>
                        <a:srgbClr val="242852"/>
                      </a:solidFill>
                      <a:latin typeface="Open Sans"/>
                      <a:ea typeface="Open Sans"/>
                      <a:cs typeface="Open Sans"/>
                      <a:sym typeface="Open Sans"/>
                    </a:defRPr>
                  </a:pPr>
                </a:p>
              </p:txBody>
            </p:sp>
            <p:sp>
              <p:nvSpPr>
                <p:cNvPr id="188" name="Lending…"/>
                <p:cNvSpPr txBox="1"/>
                <p:nvPr/>
              </p:nvSpPr>
              <p:spPr>
                <a:xfrm rot="17520526">
                  <a:off x="929183" y="811732"/>
                  <a:ext cx="533312" cy="345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ctr">
                  <a:spAutoFit/>
                </a:bodyPr>
                <a:lstStyle/>
                <a:p>
                  <a:pPr algn="ctr">
                    <a:defRPr sz="800">
                      <a:solidFill>
                        <a:srgbClr val="242852"/>
                      </a:solidFill>
                      <a:latin typeface="Open Sans"/>
                      <a:ea typeface="Open Sans"/>
                      <a:cs typeface="Open Sans"/>
                      <a:sym typeface="Open Sans"/>
                    </a:defRPr>
                  </a:pPr>
                  <a:r>
                    <a:t>Lending</a:t>
                  </a:r>
                  <a:endParaRPr>
                    <a:solidFill>
                      <a:srgbClr val="FFFFFF"/>
                    </a:solidFill>
                  </a:endParaRPr>
                </a:p>
                <a:p>
                  <a:pPr algn="ctr">
                    <a:defRPr sz="800">
                      <a:solidFill>
                        <a:srgbClr val="242852"/>
                      </a:solidFill>
                      <a:latin typeface="Open Sans"/>
                      <a:ea typeface="Open Sans"/>
                      <a:cs typeface="Open Sans"/>
                      <a:sym typeface="Open Sans"/>
                    </a:defRPr>
                  </a:pPr>
                  <a:r>
                    <a:t> Products</a:t>
                  </a:r>
                </a:p>
              </p:txBody>
            </p:sp>
          </p:grpSp>
          <p:grpSp>
            <p:nvGrpSpPr>
              <p:cNvPr id="192" name="Isosceles Triangle 10"/>
              <p:cNvGrpSpPr/>
              <p:nvPr/>
            </p:nvGrpSpPr>
            <p:grpSpPr>
              <a:xfrm>
                <a:off x="1589087" y="1971187"/>
                <a:ext cx="1570309" cy="1706165"/>
                <a:chOff x="79147" y="34284"/>
                <a:chExt cx="1570308" cy="1706164"/>
              </a:xfrm>
            </p:grpSpPr>
            <p:sp>
              <p:nvSpPr>
                <p:cNvPr id="190" name="Triangle"/>
                <p:cNvSpPr/>
                <p:nvPr/>
              </p:nvSpPr>
              <p:spPr>
                <a:xfrm rot="20194735">
                  <a:off x="306743" y="199208"/>
                  <a:ext cx="1115118" cy="1376319"/>
                </a:xfrm>
                <a:prstGeom prst="triangle">
                  <a:avLst/>
                </a:prstGeom>
                <a:gradFill flip="none" rotWithShape="1">
                  <a:gsLst>
                    <a:gs pos="0">
                      <a:srgbClr val="DBD4DD"/>
                    </a:gs>
                    <a:gs pos="50000">
                      <a:srgbClr val="E8E3E9"/>
                    </a:gs>
                    <a:gs pos="100000">
                      <a:srgbClr val="F3F1F4"/>
                    </a:gs>
                  </a:gsLst>
                  <a:path path="circle">
                    <a:fillToRect l="37721" t="-19636" r="62278" b="119636"/>
                  </a:path>
                </a:gradFill>
                <a:ln w="12700" cap="flat">
                  <a:noFill/>
                  <a:miter lim="400000"/>
                </a:ln>
                <a:effectLst/>
              </p:spPr>
              <p:txBody>
                <a:bodyPr wrap="square" lIns="45719" tIns="45719" rIns="45719" bIns="45719" numCol="1" anchor="ctr">
                  <a:noAutofit/>
                </a:bodyPr>
                <a:lstStyle/>
                <a:p>
                  <a:pPr algn="ctr">
                    <a:defRPr sz="800">
                      <a:solidFill>
                        <a:srgbClr val="242852"/>
                      </a:solidFill>
                      <a:latin typeface="Open Sans"/>
                      <a:ea typeface="Open Sans"/>
                      <a:cs typeface="Open Sans"/>
                      <a:sym typeface="Open Sans"/>
                    </a:defRPr>
                  </a:pPr>
                </a:p>
              </p:txBody>
            </p:sp>
            <p:sp>
              <p:nvSpPr>
                <p:cNvPr id="191" name="Rent Payment"/>
                <p:cNvSpPr txBox="1"/>
                <p:nvPr/>
              </p:nvSpPr>
              <p:spPr>
                <a:xfrm rot="20194735">
                  <a:off x="627108" y="1093877"/>
                  <a:ext cx="747922" cy="218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ctr">
                  <a:spAutoFit/>
                </a:bodyPr>
                <a:lstStyle>
                  <a:lvl1pPr algn="ctr">
                    <a:defRPr sz="800">
                      <a:solidFill>
                        <a:srgbClr val="242852"/>
                      </a:solidFill>
                      <a:latin typeface="Open Sans"/>
                      <a:ea typeface="Open Sans"/>
                      <a:cs typeface="Open Sans"/>
                      <a:sym typeface="Open Sans"/>
                    </a:defRPr>
                  </a:lvl1pPr>
                </a:lstStyle>
                <a:p>
                  <a:pPr/>
                  <a:r>
                    <a:t>Rent Payment</a:t>
                  </a:r>
                </a:p>
              </p:txBody>
            </p:sp>
          </p:grpSp>
          <p:sp>
            <p:nvSpPr>
              <p:cNvPr id="193" name="Isosceles Triangle 11"/>
              <p:cNvSpPr/>
              <p:nvPr/>
            </p:nvSpPr>
            <p:spPr>
              <a:xfrm rot="14900351">
                <a:off x="2241534" y="1539551"/>
                <a:ext cx="560781" cy="671568"/>
              </a:xfrm>
              <a:prstGeom prst="triangle">
                <a:avLst/>
              </a:prstGeom>
              <a:solidFill>
                <a:srgbClr val="002060"/>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94" name="Isosceles Triangle 12"/>
              <p:cNvSpPr/>
              <p:nvPr/>
            </p:nvSpPr>
            <p:spPr>
              <a:xfrm rot="6902858">
                <a:off x="1348661" y="1557596"/>
                <a:ext cx="560782" cy="671570"/>
              </a:xfrm>
              <a:prstGeom prst="triangle">
                <a:avLst/>
              </a:prstGeom>
              <a:solidFill>
                <a:srgbClr val="00B0F0"/>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95" name="Isosceles Triangle 14"/>
              <p:cNvSpPr/>
              <p:nvPr/>
            </p:nvSpPr>
            <p:spPr>
              <a:xfrm rot="9372418">
                <a:off x="1632441" y="1312568"/>
                <a:ext cx="533007" cy="638833"/>
              </a:xfrm>
              <a:prstGeom prst="triangle">
                <a:avLst/>
              </a:prstGeom>
              <a:solidFill>
                <a:srgbClr val="002060"/>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96" name="Isosceles Triangle 15"/>
              <p:cNvSpPr/>
              <p:nvPr/>
            </p:nvSpPr>
            <p:spPr>
              <a:xfrm rot="12206459">
                <a:off x="1980172" y="1303444"/>
                <a:ext cx="531025" cy="703543"/>
              </a:xfrm>
              <a:prstGeom prst="triangle">
                <a:avLst/>
              </a:prstGeom>
              <a:solidFill>
                <a:srgbClr val="00B0F0"/>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97" name="Isosceles Triangle 16"/>
              <p:cNvSpPr/>
              <p:nvPr/>
            </p:nvSpPr>
            <p:spPr>
              <a:xfrm rot="4088703">
                <a:off x="1326394" y="1914137"/>
                <a:ext cx="560781" cy="671569"/>
              </a:xfrm>
              <a:prstGeom prst="triangle">
                <a:avLst/>
              </a:prstGeom>
              <a:solidFill>
                <a:srgbClr val="002060"/>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98" name="Isosceles Triangle 17"/>
              <p:cNvSpPr/>
              <p:nvPr/>
            </p:nvSpPr>
            <p:spPr>
              <a:xfrm rot="1394844">
                <a:off x="1606910" y="2176160"/>
                <a:ext cx="558865" cy="673873"/>
              </a:xfrm>
              <a:prstGeom prst="triangle">
                <a:avLst/>
              </a:prstGeom>
              <a:solidFill>
                <a:srgbClr val="00B0F0"/>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99" name="Isosceles Triangle 18"/>
              <p:cNvSpPr/>
              <p:nvPr/>
            </p:nvSpPr>
            <p:spPr>
              <a:xfrm rot="20201243">
                <a:off x="1963543" y="2190119"/>
                <a:ext cx="558865" cy="673873"/>
              </a:xfrm>
              <a:prstGeom prst="triangle">
                <a:avLst/>
              </a:prstGeom>
              <a:solidFill>
                <a:srgbClr val="002060"/>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200" name="Isosceles Triangle 19"/>
              <p:cNvSpPr/>
              <p:nvPr/>
            </p:nvSpPr>
            <p:spPr>
              <a:xfrm rot="17530300">
                <a:off x="2237942" y="1922216"/>
                <a:ext cx="560781" cy="671569"/>
              </a:xfrm>
              <a:prstGeom prst="triangle">
                <a:avLst/>
              </a:prstGeom>
              <a:solidFill>
                <a:srgbClr val="00B0F0"/>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201" name="Oval 20"/>
              <p:cNvSpPr/>
              <p:nvPr/>
            </p:nvSpPr>
            <p:spPr>
              <a:xfrm>
                <a:off x="1461674" y="1471393"/>
                <a:ext cx="1241381" cy="1254073"/>
              </a:xfrm>
              <a:prstGeom prst="ellipse">
                <a:avLst/>
              </a:prstGeom>
              <a:solidFill>
                <a:srgbClr val="FFFFFF"/>
              </a:solidFill>
              <a:ln w="76200" cap="flat">
                <a:solidFill>
                  <a:srgbClr val="EBE9EC"/>
                </a:solidFill>
                <a:prstDash val="solid"/>
                <a:round/>
              </a:ln>
              <a:effectLst/>
            </p:spPr>
            <p:txBody>
              <a:bodyPr wrap="square" lIns="45719" tIns="45719" rIns="45719" bIns="45719" numCol="1" anchor="ctr">
                <a:noAutofit/>
              </a:bodyPr>
              <a:lstStyle/>
              <a:p>
                <a:pPr algn="ctr">
                  <a:defRPr>
                    <a:solidFill>
                      <a:srgbClr val="FFFFFF"/>
                    </a:solidFill>
                  </a:defRPr>
                </a:pPr>
              </a:p>
            </p:txBody>
          </p:sp>
          <p:pic>
            <p:nvPicPr>
              <p:cNvPr id="202" name="Picture 21" descr="Picture 21"/>
              <p:cNvPicPr>
                <a:picLocks noChangeAspect="1"/>
              </p:cNvPicPr>
              <p:nvPr/>
            </p:nvPicPr>
            <p:blipFill>
              <a:blip r:embed="rId2">
                <a:extLst/>
              </a:blip>
              <a:stretch>
                <a:fillRect/>
              </a:stretch>
            </p:blipFill>
            <p:spPr>
              <a:xfrm>
                <a:off x="1735557" y="1722538"/>
                <a:ext cx="685191" cy="687543"/>
              </a:xfrm>
              <a:prstGeom prst="rect">
                <a:avLst/>
              </a:prstGeom>
              <a:ln w="12700" cap="flat">
                <a:noFill/>
                <a:miter lim="400000"/>
              </a:ln>
              <a:effectLst/>
            </p:spPr>
          </p:pic>
          <p:pic>
            <p:nvPicPr>
              <p:cNvPr id="203" name="Picture 3" descr="Picture 3"/>
              <p:cNvPicPr>
                <a:picLocks noChangeAspect="1"/>
              </p:cNvPicPr>
              <p:nvPr/>
            </p:nvPicPr>
            <p:blipFill>
              <a:blip r:embed="rId3">
                <a:extLst/>
              </a:blip>
              <a:stretch>
                <a:fillRect/>
              </a:stretch>
            </p:blipFill>
            <p:spPr>
              <a:xfrm>
                <a:off x="3356204" y="1325319"/>
                <a:ext cx="291150" cy="292149"/>
              </a:xfrm>
              <a:prstGeom prst="rect">
                <a:avLst/>
              </a:prstGeom>
              <a:ln w="12700" cap="flat">
                <a:noFill/>
                <a:miter lim="400000"/>
              </a:ln>
              <a:effectLst>
                <a:outerShdw sx="100000" sy="100000" kx="0" ky="0" algn="b" rotWithShape="0" blurRad="50800" dist="38100" dir="2700000">
                  <a:srgbClr val="000000">
                    <a:alpha val="40000"/>
                  </a:srgbClr>
                </a:outerShdw>
                <a:reflection blurRad="0" stA="52000" stPos="0" endA="0" endPos="40000" dist="0" dir="5400000" fadeDir="5400000" sx="100000" sy="-100000" kx="0" ky="0" algn="bl" rotWithShape="0"/>
              </a:effectLst>
            </p:spPr>
          </p:pic>
          <p:pic>
            <p:nvPicPr>
              <p:cNvPr id="204" name="Picture 22" descr="Picture 22"/>
              <p:cNvPicPr>
                <a:picLocks noChangeAspect="1"/>
              </p:cNvPicPr>
              <p:nvPr/>
            </p:nvPicPr>
            <p:blipFill>
              <a:blip r:embed="rId4">
                <a:extLst/>
              </a:blip>
              <a:stretch>
                <a:fillRect/>
              </a:stretch>
            </p:blipFill>
            <p:spPr>
              <a:xfrm>
                <a:off x="3378761" y="2483231"/>
                <a:ext cx="339872" cy="341038"/>
              </a:xfrm>
              <a:prstGeom prst="rect">
                <a:avLst/>
              </a:prstGeom>
              <a:ln w="12700" cap="flat">
                <a:noFill/>
                <a:miter lim="400000"/>
              </a:ln>
              <a:effectLst/>
            </p:spPr>
          </p:pic>
          <p:pic>
            <p:nvPicPr>
              <p:cNvPr id="205" name="Picture 26" descr="Picture 26"/>
              <p:cNvPicPr>
                <a:picLocks noChangeAspect="1"/>
              </p:cNvPicPr>
              <p:nvPr/>
            </p:nvPicPr>
            <p:blipFill>
              <a:blip r:embed="rId5">
                <a:extLst/>
              </a:blip>
              <a:stretch>
                <a:fillRect/>
              </a:stretch>
            </p:blipFill>
            <p:spPr>
              <a:xfrm>
                <a:off x="2534737" y="459984"/>
                <a:ext cx="336637" cy="337791"/>
              </a:xfrm>
              <a:prstGeom prst="rect">
                <a:avLst/>
              </a:prstGeom>
              <a:ln w="12700" cap="flat">
                <a:noFill/>
                <a:miter lim="400000"/>
              </a:ln>
              <a:effectLst/>
            </p:spPr>
          </p:pic>
          <p:pic>
            <p:nvPicPr>
              <p:cNvPr id="206" name="Picture 28" descr="Picture 28"/>
              <p:cNvPicPr>
                <a:picLocks noChangeAspect="1"/>
              </p:cNvPicPr>
              <p:nvPr/>
            </p:nvPicPr>
            <p:blipFill>
              <a:blip r:embed="rId6">
                <a:extLst/>
              </a:blip>
              <a:stretch>
                <a:fillRect/>
              </a:stretch>
            </p:blipFill>
            <p:spPr>
              <a:xfrm>
                <a:off x="478715" y="1253684"/>
                <a:ext cx="326480" cy="327601"/>
              </a:xfrm>
              <a:prstGeom prst="rect">
                <a:avLst/>
              </a:prstGeom>
              <a:ln w="12700" cap="flat">
                <a:noFill/>
                <a:miter lim="400000"/>
              </a:ln>
              <a:effectLst/>
            </p:spPr>
          </p:pic>
          <p:pic>
            <p:nvPicPr>
              <p:cNvPr id="207" name="Picture 30" descr="Picture 30"/>
              <p:cNvPicPr>
                <a:picLocks noChangeAspect="1"/>
              </p:cNvPicPr>
              <p:nvPr/>
            </p:nvPicPr>
            <p:blipFill>
              <a:blip r:embed="rId7">
                <a:extLst/>
              </a:blip>
              <a:stretch>
                <a:fillRect/>
              </a:stretch>
            </p:blipFill>
            <p:spPr>
              <a:xfrm>
                <a:off x="1292587" y="524895"/>
                <a:ext cx="333656" cy="334801"/>
              </a:xfrm>
              <a:prstGeom prst="rect">
                <a:avLst/>
              </a:prstGeom>
              <a:ln w="12700" cap="flat">
                <a:noFill/>
                <a:miter lim="400000"/>
              </a:ln>
              <a:effectLst/>
            </p:spPr>
          </p:pic>
          <p:pic>
            <p:nvPicPr>
              <p:cNvPr id="208" name="Picture 32" descr="Picture 32"/>
              <p:cNvPicPr>
                <a:picLocks noChangeAspect="1"/>
              </p:cNvPicPr>
              <p:nvPr/>
            </p:nvPicPr>
            <p:blipFill>
              <a:blip r:embed="rId8">
                <a:extLst/>
              </a:blip>
              <a:stretch>
                <a:fillRect/>
              </a:stretch>
            </p:blipFill>
            <p:spPr>
              <a:xfrm>
                <a:off x="422949" y="2444904"/>
                <a:ext cx="305688" cy="303924"/>
              </a:xfrm>
              <a:prstGeom prst="rect">
                <a:avLst/>
              </a:prstGeom>
              <a:ln w="12700" cap="flat">
                <a:noFill/>
                <a:miter lim="400000"/>
              </a:ln>
              <a:effectLst/>
            </p:spPr>
          </p:pic>
        </p:grpSp>
        <p:sp>
          <p:nvSpPr>
            <p:cNvPr id="210" name="TextBox 35"/>
            <p:cNvSpPr txBox="1"/>
            <p:nvPr/>
          </p:nvSpPr>
          <p:spPr>
            <a:xfrm>
              <a:off x="634326" y="1113463"/>
              <a:ext cx="2044542" cy="701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sz="1000">
                  <a:solidFill>
                    <a:srgbClr val="00B0F0"/>
                  </a:solidFill>
                  <a:latin typeface="Open Sans"/>
                  <a:ea typeface="Open Sans"/>
                  <a:cs typeface="Open Sans"/>
                  <a:sym typeface="Open Sans"/>
                </a:defRPr>
              </a:pPr>
              <a:r>
                <a:t>Recharge Utilities:</a:t>
              </a:r>
              <a:r>
                <a:rPr>
                  <a:solidFill>
                    <a:srgbClr val="000000"/>
                  </a:solidFill>
                </a:rPr>
                <a:t> Service based convenience fees which is derived as the difference between base price and selling price</a:t>
              </a:r>
            </a:p>
          </p:txBody>
        </p:sp>
        <p:sp>
          <p:nvSpPr>
            <p:cNvPr id="211" name="TextBox 36"/>
            <p:cNvSpPr txBox="1"/>
            <p:nvPr/>
          </p:nvSpPr>
          <p:spPr>
            <a:xfrm>
              <a:off x="1069247" y="379408"/>
              <a:ext cx="2044542" cy="396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sz="1000">
                  <a:solidFill>
                    <a:srgbClr val="00B0F0"/>
                  </a:solidFill>
                  <a:latin typeface="Open Sans"/>
                  <a:ea typeface="Open Sans"/>
                  <a:cs typeface="Open Sans"/>
                  <a:sym typeface="Open Sans"/>
                </a:defRPr>
              </a:pPr>
              <a:r>
                <a:t>Movies:</a:t>
              </a:r>
              <a:r>
                <a:rPr>
                  <a:solidFill>
                    <a:srgbClr val="000000"/>
                  </a:solidFill>
                </a:rPr>
                <a:t> Convenience Fee &amp; PG charges</a:t>
              </a:r>
            </a:p>
          </p:txBody>
        </p:sp>
        <p:sp>
          <p:nvSpPr>
            <p:cNvPr id="212" name="TextBox 37"/>
            <p:cNvSpPr txBox="1"/>
            <p:nvPr/>
          </p:nvSpPr>
          <p:spPr>
            <a:xfrm>
              <a:off x="556599" y="2284827"/>
              <a:ext cx="2044543" cy="5486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sz="1000">
                  <a:solidFill>
                    <a:srgbClr val="00B0F0"/>
                  </a:solidFill>
                  <a:latin typeface="Open Sans"/>
                  <a:ea typeface="Open Sans"/>
                  <a:cs typeface="Open Sans"/>
                  <a:sym typeface="Open Sans"/>
                </a:defRPr>
              </a:pPr>
              <a:r>
                <a:t>Flight:</a:t>
              </a:r>
              <a:r>
                <a:rPr>
                  <a:solidFill>
                    <a:srgbClr val="000000"/>
                  </a:solidFill>
                </a:rPr>
                <a:t> Convenience fee</a:t>
              </a:r>
              <a:endParaRPr>
                <a:solidFill>
                  <a:srgbClr val="000000"/>
                </a:solidFill>
              </a:endParaRPr>
            </a:p>
            <a:p>
              <a:pPr>
                <a:defRPr sz="1000">
                  <a:solidFill>
                    <a:srgbClr val="00B0F0"/>
                  </a:solidFill>
                  <a:latin typeface="Open Sans"/>
                  <a:ea typeface="Open Sans"/>
                  <a:cs typeface="Open Sans"/>
                  <a:sym typeface="Open Sans"/>
                </a:defRPr>
              </a:pPr>
              <a:r>
                <a:t>Train:</a:t>
              </a:r>
              <a:r>
                <a:rPr>
                  <a:solidFill>
                    <a:srgbClr val="000000"/>
                  </a:solidFill>
                </a:rPr>
                <a:t> Service fee &amp; PG charges</a:t>
              </a:r>
              <a:endParaRPr>
                <a:solidFill>
                  <a:srgbClr val="031227"/>
                </a:solidFill>
              </a:endParaRPr>
            </a:p>
            <a:p>
              <a:pPr>
                <a:defRPr sz="1000">
                  <a:solidFill>
                    <a:srgbClr val="00B0F0"/>
                  </a:solidFill>
                  <a:latin typeface="Open Sans"/>
                  <a:ea typeface="Open Sans"/>
                  <a:cs typeface="Open Sans"/>
                  <a:sym typeface="Open Sans"/>
                </a:defRPr>
              </a:pPr>
              <a:r>
                <a:t>Bus:</a:t>
              </a:r>
              <a:r>
                <a:rPr>
                  <a:solidFill>
                    <a:srgbClr val="000000"/>
                  </a:solidFill>
                </a:rPr>
                <a:t> Fee based on operator</a:t>
              </a:r>
            </a:p>
          </p:txBody>
        </p:sp>
        <p:sp>
          <p:nvSpPr>
            <p:cNvPr id="213" name="TextBox 38"/>
            <p:cNvSpPr txBox="1"/>
            <p:nvPr/>
          </p:nvSpPr>
          <p:spPr>
            <a:xfrm>
              <a:off x="1798534" y="3284842"/>
              <a:ext cx="2044543" cy="396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sz="1000">
                  <a:solidFill>
                    <a:srgbClr val="00B0F0"/>
                  </a:solidFill>
                  <a:latin typeface="Open Sans"/>
                  <a:ea typeface="Open Sans"/>
                  <a:cs typeface="Open Sans"/>
                  <a:sym typeface="Open Sans"/>
                </a:defRPr>
              </a:pPr>
              <a:r>
                <a:t>Deals and Gift Voucher:</a:t>
              </a:r>
              <a:r>
                <a:rPr>
                  <a:solidFill>
                    <a:srgbClr val="000000"/>
                  </a:solidFill>
                </a:rPr>
                <a:t> Commission</a:t>
              </a:r>
            </a:p>
          </p:txBody>
        </p:sp>
        <p:sp>
          <p:nvSpPr>
            <p:cNvPr id="214" name="TextBox 39"/>
            <p:cNvSpPr txBox="1"/>
            <p:nvPr/>
          </p:nvSpPr>
          <p:spPr>
            <a:xfrm>
              <a:off x="6548273" y="2033292"/>
              <a:ext cx="2044543" cy="1005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sz="1000">
                  <a:solidFill>
                    <a:srgbClr val="00B0F0"/>
                  </a:solidFill>
                  <a:latin typeface="Open Sans"/>
                  <a:ea typeface="Open Sans"/>
                  <a:cs typeface="Open Sans"/>
                  <a:sym typeface="Open Sans"/>
                </a:defRPr>
              </a:pPr>
              <a:r>
                <a:t>Paytm CC:</a:t>
              </a:r>
              <a:r>
                <a:rPr>
                  <a:solidFill>
                    <a:srgbClr val="000000"/>
                  </a:solidFill>
                </a:rPr>
                <a:t> </a:t>
              </a:r>
              <a:r>
                <a:rPr>
                  <a:solidFill>
                    <a:srgbClr val="002060"/>
                  </a:solidFill>
                </a:rPr>
                <a:t>Credit</a:t>
              </a:r>
              <a:r>
                <a:rPr>
                  <a:solidFill>
                    <a:srgbClr val="000000"/>
                  </a:solidFill>
                </a:rPr>
                <a:t> </a:t>
              </a:r>
              <a:r>
                <a:rPr>
                  <a:solidFill>
                    <a:srgbClr val="031227"/>
                  </a:solidFill>
                </a:rPr>
                <a:t>Card fee and spend based margins</a:t>
              </a:r>
              <a:endParaRPr>
                <a:solidFill>
                  <a:srgbClr val="031227"/>
                </a:solidFill>
              </a:endParaRPr>
            </a:p>
            <a:p>
              <a:pPr>
                <a:defRPr sz="1000">
                  <a:solidFill>
                    <a:srgbClr val="00B0F0"/>
                  </a:solidFill>
                  <a:latin typeface="Open Sans"/>
                  <a:ea typeface="Open Sans"/>
                  <a:cs typeface="Open Sans"/>
                  <a:sym typeface="Open Sans"/>
                </a:defRPr>
              </a:pPr>
              <a:r>
                <a:t>Personal Loan:</a:t>
              </a:r>
              <a:r>
                <a:rPr>
                  <a:solidFill>
                    <a:srgbClr val="000000"/>
                  </a:solidFill>
                </a:rPr>
                <a:t> P</a:t>
              </a:r>
              <a:r>
                <a:rPr>
                  <a:solidFill>
                    <a:srgbClr val="031227"/>
                  </a:solidFill>
                </a:rPr>
                <a:t>rocessing fee and interest components</a:t>
              </a:r>
              <a:endParaRPr>
                <a:solidFill>
                  <a:srgbClr val="031227"/>
                </a:solidFill>
              </a:endParaRPr>
            </a:p>
            <a:p>
              <a:pPr>
                <a:defRPr sz="1000">
                  <a:solidFill>
                    <a:srgbClr val="00B0F0"/>
                  </a:solidFill>
                  <a:latin typeface="Open Sans"/>
                  <a:ea typeface="Open Sans"/>
                  <a:cs typeface="Open Sans"/>
                  <a:sym typeface="Open Sans"/>
                </a:defRPr>
              </a:pPr>
              <a:r>
                <a:t>Postpaid:</a:t>
              </a:r>
              <a:r>
                <a:rPr>
                  <a:solidFill>
                    <a:srgbClr val="000000"/>
                  </a:solidFill>
                </a:rPr>
                <a:t> Convenience fee and late fee</a:t>
              </a:r>
            </a:p>
          </p:txBody>
        </p:sp>
        <p:sp>
          <p:nvSpPr>
            <p:cNvPr id="215" name="TextBox 40"/>
            <p:cNvSpPr txBox="1"/>
            <p:nvPr/>
          </p:nvSpPr>
          <p:spPr>
            <a:xfrm>
              <a:off x="5466061" y="3367808"/>
              <a:ext cx="2161758"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sz="1000">
                  <a:solidFill>
                    <a:srgbClr val="00B0F0"/>
                  </a:solidFill>
                  <a:latin typeface="Open Sans"/>
                  <a:ea typeface="Open Sans"/>
                  <a:cs typeface="Open Sans"/>
                  <a:sym typeface="Open Sans"/>
                </a:defRPr>
              </a:pPr>
              <a:r>
                <a:t>Rent Payment:</a:t>
              </a:r>
              <a:r>
                <a:rPr>
                  <a:solidFill>
                    <a:srgbClr val="000000"/>
                  </a:solidFill>
                </a:rPr>
                <a:t> Convenience fees</a:t>
              </a:r>
            </a:p>
          </p:txBody>
        </p:sp>
        <p:sp>
          <p:nvSpPr>
            <p:cNvPr id="216" name="TextBox 41"/>
            <p:cNvSpPr txBox="1"/>
            <p:nvPr/>
          </p:nvSpPr>
          <p:spPr>
            <a:xfrm>
              <a:off x="6651268" y="1101332"/>
              <a:ext cx="2044542" cy="5486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sz="1000">
                  <a:solidFill>
                    <a:srgbClr val="00B0F0"/>
                  </a:solidFill>
                  <a:latin typeface="Open Sans"/>
                  <a:ea typeface="Open Sans"/>
                  <a:cs typeface="Open Sans"/>
                  <a:sym typeface="Open Sans"/>
                </a:defRPr>
              </a:pPr>
              <a:r>
                <a:t>Wallet:</a:t>
              </a:r>
              <a:r>
                <a:rPr>
                  <a:solidFill>
                    <a:srgbClr val="000000"/>
                  </a:solidFill>
                </a:rPr>
                <a:t> </a:t>
              </a:r>
              <a:r>
                <a:rPr>
                  <a:solidFill>
                    <a:srgbClr val="031227"/>
                  </a:solidFill>
                </a:rPr>
                <a:t>Payment Instrument based margins for both inward and outwards payments</a:t>
              </a:r>
            </a:p>
          </p:txBody>
        </p:sp>
        <p:sp>
          <p:nvSpPr>
            <p:cNvPr id="217" name="TextBox 42"/>
            <p:cNvSpPr txBox="1"/>
            <p:nvPr/>
          </p:nvSpPr>
          <p:spPr>
            <a:xfrm>
              <a:off x="6010307" y="427321"/>
              <a:ext cx="2155925" cy="3962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defRPr sz="1000">
                  <a:solidFill>
                    <a:srgbClr val="00B0F0"/>
                  </a:solidFill>
                  <a:latin typeface="Open Sans"/>
                  <a:ea typeface="Open Sans"/>
                  <a:cs typeface="Open Sans"/>
                  <a:sym typeface="Open Sans"/>
                </a:defRPr>
              </a:pPr>
              <a:r>
                <a:t>Offline, Online &amp; UPI:</a:t>
              </a:r>
              <a:r>
                <a:rPr>
                  <a:solidFill>
                    <a:srgbClr val="000000"/>
                  </a:solidFill>
                </a:rPr>
                <a:t> </a:t>
              </a:r>
              <a:r>
                <a:rPr>
                  <a:solidFill>
                    <a:srgbClr val="031227"/>
                  </a:solidFill>
                </a:rPr>
                <a:t>Payment Instrument based margins</a:t>
              </a:r>
            </a:p>
          </p:txBody>
        </p:sp>
        <p:sp>
          <p:nvSpPr>
            <p:cNvPr id="218" name="Rectangle 56"/>
            <p:cNvSpPr/>
            <p:nvPr/>
          </p:nvSpPr>
          <p:spPr>
            <a:xfrm>
              <a:off x="0" y="332084"/>
              <a:ext cx="9003325" cy="3383020"/>
            </a:xfrm>
            <a:prstGeom prst="rect">
              <a:avLst/>
            </a:prstGeom>
            <a:noFill/>
            <a:ln w="9525" cap="flat">
              <a:solidFill>
                <a:srgbClr val="487399"/>
              </a:solidFill>
              <a:prstDash val="lgDash"/>
              <a:round/>
            </a:ln>
            <a:effectLst/>
          </p:spPr>
          <p:txBody>
            <a:bodyPr wrap="square" lIns="45719" tIns="45719" rIns="45719" bIns="45719" numCol="1" anchor="ctr">
              <a:noAutofit/>
            </a:bodyPr>
            <a:lstStyle/>
            <a:p>
              <a:pPr algn="ctr">
                <a:defRPr>
                  <a:solidFill>
                    <a:srgbClr val="FFFFFF"/>
                  </a:solidFill>
                </a:defRPr>
              </a:pPr>
            </a:p>
          </p:txBody>
        </p:sp>
        <p:pic>
          <p:nvPicPr>
            <p:cNvPr id="219" name="Picture 43" descr="Picture 43"/>
            <p:cNvPicPr>
              <a:picLocks noChangeAspect="1"/>
            </p:cNvPicPr>
            <p:nvPr/>
          </p:nvPicPr>
          <p:blipFill>
            <a:blip r:embed="rId9">
              <a:extLst/>
            </a:blip>
            <a:stretch>
              <a:fillRect/>
            </a:stretch>
          </p:blipFill>
          <p:spPr>
            <a:xfrm>
              <a:off x="3761452" y="3345901"/>
              <a:ext cx="320003" cy="320003"/>
            </a:xfrm>
            <a:prstGeom prst="rect">
              <a:avLst/>
            </a:prstGeom>
            <a:ln w="12700" cap="flat">
              <a:noFill/>
              <a:miter lim="400000"/>
            </a:ln>
            <a:effectLst/>
          </p:spPr>
        </p:pic>
        <p:pic>
          <p:nvPicPr>
            <p:cNvPr id="220" name="Picture 44" descr="Picture 44"/>
            <p:cNvPicPr>
              <a:picLocks noChangeAspect="1"/>
            </p:cNvPicPr>
            <p:nvPr/>
          </p:nvPicPr>
          <p:blipFill>
            <a:blip r:embed="rId10">
              <a:extLst/>
            </a:blip>
            <a:stretch>
              <a:fillRect/>
            </a:stretch>
          </p:blipFill>
          <p:spPr>
            <a:xfrm>
              <a:off x="4872599" y="3279325"/>
              <a:ext cx="340591" cy="340591"/>
            </a:xfrm>
            <a:prstGeom prst="rect">
              <a:avLst/>
            </a:prstGeom>
            <a:ln w="12700" cap="flat">
              <a:noFill/>
              <a:miter lim="400000"/>
            </a:ln>
            <a:effectLst/>
          </p:spPr>
        </p:pic>
      </p:grpSp>
      <p:sp>
        <p:nvSpPr>
          <p:cNvPr id="222" name="Google Shape;354;p21"/>
          <p:cNvSpPr txBox="1"/>
          <p:nvPr/>
        </p:nvSpPr>
        <p:spPr>
          <a:xfrm>
            <a:off x="20717" y="4494379"/>
            <a:ext cx="8939805" cy="497801"/>
          </a:xfrm>
          <a:prstGeom prst="rect">
            <a:avLst/>
          </a:prstGeom>
          <a:ln w="12700">
            <a:miter lim="400000"/>
          </a:ln>
          <a:extLst>
            <a:ext uri="{C572A759-6A51-4108-AA02-DFA0A04FC94B}">
              <ma14:wrappingTextBoxFlag xmlns:ma14="http://schemas.microsoft.com/office/mac/drawingml/2011/main" val="1"/>
            </a:ext>
          </a:extLst>
        </p:spPr>
        <p:txBody>
          <a:bodyPr lIns="121899" tIns="121899" rIns="121899" bIns="121899" anchor="ctr">
            <a:spAutoFit/>
          </a:bodyPr>
          <a:lstStyle/>
          <a:p>
            <a:pPr>
              <a:defRPr baseline="30000" i="1" sz="800">
                <a:solidFill>
                  <a:srgbClr val="002060"/>
                </a:solidFill>
                <a:latin typeface="Open Sans"/>
                <a:ea typeface="Open Sans"/>
                <a:cs typeface="Open Sans"/>
                <a:sym typeface="Open Sans"/>
              </a:defRPr>
            </a:pPr>
            <a:r>
              <a:t>** </a:t>
            </a:r>
            <a:r>
              <a:rPr baseline="0"/>
              <a:t>Additional </a:t>
            </a:r>
            <a:r>
              <a:rPr b="1" baseline="0"/>
              <a:t>Hotel/ Events/ Insurance </a:t>
            </a:r>
            <a:r>
              <a:rPr baseline="0"/>
              <a:t>are also considered; </a:t>
            </a:r>
            <a:endParaRPr baseline="0"/>
          </a:p>
          <a:p>
            <a:pPr>
              <a:defRPr i="1" sz="800">
                <a:solidFill>
                  <a:srgbClr val="002060"/>
                </a:solidFill>
                <a:latin typeface="Open Sans"/>
                <a:ea typeface="Open Sans"/>
                <a:cs typeface="Open Sans"/>
                <a:sym typeface="Open Sans"/>
              </a:defRPr>
            </a:pPr>
            <a:r>
              <a:t> </a:t>
            </a:r>
            <a:r>
              <a:rPr baseline="30000"/>
              <a:t>** </a:t>
            </a:r>
            <a:r>
              <a:rPr b="1"/>
              <a:t>Fastag Acquisition </a:t>
            </a:r>
            <a:r>
              <a:t>is part of PPBL, Paytm </a:t>
            </a:r>
            <a:r>
              <a:rPr b="1"/>
              <a:t>Money</a:t>
            </a:r>
            <a:r>
              <a:t> and </a:t>
            </a:r>
            <a:r>
              <a:rPr b="1"/>
              <a:t>Ads</a:t>
            </a:r>
            <a:r>
              <a:t> are </a:t>
            </a:r>
            <a:r>
              <a:rPr b="1"/>
              <a:t>not</a:t>
            </a:r>
            <a:r>
              <a:t> part of value</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4" name="Slide Number Placeholder 3"/>
          <p:cNvSpPr txBox="1"/>
          <p:nvPr>
            <p:ph type="sldNum" sz="quarter" idx="4294967295"/>
          </p:nvPr>
        </p:nvSpPr>
        <p:spPr>
          <a:xfrm>
            <a:off x="11853513" y="6202479"/>
            <a:ext cx="203024" cy="288824"/>
          </a:xfrm>
          <a:prstGeom prst="rect">
            <a:avLst/>
          </a:prstGeom>
          <a:extLst>
            <a:ext uri="{C572A759-6A51-4108-AA02-DFA0A04FC94B}">
              <ma14:wrappingTextBoxFlag xmlns:ma14="http://schemas.microsoft.com/office/mac/drawingml/2011/main" val="1"/>
            </a:ext>
          </a:extLst>
        </p:spPr>
        <p:txBody>
          <a:bodyPr lIns="45719" tIns="45719" rIns="45719" bIns="45719"/>
          <a:lstStyle>
            <a:lvl1pPr algn="r" defTabSz="548599">
              <a:defRPr sz="1400"/>
            </a:lvl1pPr>
          </a:lstStyle>
          <a:p>
            <a:pPr/>
            <a:fld id="{86CB4B4D-7CA3-9044-876B-883B54F8677D}" type="slidenum"/>
          </a:p>
        </p:txBody>
      </p:sp>
      <p:sp>
        <p:nvSpPr>
          <p:cNvPr id="225" name="Title 1"/>
          <p:cNvSpPr txBox="1"/>
          <p:nvPr/>
        </p:nvSpPr>
        <p:spPr>
          <a:xfrm>
            <a:off x="9539" y="63083"/>
            <a:ext cx="8245941" cy="5511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ctr">
            <a:spAutoFit/>
          </a:bodyPr>
          <a:lstStyle/>
          <a:p>
            <a:pPr defTabSz="914309">
              <a:defRPr b="1" i="1" spc="-150" sz="2400">
                <a:solidFill>
                  <a:srgbClr val="242852"/>
                </a:solidFill>
                <a:latin typeface="Open Sans"/>
                <a:ea typeface="Open Sans"/>
                <a:cs typeface="Open Sans"/>
                <a:sym typeface="Open Sans"/>
              </a:defRPr>
            </a:pPr>
            <a:r>
              <a:t>Illustration ~ </a:t>
            </a:r>
            <a:r>
              <a:rPr>
                <a:solidFill>
                  <a:srgbClr val="00B0F0"/>
                </a:solidFill>
              </a:rPr>
              <a:t>Historical</a:t>
            </a:r>
            <a:r>
              <a:t> vs. </a:t>
            </a:r>
            <a:r>
              <a:rPr>
                <a:solidFill>
                  <a:srgbClr val="00B0F0"/>
                </a:solidFill>
              </a:rPr>
              <a:t>Predictive</a:t>
            </a:r>
            <a:r>
              <a:t> Customer Value</a:t>
            </a:r>
          </a:p>
        </p:txBody>
      </p:sp>
      <p:sp>
        <p:nvSpPr>
          <p:cNvPr id="226" name="Straight Connector 8"/>
          <p:cNvSpPr/>
          <p:nvPr/>
        </p:nvSpPr>
        <p:spPr>
          <a:xfrm>
            <a:off x="-12300" y="618293"/>
            <a:ext cx="9180002" cy="13502"/>
          </a:xfrm>
          <a:prstGeom prst="line">
            <a:avLst/>
          </a:prstGeom>
          <a:ln w="38100">
            <a:solidFill>
              <a:srgbClr val="072C62"/>
            </a:solidFill>
          </a:ln>
        </p:spPr>
        <p:txBody>
          <a:bodyPr lIns="45719" rIns="45719"/>
          <a:lstStyle/>
          <a:p>
            <a:pPr/>
          </a:p>
        </p:txBody>
      </p:sp>
      <p:sp>
        <p:nvSpPr>
          <p:cNvPr id="227" name="TextBox 108"/>
          <p:cNvSpPr txBox="1"/>
          <p:nvPr/>
        </p:nvSpPr>
        <p:spPr>
          <a:xfrm>
            <a:off x="489869" y="608168"/>
            <a:ext cx="8154501" cy="396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2000">
                <a:solidFill>
                  <a:srgbClr val="002060"/>
                </a:solidFill>
                <a:latin typeface="Open Sans"/>
                <a:ea typeface="Open Sans"/>
                <a:cs typeface="Open Sans"/>
                <a:sym typeface="Open Sans"/>
              </a:defRPr>
            </a:lvl1pPr>
          </a:lstStyle>
          <a:p>
            <a:pPr/>
            <a:r>
              <a:t>Customer X</a:t>
            </a:r>
          </a:p>
        </p:txBody>
      </p:sp>
      <p:sp>
        <p:nvSpPr>
          <p:cNvPr id="228" name="Straight Connector 126"/>
          <p:cNvSpPr/>
          <p:nvPr/>
        </p:nvSpPr>
        <p:spPr>
          <a:xfrm flipV="1">
            <a:off x="3635552" y="1018216"/>
            <a:ext cx="1" cy="3852001"/>
          </a:xfrm>
          <a:prstGeom prst="line">
            <a:avLst/>
          </a:prstGeom>
          <a:ln>
            <a:solidFill>
              <a:srgbClr val="002060"/>
            </a:solidFill>
            <a:prstDash val="lgDash"/>
          </a:ln>
        </p:spPr>
        <p:txBody>
          <a:bodyPr lIns="45719" rIns="45719"/>
          <a:lstStyle/>
          <a:p>
            <a:pPr/>
          </a:p>
        </p:txBody>
      </p:sp>
      <p:grpSp>
        <p:nvGrpSpPr>
          <p:cNvPr id="231" name="Left Arrow 129"/>
          <p:cNvGrpSpPr/>
          <p:nvPr/>
        </p:nvGrpSpPr>
        <p:grpSpPr>
          <a:xfrm>
            <a:off x="104236" y="864709"/>
            <a:ext cx="3462132" cy="648001"/>
            <a:chOff x="0" y="0"/>
            <a:chExt cx="3462130" cy="647999"/>
          </a:xfrm>
        </p:grpSpPr>
        <p:sp>
          <p:nvSpPr>
            <p:cNvPr id="229" name="Arrow"/>
            <p:cNvSpPr/>
            <p:nvPr/>
          </p:nvSpPr>
          <p:spPr>
            <a:xfrm>
              <a:off x="0" y="0"/>
              <a:ext cx="3462131" cy="648000"/>
            </a:xfrm>
            <a:prstGeom prst="leftArrow">
              <a:avLst>
                <a:gd name="adj1" fmla="val 50000"/>
                <a:gd name="adj2" fmla="val 50000"/>
              </a:avLst>
            </a:prstGeom>
            <a:solidFill>
              <a:srgbClr val="0070C0"/>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230" name="Historical ~ Last 12M"/>
            <p:cNvSpPr txBox="1"/>
            <p:nvPr/>
          </p:nvSpPr>
          <p:spPr>
            <a:xfrm>
              <a:off x="207719" y="138579"/>
              <a:ext cx="3208693" cy="370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1800">
                  <a:solidFill>
                    <a:srgbClr val="FFFFFF"/>
                  </a:solidFill>
                  <a:latin typeface="Open Sans"/>
                  <a:ea typeface="Open Sans"/>
                  <a:cs typeface="Open Sans"/>
                  <a:sym typeface="Open Sans"/>
                </a:defRPr>
              </a:lvl1pPr>
            </a:lstStyle>
            <a:p>
              <a:pPr/>
              <a:r>
                <a:t>Historical ~ Last 12M</a:t>
              </a:r>
            </a:p>
          </p:txBody>
        </p:sp>
      </p:grpSp>
      <p:sp>
        <p:nvSpPr>
          <p:cNvPr id="232" name="TextBox 132"/>
          <p:cNvSpPr txBox="1"/>
          <p:nvPr/>
        </p:nvSpPr>
        <p:spPr>
          <a:xfrm>
            <a:off x="82366" y="1434257"/>
            <a:ext cx="1609506" cy="535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28600" indent="-228600">
              <a:lnSpc>
                <a:spcPct val="150000"/>
              </a:lnSpc>
              <a:buClr>
                <a:srgbClr val="000000"/>
              </a:buClr>
              <a:buSzPct val="100000"/>
              <a:buAutoNum type="arabicPeriod" startAt="1"/>
              <a:defRPr b="1" sz="800">
                <a:solidFill>
                  <a:srgbClr val="0070C0"/>
                </a:solidFill>
                <a:latin typeface="Open Sans"/>
                <a:ea typeface="Open Sans"/>
                <a:cs typeface="Open Sans"/>
                <a:sym typeface="Open Sans"/>
              </a:defRPr>
            </a:pPr>
            <a:r>
              <a:t>Recharge &amp; Utility</a:t>
            </a:r>
          </a:p>
          <a:p>
            <a:pPr lvl="2" marL="363538" indent="-138113">
              <a:lnSpc>
                <a:spcPct val="150000"/>
              </a:lnSpc>
              <a:buClr>
                <a:srgbClr val="00B0F0"/>
              </a:buClr>
              <a:buSzPct val="100000"/>
              <a:buFont typeface="Helvetica"/>
              <a:buChar char="⁃"/>
              <a:defRPr sz="700">
                <a:solidFill>
                  <a:srgbClr val="0070C0"/>
                </a:solidFill>
                <a:latin typeface="Open Sans"/>
                <a:ea typeface="Open Sans"/>
                <a:cs typeface="Open Sans"/>
                <a:sym typeface="Open Sans"/>
              </a:defRPr>
            </a:pPr>
            <a:r>
              <a:t>Mobile Prepaid</a:t>
            </a:r>
          </a:p>
          <a:p>
            <a:pPr lvl="2" marL="363538" indent="-138113">
              <a:lnSpc>
                <a:spcPct val="150000"/>
              </a:lnSpc>
              <a:buClr>
                <a:srgbClr val="00B0F0"/>
              </a:buClr>
              <a:buSzPct val="100000"/>
              <a:buFont typeface="Helvetica"/>
              <a:buChar char="⁃"/>
              <a:defRPr sz="700">
                <a:solidFill>
                  <a:srgbClr val="0070C0"/>
                </a:solidFill>
                <a:latin typeface="Open Sans"/>
                <a:ea typeface="Open Sans"/>
                <a:cs typeface="Open Sans"/>
                <a:sym typeface="Open Sans"/>
              </a:defRPr>
            </a:pPr>
            <a:r>
              <a:t>Electricity</a:t>
            </a:r>
          </a:p>
        </p:txBody>
      </p:sp>
      <p:sp>
        <p:nvSpPr>
          <p:cNvPr id="233" name="TextBox 133"/>
          <p:cNvSpPr txBox="1"/>
          <p:nvPr/>
        </p:nvSpPr>
        <p:spPr>
          <a:xfrm>
            <a:off x="1640202" y="1434257"/>
            <a:ext cx="568061" cy="535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lnSpc>
                <a:spcPct val="150000"/>
              </a:lnSpc>
              <a:defRPr b="1" sz="800">
                <a:solidFill>
                  <a:srgbClr val="0070C0"/>
                </a:solidFill>
                <a:latin typeface="Open Sans"/>
                <a:ea typeface="Open Sans"/>
                <a:cs typeface="Open Sans"/>
                <a:sym typeface="Open Sans"/>
              </a:defRPr>
            </a:pPr>
            <a:r>
              <a:t>Txns</a:t>
            </a:r>
          </a:p>
          <a:p>
            <a:pPr algn="ctr">
              <a:lnSpc>
                <a:spcPct val="150000"/>
              </a:lnSpc>
              <a:defRPr sz="700">
                <a:solidFill>
                  <a:srgbClr val="0070C0"/>
                </a:solidFill>
                <a:latin typeface="Open Sans"/>
                <a:ea typeface="Open Sans"/>
                <a:cs typeface="Open Sans"/>
                <a:sym typeface="Open Sans"/>
              </a:defRPr>
            </a:pPr>
            <a:r>
              <a:t>14 </a:t>
            </a:r>
          </a:p>
          <a:p>
            <a:pPr algn="ctr">
              <a:lnSpc>
                <a:spcPct val="150000"/>
              </a:lnSpc>
              <a:defRPr sz="700">
                <a:solidFill>
                  <a:srgbClr val="0070C0"/>
                </a:solidFill>
                <a:latin typeface="Open Sans"/>
                <a:ea typeface="Open Sans"/>
                <a:cs typeface="Open Sans"/>
                <a:sym typeface="Open Sans"/>
              </a:defRPr>
            </a:pPr>
            <a:r>
              <a:t>3</a:t>
            </a:r>
          </a:p>
        </p:txBody>
      </p:sp>
      <p:sp>
        <p:nvSpPr>
          <p:cNvPr id="234" name="TextBox 134"/>
          <p:cNvSpPr txBox="1"/>
          <p:nvPr/>
        </p:nvSpPr>
        <p:spPr>
          <a:xfrm>
            <a:off x="2119485" y="1434257"/>
            <a:ext cx="568061" cy="535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lnSpc>
                <a:spcPct val="150000"/>
              </a:lnSpc>
              <a:defRPr b="1" sz="800">
                <a:solidFill>
                  <a:srgbClr val="0070C0"/>
                </a:solidFill>
                <a:latin typeface="Open Sans"/>
                <a:ea typeface="Open Sans"/>
                <a:cs typeface="Open Sans"/>
                <a:sym typeface="Open Sans"/>
              </a:defRPr>
            </a:pPr>
            <a:r>
              <a:t>GMV</a:t>
            </a:r>
          </a:p>
          <a:p>
            <a:pPr algn="ctr">
              <a:lnSpc>
                <a:spcPct val="150000"/>
              </a:lnSpc>
              <a:defRPr sz="700">
                <a:solidFill>
                  <a:srgbClr val="0070C0"/>
                </a:solidFill>
                <a:latin typeface="Open Sans"/>
                <a:ea typeface="Open Sans"/>
                <a:cs typeface="Open Sans"/>
                <a:sym typeface="Open Sans"/>
              </a:defRPr>
            </a:pPr>
            <a:r>
              <a:t>₹14000</a:t>
            </a:r>
          </a:p>
          <a:p>
            <a:pPr algn="ctr">
              <a:lnSpc>
                <a:spcPct val="150000"/>
              </a:lnSpc>
              <a:defRPr sz="700">
                <a:solidFill>
                  <a:srgbClr val="0070C0"/>
                </a:solidFill>
                <a:latin typeface="Open Sans"/>
                <a:ea typeface="Open Sans"/>
                <a:cs typeface="Open Sans"/>
                <a:sym typeface="Open Sans"/>
              </a:defRPr>
            </a:pPr>
            <a:r>
              <a:t>₹1155</a:t>
            </a:r>
          </a:p>
        </p:txBody>
      </p:sp>
      <p:sp>
        <p:nvSpPr>
          <p:cNvPr id="235" name="TextBox 135"/>
          <p:cNvSpPr txBox="1"/>
          <p:nvPr/>
        </p:nvSpPr>
        <p:spPr>
          <a:xfrm>
            <a:off x="2635877" y="1434257"/>
            <a:ext cx="568061" cy="535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lnSpc>
                <a:spcPct val="150000"/>
              </a:lnSpc>
              <a:defRPr b="1" sz="800">
                <a:solidFill>
                  <a:srgbClr val="0070C0"/>
                </a:solidFill>
                <a:latin typeface="Open Sans"/>
                <a:ea typeface="Open Sans"/>
                <a:cs typeface="Open Sans"/>
                <a:sym typeface="Open Sans"/>
              </a:defRPr>
            </a:pPr>
            <a:r>
              <a:t>Value</a:t>
            </a:r>
          </a:p>
          <a:p>
            <a:pPr algn="ctr">
              <a:lnSpc>
                <a:spcPct val="150000"/>
              </a:lnSpc>
              <a:defRPr sz="700">
                <a:solidFill>
                  <a:srgbClr val="0070C0"/>
                </a:solidFill>
                <a:latin typeface="Open Sans"/>
                <a:ea typeface="Open Sans"/>
                <a:cs typeface="Open Sans"/>
                <a:sym typeface="Open Sans"/>
              </a:defRPr>
            </a:pPr>
            <a:r>
              <a:t>₹70</a:t>
            </a:r>
          </a:p>
          <a:p>
            <a:pPr algn="ctr">
              <a:lnSpc>
                <a:spcPct val="150000"/>
              </a:lnSpc>
              <a:defRPr sz="700">
                <a:solidFill>
                  <a:srgbClr val="0070C0"/>
                </a:solidFill>
                <a:latin typeface="Open Sans"/>
                <a:ea typeface="Open Sans"/>
                <a:cs typeface="Open Sans"/>
                <a:sym typeface="Open Sans"/>
              </a:defRPr>
            </a:pPr>
            <a:r>
              <a:t>₹15</a:t>
            </a:r>
          </a:p>
        </p:txBody>
      </p:sp>
      <p:sp>
        <p:nvSpPr>
          <p:cNvPr id="236" name="TextBox 136"/>
          <p:cNvSpPr txBox="1"/>
          <p:nvPr/>
        </p:nvSpPr>
        <p:spPr>
          <a:xfrm>
            <a:off x="82366" y="2062121"/>
            <a:ext cx="1609506" cy="383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28600" indent="-228600">
              <a:lnSpc>
                <a:spcPct val="150000"/>
              </a:lnSpc>
              <a:buClr>
                <a:srgbClr val="000000"/>
              </a:buClr>
              <a:buSzPct val="100000"/>
              <a:buAutoNum type="arabicPeriod" startAt="2"/>
              <a:defRPr b="1" sz="800">
                <a:solidFill>
                  <a:srgbClr val="0070C0"/>
                </a:solidFill>
                <a:latin typeface="Open Sans"/>
                <a:ea typeface="Open Sans"/>
                <a:cs typeface="Open Sans"/>
                <a:sym typeface="Open Sans"/>
              </a:defRPr>
            </a:pPr>
            <a:r>
              <a:t>Rent Payment</a:t>
            </a:r>
          </a:p>
          <a:p>
            <a:pPr lvl="2" marL="363538" indent="-138113">
              <a:lnSpc>
                <a:spcPct val="150000"/>
              </a:lnSpc>
              <a:buClr>
                <a:srgbClr val="00B0F0"/>
              </a:buClr>
              <a:buSzPct val="100000"/>
              <a:buFont typeface="Helvetica"/>
              <a:buChar char="⁃"/>
              <a:defRPr sz="700">
                <a:solidFill>
                  <a:srgbClr val="0070C0"/>
                </a:solidFill>
                <a:latin typeface="Open Sans"/>
                <a:ea typeface="Open Sans"/>
                <a:cs typeface="Open Sans"/>
                <a:sym typeface="Open Sans"/>
              </a:defRPr>
            </a:pPr>
            <a:r>
              <a:t>Amount</a:t>
            </a:r>
          </a:p>
        </p:txBody>
      </p:sp>
      <p:sp>
        <p:nvSpPr>
          <p:cNvPr id="237" name="TextBox 137"/>
          <p:cNvSpPr txBox="1"/>
          <p:nvPr/>
        </p:nvSpPr>
        <p:spPr>
          <a:xfrm>
            <a:off x="1640202" y="2062121"/>
            <a:ext cx="568061" cy="408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nSpc>
                <a:spcPct val="150000"/>
              </a:lnSpc>
              <a:defRPr b="1" sz="800">
                <a:solidFill>
                  <a:srgbClr val="0070C0"/>
                </a:solidFill>
                <a:latin typeface="Open Sans"/>
                <a:ea typeface="Open Sans"/>
                <a:cs typeface="Open Sans"/>
                <a:sym typeface="Open Sans"/>
              </a:defRPr>
            </a:lvl1pPr>
          </a:lstStyle>
          <a:p>
            <a:pPr/>
            <a:r>
              <a:t>Txns</a:t>
            </a:r>
          </a:p>
        </p:txBody>
      </p:sp>
      <p:sp>
        <p:nvSpPr>
          <p:cNvPr id="238" name="TextBox 138"/>
          <p:cNvSpPr txBox="1"/>
          <p:nvPr/>
        </p:nvSpPr>
        <p:spPr>
          <a:xfrm>
            <a:off x="2119485" y="2062121"/>
            <a:ext cx="568061" cy="383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lnSpc>
                <a:spcPct val="150000"/>
              </a:lnSpc>
              <a:defRPr b="1" sz="800">
                <a:solidFill>
                  <a:srgbClr val="0070C0"/>
                </a:solidFill>
                <a:latin typeface="Open Sans"/>
                <a:ea typeface="Open Sans"/>
                <a:cs typeface="Open Sans"/>
                <a:sym typeface="Open Sans"/>
              </a:defRPr>
            </a:pPr>
            <a:r>
              <a:t>GMV</a:t>
            </a:r>
          </a:p>
          <a:p>
            <a:pPr algn="ctr">
              <a:lnSpc>
                <a:spcPct val="150000"/>
              </a:lnSpc>
              <a:defRPr sz="700">
                <a:solidFill>
                  <a:srgbClr val="0070C0"/>
                </a:solidFill>
                <a:latin typeface="Open Sans"/>
                <a:ea typeface="Open Sans"/>
                <a:cs typeface="Open Sans"/>
                <a:sym typeface="Open Sans"/>
              </a:defRPr>
            </a:pPr>
            <a:r>
              <a:t>₹45000</a:t>
            </a:r>
          </a:p>
        </p:txBody>
      </p:sp>
      <p:sp>
        <p:nvSpPr>
          <p:cNvPr id="239" name="TextBox 139"/>
          <p:cNvSpPr txBox="1"/>
          <p:nvPr/>
        </p:nvSpPr>
        <p:spPr>
          <a:xfrm>
            <a:off x="2635877" y="2062121"/>
            <a:ext cx="568061" cy="383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lnSpc>
                <a:spcPct val="150000"/>
              </a:lnSpc>
              <a:defRPr b="1" sz="800">
                <a:solidFill>
                  <a:srgbClr val="0070C0"/>
                </a:solidFill>
                <a:latin typeface="Open Sans"/>
                <a:ea typeface="Open Sans"/>
                <a:cs typeface="Open Sans"/>
                <a:sym typeface="Open Sans"/>
              </a:defRPr>
            </a:pPr>
            <a:r>
              <a:t>Value</a:t>
            </a:r>
          </a:p>
          <a:p>
            <a:pPr algn="ctr">
              <a:lnSpc>
                <a:spcPct val="150000"/>
              </a:lnSpc>
              <a:defRPr sz="700">
                <a:solidFill>
                  <a:srgbClr val="0070C0"/>
                </a:solidFill>
                <a:latin typeface="Open Sans"/>
                <a:ea typeface="Open Sans"/>
                <a:cs typeface="Open Sans"/>
                <a:sym typeface="Open Sans"/>
              </a:defRPr>
            </a:pPr>
            <a:r>
              <a:t>₹900</a:t>
            </a:r>
          </a:p>
        </p:txBody>
      </p:sp>
      <p:sp>
        <p:nvSpPr>
          <p:cNvPr id="240" name="TextBox 140"/>
          <p:cNvSpPr txBox="1"/>
          <p:nvPr/>
        </p:nvSpPr>
        <p:spPr>
          <a:xfrm>
            <a:off x="94927" y="2542518"/>
            <a:ext cx="1609506" cy="535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28600" indent="-228600">
              <a:lnSpc>
                <a:spcPct val="150000"/>
              </a:lnSpc>
              <a:buClr>
                <a:srgbClr val="000000"/>
              </a:buClr>
              <a:buSzPct val="100000"/>
              <a:buAutoNum type="arabicPeriod" startAt="3"/>
              <a:defRPr b="1" sz="800">
                <a:solidFill>
                  <a:srgbClr val="0070C0"/>
                </a:solidFill>
                <a:latin typeface="Open Sans"/>
                <a:ea typeface="Open Sans"/>
                <a:cs typeface="Open Sans"/>
                <a:sym typeface="Open Sans"/>
              </a:defRPr>
            </a:pPr>
            <a:r>
              <a:t>3P Transactions</a:t>
            </a:r>
          </a:p>
          <a:p>
            <a:pPr lvl="2" marL="363538" indent="-138113">
              <a:lnSpc>
                <a:spcPct val="150000"/>
              </a:lnSpc>
              <a:buClr>
                <a:srgbClr val="00B0F0"/>
              </a:buClr>
              <a:buSzPct val="100000"/>
              <a:buFont typeface="Helvetica"/>
              <a:buChar char="⁃"/>
              <a:defRPr sz="700">
                <a:solidFill>
                  <a:srgbClr val="0070C0"/>
                </a:solidFill>
                <a:latin typeface="Open Sans"/>
                <a:ea typeface="Open Sans"/>
                <a:cs typeface="Open Sans"/>
                <a:sym typeface="Open Sans"/>
              </a:defRPr>
            </a:pPr>
            <a:r>
              <a:t>Credit Card</a:t>
            </a:r>
          </a:p>
          <a:p>
            <a:pPr lvl="2" marL="363538" indent="-138113">
              <a:lnSpc>
                <a:spcPct val="150000"/>
              </a:lnSpc>
              <a:buClr>
                <a:srgbClr val="00B0F0"/>
              </a:buClr>
              <a:buSzPct val="100000"/>
              <a:buFont typeface="Helvetica"/>
              <a:buChar char="⁃"/>
              <a:defRPr sz="700">
                <a:solidFill>
                  <a:srgbClr val="0070C0"/>
                </a:solidFill>
                <a:latin typeface="Open Sans"/>
                <a:ea typeface="Open Sans"/>
                <a:cs typeface="Open Sans"/>
                <a:sym typeface="Open Sans"/>
              </a:defRPr>
            </a:pPr>
            <a:r>
              <a:t>Wallet</a:t>
            </a:r>
          </a:p>
        </p:txBody>
      </p:sp>
      <p:sp>
        <p:nvSpPr>
          <p:cNvPr id="241" name="TextBox 141"/>
          <p:cNvSpPr txBox="1"/>
          <p:nvPr/>
        </p:nvSpPr>
        <p:spPr>
          <a:xfrm>
            <a:off x="1652764" y="2542518"/>
            <a:ext cx="568061" cy="408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nSpc>
                <a:spcPct val="150000"/>
              </a:lnSpc>
              <a:defRPr b="1" sz="800">
                <a:solidFill>
                  <a:srgbClr val="0070C0"/>
                </a:solidFill>
                <a:latin typeface="Open Sans"/>
                <a:ea typeface="Open Sans"/>
                <a:cs typeface="Open Sans"/>
                <a:sym typeface="Open Sans"/>
              </a:defRPr>
            </a:lvl1pPr>
          </a:lstStyle>
          <a:p>
            <a:pPr/>
            <a:r>
              <a:t>Txns</a:t>
            </a:r>
          </a:p>
        </p:txBody>
      </p:sp>
      <p:sp>
        <p:nvSpPr>
          <p:cNvPr id="242" name="TextBox 142"/>
          <p:cNvSpPr txBox="1"/>
          <p:nvPr/>
        </p:nvSpPr>
        <p:spPr>
          <a:xfrm>
            <a:off x="2132046" y="2542518"/>
            <a:ext cx="568061" cy="535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lnSpc>
                <a:spcPct val="150000"/>
              </a:lnSpc>
              <a:defRPr b="1" sz="800">
                <a:solidFill>
                  <a:srgbClr val="0070C0"/>
                </a:solidFill>
                <a:latin typeface="Open Sans"/>
                <a:ea typeface="Open Sans"/>
                <a:cs typeface="Open Sans"/>
                <a:sym typeface="Open Sans"/>
              </a:defRPr>
            </a:pPr>
            <a:r>
              <a:t>GMV</a:t>
            </a:r>
          </a:p>
          <a:p>
            <a:pPr algn="ctr">
              <a:lnSpc>
                <a:spcPct val="150000"/>
              </a:lnSpc>
              <a:defRPr sz="700">
                <a:solidFill>
                  <a:srgbClr val="0070C0"/>
                </a:solidFill>
                <a:latin typeface="Open Sans"/>
                <a:ea typeface="Open Sans"/>
                <a:cs typeface="Open Sans"/>
                <a:sym typeface="Open Sans"/>
              </a:defRPr>
            </a:pPr>
            <a:r>
              <a:t>₹12000</a:t>
            </a:r>
          </a:p>
          <a:p>
            <a:pPr algn="ctr">
              <a:lnSpc>
                <a:spcPct val="150000"/>
              </a:lnSpc>
              <a:defRPr sz="700">
                <a:solidFill>
                  <a:srgbClr val="0070C0"/>
                </a:solidFill>
                <a:latin typeface="Open Sans"/>
                <a:ea typeface="Open Sans"/>
                <a:cs typeface="Open Sans"/>
                <a:sym typeface="Open Sans"/>
              </a:defRPr>
            </a:pPr>
            <a:r>
              <a:t>₹18000</a:t>
            </a:r>
          </a:p>
        </p:txBody>
      </p:sp>
      <p:sp>
        <p:nvSpPr>
          <p:cNvPr id="243" name="TextBox 143"/>
          <p:cNvSpPr txBox="1"/>
          <p:nvPr/>
        </p:nvSpPr>
        <p:spPr>
          <a:xfrm>
            <a:off x="2648438" y="2542518"/>
            <a:ext cx="568061" cy="535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lnSpc>
                <a:spcPct val="150000"/>
              </a:lnSpc>
              <a:defRPr b="1" sz="800">
                <a:solidFill>
                  <a:srgbClr val="0070C0"/>
                </a:solidFill>
                <a:latin typeface="Open Sans"/>
                <a:ea typeface="Open Sans"/>
                <a:cs typeface="Open Sans"/>
                <a:sym typeface="Open Sans"/>
              </a:defRPr>
            </a:pPr>
            <a:r>
              <a:t>Value</a:t>
            </a:r>
          </a:p>
          <a:p>
            <a:pPr algn="ctr">
              <a:lnSpc>
                <a:spcPct val="150000"/>
              </a:lnSpc>
              <a:defRPr sz="700">
                <a:solidFill>
                  <a:srgbClr val="0070C0"/>
                </a:solidFill>
                <a:latin typeface="Open Sans"/>
                <a:ea typeface="Open Sans"/>
                <a:cs typeface="Open Sans"/>
                <a:sym typeface="Open Sans"/>
              </a:defRPr>
            </a:pPr>
            <a:r>
              <a:t>₹150</a:t>
            </a:r>
          </a:p>
          <a:p>
            <a:pPr algn="ctr">
              <a:lnSpc>
                <a:spcPct val="150000"/>
              </a:lnSpc>
              <a:defRPr sz="700">
                <a:solidFill>
                  <a:srgbClr val="0070C0"/>
                </a:solidFill>
                <a:latin typeface="Open Sans"/>
                <a:ea typeface="Open Sans"/>
                <a:cs typeface="Open Sans"/>
                <a:sym typeface="Open Sans"/>
              </a:defRPr>
            </a:pPr>
            <a:r>
              <a:t>₹120</a:t>
            </a:r>
          </a:p>
        </p:txBody>
      </p:sp>
      <p:sp>
        <p:nvSpPr>
          <p:cNvPr id="244" name="TextBox 145"/>
          <p:cNvSpPr txBox="1"/>
          <p:nvPr/>
        </p:nvSpPr>
        <p:spPr>
          <a:xfrm>
            <a:off x="-22352" y="3265392"/>
            <a:ext cx="3519885"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b="1" sz="1000">
                <a:solidFill>
                  <a:srgbClr val="002060"/>
                </a:solidFill>
                <a:latin typeface="Open Sans"/>
                <a:ea typeface="Open Sans"/>
                <a:cs typeface="Open Sans"/>
                <a:sym typeface="Open Sans"/>
              </a:defRPr>
            </a:pPr>
            <a:r>
              <a:t>Customer Value (CV) = </a:t>
            </a:r>
            <a:r>
              <a:rPr b="0" sz="700">
                <a:solidFill>
                  <a:srgbClr val="0070C0"/>
                </a:solidFill>
              </a:rPr>
              <a:t>₹70 + ₹15 + ₹900 + ₹150 + ₹120 </a:t>
            </a:r>
            <a:r>
              <a:rPr b="0">
                <a:solidFill>
                  <a:srgbClr val="0070C0"/>
                </a:solidFill>
              </a:rPr>
              <a:t>= </a:t>
            </a:r>
            <a:r>
              <a:t>₹1,265 </a:t>
            </a:r>
          </a:p>
        </p:txBody>
      </p:sp>
      <p:sp>
        <p:nvSpPr>
          <p:cNvPr id="245" name="Rectangle 175"/>
          <p:cNvSpPr/>
          <p:nvPr/>
        </p:nvSpPr>
        <p:spPr>
          <a:xfrm>
            <a:off x="3700364" y="3265392"/>
            <a:ext cx="5339394" cy="1267860"/>
          </a:xfrm>
          <a:prstGeom prst="rect">
            <a:avLst/>
          </a:prstGeom>
          <a:ln>
            <a:solidFill>
              <a:srgbClr val="487399"/>
            </a:solidFill>
            <a:prstDash val="sysDot"/>
          </a:ln>
        </p:spPr>
        <p:txBody>
          <a:bodyPr lIns="45719" rIns="45719" anchor="ctr"/>
          <a:lstStyle/>
          <a:p>
            <a:pPr algn="ctr">
              <a:defRPr>
                <a:solidFill>
                  <a:srgbClr val="FFFFFF"/>
                </a:solidFill>
              </a:defRPr>
            </a:pPr>
          </a:p>
        </p:txBody>
      </p:sp>
      <p:sp>
        <p:nvSpPr>
          <p:cNvPr id="246" name="TextBox 153"/>
          <p:cNvSpPr txBox="1"/>
          <p:nvPr/>
        </p:nvSpPr>
        <p:spPr>
          <a:xfrm>
            <a:off x="3750457" y="1431653"/>
            <a:ext cx="1609505" cy="535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28600" indent="-228600">
              <a:lnSpc>
                <a:spcPct val="150000"/>
              </a:lnSpc>
              <a:buClr>
                <a:srgbClr val="000000"/>
              </a:buClr>
              <a:buSzPct val="100000"/>
              <a:buAutoNum type="arabicPeriod" startAt="1"/>
              <a:defRPr b="1" sz="800">
                <a:solidFill>
                  <a:srgbClr val="0070C0"/>
                </a:solidFill>
                <a:latin typeface="Open Sans"/>
                <a:ea typeface="Open Sans"/>
                <a:cs typeface="Open Sans"/>
                <a:sym typeface="Open Sans"/>
              </a:defRPr>
            </a:pPr>
            <a:r>
              <a:t>Recharge &amp; Utility</a:t>
            </a:r>
          </a:p>
          <a:p>
            <a:pPr lvl="2" marL="363538" indent="-138113">
              <a:lnSpc>
                <a:spcPct val="150000"/>
              </a:lnSpc>
              <a:buClr>
                <a:srgbClr val="00B0F0"/>
              </a:buClr>
              <a:buSzPct val="100000"/>
              <a:buFont typeface="Helvetica"/>
              <a:buChar char="⁃"/>
              <a:defRPr sz="700">
                <a:solidFill>
                  <a:srgbClr val="0070C0"/>
                </a:solidFill>
                <a:latin typeface="Open Sans"/>
                <a:ea typeface="Open Sans"/>
                <a:cs typeface="Open Sans"/>
                <a:sym typeface="Open Sans"/>
              </a:defRPr>
            </a:pPr>
            <a:r>
              <a:t>Mobile Prepaid</a:t>
            </a:r>
          </a:p>
          <a:p>
            <a:pPr lvl="2" marL="363538" indent="-138113">
              <a:lnSpc>
                <a:spcPct val="150000"/>
              </a:lnSpc>
              <a:buClr>
                <a:srgbClr val="00B0F0"/>
              </a:buClr>
              <a:buSzPct val="100000"/>
              <a:buFont typeface="Helvetica"/>
              <a:buChar char="⁃"/>
              <a:defRPr sz="700">
                <a:solidFill>
                  <a:srgbClr val="0070C0"/>
                </a:solidFill>
                <a:latin typeface="Open Sans"/>
                <a:ea typeface="Open Sans"/>
                <a:cs typeface="Open Sans"/>
                <a:sym typeface="Open Sans"/>
              </a:defRPr>
            </a:pPr>
            <a:r>
              <a:t>Electricity</a:t>
            </a:r>
          </a:p>
        </p:txBody>
      </p:sp>
      <p:sp>
        <p:nvSpPr>
          <p:cNvPr id="247" name="TextBox 154"/>
          <p:cNvSpPr txBox="1"/>
          <p:nvPr/>
        </p:nvSpPr>
        <p:spPr>
          <a:xfrm>
            <a:off x="5089636" y="1431653"/>
            <a:ext cx="568061" cy="535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lnSpc>
                <a:spcPct val="150000"/>
              </a:lnSpc>
              <a:defRPr b="1" sz="800">
                <a:solidFill>
                  <a:srgbClr val="0070C0"/>
                </a:solidFill>
                <a:latin typeface="Open Sans"/>
                <a:ea typeface="Open Sans"/>
                <a:cs typeface="Open Sans"/>
                <a:sym typeface="Open Sans"/>
              </a:defRPr>
            </a:pPr>
            <a:r>
              <a:t>Txns</a:t>
            </a:r>
          </a:p>
          <a:p>
            <a:pPr algn="ctr">
              <a:lnSpc>
                <a:spcPct val="150000"/>
              </a:lnSpc>
              <a:defRPr sz="700">
                <a:solidFill>
                  <a:srgbClr val="0070C0"/>
                </a:solidFill>
                <a:latin typeface="Open Sans"/>
                <a:ea typeface="Open Sans"/>
                <a:cs typeface="Open Sans"/>
                <a:sym typeface="Open Sans"/>
              </a:defRPr>
            </a:pPr>
            <a:r>
              <a:t>10 </a:t>
            </a:r>
          </a:p>
          <a:p>
            <a:pPr algn="ctr">
              <a:lnSpc>
                <a:spcPct val="150000"/>
              </a:lnSpc>
              <a:defRPr sz="700">
                <a:solidFill>
                  <a:srgbClr val="0070C0"/>
                </a:solidFill>
                <a:latin typeface="Open Sans"/>
                <a:ea typeface="Open Sans"/>
                <a:cs typeface="Open Sans"/>
                <a:sym typeface="Open Sans"/>
              </a:defRPr>
            </a:pPr>
            <a:r>
              <a:t>1</a:t>
            </a:r>
          </a:p>
        </p:txBody>
      </p:sp>
      <p:sp>
        <p:nvSpPr>
          <p:cNvPr id="248" name="TextBox 155"/>
          <p:cNvSpPr txBox="1"/>
          <p:nvPr/>
        </p:nvSpPr>
        <p:spPr>
          <a:xfrm>
            <a:off x="5568918" y="1431653"/>
            <a:ext cx="568061" cy="535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lnSpc>
                <a:spcPct val="150000"/>
              </a:lnSpc>
              <a:defRPr b="1" sz="800">
                <a:solidFill>
                  <a:srgbClr val="0070C0"/>
                </a:solidFill>
                <a:latin typeface="Open Sans"/>
                <a:ea typeface="Open Sans"/>
                <a:cs typeface="Open Sans"/>
                <a:sym typeface="Open Sans"/>
              </a:defRPr>
            </a:pPr>
            <a:r>
              <a:t>GMV</a:t>
            </a:r>
          </a:p>
          <a:p>
            <a:pPr algn="ctr">
              <a:lnSpc>
                <a:spcPct val="150000"/>
              </a:lnSpc>
              <a:defRPr sz="700">
                <a:solidFill>
                  <a:srgbClr val="0070C0"/>
                </a:solidFill>
                <a:latin typeface="Open Sans"/>
                <a:ea typeface="Open Sans"/>
                <a:cs typeface="Open Sans"/>
                <a:sym typeface="Open Sans"/>
              </a:defRPr>
            </a:pPr>
            <a:r>
              <a:t>₹10000</a:t>
            </a:r>
          </a:p>
          <a:p>
            <a:pPr algn="ctr">
              <a:lnSpc>
                <a:spcPct val="150000"/>
              </a:lnSpc>
              <a:defRPr sz="700">
                <a:solidFill>
                  <a:srgbClr val="0070C0"/>
                </a:solidFill>
                <a:latin typeface="Open Sans"/>
                <a:ea typeface="Open Sans"/>
                <a:cs typeface="Open Sans"/>
                <a:sym typeface="Open Sans"/>
              </a:defRPr>
            </a:pPr>
            <a:r>
              <a:t>₹385</a:t>
            </a:r>
          </a:p>
        </p:txBody>
      </p:sp>
      <p:sp>
        <p:nvSpPr>
          <p:cNvPr id="249" name="TextBox 156"/>
          <p:cNvSpPr txBox="1"/>
          <p:nvPr/>
        </p:nvSpPr>
        <p:spPr>
          <a:xfrm>
            <a:off x="6085309" y="1431653"/>
            <a:ext cx="568061" cy="535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lnSpc>
                <a:spcPct val="150000"/>
              </a:lnSpc>
              <a:defRPr b="1" sz="800">
                <a:solidFill>
                  <a:srgbClr val="0070C0"/>
                </a:solidFill>
                <a:latin typeface="Open Sans"/>
                <a:ea typeface="Open Sans"/>
                <a:cs typeface="Open Sans"/>
                <a:sym typeface="Open Sans"/>
              </a:defRPr>
            </a:pPr>
            <a:r>
              <a:t>Value</a:t>
            </a:r>
          </a:p>
          <a:p>
            <a:pPr algn="ctr">
              <a:lnSpc>
                <a:spcPct val="150000"/>
              </a:lnSpc>
              <a:defRPr sz="700">
                <a:solidFill>
                  <a:srgbClr val="0070C0"/>
                </a:solidFill>
                <a:latin typeface="Open Sans"/>
                <a:ea typeface="Open Sans"/>
                <a:cs typeface="Open Sans"/>
                <a:sym typeface="Open Sans"/>
              </a:defRPr>
            </a:pPr>
            <a:r>
              <a:t>₹50</a:t>
            </a:r>
          </a:p>
          <a:p>
            <a:pPr algn="ctr">
              <a:lnSpc>
                <a:spcPct val="150000"/>
              </a:lnSpc>
              <a:defRPr sz="700">
                <a:solidFill>
                  <a:srgbClr val="0070C0"/>
                </a:solidFill>
                <a:latin typeface="Open Sans"/>
                <a:ea typeface="Open Sans"/>
                <a:cs typeface="Open Sans"/>
                <a:sym typeface="Open Sans"/>
              </a:defRPr>
            </a:pPr>
            <a:r>
              <a:t>₹5</a:t>
            </a:r>
          </a:p>
        </p:txBody>
      </p:sp>
      <p:sp>
        <p:nvSpPr>
          <p:cNvPr id="250" name="TextBox 157"/>
          <p:cNvSpPr txBox="1"/>
          <p:nvPr/>
        </p:nvSpPr>
        <p:spPr>
          <a:xfrm>
            <a:off x="3750457" y="2059516"/>
            <a:ext cx="1609505" cy="383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28600" indent="-228600">
              <a:lnSpc>
                <a:spcPct val="150000"/>
              </a:lnSpc>
              <a:buClr>
                <a:srgbClr val="000000"/>
              </a:buClr>
              <a:buSzPct val="100000"/>
              <a:buAutoNum type="arabicPeriod" startAt="2"/>
              <a:defRPr b="1" sz="800">
                <a:solidFill>
                  <a:srgbClr val="0070C0"/>
                </a:solidFill>
                <a:latin typeface="Open Sans"/>
                <a:ea typeface="Open Sans"/>
                <a:cs typeface="Open Sans"/>
                <a:sym typeface="Open Sans"/>
              </a:defRPr>
            </a:pPr>
            <a:r>
              <a:t>CC Taken</a:t>
            </a:r>
          </a:p>
          <a:p>
            <a:pPr lvl="2" marL="363538" indent="-138113">
              <a:lnSpc>
                <a:spcPct val="150000"/>
              </a:lnSpc>
              <a:buClr>
                <a:srgbClr val="00B0F0"/>
              </a:buClr>
              <a:buSzPct val="100000"/>
              <a:buFont typeface="Helvetica"/>
              <a:buChar char="⁃"/>
              <a:defRPr sz="700">
                <a:solidFill>
                  <a:srgbClr val="0070C0"/>
                </a:solidFill>
                <a:latin typeface="Open Sans"/>
                <a:ea typeface="Open Sans"/>
                <a:cs typeface="Open Sans"/>
                <a:sym typeface="Open Sans"/>
              </a:defRPr>
            </a:pPr>
            <a:r>
              <a:t>Card Fee from Bank</a:t>
            </a:r>
          </a:p>
        </p:txBody>
      </p:sp>
      <p:sp>
        <p:nvSpPr>
          <p:cNvPr id="251" name="TextBox 158"/>
          <p:cNvSpPr txBox="1"/>
          <p:nvPr/>
        </p:nvSpPr>
        <p:spPr>
          <a:xfrm>
            <a:off x="5089636" y="2059516"/>
            <a:ext cx="568061" cy="408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nSpc>
                <a:spcPct val="150000"/>
              </a:lnSpc>
              <a:defRPr b="1" sz="800">
                <a:solidFill>
                  <a:srgbClr val="0070C0"/>
                </a:solidFill>
                <a:latin typeface="Open Sans"/>
                <a:ea typeface="Open Sans"/>
                <a:cs typeface="Open Sans"/>
                <a:sym typeface="Open Sans"/>
              </a:defRPr>
            </a:lvl1pPr>
          </a:lstStyle>
          <a:p>
            <a:pPr/>
            <a:r>
              <a:t>Txns</a:t>
            </a:r>
          </a:p>
        </p:txBody>
      </p:sp>
      <p:sp>
        <p:nvSpPr>
          <p:cNvPr id="252" name="TextBox 159"/>
          <p:cNvSpPr txBox="1"/>
          <p:nvPr/>
        </p:nvSpPr>
        <p:spPr>
          <a:xfrm>
            <a:off x="5568918" y="2059516"/>
            <a:ext cx="568061" cy="218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nSpc>
                <a:spcPct val="150000"/>
              </a:lnSpc>
              <a:defRPr b="1" sz="800">
                <a:solidFill>
                  <a:srgbClr val="0070C0"/>
                </a:solidFill>
                <a:latin typeface="Open Sans"/>
                <a:ea typeface="Open Sans"/>
                <a:cs typeface="Open Sans"/>
                <a:sym typeface="Open Sans"/>
              </a:defRPr>
            </a:lvl1pPr>
          </a:lstStyle>
          <a:p>
            <a:pPr/>
            <a:r>
              <a:t>GMV</a:t>
            </a:r>
          </a:p>
        </p:txBody>
      </p:sp>
      <p:sp>
        <p:nvSpPr>
          <p:cNvPr id="253" name="TextBox 160"/>
          <p:cNvSpPr txBox="1"/>
          <p:nvPr/>
        </p:nvSpPr>
        <p:spPr>
          <a:xfrm>
            <a:off x="6085309" y="2059516"/>
            <a:ext cx="568061" cy="383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lnSpc>
                <a:spcPct val="150000"/>
              </a:lnSpc>
              <a:defRPr b="1" sz="800">
                <a:solidFill>
                  <a:srgbClr val="0070C0"/>
                </a:solidFill>
                <a:latin typeface="Open Sans"/>
                <a:ea typeface="Open Sans"/>
                <a:cs typeface="Open Sans"/>
                <a:sym typeface="Open Sans"/>
              </a:defRPr>
            </a:pPr>
            <a:r>
              <a:t>Value</a:t>
            </a:r>
          </a:p>
          <a:p>
            <a:pPr algn="ctr">
              <a:lnSpc>
                <a:spcPct val="150000"/>
              </a:lnSpc>
              <a:defRPr sz="700">
                <a:solidFill>
                  <a:srgbClr val="0070C0"/>
                </a:solidFill>
                <a:latin typeface="Open Sans"/>
                <a:ea typeface="Open Sans"/>
                <a:cs typeface="Open Sans"/>
                <a:sym typeface="Open Sans"/>
              </a:defRPr>
            </a:pPr>
            <a:r>
              <a:t>₹3000</a:t>
            </a:r>
          </a:p>
        </p:txBody>
      </p:sp>
      <p:sp>
        <p:nvSpPr>
          <p:cNvPr id="254" name="TextBox 161"/>
          <p:cNvSpPr txBox="1"/>
          <p:nvPr/>
        </p:nvSpPr>
        <p:spPr>
          <a:xfrm>
            <a:off x="3763019" y="2539912"/>
            <a:ext cx="1609505" cy="535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28600" indent="-228600">
              <a:lnSpc>
                <a:spcPct val="150000"/>
              </a:lnSpc>
              <a:buClr>
                <a:srgbClr val="000000"/>
              </a:buClr>
              <a:buSzPct val="100000"/>
              <a:buAutoNum type="arabicPeriod" startAt="3"/>
              <a:defRPr b="1" sz="800">
                <a:solidFill>
                  <a:srgbClr val="0070C0"/>
                </a:solidFill>
                <a:latin typeface="Open Sans"/>
                <a:ea typeface="Open Sans"/>
                <a:cs typeface="Open Sans"/>
                <a:sym typeface="Open Sans"/>
              </a:defRPr>
            </a:pPr>
            <a:r>
              <a:t>3P Transactions</a:t>
            </a:r>
          </a:p>
          <a:p>
            <a:pPr lvl="2" marL="363538" indent="-138113">
              <a:lnSpc>
                <a:spcPct val="150000"/>
              </a:lnSpc>
              <a:buClr>
                <a:srgbClr val="00B0F0"/>
              </a:buClr>
              <a:buSzPct val="100000"/>
              <a:buFont typeface="Helvetica"/>
              <a:buChar char="⁃"/>
              <a:defRPr sz="700">
                <a:solidFill>
                  <a:srgbClr val="0070C0"/>
                </a:solidFill>
                <a:latin typeface="Open Sans"/>
                <a:ea typeface="Open Sans"/>
                <a:cs typeface="Open Sans"/>
                <a:sym typeface="Open Sans"/>
              </a:defRPr>
            </a:pPr>
            <a:r>
              <a:t>Credit Card</a:t>
            </a:r>
          </a:p>
          <a:p>
            <a:pPr lvl="2" marL="363538" indent="-138113">
              <a:lnSpc>
                <a:spcPct val="150000"/>
              </a:lnSpc>
              <a:buClr>
                <a:srgbClr val="00B0F0"/>
              </a:buClr>
              <a:buSzPct val="100000"/>
              <a:buFont typeface="Helvetica"/>
              <a:buChar char="⁃"/>
              <a:defRPr sz="700">
                <a:solidFill>
                  <a:srgbClr val="0070C0"/>
                </a:solidFill>
                <a:latin typeface="Open Sans"/>
                <a:ea typeface="Open Sans"/>
                <a:cs typeface="Open Sans"/>
                <a:sym typeface="Open Sans"/>
              </a:defRPr>
            </a:pPr>
            <a:r>
              <a:t>Wallet</a:t>
            </a:r>
          </a:p>
        </p:txBody>
      </p:sp>
      <p:sp>
        <p:nvSpPr>
          <p:cNvPr id="255" name="TextBox 162"/>
          <p:cNvSpPr txBox="1"/>
          <p:nvPr/>
        </p:nvSpPr>
        <p:spPr>
          <a:xfrm>
            <a:off x="5102197" y="2539912"/>
            <a:ext cx="568061" cy="408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nSpc>
                <a:spcPct val="150000"/>
              </a:lnSpc>
              <a:defRPr b="1" sz="800">
                <a:solidFill>
                  <a:srgbClr val="0070C0"/>
                </a:solidFill>
                <a:latin typeface="Open Sans"/>
                <a:ea typeface="Open Sans"/>
                <a:cs typeface="Open Sans"/>
                <a:sym typeface="Open Sans"/>
              </a:defRPr>
            </a:lvl1pPr>
          </a:lstStyle>
          <a:p>
            <a:pPr/>
            <a:r>
              <a:t>Txns</a:t>
            </a:r>
          </a:p>
        </p:txBody>
      </p:sp>
      <p:sp>
        <p:nvSpPr>
          <p:cNvPr id="256" name="TextBox 163"/>
          <p:cNvSpPr txBox="1"/>
          <p:nvPr/>
        </p:nvSpPr>
        <p:spPr>
          <a:xfrm>
            <a:off x="5581479" y="2539912"/>
            <a:ext cx="568061" cy="535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lnSpc>
                <a:spcPct val="150000"/>
              </a:lnSpc>
              <a:defRPr b="1" sz="800">
                <a:solidFill>
                  <a:srgbClr val="0070C0"/>
                </a:solidFill>
                <a:latin typeface="Open Sans"/>
                <a:ea typeface="Open Sans"/>
                <a:cs typeface="Open Sans"/>
                <a:sym typeface="Open Sans"/>
              </a:defRPr>
            </a:pPr>
            <a:r>
              <a:t>GMV</a:t>
            </a:r>
          </a:p>
          <a:p>
            <a:pPr algn="ctr">
              <a:lnSpc>
                <a:spcPct val="150000"/>
              </a:lnSpc>
              <a:defRPr sz="700">
                <a:solidFill>
                  <a:srgbClr val="0070C0"/>
                </a:solidFill>
                <a:latin typeface="Open Sans"/>
                <a:ea typeface="Open Sans"/>
                <a:cs typeface="Open Sans"/>
                <a:sym typeface="Open Sans"/>
              </a:defRPr>
            </a:pPr>
            <a:r>
              <a:t>₹15000</a:t>
            </a:r>
          </a:p>
          <a:p>
            <a:pPr algn="ctr">
              <a:lnSpc>
                <a:spcPct val="150000"/>
              </a:lnSpc>
              <a:defRPr sz="700">
                <a:solidFill>
                  <a:srgbClr val="0070C0"/>
                </a:solidFill>
                <a:latin typeface="Open Sans"/>
                <a:ea typeface="Open Sans"/>
                <a:cs typeface="Open Sans"/>
                <a:sym typeface="Open Sans"/>
              </a:defRPr>
            </a:pPr>
            <a:r>
              <a:t>₹5000</a:t>
            </a:r>
          </a:p>
        </p:txBody>
      </p:sp>
      <p:sp>
        <p:nvSpPr>
          <p:cNvPr id="257" name="TextBox 164"/>
          <p:cNvSpPr txBox="1"/>
          <p:nvPr/>
        </p:nvSpPr>
        <p:spPr>
          <a:xfrm>
            <a:off x="6097871" y="2539912"/>
            <a:ext cx="568061" cy="535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lnSpc>
                <a:spcPct val="150000"/>
              </a:lnSpc>
              <a:defRPr b="1" sz="800">
                <a:solidFill>
                  <a:srgbClr val="0070C0"/>
                </a:solidFill>
                <a:latin typeface="Open Sans"/>
                <a:ea typeface="Open Sans"/>
                <a:cs typeface="Open Sans"/>
                <a:sym typeface="Open Sans"/>
              </a:defRPr>
            </a:pPr>
            <a:r>
              <a:t>Value</a:t>
            </a:r>
          </a:p>
          <a:p>
            <a:pPr algn="ctr">
              <a:lnSpc>
                <a:spcPct val="150000"/>
              </a:lnSpc>
              <a:defRPr sz="700">
                <a:solidFill>
                  <a:srgbClr val="0070C0"/>
                </a:solidFill>
                <a:latin typeface="Open Sans"/>
                <a:ea typeface="Open Sans"/>
                <a:cs typeface="Open Sans"/>
                <a:sym typeface="Open Sans"/>
              </a:defRPr>
            </a:pPr>
            <a:r>
              <a:t>₹180</a:t>
            </a:r>
          </a:p>
          <a:p>
            <a:pPr algn="ctr">
              <a:lnSpc>
                <a:spcPct val="150000"/>
              </a:lnSpc>
              <a:defRPr sz="700">
                <a:solidFill>
                  <a:srgbClr val="0070C0"/>
                </a:solidFill>
                <a:latin typeface="Open Sans"/>
                <a:ea typeface="Open Sans"/>
                <a:cs typeface="Open Sans"/>
                <a:sym typeface="Open Sans"/>
              </a:defRPr>
            </a:pPr>
            <a:r>
              <a:t>₹50</a:t>
            </a:r>
          </a:p>
        </p:txBody>
      </p:sp>
      <p:sp>
        <p:nvSpPr>
          <p:cNvPr id="258" name="TextBox 165"/>
          <p:cNvSpPr txBox="1"/>
          <p:nvPr/>
        </p:nvSpPr>
        <p:spPr>
          <a:xfrm>
            <a:off x="7080482" y="2040928"/>
            <a:ext cx="1772604" cy="510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b="1" sz="900">
                <a:solidFill>
                  <a:srgbClr val="002060"/>
                </a:solidFill>
                <a:latin typeface="Open Sans"/>
                <a:ea typeface="Open Sans"/>
                <a:cs typeface="Open Sans"/>
                <a:sym typeface="Open Sans"/>
              </a:defRPr>
            </a:pPr>
            <a:r>
              <a:t>Customer Value (CV) = </a:t>
            </a:r>
          </a:p>
          <a:p>
            <a:pPr algn="ctr">
              <a:defRPr sz="700">
                <a:solidFill>
                  <a:srgbClr val="0070C0"/>
                </a:solidFill>
                <a:latin typeface="Open Sans"/>
                <a:ea typeface="Open Sans"/>
                <a:cs typeface="Open Sans"/>
                <a:sym typeface="Open Sans"/>
              </a:defRPr>
            </a:pPr>
            <a:r>
              <a:t>₹50 + ₹5 + ₹3000 + ₹180 + ₹50 </a:t>
            </a:r>
            <a:r>
              <a:rPr sz="900"/>
              <a:t>= </a:t>
            </a:r>
            <a:r>
              <a:rPr b="1" sz="900">
                <a:solidFill>
                  <a:srgbClr val="002060"/>
                </a:solidFill>
              </a:rPr>
              <a:t>₹3,285 </a:t>
            </a:r>
          </a:p>
        </p:txBody>
      </p:sp>
      <p:sp>
        <p:nvSpPr>
          <p:cNvPr id="259" name="Left Brace 166"/>
          <p:cNvSpPr/>
          <p:nvPr/>
        </p:nvSpPr>
        <p:spPr>
          <a:xfrm rot="10800000">
            <a:off x="6724467" y="1478873"/>
            <a:ext cx="253917" cy="16623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15635" y="21600"/>
                  <a:pt x="10800" y="21477"/>
                  <a:pt x="10800" y="21325"/>
                </a:cubicBezTo>
                <a:lnTo>
                  <a:pt x="10800" y="11075"/>
                </a:lnTo>
                <a:cubicBezTo>
                  <a:pt x="10800" y="10923"/>
                  <a:pt x="5965" y="10800"/>
                  <a:pt x="0" y="10800"/>
                </a:cubicBezTo>
                <a:cubicBezTo>
                  <a:pt x="5965" y="10800"/>
                  <a:pt x="10800" y="10677"/>
                  <a:pt x="10800" y="10525"/>
                </a:cubicBezTo>
                <a:lnTo>
                  <a:pt x="10800" y="275"/>
                </a:lnTo>
                <a:cubicBezTo>
                  <a:pt x="10800" y="123"/>
                  <a:pt x="15635" y="0"/>
                  <a:pt x="21600" y="0"/>
                </a:cubicBezTo>
              </a:path>
            </a:pathLst>
          </a:custGeom>
          <a:ln>
            <a:solidFill>
              <a:srgbClr val="002060"/>
            </a:solidFill>
            <a:prstDash val="sysDot"/>
          </a:ln>
        </p:spPr>
        <p:txBody>
          <a:bodyPr lIns="45719" rIns="45719" anchor="ctr"/>
          <a:lstStyle/>
          <a:p>
            <a:pPr algn="ctr">
              <a:defRPr sz="1200"/>
            </a:pPr>
          </a:p>
        </p:txBody>
      </p:sp>
      <p:sp>
        <p:nvSpPr>
          <p:cNvPr id="260" name="TextBox 169"/>
          <p:cNvSpPr txBox="1"/>
          <p:nvPr/>
        </p:nvSpPr>
        <p:spPr>
          <a:xfrm>
            <a:off x="3752205" y="3966031"/>
            <a:ext cx="5027157" cy="458599"/>
          </a:xfrm>
          <a:prstGeom prst="rect">
            <a:avLst/>
          </a:prstGeom>
          <a:solidFill>
            <a:srgbClr val="E8F3D6"/>
          </a:solidFill>
          <a:ln w="12700">
            <a:miter lim="400000"/>
          </a:ln>
          <a:extLst>
            <a:ext uri="{C572A759-6A51-4108-AA02-DFA0A04FC94B}">
              <ma14:wrappingTextBoxFlag xmlns:ma14="http://schemas.microsoft.com/office/mac/drawingml/2011/main" val="1"/>
            </a:ext>
          </a:extLst>
        </p:spPr>
        <p:txBody>
          <a:bodyPr lIns="45719" rIns="45719">
            <a:spAutoFit/>
          </a:bodyPr>
          <a:lstStyle/>
          <a:p>
            <a:pPr algn="ctr">
              <a:lnSpc>
                <a:spcPct val="150000"/>
              </a:lnSpc>
              <a:defRPr b="1" sz="1000">
                <a:solidFill>
                  <a:srgbClr val="00B0F0"/>
                </a:solidFill>
                <a:latin typeface="Open Sans"/>
                <a:ea typeface="Open Sans"/>
                <a:cs typeface="Open Sans"/>
                <a:sym typeface="Open Sans"/>
              </a:defRPr>
            </a:pPr>
            <a:r>
              <a:t>Predicted</a:t>
            </a:r>
            <a:r>
              <a:rPr>
                <a:solidFill>
                  <a:srgbClr val="0070C0"/>
                </a:solidFill>
              </a:rPr>
              <a:t> </a:t>
            </a:r>
            <a:r>
              <a:rPr b="0" sz="900"/>
              <a:t>Customer Value in </a:t>
            </a:r>
            <a:r>
              <a:rPr sz="900">
                <a:solidFill>
                  <a:srgbClr val="002060"/>
                </a:solidFill>
              </a:rPr>
              <a:t>Next 12M </a:t>
            </a:r>
            <a:r>
              <a:rPr b="0" sz="900">
                <a:solidFill>
                  <a:srgbClr val="002060"/>
                </a:solidFill>
              </a:rPr>
              <a:t>(</a:t>
            </a:r>
            <a:r>
              <a:rPr sz="900">
                <a:solidFill>
                  <a:srgbClr val="002060"/>
                </a:solidFill>
              </a:rPr>
              <a:t>₹3,400</a:t>
            </a:r>
            <a:r>
              <a:rPr b="0" sz="900">
                <a:solidFill>
                  <a:srgbClr val="002060"/>
                </a:solidFill>
              </a:rPr>
              <a:t>)</a:t>
            </a:r>
            <a:r>
              <a:rPr sz="900">
                <a:solidFill>
                  <a:srgbClr val="002060"/>
                </a:solidFill>
              </a:rPr>
              <a:t> </a:t>
            </a:r>
            <a:endParaRPr sz="900">
              <a:solidFill>
                <a:srgbClr val="002060"/>
              </a:solidFill>
            </a:endParaRPr>
          </a:p>
          <a:p>
            <a:pPr algn="ctr">
              <a:lnSpc>
                <a:spcPct val="150000"/>
              </a:lnSpc>
              <a:defRPr b="1" sz="800">
                <a:solidFill>
                  <a:srgbClr val="0070C0"/>
                </a:solidFill>
                <a:latin typeface="Open Sans"/>
                <a:ea typeface="Open Sans"/>
                <a:cs typeface="Open Sans"/>
                <a:sym typeface="Open Sans"/>
              </a:defRPr>
            </a:pPr>
            <a:r>
              <a:t>= </a:t>
            </a:r>
            <a14:m>
              <m:oMath>
                <m:limUpp>
                  <m:e>
                    <m:r>
                      <a:rPr xmlns:a="http://schemas.openxmlformats.org/drawingml/2006/main" sz="800" i="1">
                        <a:solidFill>
                          <a:srgbClr val="0070C0"/>
                        </a:solidFill>
                        <a:latin typeface="Cambria Math" panose="02040503050406030204" pitchFamily="18" charset="0"/>
                      </a:rPr>
                      <m:t>𝛼</m:t>
                    </m:r>
                  </m:e>
                  <m:lim>
                    <m:r>
                      <m:rPr>
                        <m:sty m:val="p"/>
                      </m:rPr>
                      <a:rPr xmlns:a="http://schemas.openxmlformats.org/drawingml/2006/main" sz="800" i="1">
                        <a:solidFill>
                          <a:srgbClr val="0070C0"/>
                        </a:solidFill>
                        <a:latin typeface="Cambria Math" panose="02040503050406030204" pitchFamily="18" charset="0"/>
                      </a:rPr>
                      <m:t>^</m:t>
                    </m:r>
                  </m:lim>
                </m:limUpp>
                <m:r>
                  <a:rPr xmlns:a="http://schemas.openxmlformats.org/drawingml/2006/main" sz="800" i="1">
                    <a:solidFill>
                      <a:srgbClr val="0070C0"/>
                    </a:solidFill>
                    <a:latin typeface="Cambria Math" panose="02040503050406030204" pitchFamily="18" charset="0"/>
                  </a:rPr>
                  <m:t>+</m:t>
                </m:r>
                <m:limUpp>
                  <m:e>
                    <m:r>
                      <a:rPr xmlns:a="http://schemas.openxmlformats.org/drawingml/2006/main" sz="800" i="1">
                        <a:solidFill>
                          <a:srgbClr val="0070C0"/>
                        </a:solidFill>
                        <a:latin typeface="Cambria Math" panose="02040503050406030204" pitchFamily="18" charset="0"/>
                      </a:rPr>
                      <m:t>𝛽</m:t>
                    </m:r>
                  </m:e>
                  <m:lim>
                    <m:r>
                      <m:rPr>
                        <m:sty m:val="p"/>
                      </m:rPr>
                      <a:rPr xmlns:a="http://schemas.openxmlformats.org/drawingml/2006/main" sz="800" i="1">
                        <a:solidFill>
                          <a:srgbClr val="0070C0"/>
                        </a:solidFill>
                        <a:latin typeface="Cambria Math" panose="02040503050406030204" pitchFamily="18" charset="0"/>
                      </a:rPr>
                      <m:t>^</m:t>
                    </m:r>
                  </m:lim>
                </m:limUpp>
                <m:r>
                  <a:rPr xmlns:a="http://schemas.openxmlformats.org/drawingml/2006/main" sz="800" i="1">
                    <a:solidFill>
                      <a:srgbClr val="0070C0"/>
                    </a:solidFill>
                    <a:latin typeface="Cambria Math" panose="02040503050406030204" pitchFamily="18" charset="0"/>
                  </a:rPr>
                  <m:t>∗</m:t>
                </m:r>
                <m:r>
                  <a:rPr xmlns:a="http://schemas.openxmlformats.org/drawingml/2006/main" sz="800" i="1">
                    <a:solidFill>
                      <a:srgbClr val="0070C0"/>
                    </a:solidFill>
                    <a:latin typeface="Cambria Math" panose="02040503050406030204" pitchFamily="18" charset="0"/>
                  </a:rPr>
                  <m:t>𝑅</m:t>
                </m:r>
                <m:r>
                  <a:rPr xmlns:a="http://schemas.openxmlformats.org/drawingml/2006/main" sz="800" i="1">
                    <a:solidFill>
                      <a:srgbClr val="0070C0"/>
                    </a:solidFill>
                    <a:latin typeface="Cambria Math" panose="02040503050406030204" pitchFamily="18" charset="0"/>
                  </a:rPr>
                  <m:t>𝑒</m:t>
                </m:r>
                <m:r>
                  <a:rPr xmlns:a="http://schemas.openxmlformats.org/drawingml/2006/main" sz="800" i="1">
                    <a:solidFill>
                      <a:srgbClr val="0070C0"/>
                    </a:solidFill>
                    <a:latin typeface="Cambria Math" panose="02040503050406030204" pitchFamily="18" charset="0"/>
                  </a:rPr>
                  <m:t>𝑐</m:t>
                </m:r>
                <m:r>
                  <a:rPr xmlns:a="http://schemas.openxmlformats.org/drawingml/2006/main" sz="800" i="1">
                    <a:solidFill>
                      <a:srgbClr val="0070C0"/>
                    </a:solidFill>
                    <a:latin typeface="Cambria Math" panose="02040503050406030204" pitchFamily="18" charset="0"/>
                  </a:rPr>
                  <m:t>.</m:t>
                </m:r>
                <m:r>
                  <a:rPr xmlns:a="http://schemas.openxmlformats.org/drawingml/2006/main" sz="800" i="1">
                    <a:solidFill>
                      <a:srgbClr val="0070C0"/>
                    </a:solidFill>
                    <a:latin typeface="Cambria Math" panose="02040503050406030204" pitchFamily="18" charset="0"/>
                  </a:rPr>
                  <m:t>𝐿</m:t>
                </m:r>
                <m:r>
                  <a:rPr xmlns:a="http://schemas.openxmlformats.org/drawingml/2006/main" sz="800" i="1">
                    <a:solidFill>
                      <a:srgbClr val="0070C0"/>
                    </a:solidFill>
                    <a:latin typeface="Cambria Math" panose="02040503050406030204" pitchFamily="18" charset="0"/>
                  </a:rPr>
                  <m:t>𝑎</m:t>
                </m:r>
                <m:r>
                  <a:rPr xmlns:a="http://schemas.openxmlformats.org/drawingml/2006/main" sz="800" i="1">
                    <a:solidFill>
                      <a:srgbClr val="0070C0"/>
                    </a:solidFill>
                    <a:latin typeface="Cambria Math" panose="02040503050406030204" pitchFamily="18" charset="0"/>
                  </a:rPr>
                  <m:t>𝑠</m:t>
                </m:r>
                <m:r>
                  <a:rPr xmlns:a="http://schemas.openxmlformats.org/drawingml/2006/main" sz="800" i="1">
                    <a:solidFill>
                      <a:srgbClr val="0070C0"/>
                    </a:solidFill>
                    <a:latin typeface="Cambria Math" panose="02040503050406030204" pitchFamily="18" charset="0"/>
                  </a:rPr>
                  <m:t>𝑡</m:t>
                </m:r>
                <m:r>
                  <a:rPr xmlns:a="http://schemas.openxmlformats.org/drawingml/2006/main" sz="800" i="1">
                    <a:solidFill>
                      <a:srgbClr val="0070C0"/>
                    </a:solidFill>
                    <a:latin typeface="Cambria Math" panose="02040503050406030204" pitchFamily="18" charset="0"/>
                  </a:rPr>
                  <m:t/>
                </m:r>
                <m:r>
                  <a:rPr xmlns:a="http://schemas.openxmlformats.org/drawingml/2006/main" sz="800" i="1">
                    <a:solidFill>
                      <a:srgbClr val="0070C0"/>
                    </a:solidFill>
                    <a:latin typeface="Cambria Math" panose="02040503050406030204" pitchFamily="18" charset="0"/>
                  </a:rPr>
                  <m:t>12</m:t>
                </m:r>
                <m:r>
                  <a:rPr xmlns:a="http://schemas.openxmlformats.org/drawingml/2006/main" sz="800" i="1">
                    <a:solidFill>
                      <a:srgbClr val="0070C0"/>
                    </a:solidFill>
                    <a:latin typeface="Cambria Math" panose="02040503050406030204" pitchFamily="18" charset="0"/>
                  </a:rPr>
                  <m:t>𝑀</m:t>
                </m:r>
                <m:r>
                  <a:rPr xmlns:a="http://schemas.openxmlformats.org/drawingml/2006/main" sz="800" i="1">
                    <a:solidFill>
                      <a:srgbClr val="0070C0"/>
                    </a:solidFill>
                    <a:latin typeface="Cambria Math" panose="02040503050406030204" pitchFamily="18" charset="0"/>
                  </a:rPr>
                  <m:t>+</m:t>
                </m:r>
                <m:limUpp>
                  <m:e>
                    <m:r>
                      <a:rPr xmlns:a="http://schemas.openxmlformats.org/drawingml/2006/main" sz="800" i="1">
                        <a:solidFill>
                          <a:srgbClr val="0070C0"/>
                        </a:solidFill>
                        <a:latin typeface="Cambria Math" panose="02040503050406030204" pitchFamily="18" charset="0"/>
                      </a:rPr>
                      <m:t>𝛾</m:t>
                    </m:r>
                  </m:e>
                  <m:lim>
                    <m:r>
                      <m:rPr>
                        <m:sty m:val="p"/>
                      </m:rPr>
                      <a:rPr xmlns:a="http://schemas.openxmlformats.org/drawingml/2006/main" sz="800" i="1">
                        <a:solidFill>
                          <a:srgbClr val="0070C0"/>
                        </a:solidFill>
                        <a:latin typeface="Cambria Math" panose="02040503050406030204" pitchFamily="18" charset="0"/>
                      </a:rPr>
                      <m:t>^</m:t>
                    </m:r>
                  </m:lim>
                </m:limUpp>
                <m:r>
                  <a:rPr xmlns:a="http://schemas.openxmlformats.org/drawingml/2006/main" sz="800" i="1">
                    <a:solidFill>
                      <a:srgbClr val="0070C0"/>
                    </a:solidFill>
                    <a:latin typeface="Cambria Math" panose="02040503050406030204" pitchFamily="18" charset="0"/>
                  </a:rPr>
                  <m:t>∗</m:t>
                </m:r>
                <m:r>
                  <a:rPr xmlns:a="http://schemas.openxmlformats.org/drawingml/2006/main" sz="800" i="1">
                    <a:solidFill>
                      <a:srgbClr val="0070C0"/>
                    </a:solidFill>
                    <a:latin typeface="Cambria Math" panose="02040503050406030204" pitchFamily="18" charset="0"/>
                  </a:rPr>
                  <m:t>𝐹</m:t>
                </m:r>
                <m:r>
                  <a:rPr xmlns:a="http://schemas.openxmlformats.org/drawingml/2006/main" sz="800" i="1">
                    <a:solidFill>
                      <a:srgbClr val="0070C0"/>
                    </a:solidFill>
                    <a:latin typeface="Cambria Math" panose="02040503050406030204" pitchFamily="18" charset="0"/>
                  </a:rPr>
                  <m:t>𝑟</m:t>
                </m:r>
                <m:r>
                  <a:rPr xmlns:a="http://schemas.openxmlformats.org/drawingml/2006/main" sz="800" i="1">
                    <a:solidFill>
                      <a:srgbClr val="0070C0"/>
                    </a:solidFill>
                    <a:latin typeface="Cambria Math" panose="02040503050406030204" pitchFamily="18" charset="0"/>
                  </a:rPr>
                  <m:t>𝑒</m:t>
                </m:r>
                <m:r>
                  <a:rPr xmlns:a="http://schemas.openxmlformats.org/drawingml/2006/main" sz="800" i="1">
                    <a:solidFill>
                      <a:srgbClr val="0070C0"/>
                    </a:solidFill>
                    <a:latin typeface="Cambria Math" panose="02040503050406030204" pitchFamily="18" charset="0"/>
                  </a:rPr>
                  <m:t>𝑞</m:t>
                </m:r>
                <m:r>
                  <a:rPr xmlns:a="http://schemas.openxmlformats.org/drawingml/2006/main" sz="800" i="1">
                    <a:solidFill>
                      <a:srgbClr val="0070C0"/>
                    </a:solidFill>
                    <a:latin typeface="Cambria Math" panose="02040503050406030204" pitchFamily="18" charset="0"/>
                  </a:rPr>
                  <m:t>.</m:t>
                </m:r>
                <m:r>
                  <a:rPr xmlns:a="http://schemas.openxmlformats.org/drawingml/2006/main" sz="800" i="1">
                    <a:solidFill>
                      <a:srgbClr val="0070C0"/>
                    </a:solidFill>
                    <a:latin typeface="Cambria Math" panose="02040503050406030204" pitchFamily="18" charset="0"/>
                  </a:rPr>
                  <m:t>𝐿</m:t>
                </m:r>
                <m:r>
                  <a:rPr xmlns:a="http://schemas.openxmlformats.org/drawingml/2006/main" sz="800" i="1">
                    <a:solidFill>
                      <a:srgbClr val="0070C0"/>
                    </a:solidFill>
                    <a:latin typeface="Cambria Math" panose="02040503050406030204" pitchFamily="18" charset="0"/>
                  </a:rPr>
                  <m:t>𝑎</m:t>
                </m:r>
                <m:r>
                  <a:rPr xmlns:a="http://schemas.openxmlformats.org/drawingml/2006/main" sz="800" i="1">
                    <a:solidFill>
                      <a:srgbClr val="0070C0"/>
                    </a:solidFill>
                    <a:latin typeface="Cambria Math" panose="02040503050406030204" pitchFamily="18" charset="0"/>
                  </a:rPr>
                  <m:t>𝑠</m:t>
                </m:r>
                <m:r>
                  <a:rPr xmlns:a="http://schemas.openxmlformats.org/drawingml/2006/main" sz="800" i="1">
                    <a:solidFill>
                      <a:srgbClr val="0070C0"/>
                    </a:solidFill>
                    <a:latin typeface="Cambria Math" panose="02040503050406030204" pitchFamily="18" charset="0"/>
                  </a:rPr>
                  <m:t>𝑡</m:t>
                </m:r>
                <m:r>
                  <a:rPr xmlns:a="http://schemas.openxmlformats.org/drawingml/2006/main" sz="800" i="1">
                    <a:solidFill>
                      <a:srgbClr val="0070C0"/>
                    </a:solidFill>
                    <a:latin typeface="Cambria Math" panose="02040503050406030204" pitchFamily="18" charset="0"/>
                  </a:rPr>
                  <m:t/>
                </m:r>
                <m:r>
                  <a:rPr xmlns:a="http://schemas.openxmlformats.org/drawingml/2006/main" sz="800" i="1">
                    <a:solidFill>
                      <a:srgbClr val="0070C0"/>
                    </a:solidFill>
                    <a:latin typeface="Cambria Math" panose="02040503050406030204" pitchFamily="18" charset="0"/>
                  </a:rPr>
                  <m:t>12</m:t>
                </m:r>
                <m:r>
                  <a:rPr xmlns:a="http://schemas.openxmlformats.org/drawingml/2006/main" sz="800" i="1">
                    <a:solidFill>
                      <a:srgbClr val="0070C0"/>
                    </a:solidFill>
                    <a:latin typeface="Cambria Math" panose="02040503050406030204" pitchFamily="18" charset="0"/>
                  </a:rPr>
                  <m:t>𝑀</m:t>
                </m:r>
                <m:r>
                  <a:rPr xmlns:a="http://schemas.openxmlformats.org/drawingml/2006/main" sz="800" i="1">
                    <a:solidFill>
                      <a:srgbClr val="0070C0"/>
                    </a:solidFill>
                    <a:latin typeface="Cambria Math" panose="02040503050406030204" pitchFamily="18" charset="0"/>
                  </a:rPr>
                  <m:t>+</m:t>
                </m:r>
                <m:limUpp>
                  <m:e>
                    <m:r>
                      <a:rPr xmlns:a="http://schemas.openxmlformats.org/drawingml/2006/main" sz="800" i="1">
                        <a:solidFill>
                          <a:srgbClr val="0070C0"/>
                        </a:solidFill>
                        <a:latin typeface="Cambria Math" panose="02040503050406030204" pitchFamily="18" charset="0"/>
                      </a:rPr>
                      <m:t>𝛿</m:t>
                    </m:r>
                  </m:e>
                  <m:lim>
                    <m:r>
                      <m:rPr>
                        <m:sty m:val="p"/>
                      </m:rPr>
                      <a:rPr xmlns:a="http://schemas.openxmlformats.org/drawingml/2006/main" sz="800" i="1">
                        <a:solidFill>
                          <a:srgbClr val="0070C0"/>
                        </a:solidFill>
                        <a:latin typeface="Cambria Math" panose="02040503050406030204" pitchFamily="18" charset="0"/>
                      </a:rPr>
                      <m:t>^</m:t>
                    </m:r>
                  </m:lim>
                </m:limUpp>
                <m:r>
                  <a:rPr xmlns:a="http://schemas.openxmlformats.org/drawingml/2006/main" sz="800" i="1">
                    <a:solidFill>
                      <a:srgbClr val="0070C0"/>
                    </a:solidFill>
                    <a:latin typeface="Cambria Math" panose="02040503050406030204" pitchFamily="18" charset="0"/>
                  </a:rPr>
                  <m:t>∗</m:t>
                </m:r>
                <m:r>
                  <a:rPr xmlns:a="http://schemas.openxmlformats.org/drawingml/2006/main" sz="800" i="1">
                    <a:solidFill>
                      <a:srgbClr val="0070C0"/>
                    </a:solidFill>
                    <a:latin typeface="Cambria Math" panose="02040503050406030204" pitchFamily="18" charset="0"/>
                  </a:rPr>
                  <m:t>𝑀</m:t>
                </m:r>
                <m:r>
                  <a:rPr xmlns:a="http://schemas.openxmlformats.org/drawingml/2006/main" sz="800" i="1">
                    <a:solidFill>
                      <a:srgbClr val="0070C0"/>
                    </a:solidFill>
                    <a:latin typeface="Cambria Math" panose="02040503050406030204" pitchFamily="18" charset="0"/>
                  </a:rPr>
                  <m:t>𝑜</m:t>
                </m:r>
                <m:r>
                  <a:rPr xmlns:a="http://schemas.openxmlformats.org/drawingml/2006/main" sz="800" i="1">
                    <a:solidFill>
                      <a:srgbClr val="0070C0"/>
                    </a:solidFill>
                    <a:latin typeface="Cambria Math" panose="02040503050406030204" pitchFamily="18" charset="0"/>
                  </a:rPr>
                  <m:t>𝑛</m:t>
                </m:r>
                <m:r>
                  <a:rPr xmlns:a="http://schemas.openxmlformats.org/drawingml/2006/main" sz="800" i="1">
                    <a:solidFill>
                      <a:srgbClr val="0070C0"/>
                    </a:solidFill>
                    <a:latin typeface="Cambria Math" panose="02040503050406030204" pitchFamily="18" charset="0"/>
                  </a:rPr>
                  <m:t>.</m:t>
                </m:r>
                <m:r>
                  <a:rPr xmlns:a="http://schemas.openxmlformats.org/drawingml/2006/main" sz="800" i="1">
                    <a:solidFill>
                      <a:srgbClr val="0070C0"/>
                    </a:solidFill>
                    <a:latin typeface="Cambria Math" panose="02040503050406030204" pitchFamily="18" charset="0"/>
                  </a:rPr>
                  <m:t>𝐿</m:t>
                </m:r>
                <m:r>
                  <a:rPr xmlns:a="http://schemas.openxmlformats.org/drawingml/2006/main" sz="800" i="1">
                    <a:solidFill>
                      <a:srgbClr val="0070C0"/>
                    </a:solidFill>
                    <a:latin typeface="Cambria Math" panose="02040503050406030204" pitchFamily="18" charset="0"/>
                  </a:rPr>
                  <m:t>𝑎</m:t>
                </m:r>
                <m:r>
                  <a:rPr xmlns:a="http://schemas.openxmlformats.org/drawingml/2006/main" sz="800" i="1">
                    <a:solidFill>
                      <a:srgbClr val="0070C0"/>
                    </a:solidFill>
                    <a:latin typeface="Cambria Math" panose="02040503050406030204" pitchFamily="18" charset="0"/>
                  </a:rPr>
                  <m:t>𝑠</m:t>
                </m:r>
                <m:r>
                  <a:rPr xmlns:a="http://schemas.openxmlformats.org/drawingml/2006/main" sz="800" i="1">
                    <a:solidFill>
                      <a:srgbClr val="0070C0"/>
                    </a:solidFill>
                    <a:latin typeface="Cambria Math" panose="02040503050406030204" pitchFamily="18" charset="0"/>
                  </a:rPr>
                  <m:t>𝑡</m:t>
                </m:r>
                <m:r>
                  <a:rPr xmlns:a="http://schemas.openxmlformats.org/drawingml/2006/main" sz="800" i="1">
                    <a:solidFill>
                      <a:srgbClr val="0070C0"/>
                    </a:solidFill>
                    <a:latin typeface="Cambria Math" panose="02040503050406030204" pitchFamily="18" charset="0"/>
                  </a:rPr>
                  <m:t/>
                </m:r>
                <m:r>
                  <a:rPr xmlns:a="http://schemas.openxmlformats.org/drawingml/2006/main" sz="800" i="1">
                    <a:solidFill>
                      <a:srgbClr val="0070C0"/>
                    </a:solidFill>
                    <a:latin typeface="Cambria Math" panose="02040503050406030204" pitchFamily="18" charset="0"/>
                  </a:rPr>
                  <m:t>12</m:t>
                </m:r>
                <m:r>
                  <a:rPr xmlns:a="http://schemas.openxmlformats.org/drawingml/2006/main" sz="800" i="1">
                    <a:solidFill>
                      <a:srgbClr val="0070C0"/>
                    </a:solidFill>
                    <a:latin typeface="Cambria Math" panose="02040503050406030204" pitchFamily="18" charset="0"/>
                  </a:rPr>
                  <m:t>𝑀</m:t>
                </m:r>
                <m:r>
                  <a:rPr xmlns:a="http://schemas.openxmlformats.org/drawingml/2006/main" sz="800" i="1">
                    <a:solidFill>
                      <a:srgbClr val="0070C0"/>
                    </a:solidFill>
                    <a:latin typeface="Cambria Math" panose="02040503050406030204" pitchFamily="18" charset="0"/>
                  </a:rPr>
                  <m:t>+</m:t>
                </m:r>
                <m:limUpp>
                  <m:e>
                    <m:r>
                      <a:rPr xmlns:a="http://schemas.openxmlformats.org/drawingml/2006/main" sz="800" i="1">
                        <a:solidFill>
                          <a:srgbClr val="0070C0"/>
                        </a:solidFill>
                        <a:latin typeface="Cambria Math" panose="02040503050406030204" pitchFamily="18" charset="0"/>
                      </a:rPr>
                      <m:t>𝜌</m:t>
                    </m:r>
                  </m:e>
                  <m:lim>
                    <m:r>
                      <m:rPr>
                        <m:sty m:val="p"/>
                      </m:rPr>
                      <a:rPr xmlns:a="http://schemas.openxmlformats.org/drawingml/2006/main" sz="800" i="1">
                        <a:solidFill>
                          <a:srgbClr val="0070C0"/>
                        </a:solidFill>
                        <a:latin typeface="Cambria Math" panose="02040503050406030204" pitchFamily="18" charset="0"/>
                      </a:rPr>
                      <m:t>^</m:t>
                    </m:r>
                  </m:lim>
                </m:limUpp>
                <m:r>
                  <a:rPr xmlns:a="http://schemas.openxmlformats.org/drawingml/2006/main" sz="800" i="1">
                    <a:solidFill>
                      <a:srgbClr val="0070C0"/>
                    </a:solidFill>
                    <a:latin typeface="Cambria Math" panose="02040503050406030204" pitchFamily="18" charset="0"/>
                  </a:rPr>
                  <m:t>∗</m:t>
                </m:r>
                <m:r>
                  <a:rPr xmlns:a="http://schemas.openxmlformats.org/drawingml/2006/main" sz="800" i="1">
                    <a:solidFill>
                      <a:srgbClr val="0070C0"/>
                    </a:solidFill>
                    <a:latin typeface="Cambria Math" panose="02040503050406030204" pitchFamily="18" charset="0"/>
                  </a:rPr>
                  <m:t>𝐶</m:t>
                </m:r>
                <m:r>
                  <a:rPr xmlns:a="http://schemas.openxmlformats.org/drawingml/2006/main" sz="800" i="1">
                    <a:solidFill>
                      <a:srgbClr val="0070C0"/>
                    </a:solidFill>
                    <a:latin typeface="Cambria Math" panose="02040503050406030204" pitchFamily="18" charset="0"/>
                  </a:rPr>
                  <m:t>𝑢</m:t>
                </m:r>
                <m:r>
                  <a:rPr xmlns:a="http://schemas.openxmlformats.org/drawingml/2006/main" sz="800" i="1">
                    <a:solidFill>
                      <a:srgbClr val="0070C0"/>
                    </a:solidFill>
                    <a:latin typeface="Cambria Math" panose="02040503050406030204" pitchFamily="18" charset="0"/>
                  </a:rPr>
                  <m:t>𝑠</m:t>
                </m:r>
                <m:r>
                  <a:rPr xmlns:a="http://schemas.openxmlformats.org/drawingml/2006/main" sz="800" i="1">
                    <a:solidFill>
                      <a:srgbClr val="0070C0"/>
                    </a:solidFill>
                    <a:latin typeface="Cambria Math" panose="02040503050406030204" pitchFamily="18" charset="0"/>
                  </a:rPr>
                  <m:t>𝑡</m:t>
                </m:r>
                <m:r>
                  <a:rPr xmlns:a="http://schemas.openxmlformats.org/drawingml/2006/main" sz="800" i="1">
                    <a:solidFill>
                      <a:srgbClr val="0070C0"/>
                    </a:solidFill>
                    <a:latin typeface="Cambria Math" panose="02040503050406030204" pitchFamily="18" charset="0"/>
                  </a:rPr>
                  <m:t/>
                </m:r>
                <m:r>
                  <a:rPr xmlns:a="http://schemas.openxmlformats.org/drawingml/2006/main" sz="800" i="1">
                    <a:solidFill>
                      <a:srgbClr val="0070C0"/>
                    </a:solidFill>
                    <a:latin typeface="Cambria Math" panose="02040503050406030204" pitchFamily="18" charset="0"/>
                  </a:rPr>
                  <m:t>𝐷</m:t>
                </m:r>
                <m:r>
                  <a:rPr xmlns:a="http://schemas.openxmlformats.org/drawingml/2006/main" sz="800" i="1">
                    <a:solidFill>
                      <a:srgbClr val="0070C0"/>
                    </a:solidFill>
                    <a:latin typeface="Cambria Math" panose="02040503050406030204" pitchFamily="18" charset="0"/>
                  </a:rPr>
                  <m:t>𝑒</m:t>
                </m:r>
                <m:r>
                  <a:rPr xmlns:a="http://schemas.openxmlformats.org/drawingml/2006/main" sz="800" i="1">
                    <a:solidFill>
                      <a:srgbClr val="0070C0"/>
                    </a:solidFill>
                    <a:latin typeface="Cambria Math" panose="02040503050406030204" pitchFamily="18" charset="0"/>
                  </a:rPr>
                  <m:t>𝑚</m:t>
                </m:r>
                <m:r>
                  <a:rPr xmlns:a="http://schemas.openxmlformats.org/drawingml/2006/main" sz="800" i="1">
                    <a:solidFill>
                      <a:srgbClr val="0070C0"/>
                    </a:solidFill>
                    <a:latin typeface="Cambria Math" panose="02040503050406030204" pitchFamily="18" charset="0"/>
                  </a:rPr>
                  <m:t>𝑜</m:t>
                </m:r>
                <m:r>
                  <a:rPr xmlns:a="http://schemas.openxmlformats.org/drawingml/2006/main" sz="800" i="1">
                    <a:solidFill>
                      <a:srgbClr val="0070C0"/>
                    </a:solidFill>
                    <a:latin typeface="Cambria Math" panose="02040503050406030204" pitchFamily="18" charset="0"/>
                  </a:rPr>
                  <m:t>𝑔</m:t>
                </m:r>
              </m:oMath>
            </a14:m>
            <a:endParaRPr sz="754"/>
          </a:p>
        </p:txBody>
      </p:sp>
      <p:sp>
        <p:nvSpPr>
          <p:cNvPr id="261" name="Google Shape;354;p21"/>
          <p:cNvSpPr txBox="1"/>
          <p:nvPr/>
        </p:nvSpPr>
        <p:spPr>
          <a:xfrm>
            <a:off x="3575918" y="4503697"/>
            <a:ext cx="5667467" cy="466051"/>
          </a:xfrm>
          <a:prstGeom prst="rect">
            <a:avLst/>
          </a:prstGeom>
          <a:ln w="12700">
            <a:miter lim="400000"/>
          </a:ln>
          <a:extLst>
            <a:ext uri="{C572A759-6A51-4108-AA02-DFA0A04FC94B}">
              <ma14:wrappingTextBoxFlag xmlns:ma14="http://schemas.microsoft.com/office/mac/drawingml/2011/main" val="1"/>
            </a:ext>
          </a:extLst>
        </p:spPr>
        <p:txBody>
          <a:bodyPr lIns="121899" tIns="121899" rIns="121899" bIns="121899" anchor="ctr">
            <a:spAutoFit/>
          </a:bodyPr>
          <a:lstStyle/>
          <a:p>
            <a:pPr>
              <a:lnSpc>
                <a:spcPct val="150000"/>
              </a:lnSpc>
              <a:defRPr baseline="30000" i="1" sz="600">
                <a:solidFill>
                  <a:srgbClr val="0070C0"/>
                </a:solidFill>
                <a:latin typeface="Open Sans"/>
                <a:ea typeface="Open Sans"/>
                <a:cs typeface="Open Sans"/>
                <a:sym typeface="Open Sans"/>
              </a:defRPr>
            </a:pPr>
            <a:r>
              <a:t>* </a:t>
            </a:r>
            <a:r>
              <a:rPr baseline="0"/>
              <a:t>Model is built with </a:t>
            </a:r>
            <a:r>
              <a:rPr b="1" baseline="0">
                <a:solidFill>
                  <a:srgbClr val="002060"/>
                </a:solidFill>
              </a:rPr>
              <a:t>Next 12M Customer Value </a:t>
            </a:r>
            <a:r>
              <a:rPr baseline="0"/>
              <a:t>and </a:t>
            </a:r>
            <a:r>
              <a:rPr b="1" baseline="0">
                <a:solidFill>
                  <a:srgbClr val="002060"/>
                </a:solidFill>
              </a:rPr>
              <a:t>Last 12M RFM of Customers; </a:t>
            </a:r>
            <a:r>
              <a:rPr baseline="0"/>
              <a:t>Illustrative Model Design; Neural Network is been used as model</a:t>
            </a:r>
            <a:endParaRPr baseline="0"/>
          </a:p>
          <a:p>
            <a:pPr>
              <a:lnSpc>
                <a:spcPct val="150000"/>
              </a:lnSpc>
              <a:defRPr baseline="30000" i="1" sz="600">
                <a:solidFill>
                  <a:srgbClr val="0070C0"/>
                </a:solidFill>
                <a:latin typeface="Open Sans"/>
                <a:ea typeface="Open Sans"/>
                <a:cs typeface="Open Sans"/>
                <a:sym typeface="Open Sans"/>
              </a:defRPr>
            </a:pPr>
            <a:r>
              <a:t>** </a:t>
            </a:r>
            <a:r>
              <a:rPr baseline="0"/>
              <a:t>Data Science Model </a:t>
            </a:r>
            <a:r>
              <a:rPr b="1" baseline="0">
                <a:solidFill>
                  <a:srgbClr val="002060"/>
                </a:solidFill>
              </a:rPr>
              <a:t>Design</a:t>
            </a:r>
            <a:r>
              <a:rPr baseline="0"/>
              <a:t> and </a:t>
            </a:r>
            <a:r>
              <a:rPr b="1" baseline="0">
                <a:solidFill>
                  <a:srgbClr val="002060"/>
                </a:solidFill>
              </a:rPr>
              <a:t>Predicted Output</a:t>
            </a:r>
            <a:r>
              <a:rPr baseline="0">
                <a:solidFill>
                  <a:srgbClr val="002060"/>
                </a:solidFill>
              </a:rPr>
              <a:t> </a:t>
            </a:r>
            <a:r>
              <a:rPr baseline="0"/>
              <a:t>are shown in next slides; </a:t>
            </a:r>
          </a:p>
        </p:txBody>
      </p:sp>
      <p:sp>
        <p:nvSpPr>
          <p:cNvPr id="262" name="Rectangle 177"/>
          <p:cNvSpPr/>
          <p:nvPr/>
        </p:nvSpPr>
        <p:spPr>
          <a:xfrm>
            <a:off x="3700357" y="1438842"/>
            <a:ext cx="5339405" cy="1753950"/>
          </a:xfrm>
          <a:prstGeom prst="rect">
            <a:avLst/>
          </a:prstGeom>
          <a:ln>
            <a:solidFill>
              <a:srgbClr val="487399"/>
            </a:solidFill>
            <a:prstDash val="sysDot"/>
          </a:ln>
        </p:spPr>
        <p:txBody>
          <a:bodyPr lIns="45719" rIns="45719" anchor="ctr"/>
          <a:lstStyle/>
          <a:p>
            <a:pPr algn="ctr">
              <a:defRPr sz="1200">
                <a:solidFill>
                  <a:srgbClr val="FFFFFF"/>
                </a:solidFill>
              </a:defRPr>
            </a:pPr>
          </a:p>
        </p:txBody>
      </p:sp>
      <p:sp>
        <p:nvSpPr>
          <p:cNvPr id="263" name="TextBox 178"/>
          <p:cNvSpPr txBox="1"/>
          <p:nvPr/>
        </p:nvSpPr>
        <p:spPr>
          <a:xfrm>
            <a:off x="3738167" y="3271928"/>
            <a:ext cx="5068892" cy="734348"/>
          </a:xfrm>
          <a:prstGeom prst="rect">
            <a:avLst/>
          </a:prstGeom>
          <a:solidFill>
            <a:srgbClr val="FCF9BE"/>
          </a:solidFill>
          <a:ln w="12700">
            <a:miter lim="400000"/>
          </a:ln>
          <a:extLst>
            <a:ext uri="{C572A759-6A51-4108-AA02-DFA0A04FC94B}">
              <ma14:wrappingTextBoxFlag xmlns:ma14="http://schemas.microsoft.com/office/mac/drawingml/2011/main" val="1"/>
            </a:ext>
          </a:extLst>
        </p:spPr>
        <p:txBody>
          <a:bodyPr lIns="45719" rIns="45719">
            <a:spAutoFit/>
          </a:bodyPr>
          <a:lstStyle/>
          <a:p>
            <a:pPr algn="ctr">
              <a:lnSpc>
                <a:spcPct val="150000"/>
              </a:lnSpc>
              <a:defRPr sz="400">
                <a:solidFill>
                  <a:srgbClr val="00B0F0"/>
                </a:solidFill>
                <a:latin typeface="Open Sans"/>
                <a:ea typeface="Open Sans"/>
                <a:cs typeface="Open Sans"/>
                <a:sym typeface="Open Sans"/>
              </a:defRPr>
            </a:pPr>
          </a:p>
          <a:p>
            <a:pPr algn="ctr">
              <a:lnSpc>
                <a:spcPct val="150000"/>
              </a:lnSpc>
              <a:defRPr sz="900">
                <a:solidFill>
                  <a:srgbClr val="00B0F0"/>
                </a:solidFill>
                <a:latin typeface="Open Sans"/>
                <a:ea typeface="Open Sans"/>
                <a:cs typeface="Open Sans"/>
                <a:sym typeface="Open Sans"/>
              </a:defRPr>
            </a:pPr>
            <a:r>
              <a:t>Customer Value in </a:t>
            </a:r>
            <a:r>
              <a:rPr b="1">
                <a:solidFill>
                  <a:srgbClr val="002060"/>
                </a:solidFill>
              </a:rPr>
              <a:t>Next 12M </a:t>
            </a:r>
            <a:r>
              <a:rPr>
                <a:solidFill>
                  <a:srgbClr val="002060"/>
                </a:solidFill>
              </a:rPr>
              <a:t>(</a:t>
            </a:r>
            <a:r>
              <a:rPr b="1">
                <a:solidFill>
                  <a:srgbClr val="002060"/>
                </a:solidFill>
              </a:rPr>
              <a:t>₹3,285</a:t>
            </a:r>
            <a:r>
              <a:t>)</a:t>
            </a:r>
            <a:r>
              <a:rPr b="1">
                <a:solidFill>
                  <a:srgbClr val="002060"/>
                </a:solidFill>
              </a:rPr>
              <a:t> </a:t>
            </a:r>
            <a:endParaRPr b="1">
              <a:solidFill>
                <a:srgbClr val="002060"/>
              </a:solidFill>
            </a:endParaRPr>
          </a:p>
          <a:p>
            <a:pPr algn="ctr">
              <a:lnSpc>
                <a:spcPct val="150000"/>
              </a:lnSpc>
              <a:defRPr b="1" sz="900">
                <a:solidFill>
                  <a:srgbClr val="0070C0"/>
                </a:solidFill>
                <a:latin typeface="Open Sans"/>
                <a:ea typeface="Open Sans"/>
                <a:cs typeface="Open Sans"/>
                <a:sym typeface="Open Sans"/>
              </a:defRPr>
            </a:pPr>
            <a:r>
              <a:t>= </a:t>
            </a:r>
            <a14:m>
              <m:oMath>
                <m:r>
                  <a:rPr xmlns:a="http://schemas.openxmlformats.org/drawingml/2006/main" sz="850" i="1">
                    <a:solidFill>
                      <a:srgbClr val="0070C0"/>
                    </a:solidFill>
                    <a:latin typeface="Cambria Math" panose="02040503050406030204" pitchFamily="18" charset="0"/>
                  </a:rPr>
                  <m:t>𝛼</m:t>
                </m:r>
                <m:r>
                  <a:rPr xmlns:a="http://schemas.openxmlformats.org/drawingml/2006/main" sz="850" i="1">
                    <a:solidFill>
                      <a:srgbClr val="0070C0"/>
                    </a:solidFill>
                    <a:latin typeface="Cambria Math" panose="02040503050406030204" pitchFamily="18" charset="0"/>
                  </a:rPr>
                  <m:t>+</m:t>
                </m:r>
                <m:r>
                  <a:rPr xmlns:a="http://schemas.openxmlformats.org/drawingml/2006/main" sz="850" i="1">
                    <a:solidFill>
                      <a:srgbClr val="0070C0"/>
                    </a:solidFill>
                    <a:latin typeface="Cambria Math" panose="02040503050406030204" pitchFamily="18" charset="0"/>
                  </a:rPr>
                  <m:t>𝛽</m:t>
                </m:r>
                <m:r>
                  <a:rPr xmlns:a="http://schemas.openxmlformats.org/drawingml/2006/main" sz="850" i="1">
                    <a:solidFill>
                      <a:srgbClr val="0070C0"/>
                    </a:solidFill>
                    <a:latin typeface="Cambria Math" panose="02040503050406030204" pitchFamily="18" charset="0"/>
                  </a:rPr>
                  <m:t>∗</m:t>
                </m:r>
                <m:r>
                  <a:rPr xmlns:a="http://schemas.openxmlformats.org/drawingml/2006/main" sz="850" i="1">
                    <a:solidFill>
                      <a:srgbClr val="0070C0"/>
                    </a:solidFill>
                    <a:latin typeface="Cambria Math" panose="02040503050406030204" pitchFamily="18" charset="0"/>
                  </a:rPr>
                  <m:t>𝑹</m:t>
                </m:r>
                <m:r>
                  <a:rPr xmlns:a="http://schemas.openxmlformats.org/drawingml/2006/main" sz="850" i="1">
                    <a:solidFill>
                      <a:srgbClr val="0070C0"/>
                    </a:solidFill>
                    <a:latin typeface="Cambria Math" panose="02040503050406030204" pitchFamily="18" charset="0"/>
                  </a:rPr>
                  <m:t>𝒆</m:t>
                </m:r>
                <m:r>
                  <a:rPr xmlns:a="http://schemas.openxmlformats.org/drawingml/2006/main" sz="850" i="1">
                    <a:solidFill>
                      <a:srgbClr val="0070C0"/>
                    </a:solidFill>
                    <a:latin typeface="Cambria Math" panose="02040503050406030204" pitchFamily="18" charset="0"/>
                  </a:rPr>
                  <m:t>𝒄</m:t>
                </m:r>
                <m:r>
                  <a:rPr xmlns:a="http://schemas.openxmlformats.org/drawingml/2006/main" sz="850" i="1">
                    <a:solidFill>
                      <a:srgbClr val="0070C0"/>
                    </a:solidFill>
                    <a:latin typeface="Cambria Math" panose="02040503050406030204" pitchFamily="18" charset="0"/>
                  </a:rPr>
                  <m:t>.</m:t>
                </m:r>
                <m:r>
                  <a:rPr xmlns:a="http://schemas.openxmlformats.org/drawingml/2006/main" sz="850" i="1">
                    <a:solidFill>
                      <a:srgbClr val="0070C0"/>
                    </a:solidFill>
                    <a:latin typeface="Cambria Math" panose="02040503050406030204" pitchFamily="18" charset="0"/>
                  </a:rPr>
                  <m:t>𝑳</m:t>
                </m:r>
                <m:r>
                  <a:rPr xmlns:a="http://schemas.openxmlformats.org/drawingml/2006/main" sz="850" i="1">
                    <a:solidFill>
                      <a:srgbClr val="0070C0"/>
                    </a:solidFill>
                    <a:latin typeface="Cambria Math" panose="02040503050406030204" pitchFamily="18" charset="0"/>
                  </a:rPr>
                  <m:t>𝒂</m:t>
                </m:r>
                <m:r>
                  <a:rPr xmlns:a="http://schemas.openxmlformats.org/drawingml/2006/main" sz="850" i="1">
                    <a:solidFill>
                      <a:srgbClr val="0070C0"/>
                    </a:solidFill>
                    <a:latin typeface="Cambria Math" panose="02040503050406030204" pitchFamily="18" charset="0"/>
                  </a:rPr>
                  <m:t>𝒔</m:t>
                </m:r>
                <m:r>
                  <a:rPr xmlns:a="http://schemas.openxmlformats.org/drawingml/2006/main" sz="850" i="1">
                    <a:solidFill>
                      <a:srgbClr val="0070C0"/>
                    </a:solidFill>
                    <a:latin typeface="Cambria Math" panose="02040503050406030204" pitchFamily="18" charset="0"/>
                  </a:rPr>
                  <m:t>𝒕</m:t>
                </m:r>
                <m:r>
                  <a:rPr xmlns:a="http://schemas.openxmlformats.org/drawingml/2006/main" sz="850" i="1">
                    <a:solidFill>
                      <a:srgbClr val="0070C0"/>
                    </a:solidFill>
                    <a:latin typeface="Cambria Math" panose="02040503050406030204" pitchFamily="18" charset="0"/>
                  </a:rPr>
                  <m:t/>
                </m:r>
                <m:r>
                  <a:rPr xmlns:a="http://schemas.openxmlformats.org/drawingml/2006/main" sz="850" i="1">
                    <a:solidFill>
                      <a:srgbClr val="0070C0"/>
                    </a:solidFill>
                    <a:latin typeface="Cambria Math" panose="02040503050406030204" pitchFamily="18" charset="0"/>
                  </a:rPr>
                  <m:t>𝟏</m:t>
                </m:r>
                <m:r>
                  <a:rPr xmlns:a="http://schemas.openxmlformats.org/drawingml/2006/main" sz="850" i="1">
                    <a:solidFill>
                      <a:srgbClr val="0070C0"/>
                    </a:solidFill>
                    <a:latin typeface="Cambria Math" panose="02040503050406030204" pitchFamily="18" charset="0"/>
                  </a:rPr>
                  <m:t>𝟐</m:t>
                </m:r>
                <m:r>
                  <a:rPr xmlns:a="http://schemas.openxmlformats.org/drawingml/2006/main" sz="850" i="1">
                    <a:solidFill>
                      <a:srgbClr val="0070C0"/>
                    </a:solidFill>
                    <a:latin typeface="Cambria Math" panose="02040503050406030204" pitchFamily="18" charset="0"/>
                  </a:rPr>
                  <m:t>𝑴</m:t>
                </m:r>
                <m:r>
                  <a:rPr xmlns:a="http://schemas.openxmlformats.org/drawingml/2006/main" sz="850" i="1">
                    <a:solidFill>
                      <a:srgbClr val="0070C0"/>
                    </a:solidFill>
                    <a:latin typeface="Cambria Math" panose="02040503050406030204" pitchFamily="18" charset="0"/>
                  </a:rPr>
                  <m:t/>
                </m:r>
                <m:r>
                  <a:rPr xmlns:a="http://schemas.openxmlformats.org/drawingml/2006/main" sz="850" i="1">
                    <a:solidFill>
                      <a:srgbClr val="0070C0"/>
                    </a:solidFill>
                    <a:latin typeface="Cambria Math" panose="02040503050406030204" pitchFamily="18" charset="0"/>
                  </a:rPr>
                  <m:t>+</m:t>
                </m:r>
                <m:r>
                  <a:rPr xmlns:a="http://schemas.openxmlformats.org/drawingml/2006/main" sz="850" i="1">
                    <a:solidFill>
                      <a:srgbClr val="0070C0"/>
                    </a:solidFill>
                    <a:latin typeface="Cambria Math" panose="02040503050406030204" pitchFamily="18" charset="0"/>
                  </a:rPr>
                  <m:t>𝛾</m:t>
                </m:r>
                <m:r>
                  <a:rPr xmlns:a="http://schemas.openxmlformats.org/drawingml/2006/main" sz="850" i="1">
                    <a:solidFill>
                      <a:srgbClr val="0070C0"/>
                    </a:solidFill>
                    <a:latin typeface="Cambria Math" panose="02040503050406030204" pitchFamily="18" charset="0"/>
                  </a:rPr>
                  <m:t>∗</m:t>
                </m:r>
                <m:r>
                  <a:rPr xmlns:a="http://schemas.openxmlformats.org/drawingml/2006/main" sz="850" i="1">
                    <a:solidFill>
                      <a:srgbClr val="0070C0"/>
                    </a:solidFill>
                    <a:latin typeface="Cambria Math" panose="02040503050406030204" pitchFamily="18" charset="0"/>
                  </a:rPr>
                  <m:t>𝑭</m:t>
                </m:r>
                <m:r>
                  <a:rPr xmlns:a="http://schemas.openxmlformats.org/drawingml/2006/main" sz="850" i="1">
                    <a:solidFill>
                      <a:srgbClr val="0070C0"/>
                    </a:solidFill>
                    <a:latin typeface="Cambria Math" panose="02040503050406030204" pitchFamily="18" charset="0"/>
                  </a:rPr>
                  <m:t>𝒓</m:t>
                </m:r>
                <m:r>
                  <a:rPr xmlns:a="http://schemas.openxmlformats.org/drawingml/2006/main" sz="850" i="1">
                    <a:solidFill>
                      <a:srgbClr val="0070C0"/>
                    </a:solidFill>
                    <a:latin typeface="Cambria Math" panose="02040503050406030204" pitchFamily="18" charset="0"/>
                  </a:rPr>
                  <m:t>𝒆</m:t>
                </m:r>
                <m:r>
                  <a:rPr xmlns:a="http://schemas.openxmlformats.org/drawingml/2006/main" sz="850" i="1">
                    <a:solidFill>
                      <a:srgbClr val="0070C0"/>
                    </a:solidFill>
                    <a:latin typeface="Cambria Math" panose="02040503050406030204" pitchFamily="18" charset="0"/>
                  </a:rPr>
                  <m:t>𝒒</m:t>
                </m:r>
                <m:r>
                  <a:rPr xmlns:a="http://schemas.openxmlformats.org/drawingml/2006/main" sz="850" i="1">
                    <a:solidFill>
                      <a:srgbClr val="0070C0"/>
                    </a:solidFill>
                    <a:latin typeface="Cambria Math" panose="02040503050406030204" pitchFamily="18" charset="0"/>
                  </a:rPr>
                  <m:t>.</m:t>
                </m:r>
                <m:r>
                  <a:rPr xmlns:a="http://schemas.openxmlformats.org/drawingml/2006/main" sz="850" i="1">
                    <a:solidFill>
                      <a:srgbClr val="0070C0"/>
                    </a:solidFill>
                    <a:latin typeface="Cambria Math" panose="02040503050406030204" pitchFamily="18" charset="0"/>
                  </a:rPr>
                  <m:t/>
                </m:r>
                <m:r>
                  <a:rPr xmlns:a="http://schemas.openxmlformats.org/drawingml/2006/main" sz="850" i="1">
                    <a:solidFill>
                      <a:srgbClr val="0070C0"/>
                    </a:solidFill>
                    <a:latin typeface="Cambria Math" panose="02040503050406030204" pitchFamily="18" charset="0"/>
                  </a:rPr>
                  <m:t>𝑳</m:t>
                </m:r>
                <m:r>
                  <a:rPr xmlns:a="http://schemas.openxmlformats.org/drawingml/2006/main" sz="850" i="1">
                    <a:solidFill>
                      <a:srgbClr val="0070C0"/>
                    </a:solidFill>
                    <a:latin typeface="Cambria Math" panose="02040503050406030204" pitchFamily="18" charset="0"/>
                  </a:rPr>
                  <m:t>𝒂</m:t>
                </m:r>
                <m:r>
                  <a:rPr xmlns:a="http://schemas.openxmlformats.org/drawingml/2006/main" sz="850" i="1">
                    <a:solidFill>
                      <a:srgbClr val="0070C0"/>
                    </a:solidFill>
                    <a:latin typeface="Cambria Math" panose="02040503050406030204" pitchFamily="18" charset="0"/>
                  </a:rPr>
                  <m:t>𝒔</m:t>
                </m:r>
                <m:r>
                  <a:rPr xmlns:a="http://schemas.openxmlformats.org/drawingml/2006/main" sz="850" i="1">
                    <a:solidFill>
                      <a:srgbClr val="0070C0"/>
                    </a:solidFill>
                    <a:latin typeface="Cambria Math" panose="02040503050406030204" pitchFamily="18" charset="0"/>
                  </a:rPr>
                  <m:t>𝒕</m:t>
                </m:r>
                <m:r>
                  <a:rPr xmlns:a="http://schemas.openxmlformats.org/drawingml/2006/main" sz="850" i="1">
                    <a:solidFill>
                      <a:srgbClr val="0070C0"/>
                    </a:solidFill>
                    <a:latin typeface="Cambria Math" panose="02040503050406030204" pitchFamily="18" charset="0"/>
                  </a:rPr>
                  <m:t/>
                </m:r>
                <m:r>
                  <a:rPr xmlns:a="http://schemas.openxmlformats.org/drawingml/2006/main" sz="850" i="1">
                    <a:solidFill>
                      <a:srgbClr val="0070C0"/>
                    </a:solidFill>
                    <a:latin typeface="Cambria Math" panose="02040503050406030204" pitchFamily="18" charset="0"/>
                  </a:rPr>
                  <m:t>𝟏</m:t>
                </m:r>
                <m:r>
                  <a:rPr xmlns:a="http://schemas.openxmlformats.org/drawingml/2006/main" sz="850" i="1">
                    <a:solidFill>
                      <a:srgbClr val="0070C0"/>
                    </a:solidFill>
                    <a:latin typeface="Cambria Math" panose="02040503050406030204" pitchFamily="18" charset="0"/>
                  </a:rPr>
                  <m:t>𝟐</m:t>
                </m:r>
                <m:r>
                  <a:rPr xmlns:a="http://schemas.openxmlformats.org/drawingml/2006/main" sz="850" i="1">
                    <a:solidFill>
                      <a:srgbClr val="0070C0"/>
                    </a:solidFill>
                    <a:latin typeface="Cambria Math" panose="02040503050406030204" pitchFamily="18" charset="0"/>
                  </a:rPr>
                  <m:t>𝑴</m:t>
                </m:r>
                <m:r>
                  <a:rPr xmlns:a="http://schemas.openxmlformats.org/drawingml/2006/main" sz="850" i="1">
                    <a:solidFill>
                      <a:srgbClr val="0070C0"/>
                    </a:solidFill>
                    <a:latin typeface="Cambria Math" panose="02040503050406030204" pitchFamily="18" charset="0"/>
                  </a:rPr>
                  <m:t>+</m:t>
                </m:r>
                <m:r>
                  <a:rPr xmlns:a="http://schemas.openxmlformats.org/drawingml/2006/main" sz="850" i="1">
                    <a:solidFill>
                      <a:srgbClr val="0070C0"/>
                    </a:solidFill>
                    <a:latin typeface="Cambria Math" panose="02040503050406030204" pitchFamily="18" charset="0"/>
                  </a:rPr>
                  <m:t>𝛿</m:t>
                </m:r>
                <m:r>
                  <a:rPr xmlns:a="http://schemas.openxmlformats.org/drawingml/2006/main" sz="850" i="1">
                    <a:solidFill>
                      <a:srgbClr val="0070C0"/>
                    </a:solidFill>
                    <a:latin typeface="Cambria Math" panose="02040503050406030204" pitchFamily="18" charset="0"/>
                  </a:rPr>
                  <m:t>∗</m:t>
                </m:r>
                <m:r>
                  <a:rPr xmlns:a="http://schemas.openxmlformats.org/drawingml/2006/main" sz="850" i="1">
                    <a:solidFill>
                      <a:srgbClr val="0070C0"/>
                    </a:solidFill>
                    <a:latin typeface="Cambria Math" panose="02040503050406030204" pitchFamily="18" charset="0"/>
                  </a:rPr>
                  <m:t>𝑴</m:t>
                </m:r>
                <m:r>
                  <a:rPr xmlns:a="http://schemas.openxmlformats.org/drawingml/2006/main" sz="850" i="1">
                    <a:solidFill>
                      <a:srgbClr val="0070C0"/>
                    </a:solidFill>
                    <a:latin typeface="Cambria Math" panose="02040503050406030204" pitchFamily="18" charset="0"/>
                  </a:rPr>
                  <m:t>𝒐</m:t>
                </m:r>
                <m:r>
                  <a:rPr xmlns:a="http://schemas.openxmlformats.org/drawingml/2006/main" sz="850" i="1">
                    <a:solidFill>
                      <a:srgbClr val="0070C0"/>
                    </a:solidFill>
                    <a:latin typeface="Cambria Math" panose="02040503050406030204" pitchFamily="18" charset="0"/>
                  </a:rPr>
                  <m:t>𝒏</m:t>
                </m:r>
                <m:r>
                  <a:rPr xmlns:a="http://schemas.openxmlformats.org/drawingml/2006/main" sz="850" i="1">
                    <a:solidFill>
                      <a:srgbClr val="0070C0"/>
                    </a:solidFill>
                    <a:latin typeface="Cambria Math" panose="02040503050406030204" pitchFamily="18" charset="0"/>
                  </a:rPr>
                  <m:t>.</m:t>
                </m:r>
                <m:r>
                  <a:rPr xmlns:a="http://schemas.openxmlformats.org/drawingml/2006/main" sz="850" i="1">
                    <a:solidFill>
                      <a:srgbClr val="0070C0"/>
                    </a:solidFill>
                    <a:latin typeface="Cambria Math" panose="02040503050406030204" pitchFamily="18" charset="0"/>
                  </a:rPr>
                  <m:t>𝑳</m:t>
                </m:r>
                <m:r>
                  <a:rPr xmlns:a="http://schemas.openxmlformats.org/drawingml/2006/main" sz="850" i="1">
                    <a:solidFill>
                      <a:srgbClr val="0070C0"/>
                    </a:solidFill>
                    <a:latin typeface="Cambria Math" panose="02040503050406030204" pitchFamily="18" charset="0"/>
                  </a:rPr>
                  <m:t>𝒂</m:t>
                </m:r>
                <m:r>
                  <a:rPr xmlns:a="http://schemas.openxmlformats.org/drawingml/2006/main" sz="850" i="1">
                    <a:solidFill>
                      <a:srgbClr val="0070C0"/>
                    </a:solidFill>
                    <a:latin typeface="Cambria Math" panose="02040503050406030204" pitchFamily="18" charset="0"/>
                  </a:rPr>
                  <m:t>𝒔</m:t>
                </m:r>
                <m:r>
                  <a:rPr xmlns:a="http://schemas.openxmlformats.org/drawingml/2006/main" sz="850" i="1">
                    <a:solidFill>
                      <a:srgbClr val="0070C0"/>
                    </a:solidFill>
                    <a:latin typeface="Cambria Math" panose="02040503050406030204" pitchFamily="18" charset="0"/>
                  </a:rPr>
                  <m:t>𝒕</m:t>
                </m:r>
                <m:r>
                  <a:rPr xmlns:a="http://schemas.openxmlformats.org/drawingml/2006/main" sz="850" i="1">
                    <a:solidFill>
                      <a:srgbClr val="0070C0"/>
                    </a:solidFill>
                    <a:latin typeface="Cambria Math" panose="02040503050406030204" pitchFamily="18" charset="0"/>
                  </a:rPr>
                  <m:t/>
                </m:r>
                <m:r>
                  <a:rPr xmlns:a="http://schemas.openxmlformats.org/drawingml/2006/main" sz="850" i="1">
                    <a:solidFill>
                      <a:srgbClr val="0070C0"/>
                    </a:solidFill>
                    <a:latin typeface="Cambria Math" panose="02040503050406030204" pitchFamily="18" charset="0"/>
                  </a:rPr>
                  <m:t>𝟏</m:t>
                </m:r>
                <m:r>
                  <a:rPr xmlns:a="http://schemas.openxmlformats.org/drawingml/2006/main" sz="850" i="1">
                    <a:solidFill>
                      <a:srgbClr val="0070C0"/>
                    </a:solidFill>
                    <a:latin typeface="Cambria Math" panose="02040503050406030204" pitchFamily="18" charset="0"/>
                  </a:rPr>
                  <m:t>𝟐</m:t>
                </m:r>
                <m:r>
                  <a:rPr xmlns:a="http://schemas.openxmlformats.org/drawingml/2006/main" sz="850" i="1">
                    <a:solidFill>
                      <a:srgbClr val="0070C0"/>
                    </a:solidFill>
                    <a:latin typeface="Cambria Math" panose="02040503050406030204" pitchFamily="18" charset="0"/>
                  </a:rPr>
                  <m:t>𝑴</m:t>
                </m:r>
                <m:r>
                  <a:rPr xmlns:a="http://schemas.openxmlformats.org/drawingml/2006/main" sz="850" i="1">
                    <a:solidFill>
                      <a:srgbClr val="0070C0"/>
                    </a:solidFill>
                    <a:latin typeface="Cambria Math" panose="02040503050406030204" pitchFamily="18" charset="0"/>
                  </a:rPr>
                  <m:t>+</m:t>
                </m:r>
                <m:r>
                  <a:rPr xmlns:a="http://schemas.openxmlformats.org/drawingml/2006/main" sz="850" i="1">
                    <a:solidFill>
                      <a:srgbClr val="0070C0"/>
                    </a:solidFill>
                    <a:latin typeface="Cambria Math" panose="02040503050406030204" pitchFamily="18" charset="0"/>
                  </a:rPr>
                  <m:t>𝜌</m:t>
                </m:r>
                <m:r>
                  <a:rPr xmlns:a="http://schemas.openxmlformats.org/drawingml/2006/main" sz="850" i="1">
                    <a:solidFill>
                      <a:srgbClr val="0070C0"/>
                    </a:solidFill>
                    <a:latin typeface="Cambria Math" panose="02040503050406030204" pitchFamily="18" charset="0"/>
                  </a:rPr>
                  <m:t>∗</m:t>
                </m:r>
                <m:r>
                  <a:rPr xmlns:a="http://schemas.openxmlformats.org/drawingml/2006/main" sz="850" i="1">
                    <a:solidFill>
                      <a:srgbClr val="0070C0"/>
                    </a:solidFill>
                    <a:latin typeface="Cambria Math" panose="02040503050406030204" pitchFamily="18" charset="0"/>
                  </a:rPr>
                  <m:t>𝑪</m:t>
                </m:r>
                <m:r>
                  <a:rPr xmlns:a="http://schemas.openxmlformats.org/drawingml/2006/main" sz="850" i="1">
                    <a:solidFill>
                      <a:srgbClr val="0070C0"/>
                    </a:solidFill>
                    <a:latin typeface="Cambria Math" panose="02040503050406030204" pitchFamily="18" charset="0"/>
                  </a:rPr>
                  <m:t>𝒖</m:t>
                </m:r>
                <m:r>
                  <a:rPr xmlns:a="http://schemas.openxmlformats.org/drawingml/2006/main" sz="850" i="1">
                    <a:solidFill>
                      <a:srgbClr val="0070C0"/>
                    </a:solidFill>
                    <a:latin typeface="Cambria Math" panose="02040503050406030204" pitchFamily="18" charset="0"/>
                  </a:rPr>
                  <m:t>𝒔</m:t>
                </m:r>
                <m:r>
                  <a:rPr xmlns:a="http://schemas.openxmlformats.org/drawingml/2006/main" sz="850" i="1">
                    <a:solidFill>
                      <a:srgbClr val="0070C0"/>
                    </a:solidFill>
                    <a:latin typeface="Cambria Math" panose="02040503050406030204" pitchFamily="18" charset="0"/>
                  </a:rPr>
                  <m:t>𝒕</m:t>
                </m:r>
                <m:r>
                  <a:rPr xmlns:a="http://schemas.openxmlformats.org/drawingml/2006/main" sz="850" i="1">
                    <a:solidFill>
                      <a:srgbClr val="0070C0"/>
                    </a:solidFill>
                    <a:latin typeface="Cambria Math" panose="02040503050406030204" pitchFamily="18" charset="0"/>
                  </a:rPr>
                  <m:t/>
                </m:r>
                <m:r>
                  <a:rPr xmlns:a="http://schemas.openxmlformats.org/drawingml/2006/main" sz="850" i="1">
                    <a:solidFill>
                      <a:srgbClr val="0070C0"/>
                    </a:solidFill>
                    <a:latin typeface="Cambria Math" panose="02040503050406030204" pitchFamily="18" charset="0"/>
                  </a:rPr>
                  <m:t>𝑫</m:t>
                </m:r>
                <m:r>
                  <a:rPr xmlns:a="http://schemas.openxmlformats.org/drawingml/2006/main" sz="850" i="1">
                    <a:solidFill>
                      <a:srgbClr val="0070C0"/>
                    </a:solidFill>
                    <a:latin typeface="Cambria Math" panose="02040503050406030204" pitchFamily="18" charset="0"/>
                  </a:rPr>
                  <m:t>𝒆</m:t>
                </m:r>
                <m:r>
                  <a:rPr xmlns:a="http://schemas.openxmlformats.org/drawingml/2006/main" sz="850" i="1">
                    <a:solidFill>
                      <a:srgbClr val="0070C0"/>
                    </a:solidFill>
                    <a:latin typeface="Cambria Math" panose="02040503050406030204" pitchFamily="18" charset="0"/>
                  </a:rPr>
                  <m:t>𝒎</m:t>
                </m:r>
                <m:r>
                  <a:rPr xmlns:a="http://schemas.openxmlformats.org/drawingml/2006/main" sz="850" i="1">
                    <a:solidFill>
                      <a:srgbClr val="0070C0"/>
                    </a:solidFill>
                    <a:latin typeface="Cambria Math" panose="02040503050406030204" pitchFamily="18" charset="0"/>
                  </a:rPr>
                  <m:t>𝒐</m:t>
                </m:r>
                <m:r>
                  <a:rPr xmlns:a="http://schemas.openxmlformats.org/drawingml/2006/main" sz="850" i="1">
                    <a:solidFill>
                      <a:srgbClr val="0070C0"/>
                    </a:solidFill>
                    <a:latin typeface="Cambria Math" panose="02040503050406030204" pitchFamily="18" charset="0"/>
                  </a:rPr>
                  <m:t>𝒈</m:t>
                </m:r>
                <m:r>
                  <a:rPr xmlns:a="http://schemas.openxmlformats.org/drawingml/2006/main" sz="850" i="1">
                    <a:solidFill>
                      <a:srgbClr val="0070C0"/>
                    </a:solidFill>
                    <a:latin typeface="Cambria Math" panose="02040503050406030204" pitchFamily="18" charset="0"/>
                  </a:rPr>
                  <m:t>∗</m:t>
                </m:r>
              </m:oMath>
            </a14:m>
            <a:endParaRPr sz="849"/>
          </a:p>
        </p:txBody>
      </p:sp>
      <p:grpSp>
        <p:nvGrpSpPr>
          <p:cNvPr id="266" name="Right Arrow 130"/>
          <p:cNvGrpSpPr/>
          <p:nvPr/>
        </p:nvGrpSpPr>
        <p:grpSpPr>
          <a:xfrm>
            <a:off x="3704737" y="868409"/>
            <a:ext cx="5335020" cy="647104"/>
            <a:chOff x="0" y="0"/>
            <a:chExt cx="5335018" cy="647102"/>
          </a:xfrm>
        </p:grpSpPr>
        <p:sp>
          <p:nvSpPr>
            <p:cNvPr id="264" name="Arrow"/>
            <p:cNvSpPr/>
            <p:nvPr/>
          </p:nvSpPr>
          <p:spPr>
            <a:xfrm>
              <a:off x="0" y="0"/>
              <a:ext cx="5335019" cy="647103"/>
            </a:xfrm>
            <a:prstGeom prst="rightArrow">
              <a:avLst>
                <a:gd name="adj1" fmla="val 50000"/>
                <a:gd name="adj2" fmla="val 50000"/>
              </a:avLst>
            </a:prstGeom>
            <a:solidFill>
              <a:srgbClr val="00B0F0"/>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265" name="Predictive ~ Next 12M"/>
            <p:cNvSpPr txBox="1"/>
            <p:nvPr/>
          </p:nvSpPr>
          <p:spPr>
            <a:xfrm>
              <a:off x="45720" y="138131"/>
              <a:ext cx="5081804" cy="370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1800">
                  <a:solidFill>
                    <a:srgbClr val="FFFFFF"/>
                  </a:solidFill>
                  <a:latin typeface="Open Sans"/>
                  <a:ea typeface="Open Sans"/>
                  <a:cs typeface="Open Sans"/>
                  <a:sym typeface="Open Sans"/>
                </a:defRPr>
              </a:lvl1pPr>
            </a:lstStyle>
            <a:p>
              <a:pPr/>
              <a:r>
                <a:t>Predictive ~ Next 12M</a:t>
              </a:r>
            </a:p>
          </p:txBody>
        </p:sp>
      </p:grpSp>
      <p:sp>
        <p:nvSpPr>
          <p:cNvPr id="267" name="Down Arrow 15"/>
          <p:cNvSpPr/>
          <p:nvPr/>
        </p:nvSpPr>
        <p:spPr>
          <a:xfrm>
            <a:off x="8289620" y="3074871"/>
            <a:ext cx="359729" cy="3905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1653"/>
                </a:moveTo>
                <a:lnTo>
                  <a:pt x="5400" y="11653"/>
                </a:lnTo>
                <a:lnTo>
                  <a:pt x="5400" y="0"/>
                </a:lnTo>
                <a:lnTo>
                  <a:pt x="16200" y="0"/>
                </a:lnTo>
                <a:lnTo>
                  <a:pt x="16200" y="11653"/>
                </a:lnTo>
                <a:lnTo>
                  <a:pt x="21600" y="11653"/>
                </a:lnTo>
                <a:lnTo>
                  <a:pt x="10800" y="21600"/>
                </a:lnTo>
                <a:close/>
              </a:path>
            </a:pathLst>
          </a:custGeom>
          <a:solidFill>
            <a:srgbClr val="002060"/>
          </a:solidFill>
          <a:ln w="12700">
            <a:miter lim="400000"/>
          </a:ln>
        </p:spPr>
        <p:txBody>
          <a:bodyPr lIns="45719" rIns="45719" anchor="ctr"/>
          <a:lstStyle/>
          <a:p>
            <a:pPr algn="ctr">
              <a:defRPr>
                <a:solidFill>
                  <a:srgbClr val="FFFFFF"/>
                </a:solidFill>
              </a:defRPr>
            </a:pPr>
          </a:p>
        </p:txBody>
      </p:sp>
      <p:grpSp>
        <p:nvGrpSpPr>
          <p:cNvPr id="270" name="Down Arrow 15"/>
          <p:cNvGrpSpPr/>
          <p:nvPr/>
        </p:nvGrpSpPr>
        <p:grpSpPr>
          <a:xfrm>
            <a:off x="8644101" y="3519308"/>
            <a:ext cx="312243" cy="791520"/>
            <a:chOff x="0" y="0"/>
            <a:chExt cx="312242" cy="791519"/>
          </a:xfrm>
        </p:grpSpPr>
        <p:sp>
          <p:nvSpPr>
            <p:cNvPr id="268" name="Shape"/>
            <p:cNvSpPr/>
            <p:nvPr/>
          </p:nvSpPr>
          <p:spPr>
            <a:xfrm rot="5400000">
              <a:off x="-239639" y="239638"/>
              <a:ext cx="791520" cy="31224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767" y="21600"/>
                  </a:moveTo>
                  <a:lnTo>
                    <a:pt x="17340" y="16200"/>
                  </a:lnTo>
                  <a:lnTo>
                    <a:pt x="18405" y="16200"/>
                  </a:lnTo>
                  <a:cubicBezTo>
                    <a:pt x="17339" y="6663"/>
                    <a:pt x="13615" y="0"/>
                    <a:pt x="9351" y="0"/>
                  </a:cubicBezTo>
                  <a:lnTo>
                    <a:pt x="11481" y="0"/>
                  </a:lnTo>
                  <a:cubicBezTo>
                    <a:pt x="15745" y="0"/>
                    <a:pt x="19469" y="6663"/>
                    <a:pt x="20535" y="16200"/>
                  </a:cubicBezTo>
                  <a:lnTo>
                    <a:pt x="21600" y="16200"/>
                  </a:lnTo>
                  <a:close/>
                  <a:moveTo>
                    <a:pt x="10416" y="141"/>
                  </a:moveTo>
                  <a:lnTo>
                    <a:pt x="10416" y="141"/>
                  </a:lnTo>
                  <a:cubicBezTo>
                    <a:pt x="5695" y="1391"/>
                    <a:pt x="2130" y="10623"/>
                    <a:pt x="2130" y="21600"/>
                  </a:cubicBezTo>
                  <a:lnTo>
                    <a:pt x="0" y="21600"/>
                  </a:lnTo>
                  <a:cubicBezTo>
                    <a:pt x="0" y="9671"/>
                    <a:pt x="4187" y="0"/>
                    <a:pt x="9351" y="0"/>
                  </a:cubicBezTo>
                  <a:cubicBezTo>
                    <a:pt x="9707" y="0"/>
                    <a:pt x="10062" y="47"/>
                    <a:pt x="10416" y="141"/>
                  </a:cubicBezTo>
                  <a:close/>
                </a:path>
              </a:pathLst>
            </a:custGeom>
            <a:solidFill>
              <a:srgbClr val="002060"/>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269" name="Shape"/>
            <p:cNvSpPr/>
            <p:nvPr/>
          </p:nvSpPr>
          <p:spPr>
            <a:xfrm rot="5400000">
              <a:off x="-34722" y="34721"/>
              <a:ext cx="381686" cy="31224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41"/>
                  </a:moveTo>
                  <a:lnTo>
                    <a:pt x="21600" y="141"/>
                  </a:lnTo>
                  <a:cubicBezTo>
                    <a:pt x="11809" y="1391"/>
                    <a:pt x="4418" y="10623"/>
                    <a:pt x="4418" y="21600"/>
                  </a:cubicBezTo>
                  <a:lnTo>
                    <a:pt x="0" y="21600"/>
                  </a:lnTo>
                  <a:cubicBezTo>
                    <a:pt x="0" y="9671"/>
                    <a:pt x="8682" y="0"/>
                    <a:pt x="19391" y="0"/>
                  </a:cubicBezTo>
                  <a:cubicBezTo>
                    <a:pt x="20129" y="0"/>
                    <a:pt x="20867" y="47"/>
                    <a:pt x="21600" y="141"/>
                  </a:cubicBezTo>
                  <a:close/>
                </a:path>
              </a:pathLst>
            </a:custGeom>
            <a:solidFill>
              <a:srgbClr val="000000">
                <a:alpha val="20000"/>
              </a:srgbClr>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sp>
        <p:nvSpPr>
          <p:cNvPr id="271" name="Rectangle 184"/>
          <p:cNvSpPr txBox="1"/>
          <p:nvPr/>
        </p:nvSpPr>
        <p:spPr>
          <a:xfrm>
            <a:off x="268367" y="3834064"/>
            <a:ext cx="3216474" cy="673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28600" indent="-228600">
              <a:spcBef>
                <a:spcPts val="900"/>
              </a:spcBef>
              <a:buClr>
                <a:srgbClr val="00B0F0"/>
              </a:buClr>
              <a:buSzPct val="100000"/>
              <a:buFont typeface="Helvetica"/>
              <a:buChar char="⁃"/>
              <a:defRPr sz="900">
                <a:solidFill>
                  <a:srgbClr val="0070C0"/>
                </a:solidFill>
                <a:latin typeface="Open Sans"/>
                <a:ea typeface="Open Sans"/>
                <a:cs typeface="Open Sans"/>
                <a:sym typeface="Open Sans"/>
              </a:defRPr>
            </a:pPr>
            <a:r>
              <a:t>Historical Value generated from a Customer at any point in time</a:t>
            </a:r>
          </a:p>
          <a:p>
            <a:pPr marL="228600" indent="-228600">
              <a:spcBef>
                <a:spcPts val="900"/>
              </a:spcBef>
              <a:buClr>
                <a:srgbClr val="00B0F0"/>
              </a:buClr>
              <a:buSzPct val="100000"/>
              <a:buFont typeface="Helvetica"/>
              <a:buChar char="⁃"/>
              <a:defRPr sz="900">
                <a:solidFill>
                  <a:srgbClr val="0070C0"/>
                </a:solidFill>
                <a:latin typeface="Open Sans"/>
                <a:ea typeface="Open Sans"/>
                <a:cs typeface="Open Sans"/>
                <a:sym typeface="Open Sans"/>
              </a:defRPr>
            </a:pPr>
            <a:r>
              <a:t>Action Items can be created after overlayed with predicted value</a:t>
            </a:r>
          </a:p>
        </p:txBody>
      </p:sp>
      <p:sp>
        <p:nvSpPr>
          <p:cNvPr id="272" name="TextBox 1"/>
          <p:cNvSpPr txBox="1"/>
          <p:nvPr/>
        </p:nvSpPr>
        <p:spPr>
          <a:xfrm>
            <a:off x="3739422" y="3237749"/>
            <a:ext cx="1366557" cy="23342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900">
                <a:solidFill>
                  <a:srgbClr val="00B0F0"/>
                </a:solidFill>
                <a:latin typeface="Open Sans Extrabold"/>
                <a:ea typeface="Open Sans Extrabold"/>
                <a:cs typeface="Open Sans Extrabold"/>
                <a:sym typeface="Open Sans Extrabold"/>
              </a:defRPr>
            </a:pPr>
            <a:r>
              <a:t>Model</a:t>
            </a:r>
            <a:r>
              <a:rPr baseline="30000"/>
              <a:t>*</a:t>
            </a:r>
            <a:r>
              <a:t> </a:t>
            </a:r>
            <a:r>
              <a:rPr b="0">
                <a:solidFill>
                  <a:srgbClr val="0070C0"/>
                </a:solidFill>
                <a:latin typeface="Cambria Math"/>
                <a:ea typeface="Cambria Math"/>
                <a:cs typeface="Cambria Math"/>
                <a:sym typeface="Cambria Math"/>
              </a:rPr>
              <a:t>  </a:t>
            </a:r>
            <a14:m>
              <m:oMath>
                <m:r>
                  <a:rPr xmlns:a="http://schemas.openxmlformats.org/drawingml/2006/main" sz="800" i="1">
                    <a:solidFill>
                      <a:srgbClr val="0070C0"/>
                    </a:solidFill>
                    <a:latin typeface="Cambria Math" panose="02040503050406030204" pitchFamily="18" charset="0"/>
                  </a:rPr>
                  <m:t>𝑦</m:t>
                </m:r>
                <m:r>
                  <a:rPr xmlns:a="http://schemas.openxmlformats.org/drawingml/2006/main" sz="800" i="1">
                    <a:solidFill>
                      <a:srgbClr val="0070C0"/>
                    </a:solidFill>
                    <a:latin typeface="Cambria Math" panose="02040503050406030204" pitchFamily="18" charset="0"/>
                  </a:rPr>
                  <m:t>=</m:t>
                </m:r>
                <m:r>
                  <a:rPr xmlns:a="http://schemas.openxmlformats.org/drawingml/2006/main" sz="800" i="1">
                    <a:solidFill>
                      <a:srgbClr val="0070C0"/>
                    </a:solidFill>
                    <a:latin typeface="Cambria Math" panose="02040503050406030204" pitchFamily="18" charset="0"/>
                  </a:rPr>
                  <m:t>𝛼</m:t>
                </m:r>
                <m:r>
                  <a:rPr xmlns:a="http://schemas.openxmlformats.org/drawingml/2006/main" sz="800" i="1">
                    <a:solidFill>
                      <a:srgbClr val="0070C0"/>
                    </a:solidFill>
                    <a:latin typeface="Cambria Math" panose="02040503050406030204" pitchFamily="18" charset="0"/>
                  </a:rPr>
                  <m:t>+</m:t>
                </m:r>
                <m:r>
                  <a:rPr xmlns:a="http://schemas.openxmlformats.org/drawingml/2006/main" sz="800" i="1">
                    <a:solidFill>
                      <a:srgbClr val="0070C0"/>
                    </a:solidFill>
                    <a:latin typeface="Cambria Math" panose="02040503050406030204" pitchFamily="18" charset="0"/>
                  </a:rPr>
                  <m:t>𝛽</m:t>
                </m:r>
                <m:r>
                  <a:rPr xmlns:a="http://schemas.openxmlformats.org/drawingml/2006/main" sz="800" i="1">
                    <a:solidFill>
                      <a:srgbClr val="0070C0"/>
                    </a:solidFill>
                    <a:latin typeface="Cambria Math" panose="02040503050406030204" pitchFamily="18" charset="0"/>
                  </a:rPr>
                  <m:t>∗</m:t>
                </m:r>
                <m:r>
                  <a:rPr xmlns:a="http://schemas.openxmlformats.org/drawingml/2006/main" sz="800" i="1">
                    <a:solidFill>
                      <a:srgbClr val="0070C0"/>
                    </a:solidFill>
                    <a:latin typeface="Cambria Math" panose="02040503050406030204" pitchFamily="18" charset="0"/>
                  </a:rPr>
                  <m:t>𝑥</m:t>
                </m:r>
              </m:oMath>
            </a14:m>
            <a:endParaRPr sz="754"/>
          </a:p>
        </p:txBody>
      </p:sp>
      <p:sp>
        <p:nvSpPr>
          <p:cNvPr id="273" name="TextBox 2"/>
          <p:cNvSpPr txBox="1"/>
          <p:nvPr/>
        </p:nvSpPr>
        <p:spPr>
          <a:xfrm>
            <a:off x="3631639" y="3931659"/>
            <a:ext cx="1366557" cy="2311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defRPr b="1" sz="900">
                <a:solidFill>
                  <a:srgbClr val="00B0F0"/>
                </a:solidFill>
                <a:latin typeface="Open Sans Extrabold"/>
                <a:ea typeface="Open Sans Extrabold"/>
                <a:cs typeface="Open Sans Extrabold"/>
                <a:sym typeface="Open Sans Extrabold"/>
              </a:defRPr>
            </a:pPr>
            <a:r>
              <a:t>Model Output</a:t>
            </a:r>
            <a:r>
              <a:rPr baseline="30000"/>
              <a:t>**</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277" name="Rectangle 117"/>
          <p:cNvGrpSpPr/>
          <p:nvPr/>
        </p:nvGrpSpPr>
        <p:grpSpPr>
          <a:xfrm>
            <a:off x="3971645" y="637082"/>
            <a:ext cx="5184002" cy="3865082"/>
            <a:chOff x="0" y="0"/>
            <a:chExt cx="5184000" cy="3865081"/>
          </a:xfrm>
        </p:grpSpPr>
        <p:sp>
          <p:nvSpPr>
            <p:cNvPr id="275" name="Rectangle"/>
            <p:cNvSpPr/>
            <p:nvPr/>
          </p:nvSpPr>
          <p:spPr>
            <a:xfrm>
              <a:off x="-1" y="0"/>
              <a:ext cx="5184002" cy="3865082"/>
            </a:xfrm>
            <a:prstGeom prst="rect">
              <a:avLst/>
            </a:prstGeom>
            <a:gradFill flip="none" rotWithShape="1">
              <a:gsLst>
                <a:gs pos="2000">
                  <a:srgbClr val="FFC39C"/>
                </a:gs>
                <a:gs pos="50000">
                  <a:srgbClr val="FFD9C3"/>
                </a:gs>
                <a:gs pos="100000">
                  <a:srgbClr val="FFECE2"/>
                </a:gs>
              </a:gsLst>
              <a:lin ang="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276" name="Text"/>
            <p:cNvSpPr txBox="1"/>
            <p:nvPr/>
          </p:nvSpPr>
          <p:spPr>
            <a:xfrm>
              <a:off x="45719" y="1785220"/>
              <a:ext cx="5092561" cy="2946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1300">
                  <a:solidFill>
                    <a:srgbClr val="002060"/>
                  </a:solidFill>
                  <a:latin typeface="Open Sans"/>
                  <a:ea typeface="Open Sans"/>
                  <a:cs typeface="Open Sans"/>
                  <a:sym typeface="Open Sans"/>
                </a:defRPr>
              </a:lvl1pPr>
            </a:lstStyle>
            <a:p>
              <a:pPr/>
              <a:r>
                <a:t>        </a:t>
              </a:r>
            </a:p>
          </p:txBody>
        </p:sp>
      </p:grpSp>
      <p:sp>
        <p:nvSpPr>
          <p:cNvPr id="278" name="Rectangle 115"/>
          <p:cNvSpPr/>
          <p:nvPr/>
        </p:nvSpPr>
        <p:spPr>
          <a:xfrm>
            <a:off x="0" y="637082"/>
            <a:ext cx="3971646" cy="3865082"/>
          </a:xfrm>
          <a:prstGeom prst="rect">
            <a:avLst/>
          </a:prstGeom>
          <a:gradFill>
            <a:gsLst>
              <a:gs pos="0">
                <a:srgbClr val="92D0FF"/>
              </a:gs>
              <a:gs pos="50000">
                <a:srgbClr val="BDE1FF"/>
              </a:gs>
              <a:gs pos="100000">
                <a:srgbClr val="DEEFFF"/>
              </a:gs>
            </a:gsLst>
            <a:lin ang="10800000"/>
          </a:gradFill>
          <a:ln w="12700">
            <a:miter lim="400000"/>
          </a:ln>
        </p:spPr>
        <p:txBody>
          <a:bodyPr lIns="45719" rIns="45719" anchor="ctr"/>
          <a:lstStyle/>
          <a:p>
            <a:pPr algn="ctr">
              <a:defRPr sz="1000">
                <a:solidFill>
                  <a:srgbClr val="FFFFFF"/>
                </a:solidFill>
              </a:defRPr>
            </a:pPr>
          </a:p>
        </p:txBody>
      </p:sp>
      <p:sp>
        <p:nvSpPr>
          <p:cNvPr id="279" name="Slide Number Placeholder 3"/>
          <p:cNvSpPr txBox="1"/>
          <p:nvPr>
            <p:ph type="sldNum" sz="quarter" idx="4294967295"/>
          </p:nvPr>
        </p:nvSpPr>
        <p:spPr>
          <a:xfrm>
            <a:off x="11853513" y="6202479"/>
            <a:ext cx="203024" cy="288824"/>
          </a:xfrm>
          <a:prstGeom prst="rect">
            <a:avLst/>
          </a:prstGeom>
          <a:extLst>
            <a:ext uri="{C572A759-6A51-4108-AA02-DFA0A04FC94B}">
              <ma14:wrappingTextBoxFlag xmlns:ma14="http://schemas.microsoft.com/office/mac/drawingml/2011/main" val="1"/>
            </a:ext>
          </a:extLst>
        </p:spPr>
        <p:txBody>
          <a:bodyPr lIns="45719" tIns="45719" rIns="45719" bIns="45719"/>
          <a:lstStyle>
            <a:lvl1pPr algn="r" defTabSz="548599">
              <a:defRPr sz="1400"/>
            </a:lvl1pPr>
          </a:lstStyle>
          <a:p>
            <a:pPr/>
            <a:fld id="{86CB4B4D-7CA3-9044-876B-883B54F8677D}" type="slidenum"/>
          </a:p>
        </p:txBody>
      </p:sp>
      <p:sp>
        <p:nvSpPr>
          <p:cNvPr id="280" name="Title 1"/>
          <p:cNvSpPr txBox="1"/>
          <p:nvPr/>
        </p:nvSpPr>
        <p:spPr>
          <a:xfrm>
            <a:off x="9539" y="63083"/>
            <a:ext cx="8245941" cy="5511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ctr">
            <a:spAutoFit/>
          </a:bodyPr>
          <a:lstStyle/>
          <a:p>
            <a:pPr defTabSz="914309">
              <a:defRPr b="1" i="1" spc="-150" sz="2400">
                <a:solidFill>
                  <a:srgbClr val="242852"/>
                </a:solidFill>
                <a:latin typeface="Open Sans"/>
                <a:ea typeface="Open Sans"/>
                <a:cs typeface="Open Sans"/>
                <a:sym typeface="Open Sans"/>
              </a:defRPr>
            </a:pPr>
            <a:r>
              <a:t>Data Science Model ~ </a:t>
            </a:r>
            <a:r>
              <a:rPr>
                <a:solidFill>
                  <a:srgbClr val="00B0F0"/>
                </a:solidFill>
              </a:rPr>
              <a:t>Model</a:t>
            </a:r>
            <a:r>
              <a:t> Design</a:t>
            </a:r>
          </a:p>
        </p:txBody>
      </p:sp>
      <p:sp>
        <p:nvSpPr>
          <p:cNvPr id="281" name="Straight Connector 8"/>
          <p:cNvSpPr/>
          <p:nvPr/>
        </p:nvSpPr>
        <p:spPr>
          <a:xfrm>
            <a:off x="-12300" y="618293"/>
            <a:ext cx="9180002" cy="13502"/>
          </a:xfrm>
          <a:prstGeom prst="line">
            <a:avLst/>
          </a:prstGeom>
          <a:ln w="38100">
            <a:solidFill>
              <a:srgbClr val="072C62"/>
            </a:solidFill>
          </a:ln>
        </p:spPr>
        <p:txBody>
          <a:bodyPr lIns="45719" rIns="45719"/>
          <a:lstStyle/>
          <a:p>
            <a:pPr/>
          </a:p>
        </p:txBody>
      </p:sp>
      <p:grpSp>
        <p:nvGrpSpPr>
          <p:cNvPr id="284" name="Left Arrow 96"/>
          <p:cNvGrpSpPr/>
          <p:nvPr/>
        </p:nvGrpSpPr>
        <p:grpSpPr>
          <a:xfrm>
            <a:off x="99434" y="4085368"/>
            <a:ext cx="3761132" cy="446614"/>
            <a:chOff x="0" y="0"/>
            <a:chExt cx="3761130" cy="446613"/>
          </a:xfrm>
        </p:grpSpPr>
        <p:sp>
          <p:nvSpPr>
            <p:cNvPr id="282" name="Arrow"/>
            <p:cNvSpPr/>
            <p:nvPr/>
          </p:nvSpPr>
          <p:spPr>
            <a:xfrm>
              <a:off x="0" y="0"/>
              <a:ext cx="3761131" cy="446614"/>
            </a:xfrm>
            <a:prstGeom prst="leftArrow">
              <a:avLst>
                <a:gd name="adj1" fmla="val 50000"/>
                <a:gd name="adj2" fmla="val 50000"/>
              </a:avLst>
            </a:prstGeom>
            <a:solidFill>
              <a:srgbClr val="0070C0"/>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283" name="Customer Behavior in Last 12M"/>
            <p:cNvSpPr txBox="1"/>
            <p:nvPr/>
          </p:nvSpPr>
          <p:spPr>
            <a:xfrm>
              <a:off x="157372" y="101386"/>
              <a:ext cx="3558038"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1000">
                  <a:solidFill>
                    <a:srgbClr val="FFFFFF"/>
                  </a:solidFill>
                  <a:latin typeface="Open Sans Extrabold"/>
                  <a:ea typeface="Open Sans Extrabold"/>
                  <a:cs typeface="Open Sans Extrabold"/>
                  <a:sym typeface="Open Sans Extrabold"/>
                </a:defRPr>
              </a:lvl1pPr>
            </a:lstStyle>
            <a:p>
              <a:pPr/>
              <a:r>
                <a:t>Customer Behavior in Last 12M</a:t>
              </a:r>
            </a:p>
          </p:txBody>
        </p:sp>
      </p:grpSp>
      <p:grpSp>
        <p:nvGrpSpPr>
          <p:cNvPr id="287" name="Right Arrow 98"/>
          <p:cNvGrpSpPr/>
          <p:nvPr/>
        </p:nvGrpSpPr>
        <p:grpSpPr>
          <a:xfrm>
            <a:off x="4099378" y="4087557"/>
            <a:ext cx="4945187" cy="446614"/>
            <a:chOff x="0" y="0"/>
            <a:chExt cx="4945186" cy="446613"/>
          </a:xfrm>
        </p:grpSpPr>
        <p:sp>
          <p:nvSpPr>
            <p:cNvPr id="285" name="Arrow"/>
            <p:cNvSpPr/>
            <p:nvPr/>
          </p:nvSpPr>
          <p:spPr>
            <a:xfrm>
              <a:off x="0" y="0"/>
              <a:ext cx="4945187" cy="446614"/>
            </a:xfrm>
            <a:prstGeom prst="rightArrow">
              <a:avLst>
                <a:gd name="adj1" fmla="val 50000"/>
                <a:gd name="adj2" fmla="val 50000"/>
              </a:avLst>
            </a:prstGeom>
            <a:solidFill>
              <a:srgbClr val="00B0F0"/>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286" name="Value in Next 12M"/>
            <p:cNvSpPr txBox="1"/>
            <p:nvPr/>
          </p:nvSpPr>
          <p:spPr>
            <a:xfrm>
              <a:off x="45719" y="101386"/>
              <a:ext cx="4742094"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1000">
                  <a:solidFill>
                    <a:srgbClr val="FFFFFF"/>
                  </a:solidFill>
                  <a:latin typeface="Open Sans Extrabold"/>
                  <a:ea typeface="Open Sans Extrabold"/>
                  <a:cs typeface="Open Sans Extrabold"/>
                  <a:sym typeface="Open Sans Extrabold"/>
                </a:defRPr>
              </a:lvl1pPr>
            </a:lstStyle>
            <a:p>
              <a:pPr/>
              <a:r>
                <a:t>Value in Next 12M</a:t>
              </a:r>
            </a:p>
          </p:txBody>
        </p:sp>
      </p:grpSp>
      <p:pic>
        <p:nvPicPr>
          <p:cNvPr id="288" name="Ink 6" descr="Ink 6"/>
          <p:cNvPicPr>
            <a:picLocks noChangeAspect="1"/>
          </p:cNvPicPr>
          <p:nvPr/>
        </p:nvPicPr>
        <p:blipFill>
          <a:blip r:embed="rId2">
            <a:extLst/>
          </a:blip>
          <a:stretch>
            <a:fillRect/>
          </a:stretch>
        </p:blipFill>
        <p:spPr>
          <a:xfrm>
            <a:off x="4135802" y="1845322"/>
            <a:ext cx="441361" cy="1310401"/>
          </a:xfrm>
          <a:prstGeom prst="rect">
            <a:avLst/>
          </a:prstGeom>
          <a:ln w="12700">
            <a:miter lim="400000"/>
          </a:ln>
        </p:spPr>
      </p:pic>
      <p:pic>
        <p:nvPicPr>
          <p:cNvPr id="289" name="Ink 13" descr="Ink 13"/>
          <p:cNvPicPr>
            <a:picLocks noChangeAspect="1"/>
          </p:cNvPicPr>
          <p:nvPr/>
        </p:nvPicPr>
        <p:blipFill>
          <a:blip r:embed="rId3">
            <a:extLst/>
          </a:blip>
          <a:stretch>
            <a:fillRect/>
          </a:stretch>
        </p:blipFill>
        <p:spPr>
          <a:xfrm>
            <a:off x="3949322" y="2188761"/>
            <a:ext cx="165961" cy="561961"/>
          </a:xfrm>
          <a:prstGeom prst="rect">
            <a:avLst/>
          </a:prstGeom>
          <a:ln w="12700">
            <a:miter lim="400000"/>
          </a:ln>
        </p:spPr>
      </p:pic>
      <p:pic>
        <p:nvPicPr>
          <p:cNvPr id="290" name="Ink 19" descr="Ink 19"/>
          <p:cNvPicPr>
            <a:picLocks noChangeAspect="1"/>
          </p:cNvPicPr>
          <p:nvPr/>
        </p:nvPicPr>
        <p:blipFill>
          <a:blip r:embed="rId4">
            <a:extLst/>
          </a:blip>
          <a:stretch>
            <a:fillRect/>
          </a:stretch>
        </p:blipFill>
        <p:spPr>
          <a:xfrm>
            <a:off x="4054535" y="2285241"/>
            <a:ext cx="372058" cy="644761"/>
          </a:xfrm>
          <a:prstGeom prst="rect">
            <a:avLst/>
          </a:prstGeom>
          <a:ln w="12700">
            <a:miter lim="400000"/>
          </a:ln>
        </p:spPr>
      </p:pic>
      <p:grpSp>
        <p:nvGrpSpPr>
          <p:cNvPr id="332" name="Group 95"/>
          <p:cNvGrpSpPr/>
          <p:nvPr/>
        </p:nvGrpSpPr>
        <p:grpSpPr>
          <a:xfrm>
            <a:off x="1178947" y="767054"/>
            <a:ext cx="3548240" cy="3402155"/>
            <a:chOff x="0" y="0"/>
            <a:chExt cx="3548238" cy="3402153"/>
          </a:xfrm>
        </p:grpSpPr>
        <p:sp>
          <p:nvSpPr>
            <p:cNvPr id="291" name="Pie 10"/>
            <p:cNvSpPr/>
            <p:nvPr/>
          </p:nvSpPr>
          <p:spPr>
            <a:xfrm>
              <a:off x="1441965" y="432627"/>
              <a:ext cx="1328076" cy="25183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548" y="21600"/>
                  </a:moveTo>
                  <a:cubicBezTo>
                    <a:pt x="9647" y="21600"/>
                    <a:pt x="0" y="16765"/>
                    <a:pt x="0" y="10800"/>
                  </a:cubicBezTo>
                  <a:cubicBezTo>
                    <a:pt x="0" y="4835"/>
                    <a:pt x="9647" y="0"/>
                    <a:pt x="21548" y="0"/>
                  </a:cubicBezTo>
                  <a:lnTo>
                    <a:pt x="21600" y="10800"/>
                  </a:lnTo>
                  <a:close/>
                </a:path>
              </a:pathLst>
            </a:custGeom>
            <a:solidFill>
              <a:srgbClr val="FFFFFF"/>
            </a:solidFill>
            <a:ln w="28575" cap="flat">
              <a:solidFill>
                <a:srgbClr val="000000"/>
              </a:solidFill>
              <a:prstDash val="solid"/>
              <a:round/>
            </a:ln>
            <a:effectLst/>
          </p:spPr>
          <p:txBody>
            <a:bodyPr wrap="square" lIns="45719" tIns="45719" rIns="45719" bIns="45719" numCol="1" anchor="ctr">
              <a:noAutofit/>
            </a:bodyPr>
            <a:lstStyle/>
            <a:p>
              <a:pPr algn="ctr">
                <a:defRPr sz="1000"/>
              </a:pPr>
            </a:p>
          </p:txBody>
        </p:sp>
        <p:sp>
          <p:nvSpPr>
            <p:cNvPr id="292" name="TextBox 28"/>
            <p:cNvSpPr txBox="1"/>
            <p:nvPr/>
          </p:nvSpPr>
          <p:spPr>
            <a:xfrm>
              <a:off x="823284" y="63089"/>
              <a:ext cx="941299" cy="5359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lgn="r">
                <a:defRPr b="1" sz="900">
                  <a:solidFill>
                    <a:srgbClr val="002060"/>
                  </a:solidFill>
                  <a:latin typeface="Open Sans Extrabold"/>
                  <a:ea typeface="Open Sans Extrabold"/>
                  <a:cs typeface="Open Sans Extrabold"/>
                  <a:sym typeface="Open Sans Extrabold"/>
                </a:defRPr>
              </a:pPr>
              <a:r>
                <a:t>Frequency</a:t>
              </a:r>
              <a:r>
                <a:rPr b="0">
                  <a:solidFill>
                    <a:srgbClr val="00B0F0"/>
                  </a:solidFill>
                  <a:latin typeface="Open Sans"/>
                  <a:ea typeface="Open Sans"/>
                  <a:cs typeface="Open Sans"/>
                  <a:sym typeface="Open Sans"/>
                </a:rPr>
                <a:t> </a:t>
              </a:r>
              <a:r>
                <a:rPr b="0">
                  <a:solidFill>
                    <a:srgbClr val="000000"/>
                  </a:solidFill>
                  <a:latin typeface="Open Sans"/>
                  <a:ea typeface="Open Sans"/>
                  <a:cs typeface="Open Sans"/>
                  <a:sym typeface="Open Sans"/>
                </a:rPr>
                <a:t> </a:t>
              </a:r>
              <a:endParaRPr b="0">
                <a:solidFill>
                  <a:srgbClr val="000000"/>
                </a:solidFill>
                <a:latin typeface="Open Sans"/>
                <a:ea typeface="Open Sans"/>
                <a:cs typeface="Open Sans"/>
                <a:sym typeface="Open Sans"/>
              </a:endParaRPr>
            </a:p>
            <a:p>
              <a:pPr>
                <a:defRPr sz="700">
                  <a:solidFill>
                    <a:srgbClr val="111111"/>
                  </a:solidFill>
                  <a:latin typeface="Open Sans"/>
                  <a:ea typeface="Open Sans"/>
                  <a:cs typeface="Open Sans"/>
                  <a:sym typeface="Open Sans"/>
                </a:defRPr>
              </a:pPr>
              <a:r>
                <a:t>How often a customer makes a transactions</a:t>
              </a:r>
            </a:p>
          </p:txBody>
        </p:sp>
        <p:sp>
          <p:nvSpPr>
            <p:cNvPr id="293" name="TextBox 41"/>
            <p:cNvSpPr txBox="1"/>
            <p:nvPr/>
          </p:nvSpPr>
          <p:spPr>
            <a:xfrm>
              <a:off x="3507" y="995982"/>
              <a:ext cx="941299" cy="5359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lgn="r">
                <a:defRPr b="1" sz="900">
                  <a:solidFill>
                    <a:srgbClr val="002060"/>
                  </a:solidFill>
                  <a:latin typeface="Open Sans Extrabold"/>
                  <a:ea typeface="Open Sans Extrabold"/>
                  <a:cs typeface="Open Sans Extrabold"/>
                  <a:sym typeface="Open Sans Extrabold"/>
                </a:defRPr>
              </a:pPr>
              <a:r>
                <a:t>Recency</a:t>
              </a:r>
            </a:p>
            <a:p>
              <a:pPr>
                <a:defRPr sz="700">
                  <a:solidFill>
                    <a:srgbClr val="111111"/>
                  </a:solidFill>
                  <a:latin typeface="Open Sans"/>
                  <a:ea typeface="Open Sans"/>
                  <a:cs typeface="Open Sans"/>
                  <a:sym typeface="Open Sans"/>
                </a:defRPr>
              </a:pPr>
              <a:r>
                <a:t>How recently a customer has made a transactions</a:t>
              </a:r>
            </a:p>
          </p:txBody>
        </p:sp>
        <p:sp>
          <p:nvSpPr>
            <p:cNvPr id="294" name="TextBox 43"/>
            <p:cNvSpPr txBox="1"/>
            <p:nvPr/>
          </p:nvSpPr>
          <p:spPr>
            <a:xfrm>
              <a:off x="0" y="2011626"/>
              <a:ext cx="941299" cy="5359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lgn="r">
                <a:defRPr b="1" sz="900">
                  <a:solidFill>
                    <a:srgbClr val="002060"/>
                  </a:solidFill>
                  <a:latin typeface="Open Sans Extrabold"/>
                  <a:ea typeface="Open Sans Extrabold"/>
                  <a:cs typeface="Open Sans Extrabold"/>
                  <a:sym typeface="Open Sans Extrabold"/>
                </a:defRPr>
              </a:pPr>
              <a:r>
                <a:t>Monetary</a:t>
              </a:r>
            </a:p>
            <a:p>
              <a:pPr>
                <a:defRPr sz="700">
                  <a:solidFill>
                    <a:srgbClr val="111111"/>
                  </a:solidFill>
                  <a:latin typeface="Open Sans"/>
                  <a:ea typeface="Open Sans"/>
                  <a:cs typeface="Open Sans"/>
                  <a:sym typeface="Open Sans"/>
                </a:defRPr>
              </a:pPr>
              <a:r>
                <a:t>How much money a customer spends on transactions</a:t>
              </a:r>
            </a:p>
          </p:txBody>
        </p:sp>
        <p:sp>
          <p:nvSpPr>
            <p:cNvPr id="295" name="TextBox 49"/>
            <p:cNvSpPr txBox="1"/>
            <p:nvPr/>
          </p:nvSpPr>
          <p:spPr>
            <a:xfrm>
              <a:off x="225540" y="2817881"/>
              <a:ext cx="1405708" cy="4343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p>
              <a:pPr algn="r">
                <a:defRPr b="1" sz="900">
                  <a:solidFill>
                    <a:srgbClr val="002060"/>
                  </a:solidFill>
                  <a:latin typeface="Open Sans Extrabold"/>
                  <a:ea typeface="Open Sans Extrabold"/>
                  <a:cs typeface="Open Sans Extrabold"/>
                  <a:sym typeface="Open Sans Extrabold"/>
                </a:defRPr>
              </a:pPr>
              <a:r>
                <a:t>Customer Demography</a:t>
              </a:r>
            </a:p>
            <a:p>
              <a:pPr>
                <a:defRPr sz="700">
                  <a:latin typeface="Open Sans"/>
                  <a:ea typeface="Open Sans"/>
                  <a:cs typeface="Open Sans"/>
                  <a:sym typeface="Open Sans"/>
                </a:defRPr>
              </a:pPr>
              <a:r>
                <a:t>Standard profiles of customers; Age, Vintage etc.</a:t>
              </a:r>
            </a:p>
          </p:txBody>
        </p:sp>
        <p:sp>
          <p:nvSpPr>
            <p:cNvPr id="296" name="Block Arc 18"/>
            <p:cNvSpPr/>
            <p:nvPr/>
          </p:nvSpPr>
          <p:spPr>
            <a:xfrm rot="16200000">
              <a:off x="189570" y="829746"/>
              <a:ext cx="3402154" cy="1742661"/>
            </a:xfrm>
            <a:custGeom>
              <a:avLst/>
              <a:gdLst/>
              <a:ahLst/>
              <a:cxnLst>
                <a:cxn ang="0">
                  <a:pos x="wd2" y="hd2"/>
                </a:cxn>
                <a:cxn ang="5400000">
                  <a:pos x="wd2" y="hd2"/>
                </a:cxn>
                <a:cxn ang="10800000">
                  <a:pos x="wd2" y="hd2"/>
                </a:cxn>
                <a:cxn ang="16200000">
                  <a:pos x="wd2" y="hd2"/>
                </a:cxn>
              </a:cxnLst>
              <a:rect l="0" t="0" r="r" b="b"/>
              <a:pathLst>
                <a:path w="21600" h="18686" fill="norm" stroke="1" extrusionOk="0">
                  <a:moveTo>
                    <a:pt x="0" y="17724"/>
                  </a:moveTo>
                  <a:lnTo>
                    <a:pt x="0" y="17724"/>
                  </a:lnTo>
                  <a:cubicBezTo>
                    <a:pt x="1800" y="4540"/>
                    <a:pt x="8082" y="-2914"/>
                    <a:pt x="14031" y="1076"/>
                  </a:cubicBezTo>
                  <a:cubicBezTo>
                    <a:pt x="17703" y="3538"/>
                    <a:pt x="20556" y="9976"/>
                    <a:pt x="21600" y="18157"/>
                  </a:cubicBezTo>
                  <a:lnTo>
                    <a:pt x="20757" y="18686"/>
                  </a:lnTo>
                  <a:lnTo>
                    <a:pt x="20757" y="18686"/>
                  </a:lnTo>
                  <a:cubicBezTo>
                    <a:pt x="19228" y="6213"/>
                    <a:pt x="13517" y="-1094"/>
                    <a:pt x="8003" y="2364"/>
                  </a:cubicBezTo>
                  <a:cubicBezTo>
                    <a:pt x="4560" y="4523"/>
                    <a:pt x="1852" y="10540"/>
                    <a:pt x="837" y="18285"/>
                  </a:cubicBezTo>
                  <a:close/>
                </a:path>
              </a:pathLst>
            </a:custGeom>
            <a:solidFill>
              <a:srgbClr val="002060"/>
            </a:solidFill>
            <a:ln w="25400" cap="flat">
              <a:solidFill>
                <a:srgbClr val="002060"/>
              </a:solidFill>
              <a:prstDash val="solid"/>
              <a:round/>
            </a:ln>
            <a:effectLst/>
          </p:spPr>
          <p:txBody>
            <a:bodyPr wrap="square" lIns="45719" tIns="45719" rIns="45719" bIns="45719" numCol="1" anchor="ctr">
              <a:noAutofit/>
            </a:bodyPr>
            <a:lstStyle/>
            <a:p>
              <a:pPr algn="ctr">
                <a:defRPr sz="1000"/>
              </a:pPr>
            </a:p>
          </p:txBody>
        </p:sp>
        <p:grpSp>
          <p:nvGrpSpPr>
            <p:cNvPr id="299" name="Group 53"/>
            <p:cNvGrpSpPr/>
            <p:nvPr/>
          </p:nvGrpSpPr>
          <p:grpSpPr>
            <a:xfrm>
              <a:off x="934995" y="2037607"/>
              <a:ext cx="475591" cy="462763"/>
              <a:chOff x="0" y="0"/>
              <a:chExt cx="475590" cy="462762"/>
            </a:xfrm>
          </p:grpSpPr>
          <p:sp>
            <p:nvSpPr>
              <p:cNvPr id="297" name="Oval 11"/>
              <p:cNvSpPr/>
              <p:nvPr/>
            </p:nvSpPr>
            <p:spPr>
              <a:xfrm>
                <a:off x="-1" y="-1"/>
                <a:ext cx="475592" cy="462764"/>
              </a:xfrm>
              <a:prstGeom prst="ellipse">
                <a:avLst/>
              </a:prstGeom>
              <a:solidFill>
                <a:srgbClr val="FFFFFF"/>
              </a:solidFill>
              <a:ln w="38100" cap="flat">
                <a:solidFill>
                  <a:srgbClr val="002060"/>
                </a:solidFill>
                <a:prstDash val="solid"/>
                <a:round/>
              </a:ln>
              <a:effectLst/>
            </p:spPr>
            <p:txBody>
              <a:bodyPr wrap="square" lIns="45719" tIns="45719" rIns="45719" bIns="45719" numCol="1" anchor="ctr">
                <a:noAutofit/>
              </a:bodyPr>
              <a:lstStyle/>
              <a:p>
                <a:pPr algn="ctr">
                  <a:defRPr sz="1000">
                    <a:solidFill>
                      <a:srgbClr val="FFFFFF"/>
                    </a:solidFill>
                  </a:defRPr>
                </a:pPr>
              </a:p>
            </p:txBody>
          </p:sp>
          <p:pic>
            <p:nvPicPr>
              <p:cNvPr id="298" name="Picture 39" descr="Picture 39"/>
              <p:cNvPicPr>
                <a:picLocks noChangeAspect="1"/>
              </p:cNvPicPr>
              <p:nvPr/>
            </p:nvPicPr>
            <p:blipFill>
              <a:blip r:embed="rId5">
                <a:extLst/>
              </a:blip>
              <a:stretch>
                <a:fillRect/>
              </a:stretch>
            </p:blipFill>
            <p:spPr>
              <a:xfrm>
                <a:off x="104229" y="99566"/>
                <a:ext cx="260698" cy="260698"/>
              </a:xfrm>
              <a:prstGeom prst="rect">
                <a:avLst/>
              </a:prstGeom>
              <a:ln w="12700" cap="flat">
                <a:noFill/>
                <a:miter lim="400000"/>
              </a:ln>
              <a:effectLst/>
            </p:spPr>
          </p:pic>
        </p:grpSp>
        <p:grpSp>
          <p:nvGrpSpPr>
            <p:cNvPr id="310" name="Group 54"/>
            <p:cNvGrpSpPr/>
            <p:nvPr/>
          </p:nvGrpSpPr>
          <p:grpSpPr>
            <a:xfrm>
              <a:off x="1720143" y="2793472"/>
              <a:ext cx="475591" cy="462763"/>
              <a:chOff x="0" y="0"/>
              <a:chExt cx="475590" cy="462762"/>
            </a:xfrm>
          </p:grpSpPr>
          <p:sp>
            <p:nvSpPr>
              <p:cNvPr id="300" name="Oval 12"/>
              <p:cNvSpPr/>
              <p:nvPr/>
            </p:nvSpPr>
            <p:spPr>
              <a:xfrm>
                <a:off x="-1" y="-1"/>
                <a:ext cx="475592" cy="462764"/>
              </a:xfrm>
              <a:prstGeom prst="ellipse">
                <a:avLst/>
              </a:prstGeom>
              <a:solidFill>
                <a:srgbClr val="FFFFFF"/>
              </a:solidFill>
              <a:ln w="38100" cap="flat">
                <a:solidFill>
                  <a:srgbClr val="002060"/>
                </a:solidFill>
                <a:prstDash val="solid"/>
                <a:round/>
              </a:ln>
              <a:effectLst/>
            </p:spPr>
            <p:txBody>
              <a:bodyPr wrap="square" lIns="45719" tIns="45719" rIns="45719" bIns="45719" numCol="1" anchor="ctr">
                <a:noAutofit/>
              </a:bodyPr>
              <a:lstStyle/>
              <a:p>
                <a:pPr algn="ctr">
                  <a:defRPr sz="1000">
                    <a:solidFill>
                      <a:srgbClr val="FFFFFF"/>
                    </a:solidFill>
                  </a:defRPr>
                </a:pPr>
              </a:p>
            </p:txBody>
          </p:sp>
          <p:grpSp>
            <p:nvGrpSpPr>
              <p:cNvPr id="309" name="Google Shape;8868;p86"/>
              <p:cNvGrpSpPr/>
              <p:nvPr/>
            </p:nvGrpSpPr>
            <p:grpSpPr>
              <a:xfrm>
                <a:off x="117440" y="90183"/>
                <a:ext cx="265941" cy="265394"/>
                <a:chOff x="0" y="0"/>
                <a:chExt cx="265939" cy="265393"/>
              </a:xfrm>
            </p:grpSpPr>
            <p:sp>
              <p:nvSpPr>
                <p:cNvPr id="301" name="Google Shape;8869;p86"/>
                <p:cNvSpPr/>
                <p:nvPr/>
              </p:nvSpPr>
              <p:spPr>
                <a:xfrm>
                  <a:off x="55194" y="-1"/>
                  <a:ext cx="93896" cy="3101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376" y="0"/>
                      </a:moveTo>
                      <a:cubicBezTo>
                        <a:pt x="1376" y="0"/>
                        <a:pt x="0" y="4691"/>
                        <a:pt x="0" y="10618"/>
                      </a:cubicBezTo>
                      <a:lnTo>
                        <a:pt x="0" y="16101"/>
                      </a:lnTo>
                      <a:cubicBezTo>
                        <a:pt x="0" y="19096"/>
                        <a:pt x="827" y="21600"/>
                        <a:pt x="1816" y="21600"/>
                      </a:cubicBezTo>
                      <a:lnTo>
                        <a:pt x="19789" y="21600"/>
                      </a:lnTo>
                      <a:cubicBezTo>
                        <a:pt x="20778" y="21600"/>
                        <a:pt x="21600" y="19096"/>
                        <a:pt x="21600" y="16101"/>
                      </a:cubicBezTo>
                      <a:lnTo>
                        <a:pt x="21600" y="10618"/>
                      </a:lnTo>
                      <a:cubicBezTo>
                        <a:pt x="21600" y="4120"/>
                        <a:pt x="19951" y="127"/>
                        <a:pt x="18140" y="127"/>
                      </a:cubicBezTo>
                      <a:lnTo>
                        <a:pt x="3957" y="127"/>
                      </a:lnTo>
                      <a:cubicBezTo>
                        <a:pt x="3758" y="48"/>
                        <a:pt x="3564" y="0"/>
                        <a:pt x="3376" y="0"/>
                      </a:cubicBezTo>
                      <a:close/>
                    </a:path>
                  </a:pathLst>
                </a:custGeom>
                <a:solidFill>
                  <a:srgbClr val="002060"/>
                </a:solidFill>
                <a:ln w="12700" cap="flat">
                  <a:noFill/>
                  <a:miter lim="400000"/>
                </a:ln>
                <a:effectLst/>
              </p:spPr>
              <p:txBody>
                <a:bodyPr wrap="square" lIns="45719" tIns="45719" rIns="45719" bIns="45719" numCol="1" anchor="ctr">
                  <a:noAutofit/>
                </a:bodyPr>
                <a:lstStyle/>
                <a:p>
                  <a:pPr>
                    <a:defRPr sz="1000"/>
                  </a:pPr>
                </a:p>
              </p:txBody>
            </p:sp>
            <p:sp>
              <p:nvSpPr>
                <p:cNvPr id="302" name="Google Shape;8870;p86"/>
                <p:cNvSpPr/>
                <p:nvPr/>
              </p:nvSpPr>
              <p:spPr>
                <a:xfrm>
                  <a:off x="47322" y="138532"/>
                  <a:ext cx="15040" cy="16473"/>
                </a:xfrm>
                <a:prstGeom prst="rect">
                  <a:avLst/>
                </a:prstGeom>
                <a:solidFill>
                  <a:srgbClr val="002060"/>
                </a:solidFill>
                <a:ln w="12700" cap="flat">
                  <a:noFill/>
                  <a:miter lim="400000"/>
                </a:ln>
                <a:effectLst/>
              </p:spPr>
              <p:txBody>
                <a:bodyPr wrap="square" lIns="45719" tIns="45719" rIns="45719" bIns="45719" numCol="1" anchor="ctr">
                  <a:noAutofit/>
                </a:bodyPr>
                <a:lstStyle/>
                <a:p>
                  <a:pPr>
                    <a:defRPr sz="1000"/>
                  </a:pPr>
                </a:p>
              </p:txBody>
            </p:sp>
            <p:sp>
              <p:nvSpPr>
                <p:cNvPr id="303" name="Google Shape;8871;p86"/>
                <p:cNvSpPr/>
                <p:nvPr/>
              </p:nvSpPr>
              <p:spPr>
                <a:xfrm>
                  <a:off x="47322" y="76876"/>
                  <a:ext cx="15040" cy="15062"/>
                </a:xfrm>
                <a:prstGeom prst="rect">
                  <a:avLst/>
                </a:prstGeom>
                <a:solidFill>
                  <a:srgbClr val="002060"/>
                </a:solidFill>
                <a:ln w="12700" cap="flat">
                  <a:noFill/>
                  <a:miter lim="400000"/>
                </a:ln>
                <a:effectLst/>
              </p:spPr>
              <p:txBody>
                <a:bodyPr wrap="square" lIns="45719" tIns="45719" rIns="45719" bIns="45719" numCol="1" anchor="ctr">
                  <a:noAutofit/>
                </a:bodyPr>
                <a:lstStyle/>
                <a:p>
                  <a:pPr>
                    <a:defRPr sz="1000"/>
                  </a:pPr>
                </a:p>
              </p:txBody>
            </p:sp>
            <p:sp>
              <p:nvSpPr>
                <p:cNvPr id="304" name="Google Shape;8872;p86"/>
                <p:cNvSpPr/>
                <p:nvPr/>
              </p:nvSpPr>
              <p:spPr>
                <a:xfrm>
                  <a:off x="47322" y="202326"/>
                  <a:ext cx="15040" cy="15040"/>
                </a:xfrm>
                <a:prstGeom prst="rect">
                  <a:avLst/>
                </a:prstGeom>
                <a:solidFill>
                  <a:srgbClr val="002060"/>
                </a:solidFill>
                <a:ln w="12700" cap="flat">
                  <a:noFill/>
                  <a:miter lim="400000"/>
                </a:ln>
                <a:effectLst/>
              </p:spPr>
              <p:txBody>
                <a:bodyPr wrap="square" lIns="45719" tIns="45719" rIns="45719" bIns="45719" numCol="1" anchor="ctr">
                  <a:noAutofit/>
                </a:bodyPr>
                <a:lstStyle/>
                <a:p>
                  <a:pPr>
                    <a:defRPr sz="1000"/>
                  </a:pPr>
                </a:p>
              </p:txBody>
            </p:sp>
            <p:sp>
              <p:nvSpPr>
                <p:cNvPr id="305" name="Google Shape;8873;p86"/>
                <p:cNvSpPr/>
                <p:nvPr/>
              </p:nvSpPr>
              <p:spPr>
                <a:xfrm>
                  <a:off x="-1" y="15243"/>
                  <a:ext cx="202852" cy="2501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402" y="4023"/>
                      </a:moveTo>
                      <a:cubicBezTo>
                        <a:pt x="17937" y="4023"/>
                        <a:pt x="18317" y="4332"/>
                        <a:pt x="18317" y="4703"/>
                      </a:cubicBezTo>
                      <a:cubicBezTo>
                        <a:pt x="18317" y="5074"/>
                        <a:pt x="17937" y="5385"/>
                        <a:pt x="17402" y="5385"/>
                      </a:cubicBezTo>
                      <a:lnTo>
                        <a:pt x="10839" y="5385"/>
                      </a:lnTo>
                      <a:cubicBezTo>
                        <a:pt x="10381" y="5385"/>
                        <a:pt x="9998" y="5074"/>
                        <a:pt x="9998" y="4703"/>
                      </a:cubicBezTo>
                      <a:cubicBezTo>
                        <a:pt x="9998" y="4332"/>
                        <a:pt x="10381" y="4023"/>
                        <a:pt x="10839" y="4023"/>
                      </a:cubicBezTo>
                      <a:close/>
                      <a:moveTo>
                        <a:pt x="7634" y="3960"/>
                      </a:moveTo>
                      <a:cubicBezTo>
                        <a:pt x="8092" y="3960"/>
                        <a:pt x="8472" y="4271"/>
                        <a:pt x="8472" y="4642"/>
                      </a:cubicBezTo>
                      <a:lnTo>
                        <a:pt x="8472" y="7365"/>
                      </a:lnTo>
                      <a:cubicBezTo>
                        <a:pt x="8472" y="7736"/>
                        <a:pt x="8092" y="8047"/>
                        <a:pt x="7634" y="8047"/>
                      </a:cubicBezTo>
                      <a:lnTo>
                        <a:pt x="4273" y="8047"/>
                      </a:lnTo>
                      <a:cubicBezTo>
                        <a:pt x="3816" y="8047"/>
                        <a:pt x="3435" y="7736"/>
                        <a:pt x="3435" y="7365"/>
                      </a:cubicBezTo>
                      <a:lnTo>
                        <a:pt x="3435" y="4642"/>
                      </a:lnTo>
                      <a:cubicBezTo>
                        <a:pt x="3435" y="4271"/>
                        <a:pt x="3816" y="3960"/>
                        <a:pt x="4273" y="3960"/>
                      </a:cubicBezTo>
                      <a:close/>
                      <a:moveTo>
                        <a:pt x="14197" y="6622"/>
                      </a:moveTo>
                      <a:cubicBezTo>
                        <a:pt x="14654" y="6622"/>
                        <a:pt x="15037" y="6931"/>
                        <a:pt x="15037" y="7365"/>
                      </a:cubicBezTo>
                      <a:cubicBezTo>
                        <a:pt x="15037" y="7736"/>
                        <a:pt x="14654" y="8047"/>
                        <a:pt x="14197" y="8047"/>
                      </a:cubicBezTo>
                      <a:lnTo>
                        <a:pt x="10839" y="8047"/>
                      </a:lnTo>
                      <a:cubicBezTo>
                        <a:pt x="10381" y="8047"/>
                        <a:pt x="9998" y="7736"/>
                        <a:pt x="9998" y="7365"/>
                      </a:cubicBezTo>
                      <a:cubicBezTo>
                        <a:pt x="9998" y="6931"/>
                        <a:pt x="10381" y="6622"/>
                        <a:pt x="10839" y="6622"/>
                      </a:cubicBezTo>
                      <a:close/>
                      <a:moveTo>
                        <a:pt x="17402" y="9345"/>
                      </a:moveTo>
                      <a:cubicBezTo>
                        <a:pt x="17937" y="9345"/>
                        <a:pt x="18317" y="9656"/>
                        <a:pt x="18317" y="10027"/>
                      </a:cubicBezTo>
                      <a:cubicBezTo>
                        <a:pt x="18317" y="10459"/>
                        <a:pt x="17937" y="10770"/>
                        <a:pt x="17402" y="10770"/>
                      </a:cubicBezTo>
                      <a:lnTo>
                        <a:pt x="10839" y="10770"/>
                      </a:lnTo>
                      <a:cubicBezTo>
                        <a:pt x="10381" y="10770"/>
                        <a:pt x="9998" y="10459"/>
                        <a:pt x="9998" y="10027"/>
                      </a:cubicBezTo>
                      <a:cubicBezTo>
                        <a:pt x="9998" y="9656"/>
                        <a:pt x="10381" y="9345"/>
                        <a:pt x="10839" y="9345"/>
                      </a:cubicBezTo>
                      <a:close/>
                      <a:moveTo>
                        <a:pt x="7634" y="9345"/>
                      </a:moveTo>
                      <a:cubicBezTo>
                        <a:pt x="8092" y="9345"/>
                        <a:pt x="8472" y="9656"/>
                        <a:pt x="8472" y="10027"/>
                      </a:cubicBezTo>
                      <a:lnTo>
                        <a:pt x="8472" y="12750"/>
                      </a:lnTo>
                      <a:cubicBezTo>
                        <a:pt x="8472" y="13121"/>
                        <a:pt x="8092" y="13430"/>
                        <a:pt x="7634" y="13430"/>
                      </a:cubicBezTo>
                      <a:lnTo>
                        <a:pt x="4273" y="13430"/>
                      </a:lnTo>
                      <a:cubicBezTo>
                        <a:pt x="3816" y="13430"/>
                        <a:pt x="3435" y="13121"/>
                        <a:pt x="3435" y="12750"/>
                      </a:cubicBezTo>
                      <a:lnTo>
                        <a:pt x="3435" y="10027"/>
                      </a:lnTo>
                      <a:cubicBezTo>
                        <a:pt x="3435" y="9656"/>
                        <a:pt x="3816" y="9345"/>
                        <a:pt x="4273" y="9345"/>
                      </a:cubicBezTo>
                      <a:close/>
                      <a:moveTo>
                        <a:pt x="14197" y="12068"/>
                      </a:moveTo>
                      <a:cubicBezTo>
                        <a:pt x="14654" y="12068"/>
                        <a:pt x="15037" y="12378"/>
                        <a:pt x="15037" y="12750"/>
                      </a:cubicBezTo>
                      <a:cubicBezTo>
                        <a:pt x="15037" y="13121"/>
                        <a:pt x="14654" y="13430"/>
                        <a:pt x="14197" y="13430"/>
                      </a:cubicBezTo>
                      <a:lnTo>
                        <a:pt x="10839" y="13430"/>
                      </a:lnTo>
                      <a:cubicBezTo>
                        <a:pt x="10381" y="13430"/>
                        <a:pt x="9998" y="13121"/>
                        <a:pt x="9998" y="12750"/>
                      </a:cubicBezTo>
                      <a:cubicBezTo>
                        <a:pt x="9998" y="12378"/>
                        <a:pt x="10381" y="12068"/>
                        <a:pt x="10839" y="12068"/>
                      </a:cubicBezTo>
                      <a:close/>
                      <a:moveTo>
                        <a:pt x="17402" y="14854"/>
                      </a:moveTo>
                      <a:cubicBezTo>
                        <a:pt x="17937" y="14854"/>
                        <a:pt x="18317" y="15164"/>
                        <a:pt x="18317" y="15535"/>
                      </a:cubicBezTo>
                      <a:cubicBezTo>
                        <a:pt x="18317" y="15907"/>
                        <a:pt x="17937" y="16215"/>
                        <a:pt x="17402" y="16215"/>
                      </a:cubicBezTo>
                      <a:lnTo>
                        <a:pt x="10839" y="16215"/>
                      </a:lnTo>
                      <a:cubicBezTo>
                        <a:pt x="10381" y="16215"/>
                        <a:pt x="9998" y="15907"/>
                        <a:pt x="9998" y="15535"/>
                      </a:cubicBezTo>
                      <a:cubicBezTo>
                        <a:pt x="9998" y="15164"/>
                        <a:pt x="10381" y="14854"/>
                        <a:pt x="10839" y="14854"/>
                      </a:cubicBezTo>
                      <a:close/>
                      <a:moveTo>
                        <a:pt x="7634" y="14793"/>
                      </a:moveTo>
                      <a:cubicBezTo>
                        <a:pt x="8092" y="14793"/>
                        <a:pt x="8472" y="15040"/>
                        <a:pt x="8472" y="15473"/>
                      </a:cubicBezTo>
                      <a:lnTo>
                        <a:pt x="8472" y="18135"/>
                      </a:lnTo>
                      <a:cubicBezTo>
                        <a:pt x="8472" y="18567"/>
                        <a:pt x="8092" y="18877"/>
                        <a:pt x="7634" y="18877"/>
                      </a:cubicBezTo>
                      <a:lnTo>
                        <a:pt x="4273" y="18877"/>
                      </a:lnTo>
                      <a:cubicBezTo>
                        <a:pt x="3816" y="18877"/>
                        <a:pt x="3435" y="18567"/>
                        <a:pt x="3435" y="18135"/>
                      </a:cubicBezTo>
                      <a:lnTo>
                        <a:pt x="3435" y="15473"/>
                      </a:lnTo>
                      <a:cubicBezTo>
                        <a:pt x="3435" y="15040"/>
                        <a:pt x="3816" y="14793"/>
                        <a:pt x="4273" y="14793"/>
                      </a:cubicBezTo>
                      <a:close/>
                      <a:moveTo>
                        <a:pt x="14197" y="17453"/>
                      </a:moveTo>
                      <a:cubicBezTo>
                        <a:pt x="14654" y="17453"/>
                        <a:pt x="15037" y="17763"/>
                        <a:pt x="15037" y="18135"/>
                      </a:cubicBezTo>
                      <a:cubicBezTo>
                        <a:pt x="15037" y="18567"/>
                        <a:pt x="14654" y="18877"/>
                        <a:pt x="14197" y="18877"/>
                      </a:cubicBezTo>
                      <a:lnTo>
                        <a:pt x="10839" y="18877"/>
                      </a:lnTo>
                      <a:cubicBezTo>
                        <a:pt x="10381" y="18877"/>
                        <a:pt x="9998" y="18567"/>
                        <a:pt x="9998" y="18135"/>
                      </a:cubicBezTo>
                      <a:cubicBezTo>
                        <a:pt x="9998" y="17763"/>
                        <a:pt x="10381" y="17453"/>
                        <a:pt x="10839" y="17453"/>
                      </a:cubicBezTo>
                      <a:close/>
                      <a:moveTo>
                        <a:pt x="2520" y="0"/>
                      </a:moveTo>
                      <a:cubicBezTo>
                        <a:pt x="1221" y="0"/>
                        <a:pt x="0" y="927"/>
                        <a:pt x="0" y="1980"/>
                      </a:cubicBezTo>
                      <a:lnTo>
                        <a:pt x="0" y="19557"/>
                      </a:lnTo>
                      <a:cubicBezTo>
                        <a:pt x="78" y="20673"/>
                        <a:pt x="1221" y="21600"/>
                        <a:pt x="2520" y="21600"/>
                      </a:cubicBezTo>
                      <a:lnTo>
                        <a:pt x="19158" y="21600"/>
                      </a:lnTo>
                      <a:cubicBezTo>
                        <a:pt x="20457" y="21600"/>
                        <a:pt x="21600" y="20673"/>
                        <a:pt x="21600" y="19557"/>
                      </a:cubicBezTo>
                      <a:lnTo>
                        <a:pt x="21600" y="1980"/>
                      </a:lnTo>
                      <a:cubicBezTo>
                        <a:pt x="21600" y="927"/>
                        <a:pt x="20457" y="0"/>
                        <a:pt x="19158" y="0"/>
                      </a:cubicBezTo>
                      <a:lnTo>
                        <a:pt x="17402" y="0"/>
                      </a:lnTo>
                      <a:lnTo>
                        <a:pt x="17402" y="680"/>
                      </a:lnTo>
                      <a:cubicBezTo>
                        <a:pt x="17402" y="1796"/>
                        <a:pt x="16258" y="2723"/>
                        <a:pt x="14960" y="2723"/>
                      </a:cubicBezTo>
                      <a:lnTo>
                        <a:pt x="6640" y="2723"/>
                      </a:lnTo>
                      <a:cubicBezTo>
                        <a:pt x="5344" y="2723"/>
                        <a:pt x="4198" y="1796"/>
                        <a:pt x="4198" y="680"/>
                      </a:cubicBezTo>
                      <a:lnTo>
                        <a:pt x="4198" y="0"/>
                      </a:lnTo>
                      <a:close/>
                    </a:path>
                  </a:pathLst>
                </a:custGeom>
                <a:solidFill>
                  <a:srgbClr val="002060"/>
                </a:solidFill>
                <a:ln w="12700" cap="flat">
                  <a:noFill/>
                  <a:miter lim="400000"/>
                </a:ln>
                <a:effectLst/>
              </p:spPr>
              <p:txBody>
                <a:bodyPr wrap="square" lIns="45719" tIns="45719" rIns="45719" bIns="45719" numCol="1" anchor="ctr">
                  <a:noAutofit/>
                </a:bodyPr>
                <a:lstStyle/>
                <a:p>
                  <a:pPr>
                    <a:defRPr sz="1000"/>
                  </a:pPr>
                </a:p>
              </p:txBody>
            </p:sp>
            <p:sp>
              <p:nvSpPr>
                <p:cNvPr id="306" name="Google Shape;8874;p86"/>
                <p:cNvSpPr/>
                <p:nvPr/>
              </p:nvSpPr>
              <p:spPr>
                <a:xfrm>
                  <a:off x="219344" y="91937"/>
                  <a:ext cx="46596" cy="94624"/>
                </a:xfrm>
                <a:prstGeom prst="rect">
                  <a:avLst/>
                </a:prstGeom>
                <a:solidFill>
                  <a:srgbClr val="002060"/>
                </a:solidFill>
                <a:ln w="12700" cap="flat">
                  <a:noFill/>
                  <a:miter lim="400000"/>
                </a:ln>
                <a:effectLst/>
              </p:spPr>
              <p:txBody>
                <a:bodyPr wrap="square" lIns="45719" tIns="45719" rIns="45719" bIns="45719" numCol="1" anchor="ctr">
                  <a:noAutofit/>
                </a:bodyPr>
                <a:lstStyle/>
                <a:p>
                  <a:pPr>
                    <a:defRPr sz="1000"/>
                  </a:pPr>
                </a:p>
              </p:txBody>
            </p:sp>
            <p:sp>
              <p:nvSpPr>
                <p:cNvPr id="307" name="Google Shape;8875;p86"/>
                <p:cNvSpPr/>
                <p:nvPr/>
              </p:nvSpPr>
              <p:spPr>
                <a:xfrm>
                  <a:off x="219344" y="30304"/>
                  <a:ext cx="46596" cy="465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31" y="0"/>
                      </a:moveTo>
                      <a:cubicBezTo>
                        <a:pt x="4978" y="0"/>
                        <a:pt x="0" y="4981"/>
                        <a:pt x="0" y="10964"/>
                      </a:cubicBezTo>
                      <a:lnTo>
                        <a:pt x="0" y="21600"/>
                      </a:lnTo>
                      <a:lnTo>
                        <a:pt x="21600" y="21600"/>
                      </a:lnTo>
                      <a:lnTo>
                        <a:pt x="21600" y="10964"/>
                      </a:lnTo>
                      <a:cubicBezTo>
                        <a:pt x="21600" y="4981"/>
                        <a:pt x="16611" y="0"/>
                        <a:pt x="10631" y="0"/>
                      </a:cubicBezTo>
                      <a:close/>
                    </a:path>
                  </a:pathLst>
                </a:custGeom>
                <a:solidFill>
                  <a:srgbClr val="002060"/>
                </a:solidFill>
                <a:ln w="12700" cap="flat">
                  <a:noFill/>
                  <a:miter lim="400000"/>
                </a:ln>
                <a:effectLst/>
              </p:spPr>
              <p:txBody>
                <a:bodyPr wrap="square" lIns="45719" tIns="45719" rIns="45719" bIns="45719" numCol="1" anchor="ctr">
                  <a:noAutofit/>
                </a:bodyPr>
                <a:lstStyle/>
                <a:p>
                  <a:pPr>
                    <a:defRPr sz="1000"/>
                  </a:pPr>
                </a:p>
              </p:txBody>
            </p:sp>
            <p:sp>
              <p:nvSpPr>
                <p:cNvPr id="308" name="Google Shape;8876;p86"/>
                <p:cNvSpPr/>
                <p:nvPr/>
              </p:nvSpPr>
              <p:spPr>
                <a:xfrm>
                  <a:off x="220778" y="202326"/>
                  <a:ext cx="42295" cy="465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6948" y="18941"/>
                      </a:lnTo>
                      <a:cubicBezTo>
                        <a:pt x="8052" y="20935"/>
                        <a:pt x="9144" y="21600"/>
                        <a:pt x="10980" y="21600"/>
                      </a:cubicBezTo>
                      <a:cubicBezTo>
                        <a:pt x="12804" y="21600"/>
                        <a:pt x="14268" y="20935"/>
                        <a:pt x="14640" y="18941"/>
                      </a:cubicBezTo>
                      <a:lnTo>
                        <a:pt x="21600" y="0"/>
                      </a:lnTo>
                      <a:close/>
                    </a:path>
                  </a:pathLst>
                </a:custGeom>
                <a:solidFill>
                  <a:srgbClr val="002060"/>
                </a:solidFill>
                <a:ln w="12700" cap="flat">
                  <a:noFill/>
                  <a:miter lim="400000"/>
                </a:ln>
                <a:effectLst/>
              </p:spPr>
              <p:txBody>
                <a:bodyPr wrap="square" lIns="45719" tIns="45719" rIns="45719" bIns="45719" numCol="1" anchor="ctr">
                  <a:noAutofit/>
                </a:bodyPr>
                <a:lstStyle/>
                <a:p>
                  <a:pPr>
                    <a:defRPr sz="1000"/>
                  </a:pPr>
                </a:p>
              </p:txBody>
            </p:sp>
          </p:grpSp>
        </p:grpSp>
        <p:grpSp>
          <p:nvGrpSpPr>
            <p:cNvPr id="315" name="Group 48"/>
            <p:cNvGrpSpPr/>
            <p:nvPr/>
          </p:nvGrpSpPr>
          <p:grpSpPr>
            <a:xfrm>
              <a:off x="1720143" y="134293"/>
              <a:ext cx="475591" cy="462763"/>
              <a:chOff x="0" y="0"/>
              <a:chExt cx="475590" cy="462762"/>
            </a:xfrm>
          </p:grpSpPr>
          <p:sp>
            <p:nvSpPr>
              <p:cNvPr id="311" name="Oval 9"/>
              <p:cNvSpPr/>
              <p:nvPr/>
            </p:nvSpPr>
            <p:spPr>
              <a:xfrm>
                <a:off x="-1" y="-1"/>
                <a:ext cx="475592" cy="462764"/>
              </a:xfrm>
              <a:prstGeom prst="ellipse">
                <a:avLst/>
              </a:prstGeom>
              <a:solidFill>
                <a:srgbClr val="FFFFFF"/>
              </a:solidFill>
              <a:ln w="38100" cap="flat">
                <a:solidFill>
                  <a:srgbClr val="002060"/>
                </a:solidFill>
                <a:prstDash val="solid"/>
                <a:round/>
              </a:ln>
              <a:effectLst/>
            </p:spPr>
            <p:txBody>
              <a:bodyPr wrap="square" lIns="45719" tIns="45719" rIns="45719" bIns="45719" numCol="1" anchor="ctr">
                <a:noAutofit/>
              </a:bodyPr>
              <a:lstStyle/>
              <a:p>
                <a:pPr algn="ctr">
                  <a:defRPr sz="1000">
                    <a:solidFill>
                      <a:srgbClr val="FFFFFF"/>
                    </a:solidFill>
                  </a:defRPr>
                </a:pPr>
              </a:p>
            </p:txBody>
          </p:sp>
          <p:grpSp>
            <p:nvGrpSpPr>
              <p:cNvPr id="314" name="Google Shape;8345;p85"/>
              <p:cNvGrpSpPr/>
              <p:nvPr/>
            </p:nvGrpSpPr>
            <p:grpSpPr>
              <a:xfrm>
                <a:off x="109823" y="90554"/>
                <a:ext cx="274753" cy="275426"/>
                <a:chOff x="21" y="21"/>
                <a:chExt cx="274751" cy="275424"/>
              </a:xfrm>
            </p:grpSpPr>
            <p:sp>
              <p:nvSpPr>
                <p:cNvPr id="312" name="Google Shape;8346;p85"/>
                <p:cNvSpPr/>
                <p:nvPr/>
              </p:nvSpPr>
              <p:spPr>
                <a:xfrm>
                  <a:off x="21" y="21"/>
                  <a:ext cx="274752" cy="2754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45" y="0"/>
                      </a:moveTo>
                      <a:cubicBezTo>
                        <a:pt x="268" y="0"/>
                        <a:pt x="0" y="322"/>
                        <a:pt x="0" y="696"/>
                      </a:cubicBezTo>
                      <a:lnTo>
                        <a:pt x="0" y="20850"/>
                      </a:lnTo>
                      <a:cubicBezTo>
                        <a:pt x="0" y="21278"/>
                        <a:pt x="322" y="21600"/>
                        <a:pt x="645" y="21600"/>
                      </a:cubicBezTo>
                      <a:lnTo>
                        <a:pt x="20901" y="21600"/>
                      </a:lnTo>
                      <a:cubicBezTo>
                        <a:pt x="21278" y="21600"/>
                        <a:pt x="21600" y="21278"/>
                        <a:pt x="21600" y="20850"/>
                      </a:cubicBezTo>
                      <a:cubicBezTo>
                        <a:pt x="21545" y="20528"/>
                        <a:pt x="21278" y="20207"/>
                        <a:pt x="20901" y="20207"/>
                      </a:cubicBezTo>
                      <a:lnTo>
                        <a:pt x="1397" y="20207"/>
                      </a:lnTo>
                      <a:lnTo>
                        <a:pt x="1397" y="696"/>
                      </a:lnTo>
                      <a:cubicBezTo>
                        <a:pt x="1397" y="267"/>
                        <a:pt x="1074" y="0"/>
                        <a:pt x="645" y="0"/>
                      </a:cubicBezTo>
                      <a:close/>
                    </a:path>
                  </a:pathLst>
                </a:custGeom>
                <a:solidFill>
                  <a:srgbClr val="002060"/>
                </a:solidFill>
                <a:ln w="9525" cap="flat">
                  <a:solidFill>
                    <a:srgbClr val="002060"/>
                  </a:solidFill>
                  <a:prstDash val="solid"/>
                  <a:round/>
                </a:ln>
                <a:effectLst/>
              </p:spPr>
              <p:txBody>
                <a:bodyPr wrap="square" lIns="45719" tIns="45719" rIns="45719" bIns="45719" numCol="1" anchor="ctr">
                  <a:noAutofit/>
                </a:bodyPr>
                <a:lstStyle/>
                <a:p>
                  <a:pPr>
                    <a:defRPr sz="1000">
                      <a:latin typeface="Open Sans"/>
                      <a:ea typeface="Open Sans"/>
                      <a:cs typeface="Open Sans"/>
                      <a:sym typeface="Open Sans"/>
                    </a:defRPr>
                  </a:pPr>
                </a:p>
              </p:txBody>
            </p:sp>
            <p:sp>
              <p:nvSpPr>
                <p:cNvPr id="313" name="Google Shape;8347;p85"/>
                <p:cNvSpPr/>
                <p:nvPr/>
              </p:nvSpPr>
              <p:spPr>
                <a:xfrm>
                  <a:off x="38289" y="77924"/>
                  <a:ext cx="236485" cy="12985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103" y="0"/>
                      </a:moveTo>
                      <a:cubicBezTo>
                        <a:pt x="17792" y="0"/>
                        <a:pt x="16732" y="1934"/>
                        <a:pt x="16732" y="4435"/>
                      </a:cubicBezTo>
                      <a:cubicBezTo>
                        <a:pt x="16732" y="5117"/>
                        <a:pt x="16793" y="5683"/>
                        <a:pt x="16918" y="6253"/>
                      </a:cubicBezTo>
                      <a:lnTo>
                        <a:pt x="13672" y="12279"/>
                      </a:lnTo>
                      <a:cubicBezTo>
                        <a:pt x="13359" y="11937"/>
                        <a:pt x="12985" y="11825"/>
                        <a:pt x="12673" y="11825"/>
                      </a:cubicBezTo>
                      <a:cubicBezTo>
                        <a:pt x="12360" y="11825"/>
                        <a:pt x="11924" y="11937"/>
                        <a:pt x="11611" y="12279"/>
                      </a:cubicBezTo>
                      <a:lnTo>
                        <a:pt x="9989" y="9209"/>
                      </a:lnTo>
                      <a:cubicBezTo>
                        <a:pt x="10177" y="8642"/>
                        <a:pt x="10238" y="7960"/>
                        <a:pt x="10238" y="7390"/>
                      </a:cubicBezTo>
                      <a:cubicBezTo>
                        <a:pt x="10238" y="5001"/>
                        <a:pt x="9115" y="2955"/>
                        <a:pt x="7803" y="2955"/>
                      </a:cubicBezTo>
                      <a:cubicBezTo>
                        <a:pt x="6493" y="2955"/>
                        <a:pt x="5370" y="5001"/>
                        <a:pt x="5370" y="7390"/>
                      </a:cubicBezTo>
                      <a:cubicBezTo>
                        <a:pt x="5370" y="8072"/>
                        <a:pt x="5495" y="8642"/>
                        <a:pt x="5619" y="9209"/>
                      </a:cubicBezTo>
                      <a:lnTo>
                        <a:pt x="3434" y="13189"/>
                      </a:lnTo>
                      <a:cubicBezTo>
                        <a:pt x="3121" y="12961"/>
                        <a:pt x="2746" y="12846"/>
                        <a:pt x="2435" y="12846"/>
                      </a:cubicBezTo>
                      <a:cubicBezTo>
                        <a:pt x="1123" y="12846"/>
                        <a:pt x="0" y="14780"/>
                        <a:pt x="0" y="17165"/>
                      </a:cubicBezTo>
                      <a:cubicBezTo>
                        <a:pt x="0" y="19669"/>
                        <a:pt x="1123" y="21600"/>
                        <a:pt x="2435" y="21600"/>
                      </a:cubicBezTo>
                      <a:cubicBezTo>
                        <a:pt x="3747" y="21600"/>
                        <a:pt x="4870" y="19669"/>
                        <a:pt x="4870" y="17165"/>
                      </a:cubicBezTo>
                      <a:cubicBezTo>
                        <a:pt x="4870" y="16483"/>
                        <a:pt x="4746" y="15917"/>
                        <a:pt x="4621" y="15347"/>
                      </a:cubicBezTo>
                      <a:lnTo>
                        <a:pt x="6804" y="11370"/>
                      </a:lnTo>
                      <a:cubicBezTo>
                        <a:pt x="7117" y="11597"/>
                        <a:pt x="7492" y="11825"/>
                        <a:pt x="7803" y="11825"/>
                      </a:cubicBezTo>
                      <a:cubicBezTo>
                        <a:pt x="8116" y="11825"/>
                        <a:pt x="8491" y="11597"/>
                        <a:pt x="8802" y="11370"/>
                      </a:cubicBezTo>
                      <a:lnTo>
                        <a:pt x="10488" y="14325"/>
                      </a:lnTo>
                      <a:cubicBezTo>
                        <a:pt x="10302" y="14892"/>
                        <a:pt x="10238" y="15689"/>
                        <a:pt x="10238" y="16256"/>
                      </a:cubicBezTo>
                      <a:cubicBezTo>
                        <a:pt x="10238" y="18645"/>
                        <a:pt x="11300" y="20579"/>
                        <a:pt x="12673" y="20579"/>
                      </a:cubicBezTo>
                      <a:cubicBezTo>
                        <a:pt x="13983" y="20579"/>
                        <a:pt x="15045" y="18645"/>
                        <a:pt x="15045" y="16256"/>
                      </a:cubicBezTo>
                      <a:cubicBezTo>
                        <a:pt x="15045" y="15462"/>
                        <a:pt x="14982" y="14892"/>
                        <a:pt x="14857" y="14325"/>
                      </a:cubicBezTo>
                      <a:lnTo>
                        <a:pt x="18105" y="8415"/>
                      </a:lnTo>
                      <a:cubicBezTo>
                        <a:pt x="18416" y="8642"/>
                        <a:pt x="18790" y="8869"/>
                        <a:pt x="19103" y="8869"/>
                      </a:cubicBezTo>
                      <a:cubicBezTo>
                        <a:pt x="20477" y="8869"/>
                        <a:pt x="21600" y="6820"/>
                        <a:pt x="21600" y="4435"/>
                      </a:cubicBezTo>
                      <a:cubicBezTo>
                        <a:pt x="21600" y="1934"/>
                        <a:pt x="20477" y="0"/>
                        <a:pt x="19103" y="0"/>
                      </a:cubicBezTo>
                      <a:close/>
                    </a:path>
                  </a:pathLst>
                </a:custGeom>
                <a:solidFill>
                  <a:srgbClr val="002060"/>
                </a:solidFill>
                <a:ln w="9525" cap="flat">
                  <a:solidFill>
                    <a:srgbClr val="002060"/>
                  </a:solidFill>
                  <a:prstDash val="solid"/>
                  <a:round/>
                </a:ln>
                <a:effectLst/>
              </p:spPr>
              <p:txBody>
                <a:bodyPr wrap="square" lIns="45719" tIns="45719" rIns="45719" bIns="45719" numCol="1" anchor="ctr">
                  <a:noAutofit/>
                </a:bodyPr>
                <a:lstStyle/>
                <a:p>
                  <a:pPr>
                    <a:defRPr sz="1000">
                      <a:latin typeface="Open Sans"/>
                      <a:ea typeface="Open Sans"/>
                      <a:cs typeface="Open Sans"/>
                      <a:sym typeface="Open Sans"/>
                    </a:defRPr>
                  </a:pPr>
                </a:p>
              </p:txBody>
            </p:sp>
          </p:grpSp>
        </p:grpSp>
        <p:grpSp>
          <p:nvGrpSpPr>
            <p:cNvPr id="320" name="Group 52"/>
            <p:cNvGrpSpPr/>
            <p:nvPr/>
          </p:nvGrpSpPr>
          <p:grpSpPr>
            <a:xfrm>
              <a:off x="930285" y="1012182"/>
              <a:ext cx="475591" cy="462763"/>
              <a:chOff x="0" y="0"/>
              <a:chExt cx="475590" cy="462762"/>
            </a:xfrm>
          </p:grpSpPr>
          <p:sp>
            <p:nvSpPr>
              <p:cNvPr id="316" name="Oval 47"/>
              <p:cNvSpPr/>
              <p:nvPr/>
            </p:nvSpPr>
            <p:spPr>
              <a:xfrm>
                <a:off x="-1" y="-1"/>
                <a:ext cx="475592" cy="462764"/>
              </a:xfrm>
              <a:prstGeom prst="ellipse">
                <a:avLst/>
              </a:prstGeom>
              <a:solidFill>
                <a:srgbClr val="FFFFFF"/>
              </a:solidFill>
              <a:ln w="38100" cap="flat">
                <a:solidFill>
                  <a:srgbClr val="002060"/>
                </a:solidFill>
                <a:prstDash val="solid"/>
                <a:round/>
              </a:ln>
              <a:effectLst/>
            </p:spPr>
            <p:txBody>
              <a:bodyPr wrap="square" lIns="45719" tIns="45719" rIns="45719" bIns="45719" numCol="1" anchor="ctr">
                <a:noAutofit/>
              </a:bodyPr>
              <a:lstStyle/>
              <a:p>
                <a:pPr algn="ctr">
                  <a:defRPr sz="1000">
                    <a:solidFill>
                      <a:srgbClr val="FFFFFF"/>
                    </a:solidFill>
                  </a:defRPr>
                </a:pPr>
              </a:p>
            </p:txBody>
          </p:sp>
          <p:grpSp>
            <p:nvGrpSpPr>
              <p:cNvPr id="319" name="Google Shape;8929;p86"/>
              <p:cNvGrpSpPr/>
              <p:nvPr/>
            </p:nvGrpSpPr>
            <p:grpSpPr>
              <a:xfrm>
                <a:off x="104824" y="102589"/>
                <a:ext cx="265219" cy="265189"/>
                <a:chOff x="0" y="0"/>
                <a:chExt cx="265217" cy="265188"/>
              </a:xfrm>
            </p:grpSpPr>
            <p:sp>
              <p:nvSpPr>
                <p:cNvPr id="317" name="Google Shape;8930;p86"/>
                <p:cNvSpPr/>
                <p:nvPr/>
              </p:nvSpPr>
              <p:spPr>
                <a:xfrm>
                  <a:off x="47322" y="47299"/>
                  <a:ext cx="170600" cy="169885"/>
                </a:xfrm>
                <a:custGeom>
                  <a:avLst/>
                  <a:gdLst/>
                  <a:ahLst/>
                  <a:cxnLst>
                    <a:cxn ang="0">
                      <a:pos x="wd2" y="hd2"/>
                    </a:cxn>
                    <a:cxn ang="5400000">
                      <a:pos x="wd2" y="hd2"/>
                    </a:cxn>
                    <a:cxn ang="10800000">
                      <a:pos x="wd2" y="hd2"/>
                    </a:cxn>
                    <a:cxn ang="16200000">
                      <a:pos x="wd2" y="hd2"/>
                    </a:cxn>
                  </a:cxnLst>
                  <a:rect l="0" t="0" r="r" b="b"/>
                  <a:pathLst>
                    <a:path w="21512" h="21600" fill="norm" stroke="1" extrusionOk="0">
                      <a:moveTo>
                        <a:pt x="10756" y="1915"/>
                      </a:moveTo>
                      <a:cubicBezTo>
                        <a:pt x="11298" y="1915"/>
                        <a:pt x="11748" y="2369"/>
                        <a:pt x="11748" y="2916"/>
                      </a:cubicBezTo>
                      <a:lnTo>
                        <a:pt x="11748" y="10480"/>
                      </a:lnTo>
                      <a:lnTo>
                        <a:pt x="15366" y="14125"/>
                      </a:lnTo>
                      <a:cubicBezTo>
                        <a:pt x="15816" y="14582"/>
                        <a:pt x="15816" y="15129"/>
                        <a:pt x="15366" y="15493"/>
                      </a:cubicBezTo>
                      <a:cubicBezTo>
                        <a:pt x="15185" y="15676"/>
                        <a:pt x="14936" y="15765"/>
                        <a:pt x="14686" y="15765"/>
                      </a:cubicBezTo>
                      <a:cubicBezTo>
                        <a:pt x="14439" y="15765"/>
                        <a:pt x="14190" y="15676"/>
                        <a:pt x="14009" y="15493"/>
                      </a:cubicBezTo>
                      <a:lnTo>
                        <a:pt x="10033" y="11484"/>
                      </a:lnTo>
                      <a:cubicBezTo>
                        <a:pt x="9852" y="11302"/>
                        <a:pt x="9760" y="11027"/>
                        <a:pt x="9760" y="10755"/>
                      </a:cubicBezTo>
                      <a:lnTo>
                        <a:pt x="9760" y="2916"/>
                      </a:lnTo>
                      <a:cubicBezTo>
                        <a:pt x="9760" y="2369"/>
                        <a:pt x="10213" y="1915"/>
                        <a:pt x="10756" y="1915"/>
                      </a:cubicBezTo>
                      <a:close/>
                      <a:moveTo>
                        <a:pt x="10756" y="0"/>
                      </a:moveTo>
                      <a:cubicBezTo>
                        <a:pt x="4791" y="0"/>
                        <a:pt x="0" y="4921"/>
                        <a:pt x="0" y="10845"/>
                      </a:cubicBezTo>
                      <a:cubicBezTo>
                        <a:pt x="0" y="16859"/>
                        <a:pt x="4880" y="21600"/>
                        <a:pt x="10756" y="21600"/>
                      </a:cubicBezTo>
                      <a:cubicBezTo>
                        <a:pt x="16631" y="21600"/>
                        <a:pt x="21511" y="16769"/>
                        <a:pt x="21511" y="10845"/>
                      </a:cubicBezTo>
                      <a:cubicBezTo>
                        <a:pt x="21600" y="4921"/>
                        <a:pt x="16720" y="0"/>
                        <a:pt x="10756" y="0"/>
                      </a:cubicBezTo>
                      <a:close/>
                    </a:path>
                  </a:pathLst>
                </a:custGeom>
                <a:solidFill>
                  <a:srgbClr val="002060"/>
                </a:solidFill>
                <a:ln w="12700" cap="flat">
                  <a:noFill/>
                  <a:miter lim="400000"/>
                </a:ln>
                <a:effectLst/>
              </p:spPr>
              <p:txBody>
                <a:bodyPr wrap="square" lIns="45719" tIns="45719" rIns="45719" bIns="45719" numCol="1" anchor="ctr">
                  <a:noAutofit/>
                </a:bodyPr>
                <a:lstStyle/>
                <a:p>
                  <a:pPr>
                    <a:defRPr sz="1000"/>
                  </a:pPr>
                </a:p>
              </p:txBody>
            </p:sp>
            <p:sp>
              <p:nvSpPr>
                <p:cNvPr id="318" name="Google Shape;8931;p86"/>
                <p:cNvSpPr/>
                <p:nvPr/>
              </p:nvSpPr>
              <p:spPr>
                <a:xfrm>
                  <a:off x="0" y="0"/>
                  <a:ext cx="265218" cy="265189"/>
                </a:xfrm>
                <a:custGeom>
                  <a:avLst/>
                  <a:gdLst/>
                  <a:ahLst/>
                  <a:cxnLst>
                    <a:cxn ang="0">
                      <a:pos x="wd2" y="hd2"/>
                    </a:cxn>
                    <a:cxn ang="5400000">
                      <a:pos x="wd2" y="hd2"/>
                    </a:cxn>
                    <a:cxn ang="10800000">
                      <a:pos x="wd2" y="hd2"/>
                    </a:cxn>
                    <a:cxn ang="16200000">
                      <a:pos x="wd2" y="hd2"/>
                    </a:cxn>
                  </a:cxnLst>
                  <a:rect l="0" t="0" r="r" b="b"/>
                  <a:pathLst>
                    <a:path w="21541" h="21600" fill="norm" stroke="1" extrusionOk="0">
                      <a:moveTo>
                        <a:pt x="10771" y="2509"/>
                      </a:moveTo>
                      <a:cubicBezTo>
                        <a:pt x="15312" y="2509"/>
                        <a:pt x="18980" y="6247"/>
                        <a:pt x="18980" y="10800"/>
                      </a:cubicBezTo>
                      <a:cubicBezTo>
                        <a:pt x="18980" y="15353"/>
                        <a:pt x="15371" y="19032"/>
                        <a:pt x="10771" y="19032"/>
                      </a:cubicBezTo>
                      <a:cubicBezTo>
                        <a:pt x="6288" y="19032"/>
                        <a:pt x="2563" y="15296"/>
                        <a:pt x="2563" y="10800"/>
                      </a:cubicBezTo>
                      <a:cubicBezTo>
                        <a:pt x="2563" y="6247"/>
                        <a:pt x="6229" y="2509"/>
                        <a:pt x="10771" y="2509"/>
                      </a:cubicBezTo>
                      <a:close/>
                      <a:moveTo>
                        <a:pt x="10771" y="0"/>
                      </a:moveTo>
                      <a:cubicBezTo>
                        <a:pt x="4891" y="0"/>
                        <a:pt x="0" y="4846"/>
                        <a:pt x="0" y="10800"/>
                      </a:cubicBezTo>
                      <a:cubicBezTo>
                        <a:pt x="0" y="16697"/>
                        <a:pt x="4891" y="21600"/>
                        <a:pt x="10771" y="21600"/>
                      </a:cubicBezTo>
                      <a:cubicBezTo>
                        <a:pt x="16651" y="21600"/>
                        <a:pt x="21541" y="16697"/>
                        <a:pt x="21541" y="10800"/>
                      </a:cubicBezTo>
                      <a:cubicBezTo>
                        <a:pt x="21600" y="4846"/>
                        <a:pt x="16709" y="0"/>
                        <a:pt x="10771" y="0"/>
                      </a:cubicBezTo>
                      <a:close/>
                    </a:path>
                  </a:pathLst>
                </a:custGeom>
                <a:solidFill>
                  <a:srgbClr val="002060"/>
                </a:solidFill>
                <a:ln w="12700" cap="flat">
                  <a:noFill/>
                  <a:miter lim="400000"/>
                </a:ln>
                <a:effectLst/>
              </p:spPr>
              <p:txBody>
                <a:bodyPr wrap="square" lIns="45719" tIns="45719" rIns="45719" bIns="45719" numCol="1" anchor="ctr">
                  <a:noAutofit/>
                </a:bodyPr>
                <a:lstStyle/>
                <a:p>
                  <a:pPr>
                    <a:defRPr sz="1000"/>
                  </a:pPr>
                </a:p>
              </p:txBody>
            </p:sp>
          </p:grpSp>
        </p:grpSp>
        <p:sp>
          <p:nvSpPr>
            <p:cNvPr id="321" name="Oval 55"/>
            <p:cNvSpPr/>
            <p:nvPr/>
          </p:nvSpPr>
          <p:spPr>
            <a:xfrm>
              <a:off x="1955238" y="935732"/>
              <a:ext cx="1593001" cy="1595273"/>
            </a:xfrm>
            <a:prstGeom prst="ellipse">
              <a:avLst/>
            </a:prstGeom>
            <a:solidFill>
              <a:srgbClr val="FFFFFF"/>
            </a:solidFill>
            <a:ln w="28575" cap="flat">
              <a:solidFill>
                <a:srgbClr val="002060"/>
              </a:solidFill>
              <a:prstDash val="solid"/>
              <a:round/>
            </a:ln>
            <a:effectLst/>
          </p:spPr>
          <p:txBody>
            <a:bodyPr wrap="square" lIns="45719" tIns="45719" rIns="45719" bIns="45719" numCol="1" anchor="ctr">
              <a:noAutofit/>
            </a:bodyPr>
            <a:lstStyle/>
            <a:p>
              <a:pPr algn="ctr">
                <a:defRPr sz="1000">
                  <a:solidFill>
                    <a:srgbClr val="FFFFFF"/>
                  </a:solidFill>
                </a:defRPr>
              </a:pPr>
            </a:p>
          </p:txBody>
        </p:sp>
        <p:grpSp>
          <p:nvGrpSpPr>
            <p:cNvPr id="330" name="Google Shape;8551;p85"/>
            <p:cNvGrpSpPr/>
            <p:nvPr/>
          </p:nvGrpSpPr>
          <p:grpSpPr>
            <a:xfrm>
              <a:off x="1488025" y="1525758"/>
              <a:ext cx="430678" cy="442197"/>
              <a:chOff x="36" y="37"/>
              <a:chExt cx="430676" cy="442196"/>
            </a:xfrm>
          </p:grpSpPr>
          <p:sp>
            <p:nvSpPr>
              <p:cNvPr id="322" name="Google Shape;8552;p85"/>
              <p:cNvSpPr/>
              <p:nvPr/>
            </p:nvSpPr>
            <p:spPr>
              <a:xfrm>
                <a:off x="163842" y="168217"/>
                <a:ext cx="100793" cy="1023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09" y="0"/>
                      <a:pt x="0" y="4965"/>
                      <a:pt x="0" y="10670"/>
                    </a:cubicBezTo>
                    <a:cubicBezTo>
                      <a:pt x="0" y="16635"/>
                      <a:pt x="4909" y="21600"/>
                      <a:pt x="10800" y="21600"/>
                    </a:cubicBezTo>
                    <a:cubicBezTo>
                      <a:pt x="16691" y="21600"/>
                      <a:pt x="21600" y="16635"/>
                      <a:pt x="21600" y="10670"/>
                    </a:cubicBezTo>
                    <a:cubicBezTo>
                      <a:pt x="21600" y="4965"/>
                      <a:pt x="16691" y="0"/>
                      <a:pt x="10800" y="0"/>
                    </a:cubicBezTo>
                    <a:close/>
                  </a:path>
                </a:pathLst>
              </a:custGeom>
              <a:solidFill>
                <a:srgbClr val="009AF2"/>
              </a:solidFill>
              <a:ln w="9525" cap="flat">
                <a:solidFill>
                  <a:srgbClr val="009AF2"/>
                </a:solidFill>
                <a:prstDash val="solid"/>
                <a:round/>
              </a:ln>
              <a:effectLst/>
            </p:spPr>
            <p:txBody>
              <a:bodyPr wrap="square" lIns="45719" tIns="45719" rIns="45719" bIns="45719" numCol="1" anchor="ctr">
                <a:noAutofit/>
              </a:bodyPr>
              <a:lstStyle/>
              <a:p>
                <a:pPr>
                  <a:defRPr sz="1000"/>
                </a:pPr>
              </a:p>
            </p:txBody>
          </p:sp>
          <p:sp>
            <p:nvSpPr>
              <p:cNvPr id="323" name="Google Shape;8553;p85"/>
              <p:cNvSpPr/>
              <p:nvPr/>
            </p:nvSpPr>
            <p:spPr>
              <a:xfrm>
                <a:off x="49268" y="37"/>
                <a:ext cx="126028" cy="12935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11" y="0"/>
                      <a:pt x="0" y="4906"/>
                      <a:pt x="0" y="10797"/>
                    </a:cubicBezTo>
                    <a:cubicBezTo>
                      <a:pt x="0" y="16688"/>
                      <a:pt x="4911" y="21600"/>
                      <a:pt x="10800" y="21600"/>
                    </a:cubicBezTo>
                    <a:cubicBezTo>
                      <a:pt x="17082" y="21600"/>
                      <a:pt x="21600" y="16688"/>
                      <a:pt x="21600" y="10797"/>
                    </a:cubicBezTo>
                    <a:cubicBezTo>
                      <a:pt x="21600" y="4906"/>
                      <a:pt x="16689" y="0"/>
                      <a:pt x="10800" y="0"/>
                    </a:cubicBezTo>
                    <a:close/>
                  </a:path>
                </a:pathLst>
              </a:custGeom>
              <a:solidFill>
                <a:srgbClr val="009AF2"/>
              </a:solidFill>
              <a:ln w="9525" cap="flat">
                <a:solidFill>
                  <a:srgbClr val="009AF2"/>
                </a:solidFill>
                <a:prstDash val="solid"/>
                <a:round/>
              </a:ln>
              <a:effectLst/>
            </p:spPr>
            <p:txBody>
              <a:bodyPr wrap="square" lIns="45719" tIns="45719" rIns="45719" bIns="45719" numCol="1" anchor="ctr">
                <a:noAutofit/>
              </a:bodyPr>
              <a:lstStyle/>
              <a:p>
                <a:pPr>
                  <a:defRPr sz="1000"/>
                </a:pPr>
              </a:p>
            </p:txBody>
          </p:sp>
          <p:sp>
            <p:nvSpPr>
              <p:cNvPr id="324" name="Google Shape;8554;p85"/>
              <p:cNvSpPr/>
              <p:nvPr/>
            </p:nvSpPr>
            <p:spPr>
              <a:xfrm>
                <a:off x="252053" y="37"/>
                <a:ext cx="125991" cy="12935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06" y="0"/>
                      <a:pt x="0" y="4906"/>
                      <a:pt x="0" y="10797"/>
                    </a:cubicBezTo>
                    <a:cubicBezTo>
                      <a:pt x="0" y="16688"/>
                      <a:pt x="4906" y="21600"/>
                      <a:pt x="10797" y="21600"/>
                    </a:cubicBezTo>
                    <a:cubicBezTo>
                      <a:pt x="16694" y="21600"/>
                      <a:pt x="21600" y="16688"/>
                      <a:pt x="21600" y="10797"/>
                    </a:cubicBezTo>
                    <a:cubicBezTo>
                      <a:pt x="21600" y="4906"/>
                      <a:pt x="16694" y="0"/>
                      <a:pt x="10797" y="0"/>
                    </a:cubicBezTo>
                    <a:close/>
                  </a:path>
                </a:pathLst>
              </a:custGeom>
              <a:solidFill>
                <a:srgbClr val="009AF2"/>
              </a:solidFill>
              <a:ln w="9525" cap="flat">
                <a:solidFill>
                  <a:srgbClr val="009AF2"/>
                </a:solidFill>
                <a:prstDash val="solid"/>
                <a:round/>
              </a:ln>
              <a:effectLst/>
            </p:spPr>
            <p:txBody>
              <a:bodyPr wrap="square" lIns="45719" tIns="45719" rIns="45719" bIns="45719" numCol="1" anchor="ctr">
                <a:noAutofit/>
              </a:bodyPr>
              <a:lstStyle/>
              <a:p>
                <a:pPr>
                  <a:defRPr sz="1000"/>
                </a:pPr>
              </a:p>
            </p:txBody>
          </p:sp>
          <p:sp>
            <p:nvSpPr>
              <p:cNvPr id="325" name="Google Shape;8555;p85"/>
              <p:cNvSpPr/>
              <p:nvPr/>
            </p:nvSpPr>
            <p:spPr>
              <a:xfrm>
                <a:off x="182167" y="290517"/>
                <a:ext cx="60724" cy="376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0994" y="21600"/>
                    </a:lnTo>
                    <a:lnTo>
                      <a:pt x="21600" y="0"/>
                    </a:lnTo>
                    <a:cubicBezTo>
                      <a:pt x="18742" y="2700"/>
                      <a:pt x="15081" y="3386"/>
                      <a:pt x="10994" y="3386"/>
                    </a:cubicBezTo>
                    <a:cubicBezTo>
                      <a:pt x="7334" y="3386"/>
                      <a:pt x="3660" y="2036"/>
                      <a:pt x="0" y="0"/>
                    </a:cubicBezTo>
                    <a:close/>
                  </a:path>
                </a:pathLst>
              </a:custGeom>
              <a:solidFill>
                <a:srgbClr val="009AF2"/>
              </a:solidFill>
              <a:ln w="9525" cap="flat">
                <a:solidFill>
                  <a:srgbClr val="009AF2"/>
                </a:solidFill>
                <a:prstDash val="solid"/>
                <a:round/>
              </a:ln>
              <a:effectLst/>
            </p:spPr>
            <p:txBody>
              <a:bodyPr wrap="square" lIns="45719" tIns="45719" rIns="45719" bIns="45719" numCol="1" anchor="ctr">
                <a:noAutofit/>
              </a:bodyPr>
              <a:lstStyle/>
              <a:p>
                <a:pPr>
                  <a:defRPr sz="1000"/>
                </a:pPr>
              </a:p>
            </p:txBody>
          </p:sp>
          <p:sp>
            <p:nvSpPr>
              <p:cNvPr id="326" name="Google Shape;8556;p85"/>
              <p:cNvSpPr/>
              <p:nvPr/>
            </p:nvSpPr>
            <p:spPr>
              <a:xfrm>
                <a:off x="100828" y="282303"/>
                <a:ext cx="101957" cy="15877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706" y="0"/>
                    </a:moveTo>
                    <a:cubicBezTo>
                      <a:pt x="3644" y="3037"/>
                      <a:pt x="0" y="7679"/>
                      <a:pt x="0" y="12641"/>
                    </a:cubicBezTo>
                    <a:lnTo>
                      <a:pt x="0" y="19838"/>
                    </a:lnTo>
                    <a:cubicBezTo>
                      <a:pt x="0" y="20798"/>
                      <a:pt x="1209" y="21600"/>
                      <a:pt x="2912" y="21600"/>
                    </a:cubicBezTo>
                    <a:lnTo>
                      <a:pt x="21600" y="21600"/>
                    </a:lnTo>
                    <a:lnTo>
                      <a:pt x="21600" y="9599"/>
                    </a:lnTo>
                    <a:lnTo>
                      <a:pt x="9706" y="0"/>
                    </a:lnTo>
                    <a:close/>
                  </a:path>
                </a:pathLst>
              </a:custGeom>
              <a:solidFill>
                <a:srgbClr val="009AF2"/>
              </a:solidFill>
              <a:ln w="9525" cap="flat">
                <a:solidFill>
                  <a:srgbClr val="009AF2"/>
                </a:solidFill>
                <a:prstDash val="solid"/>
                <a:round/>
              </a:ln>
              <a:effectLst/>
            </p:spPr>
            <p:txBody>
              <a:bodyPr wrap="square" lIns="45719" tIns="45719" rIns="45719" bIns="45719" numCol="1" anchor="ctr">
                <a:noAutofit/>
              </a:bodyPr>
              <a:lstStyle/>
              <a:p>
                <a:pPr>
                  <a:defRPr sz="1000"/>
                </a:pPr>
              </a:p>
            </p:txBody>
          </p:sp>
          <p:sp>
            <p:nvSpPr>
              <p:cNvPr id="327" name="Google Shape;8557;p85"/>
              <p:cNvSpPr/>
              <p:nvPr/>
            </p:nvSpPr>
            <p:spPr>
              <a:xfrm>
                <a:off x="226855" y="283461"/>
                <a:ext cx="101920" cy="1587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890" y="0"/>
                    </a:moveTo>
                    <a:lnTo>
                      <a:pt x="0" y="9599"/>
                    </a:lnTo>
                    <a:lnTo>
                      <a:pt x="0" y="21600"/>
                    </a:lnTo>
                    <a:lnTo>
                      <a:pt x="18934" y="21600"/>
                    </a:lnTo>
                    <a:cubicBezTo>
                      <a:pt x="20390" y="21600"/>
                      <a:pt x="21600" y="20803"/>
                      <a:pt x="21600" y="19843"/>
                    </a:cubicBezTo>
                    <a:lnTo>
                      <a:pt x="21600" y="12641"/>
                    </a:lnTo>
                    <a:cubicBezTo>
                      <a:pt x="21361" y="7522"/>
                      <a:pt x="17716" y="2880"/>
                      <a:pt x="11890" y="0"/>
                    </a:cubicBezTo>
                    <a:close/>
                  </a:path>
                </a:pathLst>
              </a:custGeom>
              <a:solidFill>
                <a:srgbClr val="009AF2"/>
              </a:solidFill>
              <a:ln w="9525" cap="flat">
                <a:solidFill>
                  <a:srgbClr val="009AF2"/>
                </a:solidFill>
                <a:prstDash val="solid"/>
                <a:round/>
              </a:ln>
              <a:effectLst/>
            </p:spPr>
            <p:txBody>
              <a:bodyPr wrap="square" lIns="45719" tIns="45719" rIns="45719" bIns="45719" numCol="1" anchor="ctr">
                <a:noAutofit/>
              </a:bodyPr>
              <a:lstStyle/>
              <a:p>
                <a:pPr>
                  <a:defRPr sz="1000"/>
                </a:pPr>
              </a:p>
            </p:txBody>
          </p:sp>
          <p:sp>
            <p:nvSpPr>
              <p:cNvPr id="328" name="Google Shape;8558;p85"/>
              <p:cNvSpPr/>
              <p:nvPr/>
            </p:nvSpPr>
            <p:spPr>
              <a:xfrm>
                <a:off x="230255" y="124688"/>
                <a:ext cx="200459" cy="1623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442" y="7511"/>
                    </a:moveTo>
                    <a:cubicBezTo>
                      <a:pt x="15308" y="7511"/>
                      <a:pt x="15923" y="8296"/>
                      <a:pt x="15923" y="9235"/>
                    </a:cubicBezTo>
                    <a:cubicBezTo>
                      <a:pt x="15923" y="10174"/>
                      <a:pt x="15308" y="10954"/>
                      <a:pt x="14442" y="10954"/>
                    </a:cubicBezTo>
                    <a:lnTo>
                      <a:pt x="11727" y="10954"/>
                    </a:lnTo>
                    <a:cubicBezTo>
                      <a:pt x="10986" y="10954"/>
                      <a:pt x="10367" y="10174"/>
                      <a:pt x="10367" y="9235"/>
                    </a:cubicBezTo>
                    <a:cubicBezTo>
                      <a:pt x="10367" y="8296"/>
                      <a:pt x="10986" y="7511"/>
                      <a:pt x="11727" y="7511"/>
                    </a:cubicBezTo>
                    <a:close/>
                    <a:moveTo>
                      <a:pt x="16170" y="0"/>
                    </a:moveTo>
                    <a:cubicBezTo>
                      <a:pt x="14442" y="2663"/>
                      <a:pt x="11973" y="4228"/>
                      <a:pt x="9133" y="4228"/>
                    </a:cubicBezTo>
                    <a:cubicBezTo>
                      <a:pt x="6296" y="4228"/>
                      <a:pt x="3828" y="2504"/>
                      <a:pt x="2100" y="313"/>
                    </a:cubicBezTo>
                    <a:cubicBezTo>
                      <a:pt x="1360" y="1098"/>
                      <a:pt x="619" y="1878"/>
                      <a:pt x="0" y="2817"/>
                    </a:cubicBezTo>
                    <a:cubicBezTo>
                      <a:pt x="3703" y="3756"/>
                      <a:pt x="6418" y="7824"/>
                      <a:pt x="6418" y="12991"/>
                    </a:cubicBezTo>
                    <a:cubicBezTo>
                      <a:pt x="6418" y="14556"/>
                      <a:pt x="6171" y="15967"/>
                      <a:pt x="5677" y="17218"/>
                    </a:cubicBezTo>
                    <a:cubicBezTo>
                      <a:pt x="7284" y="18470"/>
                      <a:pt x="8639" y="19876"/>
                      <a:pt x="9873" y="21600"/>
                    </a:cubicBezTo>
                    <a:lnTo>
                      <a:pt x="20244" y="21600"/>
                    </a:lnTo>
                    <a:cubicBezTo>
                      <a:pt x="20985" y="21600"/>
                      <a:pt x="21600" y="20815"/>
                      <a:pt x="21600" y="19876"/>
                    </a:cubicBezTo>
                    <a:lnTo>
                      <a:pt x="21600" y="12991"/>
                    </a:lnTo>
                    <a:cubicBezTo>
                      <a:pt x="21479" y="7511"/>
                      <a:pt x="19257" y="2817"/>
                      <a:pt x="16170" y="0"/>
                    </a:cubicBezTo>
                    <a:close/>
                  </a:path>
                </a:pathLst>
              </a:custGeom>
              <a:solidFill>
                <a:srgbClr val="009AF2"/>
              </a:solidFill>
              <a:ln w="9525" cap="flat">
                <a:solidFill>
                  <a:srgbClr val="009AF2"/>
                </a:solidFill>
                <a:prstDash val="solid"/>
                <a:round/>
              </a:ln>
              <a:effectLst/>
            </p:spPr>
            <p:txBody>
              <a:bodyPr wrap="square" lIns="45719" tIns="45719" rIns="45719" bIns="45719" numCol="1" anchor="ctr">
                <a:noAutofit/>
              </a:bodyPr>
              <a:lstStyle/>
              <a:p>
                <a:pPr>
                  <a:defRPr sz="1000"/>
                </a:pPr>
              </a:p>
            </p:txBody>
          </p:sp>
          <p:sp>
            <p:nvSpPr>
              <p:cNvPr id="329" name="Google Shape;8559;p85"/>
              <p:cNvSpPr/>
              <p:nvPr/>
            </p:nvSpPr>
            <p:spPr>
              <a:xfrm>
                <a:off x="36" y="123531"/>
                <a:ext cx="198168" cy="16228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611" y="7667"/>
                    </a:moveTo>
                    <a:cubicBezTo>
                      <a:pt x="10360" y="7667"/>
                      <a:pt x="10986" y="8452"/>
                      <a:pt x="10986" y="9391"/>
                    </a:cubicBezTo>
                    <a:cubicBezTo>
                      <a:pt x="10986" y="10330"/>
                      <a:pt x="10360" y="11111"/>
                      <a:pt x="9611" y="11111"/>
                    </a:cubicBezTo>
                    <a:lnTo>
                      <a:pt x="6864" y="11111"/>
                    </a:lnTo>
                    <a:cubicBezTo>
                      <a:pt x="5993" y="11111"/>
                      <a:pt x="5366" y="10330"/>
                      <a:pt x="5366" y="9391"/>
                    </a:cubicBezTo>
                    <a:cubicBezTo>
                      <a:pt x="5366" y="8452"/>
                      <a:pt x="5993" y="7667"/>
                      <a:pt x="6864" y="7667"/>
                    </a:cubicBezTo>
                    <a:close/>
                    <a:moveTo>
                      <a:pt x="5243" y="0"/>
                    </a:moveTo>
                    <a:cubicBezTo>
                      <a:pt x="2120" y="2817"/>
                      <a:pt x="0" y="7513"/>
                      <a:pt x="0" y="12676"/>
                    </a:cubicBezTo>
                    <a:lnTo>
                      <a:pt x="0" y="19568"/>
                    </a:lnTo>
                    <a:cubicBezTo>
                      <a:pt x="0" y="20820"/>
                      <a:pt x="373" y="21600"/>
                      <a:pt x="1248" y="21600"/>
                    </a:cubicBezTo>
                    <a:lnTo>
                      <a:pt x="11609" y="21600"/>
                    </a:lnTo>
                    <a:cubicBezTo>
                      <a:pt x="12734" y="19722"/>
                      <a:pt x="14109" y="18157"/>
                      <a:pt x="15857" y="17217"/>
                    </a:cubicBezTo>
                    <a:cubicBezTo>
                      <a:pt x="15358" y="15811"/>
                      <a:pt x="15108" y="14554"/>
                      <a:pt x="15108" y="12989"/>
                    </a:cubicBezTo>
                    <a:cubicBezTo>
                      <a:pt x="15108" y="7980"/>
                      <a:pt x="17855" y="3757"/>
                      <a:pt x="21600" y="2817"/>
                    </a:cubicBezTo>
                    <a:cubicBezTo>
                      <a:pt x="20974" y="1719"/>
                      <a:pt x="20225" y="939"/>
                      <a:pt x="19476" y="154"/>
                    </a:cubicBezTo>
                    <a:cubicBezTo>
                      <a:pt x="17728" y="2504"/>
                      <a:pt x="15231" y="4070"/>
                      <a:pt x="12484" y="4070"/>
                    </a:cubicBezTo>
                    <a:cubicBezTo>
                      <a:pt x="9611" y="4070"/>
                      <a:pt x="7114" y="2504"/>
                      <a:pt x="5243" y="0"/>
                    </a:cubicBezTo>
                    <a:close/>
                  </a:path>
                </a:pathLst>
              </a:custGeom>
              <a:solidFill>
                <a:srgbClr val="009AF2"/>
              </a:solidFill>
              <a:ln w="9525" cap="flat">
                <a:solidFill>
                  <a:srgbClr val="009AF2"/>
                </a:solidFill>
                <a:prstDash val="solid"/>
                <a:round/>
              </a:ln>
              <a:effectLst/>
            </p:spPr>
            <p:txBody>
              <a:bodyPr wrap="square" lIns="45719" tIns="45719" rIns="45719" bIns="45719" numCol="1" anchor="ctr">
                <a:noAutofit/>
              </a:bodyPr>
              <a:lstStyle/>
              <a:p>
                <a:pPr>
                  <a:defRPr sz="1000"/>
                </a:pPr>
              </a:p>
            </p:txBody>
          </p:sp>
        </p:grpSp>
        <p:pic>
          <p:nvPicPr>
            <p:cNvPr id="331" name="Picture 75" descr="Picture 75"/>
            <p:cNvPicPr>
              <a:picLocks noChangeAspect="1"/>
            </p:cNvPicPr>
            <p:nvPr/>
          </p:nvPicPr>
          <p:blipFill>
            <a:blip r:embed="rId6">
              <a:extLst/>
            </a:blip>
            <a:stretch>
              <a:fillRect/>
            </a:stretch>
          </p:blipFill>
          <p:spPr>
            <a:xfrm>
              <a:off x="2100143" y="1084605"/>
              <a:ext cx="1316370" cy="1316369"/>
            </a:xfrm>
            <a:prstGeom prst="rect">
              <a:avLst/>
            </a:prstGeom>
            <a:ln w="12700" cap="flat">
              <a:noFill/>
              <a:miter lim="400000"/>
            </a:ln>
            <a:effectLst/>
          </p:spPr>
        </p:pic>
      </p:grpSp>
      <p:sp>
        <p:nvSpPr>
          <p:cNvPr id="333" name="TextBox 40"/>
          <p:cNvSpPr txBox="1"/>
          <p:nvPr/>
        </p:nvSpPr>
        <p:spPr>
          <a:xfrm>
            <a:off x="5336844" y="1885313"/>
            <a:ext cx="3068017" cy="59131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800">
                <a:solidFill>
                  <a:srgbClr val="002060"/>
                </a:solidFill>
                <a:latin typeface="Open Sans"/>
                <a:ea typeface="Open Sans"/>
                <a:cs typeface="Open Sans"/>
                <a:sym typeface="Open Sans"/>
              </a:defRPr>
            </a:pPr>
            <a:r>
              <a:t>= </a:t>
            </a:r>
            <a14:m>
              <m:oMath>
                <m:d>
                  <m:dPr>
                    <m:ctrlPr>
                      <a:rPr xmlns:a="http://schemas.openxmlformats.org/drawingml/2006/main" sz="1600" i="1">
                        <a:solidFill>
                          <a:srgbClr val="002060"/>
                        </a:solidFill>
                        <a:latin typeface="Cambria Math" panose="02040503050406030204" pitchFamily="18" charset="0"/>
                      </a:rPr>
                    </m:ctrlPr>
                    <m:begChr m:val="{"/>
                    <m:endChr m:val=""/>
                  </m:dPr>
                  <m:e>
                    <m:eqArr>
                      <m:eqArrPr>
                        <m:ctrlPr>
                          <a:rPr xmlns:a="http://schemas.openxmlformats.org/drawingml/2006/main" sz="1600" i="1">
                            <a:solidFill>
                              <a:srgbClr val="002060"/>
                            </a:solidFill>
                            <a:latin typeface="Cambria Math" panose="02040503050406030204" pitchFamily="18" charset="0"/>
                          </a:rPr>
                        </m:ctrlPr>
                      </m:eqArrPr>
                      <m:e>
                        <m:r>
                          <a:rPr xmlns:a="http://schemas.openxmlformats.org/drawingml/2006/main" sz="1600" i="1">
                            <a:solidFill>
                              <a:srgbClr val="002060"/>
                            </a:solidFill>
                            <a:latin typeface="Cambria Math" panose="02040503050406030204" pitchFamily="18" charset="0"/>
                          </a:rPr>
                          <m:t>&gt;</m:t>
                        </m:r>
                        <m:r>
                          <a:rPr xmlns:a="http://schemas.openxmlformats.org/drawingml/2006/main" sz="1600" i="1">
                            <a:solidFill>
                              <a:srgbClr val="002060"/>
                            </a:solidFill>
                            <a:latin typeface="Cambria Math" panose="02040503050406030204" pitchFamily="18" charset="0"/>
                          </a:rPr>
                          <m:t>𝟎</m:t>
                        </m:r>
                        <m:r>
                          <a:rPr xmlns:a="http://schemas.openxmlformats.org/drawingml/2006/main" sz="1600" i="1">
                            <a:solidFill>
                              <a:srgbClr val="002060"/>
                            </a:solidFill>
                            <a:latin typeface="Cambria Math" panose="02040503050406030204" pitchFamily="18" charset="0"/>
                          </a:rPr>
                          <m:t>,</m:t>
                        </m:r>
                        <m:r>
                          <a:rPr xmlns:a="http://schemas.openxmlformats.org/drawingml/2006/main" sz="1600" i="1">
                            <a:solidFill>
                              <a:srgbClr val="002060"/>
                            </a:solidFill>
                            <a:latin typeface="Cambria Math" panose="02040503050406030204" pitchFamily="18" charset="0"/>
                          </a:rPr>
                          <m:t/>
                        </m:r>
                        <m:r>
                          <a:rPr xmlns:a="http://schemas.openxmlformats.org/drawingml/2006/main" sz="1600" i="1">
                            <a:solidFill>
                              <a:srgbClr val="002060"/>
                            </a:solidFill>
                            <a:latin typeface="Cambria Math" panose="02040503050406030204" pitchFamily="18" charset="0"/>
                          </a:rPr>
                          <m:t>𝐂</m:t>
                        </m:r>
                        <m:r>
                          <a:rPr xmlns:a="http://schemas.openxmlformats.org/drawingml/2006/main" sz="1600" i="1">
                            <a:solidFill>
                              <a:srgbClr val="002060"/>
                            </a:solidFill>
                            <a:latin typeface="Cambria Math" panose="02040503050406030204" pitchFamily="18" charset="0"/>
                          </a:rPr>
                          <m:t>𝐮</m:t>
                        </m:r>
                        <m:r>
                          <a:rPr xmlns:a="http://schemas.openxmlformats.org/drawingml/2006/main" sz="1600" i="1">
                            <a:solidFill>
                              <a:srgbClr val="002060"/>
                            </a:solidFill>
                            <a:latin typeface="Cambria Math" panose="02040503050406030204" pitchFamily="18" charset="0"/>
                          </a:rPr>
                          <m:t>𝐬</m:t>
                        </m:r>
                        <m:r>
                          <a:rPr xmlns:a="http://schemas.openxmlformats.org/drawingml/2006/main" sz="1600" i="1">
                            <a:solidFill>
                              <a:srgbClr val="002060"/>
                            </a:solidFill>
                            <a:latin typeface="Cambria Math" panose="02040503050406030204" pitchFamily="18" charset="0"/>
                          </a:rPr>
                          <m:t>𝐭</m:t>
                        </m:r>
                        <m:r>
                          <a:rPr xmlns:a="http://schemas.openxmlformats.org/drawingml/2006/main" sz="1600" i="1">
                            <a:solidFill>
                              <a:srgbClr val="002060"/>
                            </a:solidFill>
                            <a:latin typeface="Cambria Math" panose="02040503050406030204" pitchFamily="18" charset="0"/>
                          </a:rPr>
                          <m:t>𝐨</m:t>
                        </m:r>
                        <m:r>
                          <a:rPr xmlns:a="http://schemas.openxmlformats.org/drawingml/2006/main" sz="1600" i="1">
                            <a:solidFill>
                              <a:srgbClr val="002060"/>
                            </a:solidFill>
                            <a:latin typeface="Cambria Math" panose="02040503050406030204" pitchFamily="18" charset="0"/>
                          </a:rPr>
                          <m:t>𝐦</m:t>
                        </m:r>
                        <m:r>
                          <a:rPr xmlns:a="http://schemas.openxmlformats.org/drawingml/2006/main" sz="1600" i="1">
                            <a:solidFill>
                              <a:srgbClr val="002060"/>
                            </a:solidFill>
                            <a:latin typeface="Cambria Math" panose="02040503050406030204" pitchFamily="18" charset="0"/>
                          </a:rPr>
                          <m:t>𝐞</m:t>
                        </m:r>
                        <m:r>
                          <a:rPr xmlns:a="http://schemas.openxmlformats.org/drawingml/2006/main" sz="1600" i="1">
                            <a:solidFill>
                              <a:srgbClr val="002060"/>
                            </a:solidFill>
                            <a:latin typeface="Cambria Math" panose="02040503050406030204" pitchFamily="18" charset="0"/>
                          </a:rPr>
                          <m:t>𝐫</m:t>
                        </m:r>
                        <m:r>
                          <a:rPr xmlns:a="http://schemas.openxmlformats.org/drawingml/2006/main" sz="1600" i="1">
                            <a:solidFill>
                              <a:srgbClr val="002060"/>
                            </a:solidFill>
                            <a:latin typeface="Cambria Math" panose="02040503050406030204" pitchFamily="18" charset="0"/>
                          </a:rPr>
                          <m:t/>
                        </m:r>
                        <m:r>
                          <a:rPr xmlns:a="http://schemas.openxmlformats.org/drawingml/2006/main" sz="1600" i="1">
                            <a:solidFill>
                              <a:srgbClr val="002060"/>
                            </a:solidFill>
                            <a:latin typeface="Cambria Math" panose="02040503050406030204" pitchFamily="18" charset="0"/>
                          </a:rPr>
                          <m:t>𝐕</m:t>
                        </m:r>
                        <m:r>
                          <a:rPr xmlns:a="http://schemas.openxmlformats.org/drawingml/2006/main" sz="1600" i="1">
                            <a:solidFill>
                              <a:srgbClr val="002060"/>
                            </a:solidFill>
                            <a:latin typeface="Cambria Math" panose="02040503050406030204" pitchFamily="18" charset="0"/>
                          </a:rPr>
                          <m:t>𝐚</m:t>
                        </m:r>
                        <m:r>
                          <a:rPr xmlns:a="http://schemas.openxmlformats.org/drawingml/2006/main" sz="1600" i="1">
                            <a:solidFill>
                              <a:srgbClr val="002060"/>
                            </a:solidFill>
                            <a:latin typeface="Cambria Math" panose="02040503050406030204" pitchFamily="18" charset="0"/>
                          </a:rPr>
                          <m:t>𝐥</m:t>
                        </m:r>
                        <m:r>
                          <a:rPr xmlns:a="http://schemas.openxmlformats.org/drawingml/2006/main" sz="1600" i="1">
                            <a:solidFill>
                              <a:srgbClr val="002060"/>
                            </a:solidFill>
                            <a:latin typeface="Cambria Math" panose="02040503050406030204" pitchFamily="18" charset="0"/>
                          </a:rPr>
                          <m:t>𝐮</m:t>
                        </m:r>
                        <m:r>
                          <a:rPr xmlns:a="http://schemas.openxmlformats.org/drawingml/2006/main" sz="1600" i="1">
                            <a:solidFill>
                              <a:srgbClr val="002060"/>
                            </a:solidFill>
                            <a:latin typeface="Cambria Math" panose="02040503050406030204" pitchFamily="18" charset="0"/>
                          </a:rPr>
                          <m:t>𝐞</m:t>
                        </m:r>
                        <m:r>
                          <a:rPr xmlns:a="http://schemas.openxmlformats.org/drawingml/2006/main" sz="1600" i="1">
                            <a:solidFill>
                              <a:srgbClr val="002060"/>
                            </a:solidFill>
                            <a:latin typeface="Cambria Math" panose="02040503050406030204" pitchFamily="18" charset="0"/>
                          </a:rPr>
                          <m:t/>
                        </m:r>
                        <m:r>
                          <a:rPr xmlns:a="http://schemas.openxmlformats.org/drawingml/2006/main" sz="1600" i="1">
                            <a:solidFill>
                              <a:srgbClr val="002060"/>
                            </a:solidFill>
                            <a:latin typeface="Cambria Math" panose="02040503050406030204" pitchFamily="18" charset="0"/>
                          </a:rPr>
                          <m:t>(</m:t>
                        </m:r>
                        <m:r>
                          <a:rPr xmlns:a="http://schemas.openxmlformats.org/drawingml/2006/main" sz="1600" i="1">
                            <a:solidFill>
                              <a:srgbClr val="002060"/>
                            </a:solidFill>
                            <a:latin typeface="Cambria Math" panose="02040503050406030204" pitchFamily="18" charset="0"/>
                          </a:rPr>
                          <m:t>𝟔</m:t>
                        </m:r>
                        <m:r>
                          <a:rPr xmlns:a="http://schemas.openxmlformats.org/drawingml/2006/main" sz="1600" i="1">
                            <a:solidFill>
                              <a:srgbClr val="002060"/>
                            </a:solidFill>
                            <a:latin typeface="Cambria Math" panose="02040503050406030204" pitchFamily="18" charset="0"/>
                          </a:rPr>
                          <m:t>𝟏</m:t>
                        </m:r>
                        <m:r>
                          <a:rPr xmlns:a="http://schemas.openxmlformats.org/drawingml/2006/main" sz="1600" i="1">
                            <a:solidFill>
                              <a:srgbClr val="002060"/>
                            </a:solidFill>
                            <a:latin typeface="Cambria Math" panose="02040503050406030204" pitchFamily="18" charset="0"/>
                          </a:rPr>
                          <m:t>%</m:t>
                        </m:r>
                        <m:r>
                          <a:rPr xmlns:a="http://schemas.openxmlformats.org/drawingml/2006/main" sz="1600" i="1">
                            <a:solidFill>
                              <a:srgbClr val="002060"/>
                            </a:solidFill>
                            <a:latin typeface="Cambria Math" panose="02040503050406030204" pitchFamily="18" charset="0"/>
                          </a:rPr>
                          <m:t>)</m:t>
                        </m:r>
                      </m:e>
                      <m:e/>
                      <m:e/>
                      <m:e>
                        <m:r>
                          <a:rPr xmlns:a="http://schemas.openxmlformats.org/drawingml/2006/main" sz="1600" i="1">
                            <a:solidFill>
                              <a:srgbClr val="002060"/>
                            </a:solidFill>
                            <a:latin typeface="Cambria Math" panose="02040503050406030204" pitchFamily="18" charset="0"/>
                          </a:rPr>
                          <m:t>=</m:t>
                        </m:r>
                        <m:r>
                          <a:rPr xmlns:a="http://schemas.openxmlformats.org/drawingml/2006/main" sz="1600" i="1">
                            <a:solidFill>
                              <a:srgbClr val="002060"/>
                            </a:solidFill>
                            <a:latin typeface="Cambria Math" panose="02040503050406030204" pitchFamily="18" charset="0"/>
                          </a:rPr>
                          <m:t>𝟎</m:t>
                        </m:r>
                        <m:r>
                          <a:rPr xmlns:a="http://schemas.openxmlformats.org/drawingml/2006/main" sz="1600" i="1">
                            <a:solidFill>
                              <a:srgbClr val="002060"/>
                            </a:solidFill>
                            <a:latin typeface="Cambria Math" panose="02040503050406030204" pitchFamily="18" charset="0"/>
                          </a:rPr>
                          <m:t>,</m:t>
                        </m:r>
                        <m:r>
                          <a:rPr xmlns:a="http://schemas.openxmlformats.org/drawingml/2006/main" sz="1600" i="1">
                            <a:solidFill>
                              <a:srgbClr val="002060"/>
                            </a:solidFill>
                            <a:latin typeface="Cambria Math" panose="02040503050406030204" pitchFamily="18" charset="0"/>
                          </a:rPr>
                          <m:t/>
                        </m:r>
                        <m:r>
                          <a:rPr xmlns:a="http://schemas.openxmlformats.org/drawingml/2006/main" sz="1600" i="1">
                            <a:solidFill>
                              <a:srgbClr val="002060"/>
                            </a:solidFill>
                            <a:latin typeface="Cambria Math" panose="02040503050406030204" pitchFamily="18" charset="0"/>
                          </a:rPr>
                          <m:t>𝐂</m:t>
                        </m:r>
                        <m:r>
                          <a:rPr xmlns:a="http://schemas.openxmlformats.org/drawingml/2006/main" sz="1600" i="1">
                            <a:solidFill>
                              <a:srgbClr val="002060"/>
                            </a:solidFill>
                            <a:latin typeface="Cambria Math" panose="02040503050406030204" pitchFamily="18" charset="0"/>
                          </a:rPr>
                          <m:t>𝐡</m:t>
                        </m:r>
                        <m:r>
                          <a:rPr xmlns:a="http://schemas.openxmlformats.org/drawingml/2006/main" sz="1600" i="1">
                            <a:solidFill>
                              <a:srgbClr val="002060"/>
                            </a:solidFill>
                            <a:latin typeface="Cambria Math" panose="02040503050406030204" pitchFamily="18" charset="0"/>
                          </a:rPr>
                          <m:t>𝐮</m:t>
                        </m:r>
                        <m:r>
                          <a:rPr xmlns:a="http://schemas.openxmlformats.org/drawingml/2006/main" sz="1600" i="1">
                            <a:solidFill>
                              <a:srgbClr val="002060"/>
                            </a:solidFill>
                            <a:latin typeface="Cambria Math" panose="02040503050406030204" pitchFamily="18" charset="0"/>
                          </a:rPr>
                          <m:t>𝐫</m:t>
                        </m:r>
                        <m:r>
                          <a:rPr xmlns:a="http://schemas.openxmlformats.org/drawingml/2006/main" sz="1600" i="1">
                            <a:solidFill>
                              <a:srgbClr val="002060"/>
                            </a:solidFill>
                            <a:latin typeface="Cambria Math" panose="02040503050406030204" pitchFamily="18" charset="0"/>
                          </a:rPr>
                          <m:t>𝐧</m:t>
                        </m:r>
                        <m:r>
                          <a:rPr xmlns:a="http://schemas.openxmlformats.org/drawingml/2006/main" sz="1600" i="1">
                            <a:solidFill>
                              <a:srgbClr val="002060"/>
                            </a:solidFill>
                            <a:latin typeface="Cambria Math" panose="02040503050406030204" pitchFamily="18" charset="0"/>
                          </a:rPr>
                          <m:t/>
                        </m:r>
                        <m:r>
                          <a:rPr xmlns:a="http://schemas.openxmlformats.org/drawingml/2006/main" sz="1600" i="1">
                            <a:solidFill>
                              <a:srgbClr val="002060"/>
                            </a:solidFill>
                            <a:latin typeface="Cambria Math" panose="02040503050406030204" pitchFamily="18" charset="0"/>
                          </a:rPr>
                          <m:t>(</m:t>
                        </m:r>
                        <m:r>
                          <a:rPr xmlns:a="http://schemas.openxmlformats.org/drawingml/2006/main" sz="1600" i="1">
                            <a:solidFill>
                              <a:srgbClr val="002060"/>
                            </a:solidFill>
                            <a:latin typeface="Cambria Math" panose="02040503050406030204" pitchFamily="18" charset="0"/>
                          </a:rPr>
                          <m:t>𝟑</m:t>
                        </m:r>
                        <m:r>
                          <a:rPr xmlns:a="http://schemas.openxmlformats.org/drawingml/2006/main" sz="1600" i="1">
                            <a:solidFill>
                              <a:srgbClr val="002060"/>
                            </a:solidFill>
                            <a:latin typeface="Cambria Math" panose="02040503050406030204" pitchFamily="18" charset="0"/>
                          </a:rPr>
                          <m:t>𝟗</m:t>
                        </m:r>
                        <m:r>
                          <a:rPr xmlns:a="http://schemas.openxmlformats.org/drawingml/2006/main" sz="1600" i="1">
                            <a:solidFill>
                              <a:srgbClr val="002060"/>
                            </a:solidFill>
                            <a:latin typeface="Cambria Math" panose="02040503050406030204" pitchFamily="18" charset="0"/>
                          </a:rPr>
                          <m:t>%</m:t>
                        </m:r>
                        <m:r>
                          <a:rPr xmlns:a="http://schemas.openxmlformats.org/drawingml/2006/main" sz="1600" i="1">
                            <a:solidFill>
                              <a:srgbClr val="002060"/>
                            </a:solidFill>
                            <a:latin typeface="Cambria Math" panose="02040503050406030204" pitchFamily="18" charset="0"/>
                          </a:rPr>
                          <m:t>)</m:t>
                        </m:r>
                      </m:e>
                    </m:eqArr>
                  </m:e>
                </m:d>
              </m:oMath>
            </a14:m>
            <a:endParaRPr sz="1509"/>
          </a:p>
        </p:txBody>
      </p:sp>
      <p:sp>
        <p:nvSpPr>
          <p:cNvPr id="334" name="Rectangle 27"/>
          <p:cNvSpPr txBox="1"/>
          <p:nvPr/>
        </p:nvSpPr>
        <p:spPr>
          <a:xfrm>
            <a:off x="4055654" y="815887"/>
            <a:ext cx="5092561" cy="523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b="1" sz="1800">
                <a:solidFill>
                  <a:srgbClr val="002060"/>
                </a:solidFill>
                <a:latin typeface="Open Sans"/>
                <a:ea typeface="Open Sans"/>
                <a:cs typeface="Open Sans"/>
                <a:sym typeface="Open Sans"/>
              </a:defRPr>
            </a:pPr>
            <a:r>
              <a:t>Customer Value:</a:t>
            </a:r>
            <a:r>
              <a:rPr sz="1600">
                <a:solidFill>
                  <a:srgbClr val="00B0F0"/>
                </a:solidFill>
              </a:rPr>
              <a:t> </a:t>
            </a:r>
            <a:r>
              <a:rPr sz="1000"/>
              <a:t>Monetary value generated from a customer in next 12M</a:t>
            </a:r>
          </a:p>
        </p:txBody>
      </p:sp>
      <p:sp>
        <p:nvSpPr>
          <p:cNvPr id="335" name="Pie 10"/>
          <p:cNvSpPr/>
          <p:nvPr/>
        </p:nvSpPr>
        <p:spPr>
          <a:xfrm>
            <a:off x="2629542" y="1195064"/>
            <a:ext cx="1328076" cy="25183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548" y="21600"/>
                </a:moveTo>
                <a:cubicBezTo>
                  <a:pt x="9647" y="21600"/>
                  <a:pt x="0" y="16765"/>
                  <a:pt x="0" y="10800"/>
                </a:cubicBezTo>
                <a:cubicBezTo>
                  <a:pt x="0" y="4835"/>
                  <a:pt x="9647" y="0"/>
                  <a:pt x="21548" y="0"/>
                </a:cubicBezTo>
                <a:lnTo>
                  <a:pt x="21600" y="10800"/>
                </a:lnTo>
                <a:close/>
              </a:path>
            </a:pathLst>
          </a:custGeom>
          <a:solidFill>
            <a:srgbClr val="FFFFFF"/>
          </a:solidFill>
          <a:ln w="28575">
            <a:solidFill>
              <a:srgbClr val="000000"/>
            </a:solidFill>
          </a:ln>
        </p:spPr>
        <p:txBody>
          <a:bodyPr lIns="45719" rIns="45719" anchor="ctr"/>
          <a:lstStyle/>
          <a:p>
            <a:pPr algn="ctr">
              <a:defRPr sz="1000"/>
            </a:pPr>
          </a:p>
        </p:txBody>
      </p:sp>
      <p:sp>
        <p:nvSpPr>
          <p:cNvPr id="336" name="Block Arc 42"/>
          <p:cNvSpPr/>
          <p:nvPr/>
        </p:nvSpPr>
        <p:spPr>
          <a:xfrm rot="16200000">
            <a:off x="1367207" y="1592184"/>
            <a:ext cx="3402154" cy="1742661"/>
          </a:xfrm>
          <a:custGeom>
            <a:avLst/>
            <a:gdLst/>
            <a:ahLst/>
            <a:cxnLst>
              <a:cxn ang="0">
                <a:pos x="wd2" y="hd2"/>
              </a:cxn>
              <a:cxn ang="5400000">
                <a:pos x="wd2" y="hd2"/>
              </a:cxn>
              <a:cxn ang="10800000">
                <a:pos x="wd2" y="hd2"/>
              </a:cxn>
              <a:cxn ang="16200000">
                <a:pos x="wd2" y="hd2"/>
              </a:cxn>
            </a:cxnLst>
            <a:rect l="0" t="0" r="r" b="b"/>
            <a:pathLst>
              <a:path w="21600" h="18686" fill="norm" stroke="1" extrusionOk="0">
                <a:moveTo>
                  <a:pt x="0" y="17724"/>
                </a:moveTo>
                <a:lnTo>
                  <a:pt x="0" y="17724"/>
                </a:lnTo>
                <a:cubicBezTo>
                  <a:pt x="1800" y="4540"/>
                  <a:pt x="8082" y="-2914"/>
                  <a:pt x="14031" y="1076"/>
                </a:cubicBezTo>
                <a:cubicBezTo>
                  <a:pt x="17703" y="3538"/>
                  <a:pt x="20556" y="9976"/>
                  <a:pt x="21600" y="18157"/>
                </a:cubicBezTo>
                <a:lnTo>
                  <a:pt x="20757" y="18686"/>
                </a:lnTo>
                <a:lnTo>
                  <a:pt x="20757" y="18686"/>
                </a:lnTo>
                <a:cubicBezTo>
                  <a:pt x="19228" y="6213"/>
                  <a:pt x="13517" y="-1094"/>
                  <a:pt x="8003" y="2364"/>
                </a:cubicBezTo>
                <a:cubicBezTo>
                  <a:pt x="4560" y="4523"/>
                  <a:pt x="1852" y="10540"/>
                  <a:pt x="837" y="18285"/>
                </a:cubicBezTo>
                <a:close/>
              </a:path>
            </a:pathLst>
          </a:custGeom>
          <a:solidFill>
            <a:srgbClr val="002060"/>
          </a:solidFill>
          <a:ln w="25400">
            <a:solidFill>
              <a:srgbClr val="002060"/>
            </a:solidFill>
          </a:ln>
        </p:spPr>
        <p:txBody>
          <a:bodyPr lIns="45719" rIns="45719" anchor="ctr"/>
          <a:lstStyle/>
          <a:p>
            <a:pPr algn="ctr">
              <a:defRPr sz="1000"/>
            </a:pPr>
          </a:p>
        </p:txBody>
      </p:sp>
      <p:grpSp>
        <p:nvGrpSpPr>
          <p:cNvPr id="339" name="Group 44"/>
          <p:cNvGrpSpPr/>
          <p:nvPr/>
        </p:nvGrpSpPr>
        <p:grpSpPr>
          <a:xfrm>
            <a:off x="2112632" y="2800044"/>
            <a:ext cx="475591" cy="462763"/>
            <a:chOff x="0" y="0"/>
            <a:chExt cx="475590" cy="462762"/>
          </a:xfrm>
        </p:grpSpPr>
        <p:sp>
          <p:nvSpPr>
            <p:cNvPr id="337" name="Oval 94"/>
            <p:cNvSpPr/>
            <p:nvPr/>
          </p:nvSpPr>
          <p:spPr>
            <a:xfrm>
              <a:off x="-1" y="-1"/>
              <a:ext cx="475592" cy="462764"/>
            </a:xfrm>
            <a:prstGeom prst="ellipse">
              <a:avLst/>
            </a:prstGeom>
            <a:solidFill>
              <a:srgbClr val="FFFFFF"/>
            </a:solidFill>
            <a:ln w="38100" cap="flat">
              <a:solidFill>
                <a:srgbClr val="002060"/>
              </a:solidFill>
              <a:prstDash val="solid"/>
              <a:round/>
            </a:ln>
            <a:effectLst/>
          </p:spPr>
          <p:txBody>
            <a:bodyPr wrap="square" lIns="45719" tIns="45719" rIns="45719" bIns="45719" numCol="1" anchor="ctr">
              <a:noAutofit/>
            </a:bodyPr>
            <a:lstStyle/>
            <a:p>
              <a:pPr algn="ctr">
                <a:defRPr sz="1000">
                  <a:solidFill>
                    <a:srgbClr val="FFFFFF"/>
                  </a:solidFill>
                </a:defRPr>
              </a:pPr>
            </a:p>
          </p:txBody>
        </p:sp>
        <p:pic>
          <p:nvPicPr>
            <p:cNvPr id="338" name="Picture 97" descr="Picture 97"/>
            <p:cNvPicPr>
              <a:picLocks noChangeAspect="1"/>
            </p:cNvPicPr>
            <p:nvPr/>
          </p:nvPicPr>
          <p:blipFill>
            <a:blip r:embed="rId5">
              <a:extLst/>
            </a:blip>
            <a:stretch>
              <a:fillRect/>
            </a:stretch>
          </p:blipFill>
          <p:spPr>
            <a:xfrm>
              <a:off x="104229" y="99566"/>
              <a:ext cx="260698" cy="260698"/>
            </a:xfrm>
            <a:prstGeom prst="rect">
              <a:avLst/>
            </a:prstGeom>
            <a:ln w="12700" cap="flat">
              <a:noFill/>
              <a:miter lim="400000"/>
            </a:ln>
            <a:effectLst/>
          </p:spPr>
        </p:pic>
      </p:grpSp>
      <p:grpSp>
        <p:nvGrpSpPr>
          <p:cNvPr id="350" name="Group 45"/>
          <p:cNvGrpSpPr/>
          <p:nvPr/>
        </p:nvGrpSpPr>
        <p:grpSpPr>
          <a:xfrm>
            <a:off x="2897779" y="3555910"/>
            <a:ext cx="475591" cy="462763"/>
            <a:chOff x="0" y="0"/>
            <a:chExt cx="475590" cy="462762"/>
          </a:xfrm>
        </p:grpSpPr>
        <p:sp>
          <p:nvSpPr>
            <p:cNvPr id="340" name="Oval 84"/>
            <p:cNvSpPr/>
            <p:nvPr/>
          </p:nvSpPr>
          <p:spPr>
            <a:xfrm>
              <a:off x="-1" y="-1"/>
              <a:ext cx="475592" cy="462764"/>
            </a:xfrm>
            <a:prstGeom prst="ellipse">
              <a:avLst/>
            </a:prstGeom>
            <a:solidFill>
              <a:srgbClr val="FFFFFF"/>
            </a:solidFill>
            <a:ln w="38100" cap="flat">
              <a:solidFill>
                <a:srgbClr val="002060"/>
              </a:solidFill>
              <a:prstDash val="solid"/>
              <a:round/>
            </a:ln>
            <a:effectLst/>
          </p:spPr>
          <p:txBody>
            <a:bodyPr wrap="square" lIns="45719" tIns="45719" rIns="45719" bIns="45719" numCol="1" anchor="ctr">
              <a:noAutofit/>
            </a:bodyPr>
            <a:lstStyle/>
            <a:p>
              <a:pPr algn="ctr">
                <a:defRPr sz="1000">
                  <a:solidFill>
                    <a:srgbClr val="FFFFFF"/>
                  </a:solidFill>
                </a:defRPr>
              </a:pPr>
            </a:p>
          </p:txBody>
        </p:sp>
        <p:grpSp>
          <p:nvGrpSpPr>
            <p:cNvPr id="349" name="Google Shape;8868;p86"/>
            <p:cNvGrpSpPr/>
            <p:nvPr/>
          </p:nvGrpSpPr>
          <p:grpSpPr>
            <a:xfrm>
              <a:off x="117440" y="90183"/>
              <a:ext cx="265941" cy="265394"/>
              <a:chOff x="0" y="0"/>
              <a:chExt cx="265939" cy="265393"/>
            </a:xfrm>
          </p:grpSpPr>
          <p:sp>
            <p:nvSpPr>
              <p:cNvPr id="341" name="Google Shape;8869;p86"/>
              <p:cNvSpPr/>
              <p:nvPr/>
            </p:nvSpPr>
            <p:spPr>
              <a:xfrm>
                <a:off x="55194" y="0"/>
                <a:ext cx="93895" cy="3101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376" y="0"/>
                    </a:moveTo>
                    <a:cubicBezTo>
                      <a:pt x="1376" y="0"/>
                      <a:pt x="0" y="4691"/>
                      <a:pt x="0" y="10618"/>
                    </a:cubicBezTo>
                    <a:lnTo>
                      <a:pt x="0" y="16101"/>
                    </a:lnTo>
                    <a:cubicBezTo>
                      <a:pt x="0" y="19096"/>
                      <a:pt x="827" y="21600"/>
                      <a:pt x="1816" y="21600"/>
                    </a:cubicBezTo>
                    <a:lnTo>
                      <a:pt x="19789" y="21600"/>
                    </a:lnTo>
                    <a:cubicBezTo>
                      <a:pt x="20778" y="21600"/>
                      <a:pt x="21600" y="19096"/>
                      <a:pt x="21600" y="16101"/>
                    </a:cubicBezTo>
                    <a:lnTo>
                      <a:pt x="21600" y="10618"/>
                    </a:lnTo>
                    <a:cubicBezTo>
                      <a:pt x="21600" y="4120"/>
                      <a:pt x="19951" y="127"/>
                      <a:pt x="18140" y="127"/>
                    </a:cubicBezTo>
                    <a:lnTo>
                      <a:pt x="3957" y="127"/>
                    </a:lnTo>
                    <a:cubicBezTo>
                      <a:pt x="3758" y="48"/>
                      <a:pt x="3564" y="0"/>
                      <a:pt x="3376" y="0"/>
                    </a:cubicBezTo>
                    <a:close/>
                  </a:path>
                </a:pathLst>
              </a:custGeom>
              <a:solidFill>
                <a:srgbClr val="002060"/>
              </a:solidFill>
              <a:ln w="12700" cap="flat">
                <a:noFill/>
                <a:miter lim="400000"/>
              </a:ln>
              <a:effectLst/>
            </p:spPr>
            <p:txBody>
              <a:bodyPr wrap="square" lIns="45719" tIns="45719" rIns="45719" bIns="45719" numCol="1" anchor="ctr">
                <a:noAutofit/>
              </a:bodyPr>
              <a:lstStyle/>
              <a:p>
                <a:pPr>
                  <a:defRPr sz="1000"/>
                </a:pPr>
              </a:p>
            </p:txBody>
          </p:sp>
          <p:sp>
            <p:nvSpPr>
              <p:cNvPr id="342" name="Google Shape;8870;p86"/>
              <p:cNvSpPr/>
              <p:nvPr/>
            </p:nvSpPr>
            <p:spPr>
              <a:xfrm>
                <a:off x="47322" y="138532"/>
                <a:ext cx="15040" cy="16473"/>
              </a:xfrm>
              <a:prstGeom prst="rect">
                <a:avLst/>
              </a:prstGeom>
              <a:solidFill>
                <a:srgbClr val="002060"/>
              </a:solidFill>
              <a:ln w="12700" cap="flat">
                <a:noFill/>
                <a:miter lim="400000"/>
              </a:ln>
              <a:effectLst/>
            </p:spPr>
            <p:txBody>
              <a:bodyPr wrap="square" lIns="45719" tIns="45719" rIns="45719" bIns="45719" numCol="1" anchor="ctr">
                <a:noAutofit/>
              </a:bodyPr>
              <a:lstStyle/>
              <a:p>
                <a:pPr>
                  <a:defRPr sz="1000"/>
                </a:pPr>
              </a:p>
            </p:txBody>
          </p:sp>
          <p:sp>
            <p:nvSpPr>
              <p:cNvPr id="343" name="Google Shape;8871;p86"/>
              <p:cNvSpPr/>
              <p:nvPr/>
            </p:nvSpPr>
            <p:spPr>
              <a:xfrm>
                <a:off x="47322" y="76876"/>
                <a:ext cx="15040" cy="15062"/>
              </a:xfrm>
              <a:prstGeom prst="rect">
                <a:avLst/>
              </a:prstGeom>
              <a:solidFill>
                <a:srgbClr val="002060"/>
              </a:solidFill>
              <a:ln w="12700" cap="flat">
                <a:noFill/>
                <a:miter lim="400000"/>
              </a:ln>
              <a:effectLst/>
            </p:spPr>
            <p:txBody>
              <a:bodyPr wrap="square" lIns="45719" tIns="45719" rIns="45719" bIns="45719" numCol="1" anchor="ctr">
                <a:noAutofit/>
              </a:bodyPr>
              <a:lstStyle/>
              <a:p>
                <a:pPr>
                  <a:defRPr sz="1000"/>
                </a:pPr>
              </a:p>
            </p:txBody>
          </p:sp>
          <p:sp>
            <p:nvSpPr>
              <p:cNvPr id="344" name="Google Shape;8872;p86"/>
              <p:cNvSpPr/>
              <p:nvPr/>
            </p:nvSpPr>
            <p:spPr>
              <a:xfrm>
                <a:off x="47322" y="202326"/>
                <a:ext cx="15040" cy="15040"/>
              </a:xfrm>
              <a:prstGeom prst="rect">
                <a:avLst/>
              </a:prstGeom>
              <a:solidFill>
                <a:srgbClr val="002060"/>
              </a:solidFill>
              <a:ln w="12700" cap="flat">
                <a:noFill/>
                <a:miter lim="400000"/>
              </a:ln>
              <a:effectLst/>
            </p:spPr>
            <p:txBody>
              <a:bodyPr wrap="square" lIns="45719" tIns="45719" rIns="45719" bIns="45719" numCol="1" anchor="ctr">
                <a:noAutofit/>
              </a:bodyPr>
              <a:lstStyle/>
              <a:p>
                <a:pPr>
                  <a:defRPr sz="1000"/>
                </a:pPr>
              </a:p>
            </p:txBody>
          </p:sp>
          <p:sp>
            <p:nvSpPr>
              <p:cNvPr id="345" name="Google Shape;8873;p86"/>
              <p:cNvSpPr/>
              <p:nvPr/>
            </p:nvSpPr>
            <p:spPr>
              <a:xfrm>
                <a:off x="0" y="15243"/>
                <a:ext cx="202851" cy="2501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402" y="4023"/>
                    </a:moveTo>
                    <a:cubicBezTo>
                      <a:pt x="17937" y="4023"/>
                      <a:pt x="18317" y="4332"/>
                      <a:pt x="18317" y="4703"/>
                    </a:cubicBezTo>
                    <a:cubicBezTo>
                      <a:pt x="18317" y="5074"/>
                      <a:pt x="17937" y="5385"/>
                      <a:pt x="17402" y="5385"/>
                    </a:cubicBezTo>
                    <a:lnTo>
                      <a:pt x="10839" y="5385"/>
                    </a:lnTo>
                    <a:cubicBezTo>
                      <a:pt x="10381" y="5385"/>
                      <a:pt x="9998" y="5074"/>
                      <a:pt x="9998" y="4703"/>
                    </a:cubicBezTo>
                    <a:cubicBezTo>
                      <a:pt x="9998" y="4332"/>
                      <a:pt x="10381" y="4023"/>
                      <a:pt x="10839" y="4023"/>
                    </a:cubicBezTo>
                    <a:close/>
                    <a:moveTo>
                      <a:pt x="7634" y="3960"/>
                    </a:moveTo>
                    <a:cubicBezTo>
                      <a:pt x="8092" y="3960"/>
                      <a:pt x="8472" y="4271"/>
                      <a:pt x="8472" y="4642"/>
                    </a:cubicBezTo>
                    <a:lnTo>
                      <a:pt x="8472" y="7365"/>
                    </a:lnTo>
                    <a:cubicBezTo>
                      <a:pt x="8472" y="7736"/>
                      <a:pt x="8092" y="8047"/>
                      <a:pt x="7634" y="8047"/>
                    </a:cubicBezTo>
                    <a:lnTo>
                      <a:pt x="4273" y="8047"/>
                    </a:lnTo>
                    <a:cubicBezTo>
                      <a:pt x="3816" y="8047"/>
                      <a:pt x="3435" y="7736"/>
                      <a:pt x="3435" y="7365"/>
                    </a:cubicBezTo>
                    <a:lnTo>
                      <a:pt x="3435" y="4642"/>
                    </a:lnTo>
                    <a:cubicBezTo>
                      <a:pt x="3435" y="4271"/>
                      <a:pt x="3816" y="3960"/>
                      <a:pt x="4273" y="3960"/>
                    </a:cubicBezTo>
                    <a:close/>
                    <a:moveTo>
                      <a:pt x="14197" y="6622"/>
                    </a:moveTo>
                    <a:cubicBezTo>
                      <a:pt x="14654" y="6622"/>
                      <a:pt x="15037" y="6931"/>
                      <a:pt x="15037" y="7365"/>
                    </a:cubicBezTo>
                    <a:cubicBezTo>
                      <a:pt x="15037" y="7736"/>
                      <a:pt x="14654" y="8047"/>
                      <a:pt x="14197" y="8047"/>
                    </a:cubicBezTo>
                    <a:lnTo>
                      <a:pt x="10839" y="8047"/>
                    </a:lnTo>
                    <a:cubicBezTo>
                      <a:pt x="10381" y="8047"/>
                      <a:pt x="9998" y="7736"/>
                      <a:pt x="9998" y="7365"/>
                    </a:cubicBezTo>
                    <a:cubicBezTo>
                      <a:pt x="9998" y="6931"/>
                      <a:pt x="10381" y="6622"/>
                      <a:pt x="10839" y="6622"/>
                    </a:cubicBezTo>
                    <a:close/>
                    <a:moveTo>
                      <a:pt x="17402" y="9345"/>
                    </a:moveTo>
                    <a:cubicBezTo>
                      <a:pt x="17937" y="9345"/>
                      <a:pt x="18317" y="9656"/>
                      <a:pt x="18317" y="10027"/>
                    </a:cubicBezTo>
                    <a:cubicBezTo>
                      <a:pt x="18317" y="10459"/>
                      <a:pt x="17937" y="10770"/>
                      <a:pt x="17402" y="10770"/>
                    </a:cubicBezTo>
                    <a:lnTo>
                      <a:pt x="10839" y="10770"/>
                    </a:lnTo>
                    <a:cubicBezTo>
                      <a:pt x="10381" y="10770"/>
                      <a:pt x="9998" y="10459"/>
                      <a:pt x="9998" y="10027"/>
                    </a:cubicBezTo>
                    <a:cubicBezTo>
                      <a:pt x="9998" y="9656"/>
                      <a:pt x="10381" y="9345"/>
                      <a:pt x="10839" y="9345"/>
                    </a:cubicBezTo>
                    <a:close/>
                    <a:moveTo>
                      <a:pt x="7634" y="9345"/>
                    </a:moveTo>
                    <a:cubicBezTo>
                      <a:pt x="8092" y="9345"/>
                      <a:pt x="8472" y="9656"/>
                      <a:pt x="8472" y="10027"/>
                    </a:cubicBezTo>
                    <a:lnTo>
                      <a:pt x="8472" y="12750"/>
                    </a:lnTo>
                    <a:cubicBezTo>
                      <a:pt x="8472" y="13121"/>
                      <a:pt x="8092" y="13430"/>
                      <a:pt x="7634" y="13430"/>
                    </a:cubicBezTo>
                    <a:lnTo>
                      <a:pt x="4273" y="13430"/>
                    </a:lnTo>
                    <a:cubicBezTo>
                      <a:pt x="3816" y="13430"/>
                      <a:pt x="3435" y="13121"/>
                      <a:pt x="3435" y="12750"/>
                    </a:cubicBezTo>
                    <a:lnTo>
                      <a:pt x="3435" y="10027"/>
                    </a:lnTo>
                    <a:cubicBezTo>
                      <a:pt x="3435" y="9656"/>
                      <a:pt x="3816" y="9345"/>
                      <a:pt x="4273" y="9345"/>
                    </a:cubicBezTo>
                    <a:close/>
                    <a:moveTo>
                      <a:pt x="14197" y="12068"/>
                    </a:moveTo>
                    <a:cubicBezTo>
                      <a:pt x="14654" y="12068"/>
                      <a:pt x="15037" y="12378"/>
                      <a:pt x="15037" y="12750"/>
                    </a:cubicBezTo>
                    <a:cubicBezTo>
                      <a:pt x="15037" y="13121"/>
                      <a:pt x="14654" y="13430"/>
                      <a:pt x="14197" y="13430"/>
                    </a:cubicBezTo>
                    <a:lnTo>
                      <a:pt x="10839" y="13430"/>
                    </a:lnTo>
                    <a:cubicBezTo>
                      <a:pt x="10381" y="13430"/>
                      <a:pt x="9998" y="13121"/>
                      <a:pt x="9998" y="12750"/>
                    </a:cubicBezTo>
                    <a:cubicBezTo>
                      <a:pt x="9998" y="12378"/>
                      <a:pt x="10381" y="12068"/>
                      <a:pt x="10839" y="12068"/>
                    </a:cubicBezTo>
                    <a:close/>
                    <a:moveTo>
                      <a:pt x="17402" y="14854"/>
                    </a:moveTo>
                    <a:cubicBezTo>
                      <a:pt x="17937" y="14854"/>
                      <a:pt x="18317" y="15164"/>
                      <a:pt x="18317" y="15535"/>
                    </a:cubicBezTo>
                    <a:cubicBezTo>
                      <a:pt x="18317" y="15907"/>
                      <a:pt x="17937" y="16215"/>
                      <a:pt x="17402" y="16215"/>
                    </a:cubicBezTo>
                    <a:lnTo>
                      <a:pt x="10839" y="16215"/>
                    </a:lnTo>
                    <a:cubicBezTo>
                      <a:pt x="10381" y="16215"/>
                      <a:pt x="9998" y="15907"/>
                      <a:pt x="9998" y="15535"/>
                    </a:cubicBezTo>
                    <a:cubicBezTo>
                      <a:pt x="9998" y="15164"/>
                      <a:pt x="10381" y="14854"/>
                      <a:pt x="10839" y="14854"/>
                    </a:cubicBezTo>
                    <a:close/>
                    <a:moveTo>
                      <a:pt x="7634" y="14793"/>
                    </a:moveTo>
                    <a:cubicBezTo>
                      <a:pt x="8092" y="14793"/>
                      <a:pt x="8472" y="15040"/>
                      <a:pt x="8472" y="15473"/>
                    </a:cubicBezTo>
                    <a:lnTo>
                      <a:pt x="8472" y="18135"/>
                    </a:lnTo>
                    <a:cubicBezTo>
                      <a:pt x="8472" y="18567"/>
                      <a:pt x="8092" y="18877"/>
                      <a:pt x="7634" y="18877"/>
                    </a:cubicBezTo>
                    <a:lnTo>
                      <a:pt x="4273" y="18877"/>
                    </a:lnTo>
                    <a:cubicBezTo>
                      <a:pt x="3816" y="18877"/>
                      <a:pt x="3435" y="18567"/>
                      <a:pt x="3435" y="18135"/>
                    </a:cubicBezTo>
                    <a:lnTo>
                      <a:pt x="3435" y="15473"/>
                    </a:lnTo>
                    <a:cubicBezTo>
                      <a:pt x="3435" y="15040"/>
                      <a:pt x="3816" y="14793"/>
                      <a:pt x="4273" y="14793"/>
                    </a:cubicBezTo>
                    <a:close/>
                    <a:moveTo>
                      <a:pt x="14197" y="17453"/>
                    </a:moveTo>
                    <a:cubicBezTo>
                      <a:pt x="14654" y="17453"/>
                      <a:pt x="15037" y="17763"/>
                      <a:pt x="15037" y="18135"/>
                    </a:cubicBezTo>
                    <a:cubicBezTo>
                      <a:pt x="15037" y="18567"/>
                      <a:pt x="14654" y="18877"/>
                      <a:pt x="14197" y="18877"/>
                    </a:cubicBezTo>
                    <a:lnTo>
                      <a:pt x="10839" y="18877"/>
                    </a:lnTo>
                    <a:cubicBezTo>
                      <a:pt x="10381" y="18877"/>
                      <a:pt x="9998" y="18567"/>
                      <a:pt x="9998" y="18135"/>
                    </a:cubicBezTo>
                    <a:cubicBezTo>
                      <a:pt x="9998" y="17763"/>
                      <a:pt x="10381" y="17453"/>
                      <a:pt x="10839" y="17453"/>
                    </a:cubicBezTo>
                    <a:close/>
                    <a:moveTo>
                      <a:pt x="2520" y="0"/>
                    </a:moveTo>
                    <a:cubicBezTo>
                      <a:pt x="1221" y="0"/>
                      <a:pt x="0" y="927"/>
                      <a:pt x="0" y="1980"/>
                    </a:cubicBezTo>
                    <a:lnTo>
                      <a:pt x="0" y="19557"/>
                    </a:lnTo>
                    <a:cubicBezTo>
                      <a:pt x="78" y="20673"/>
                      <a:pt x="1221" y="21600"/>
                      <a:pt x="2520" y="21600"/>
                    </a:cubicBezTo>
                    <a:lnTo>
                      <a:pt x="19158" y="21600"/>
                    </a:lnTo>
                    <a:cubicBezTo>
                      <a:pt x="20457" y="21600"/>
                      <a:pt x="21600" y="20673"/>
                      <a:pt x="21600" y="19557"/>
                    </a:cubicBezTo>
                    <a:lnTo>
                      <a:pt x="21600" y="1980"/>
                    </a:lnTo>
                    <a:cubicBezTo>
                      <a:pt x="21600" y="927"/>
                      <a:pt x="20457" y="0"/>
                      <a:pt x="19158" y="0"/>
                    </a:cubicBezTo>
                    <a:lnTo>
                      <a:pt x="17402" y="0"/>
                    </a:lnTo>
                    <a:lnTo>
                      <a:pt x="17402" y="680"/>
                    </a:lnTo>
                    <a:cubicBezTo>
                      <a:pt x="17402" y="1796"/>
                      <a:pt x="16258" y="2723"/>
                      <a:pt x="14960" y="2723"/>
                    </a:cubicBezTo>
                    <a:lnTo>
                      <a:pt x="6640" y="2723"/>
                    </a:lnTo>
                    <a:cubicBezTo>
                      <a:pt x="5344" y="2723"/>
                      <a:pt x="4198" y="1796"/>
                      <a:pt x="4198" y="680"/>
                    </a:cubicBezTo>
                    <a:lnTo>
                      <a:pt x="4198" y="0"/>
                    </a:lnTo>
                    <a:close/>
                  </a:path>
                </a:pathLst>
              </a:custGeom>
              <a:solidFill>
                <a:srgbClr val="002060"/>
              </a:solidFill>
              <a:ln w="12700" cap="flat">
                <a:noFill/>
                <a:miter lim="400000"/>
              </a:ln>
              <a:effectLst/>
            </p:spPr>
            <p:txBody>
              <a:bodyPr wrap="square" lIns="45719" tIns="45719" rIns="45719" bIns="45719" numCol="1" anchor="ctr">
                <a:noAutofit/>
              </a:bodyPr>
              <a:lstStyle/>
              <a:p>
                <a:pPr>
                  <a:defRPr sz="1000"/>
                </a:pPr>
              </a:p>
            </p:txBody>
          </p:sp>
          <p:sp>
            <p:nvSpPr>
              <p:cNvPr id="346" name="Google Shape;8874;p86"/>
              <p:cNvSpPr/>
              <p:nvPr/>
            </p:nvSpPr>
            <p:spPr>
              <a:xfrm>
                <a:off x="219344" y="91937"/>
                <a:ext cx="46596" cy="94624"/>
              </a:xfrm>
              <a:prstGeom prst="rect">
                <a:avLst/>
              </a:prstGeom>
              <a:solidFill>
                <a:srgbClr val="002060"/>
              </a:solidFill>
              <a:ln w="12700" cap="flat">
                <a:noFill/>
                <a:miter lim="400000"/>
              </a:ln>
              <a:effectLst/>
            </p:spPr>
            <p:txBody>
              <a:bodyPr wrap="square" lIns="45719" tIns="45719" rIns="45719" bIns="45719" numCol="1" anchor="ctr">
                <a:noAutofit/>
              </a:bodyPr>
              <a:lstStyle/>
              <a:p>
                <a:pPr>
                  <a:defRPr sz="1000"/>
                </a:pPr>
              </a:p>
            </p:txBody>
          </p:sp>
          <p:sp>
            <p:nvSpPr>
              <p:cNvPr id="347" name="Google Shape;8875;p86"/>
              <p:cNvSpPr/>
              <p:nvPr/>
            </p:nvSpPr>
            <p:spPr>
              <a:xfrm>
                <a:off x="219344" y="30304"/>
                <a:ext cx="46596" cy="465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31" y="0"/>
                    </a:moveTo>
                    <a:cubicBezTo>
                      <a:pt x="4978" y="0"/>
                      <a:pt x="0" y="4981"/>
                      <a:pt x="0" y="10964"/>
                    </a:cubicBezTo>
                    <a:lnTo>
                      <a:pt x="0" y="21600"/>
                    </a:lnTo>
                    <a:lnTo>
                      <a:pt x="21600" y="21600"/>
                    </a:lnTo>
                    <a:lnTo>
                      <a:pt x="21600" y="10964"/>
                    </a:lnTo>
                    <a:cubicBezTo>
                      <a:pt x="21600" y="4981"/>
                      <a:pt x="16611" y="0"/>
                      <a:pt x="10631" y="0"/>
                    </a:cubicBezTo>
                    <a:close/>
                  </a:path>
                </a:pathLst>
              </a:custGeom>
              <a:solidFill>
                <a:srgbClr val="002060"/>
              </a:solidFill>
              <a:ln w="12700" cap="flat">
                <a:noFill/>
                <a:miter lim="400000"/>
              </a:ln>
              <a:effectLst/>
            </p:spPr>
            <p:txBody>
              <a:bodyPr wrap="square" lIns="45719" tIns="45719" rIns="45719" bIns="45719" numCol="1" anchor="ctr">
                <a:noAutofit/>
              </a:bodyPr>
              <a:lstStyle/>
              <a:p>
                <a:pPr>
                  <a:defRPr sz="1000"/>
                </a:pPr>
              </a:p>
            </p:txBody>
          </p:sp>
          <p:sp>
            <p:nvSpPr>
              <p:cNvPr id="348" name="Google Shape;8876;p86"/>
              <p:cNvSpPr/>
              <p:nvPr/>
            </p:nvSpPr>
            <p:spPr>
              <a:xfrm>
                <a:off x="220778" y="202326"/>
                <a:ext cx="42295" cy="465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6948" y="18941"/>
                    </a:lnTo>
                    <a:cubicBezTo>
                      <a:pt x="8052" y="20935"/>
                      <a:pt x="9144" y="21600"/>
                      <a:pt x="10980" y="21600"/>
                    </a:cubicBezTo>
                    <a:cubicBezTo>
                      <a:pt x="12804" y="21600"/>
                      <a:pt x="14268" y="20935"/>
                      <a:pt x="14640" y="18941"/>
                    </a:cubicBezTo>
                    <a:lnTo>
                      <a:pt x="21600" y="0"/>
                    </a:lnTo>
                    <a:close/>
                  </a:path>
                </a:pathLst>
              </a:custGeom>
              <a:solidFill>
                <a:srgbClr val="002060"/>
              </a:solidFill>
              <a:ln w="12700" cap="flat">
                <a:noFill/>
                <a:miter lim="400000"/>
              </a:ln>
              <a:effectLst/>
            </p:spPr>
            <p:txBody>
              <a:bodyPr wrap="square" lIns="45719" tIns="45719" rIns="45719" bIns="45719" numCol="1" anchor="ctr">
                <a:noAutofit/>
              </a:bodyPr>
              <a:lstStyle/>
              <a:p>
                <a:pPr>
                  <a:defRPr sz="1000"/>
                </a:pPr>
              </a:p>
            </p:txBody>
          </p:sp>
        </p:grpSp>
      </p:grpSp>
      <p:grpSp>
        <p:nvGrpSpPr>
          <p:cNvPr id="355" name="Group 46"/>
          <p:cNvGrpSpPr/>
          <p:nvPr/>
        </p:nvGrpSpPr>
        <p:grpSpPr>
          <a:xfrm>
            <a:off x="2897781" y="896731"/>
            <a:ext cx="475591" cy="462763"/>
            <a:chOff x="0" y="0"/>
            <a:chExt cx="475590" cy="462762"/>
          </a:xfrm>
        </p:grpSpPr>
        <p:sp>
          <p:nvSpPr>
            <p:cNvPr id="351" name="Oval 80"/>
            <p:cNvSpPr/>
            <p:nvPr/>
          </p:nvSpPr>
          <p:spPr>
            <a:xfrm>
              <a:off x="-1" y="-1"/>
              <a:ext cx="475592" cy="462764"/>
            </a:xfrm>
            <a:prstGeom prst="ellipse">
              <a:avLst/>
            </a:prstGeom>
            <a:solidFill>
              <a:srgbClr val="FFFFFF"/>
            </a:solidFill>
            <a:ln w="38100" cap="flat">
              <a:solidFill>
                <a:srgbClr val="002060"/>
              </a:solidFill>
              <a:prstDash val="solid"/>
              <a:round/>
            </a:ln>
            <a:effectLst/>
          </p:spPr>
          <p:txBody>
            <a:bodyPr wrap="square" lIns="45719" tIns="45719" rIns="45719" bIns="45719" numCol="1" anchor="ctr">
              <a:noAutofit/>
            </a:bodyPr>
            <a:lstStyle/>
            <a:p>
              <a:pPr algn="ctr">
                <a:defRPr sz="1000">
                  <a:solidFill>
                    <a:srgbClr val="FFFFFF"/>
                  </a:solidFill>
                </a:defRPr>
              </a:pPr>
            </a:p>
          </p:txBody>
        </p:sp>
        <p:grpSp>
          <p:nvGrpSpPr>
            <p:cNvPr id="354" name="Google Shape;8345;p85"/>
            <p:cNvGrpSpPr/>
            <p:nvPr/>
          </p:nvGrpSpPr>
          <p:grpSpPr>
            <a:xfrm>
              <a:off x="109823" y="90554"/>
              <a:ext cx="274753" cy="275425"/>
              <a:chOff x="21" y="21"/>
              <a:chExt cx="274751" cy="275423"/>
            </a:xfrm>
          </p:grpSpPr>
          <p:sp>
            <p:nvSpPr>
              <p:cNvPr id="352" name="Google Shape;8346;p85"/>
              <p:cNvSpPr/>
              <p:nvPr/>
            </p:nvSpPr>
            <p:spPr>
              <a:xfrm>
                <a:off x="21" y="21"/>
                <a:ext cx="274752" cy="2754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45" y="0"/>
                    </a:moveTo>
                    <a:cubicBezTo>
                      <a:pt x="268" y="0"/>
                      <a:pt x="0" y="322"/>
                      <a:pt x="0" y="696"/>
                    </a:cubicBezTo>
                    <a:lnTo>
                      <a:pt x="0" y="20850"/>
                    </a:lnTo>
                    <a:cubicBezTo>
                      <a:pt x="0" y="21278"/>
                      <a:pt x="322" y="21600"/>
                      <a:pt x="645" y="21600"/>
                    </a:cubicBezTo>
                    <a:lnTo>
                      <a:pt x="20901" y="21600"/>
                    </a:lnTo>
                    <a:cubicBezTo>
                      <a:pt x="21278" y="21600"/>
                      <a:pt x="21600" y="21278"/>
                      <a:pt x="21600" y="20850"/>
                    </a:cubicBezTo>
                    <a:cubicBezTo>
                      <a:pt x="21545" y="20528"/>
                      <a:pt x="21278" y="20207"/>
                      <a:pt x="20901" y="20207"/>
                    </a:cubicBezTo>
                    <a:lnTo>
                      <a:pt x="1397" y="20207"/>
                    </a:lnTo>
                    <a:lnTo>
                      <a:pt x="1397" y="696"/>
                    </a:lnTo>
                    <a:cubicBezTo>
                      <a:pt x="1397" y="267"/>
                      <a:pt x="1074" y="0"/>
                      <a:pt x="645" y="0"/>
                    </a:cubicBezTo>
                    <a:close/>
                  </a:path>
                </a:pathLst>
              </a:custGeom>
              <a:solidFill>
                <a:srgbClr val="002060"/>
              </a:solidFill>
              <a:ln w="9525" cap="flat">
                <a:solidFill>
                  <a:srgbClr val="002060"/>
                </a:solidFill>
                <a:prstDash val="solid"/>
                <a:round/>
              </a:ln>
              <a:effectLst/>
            </p:spPr>
            <p:txBody>
              <a:bodyPr wrap="square" lIns="45719" tIns="45719" rIns="45719" bIns="45719" numCol="1" anchor="ctr">
                <a:noAutofit/>
              </a:bodyPr>
              <a:lstStyle/>
              <a:p>
                <a:pPr>
                  <a:defRPr sz="1000">
                    <a:latin typeface="Open Sans"/>
                    <a:ea typeface="Open Sans"/>
                    <a:cs typeface="Open Sans"/>
                    <a:sym typeface="Open Sans"/>
                  </a:defRPr>
                </a:pPr>
              </a:p>
            </p:txBody>
          </p:sp>
          <p:sp>
            <p:nvSpPr>
              <p:cNvPr id="353" name="Google Shape;8347;p85"/>
              <p:cNvSpPr/>
              <p:nvPr/>
            </p:nvSpPr>
            <p:spPr>
              <a:xfrm>
                <a:off x="38289" y="77923"/>
                <a:ext cx="236484" cy="12986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103" y="0"/>
                    </a:moveTo>
                    <a:cubicBezTo>
                      <a:pt x="17792" y="0"/>
                      <a:pt x="16732" y="1934"/>
                      <a:pt x="16732" y="4435"/>
                    </a:cubicBezTo>
                    <a:cubicBezTo>
                      <a:pt x="16732" y="5117"/>
                      <a:pt x="16793" y="5683"/>
                      <a:pt x="16918" y="6253"/>
                    </a:cubicBezTo>
                    <a:lnTo>
                      <a:pt x="13672" y="12279"/>
                    </a:lnTo>
                    <a:cubicBezTo>
                      <a:pt x="13359" y="11937"/>
                      <a:pt x="12985" y="11825"/>
                      <a:pt x="12673" y="11825"/>
                    </a:cubicBezTo>
                    <a:cubicBezTo>
                      <a:pt x="12360" y="11825"/>
                      <a:pt x="11924" y="11937"/>
                      <a:pt x="11611" y="12279"/>
                    </a:cubicBezTo>
                    <a:lnTo>
                      <a:pt x="9989" y="9209"/>
                    </a:lnTo>
                    <a:cubicBezTo>
                      <a:pt x="10177" y="8642"/>
                      <a:pt x="10238" y="7960"/>
                      <a:pt x="10238" y="7390"/>
                    </a:cubicBezTo>
                    <a:cubicBezTo>
                      <a:pt x="10238" y="5001"/>
                      <a:pt x="9115" y="2955"/>
                      <a:pt x="7803" y="2955"/>
                    </a:cubicBezTo>
                    <a:cubicBezTo>
                      <a:pt x="6493" y="2955"/>
                      <a:pt x="5370" y="5001"/>
                      <a:pt x="5370" y="7390"/>
                    </a:cubicBezTo>
                    <a:cubicBezTo>
                      <a:pt x="5370" y="8072"/>
                      <a:pt x="5495" y="8642"/>
                      <a:pt x="5619" y="9209"/>
                    </a:cubicBezTo>
                    <a:lnTo>
                      <a:pt x="3434" y="13189"/>
                    </a:lnTo>
                    <a:cubicBezTo>
                      <a:pt x="3121" y="12961"/>
                      <a:pt x="2746" y="12846"/>
                      <a:pt x="2435" y="12846"/>
                    </a:cubicBezTo>
                    <a:cubicBezTo>
                      <a:pt x="1123" y="12846"/>
                      <a:pt x="0" y="14780"/>
                      <a:pt x="0" y="17165"/>
                    </a:cubicBezTo>
                    <a:cubicBezTo>
                      <a:pt x="0" y="19669"/>
                      <a:pt x="1123" y="21600"/>
                      <a:pt x="2435" y="21600"/>
                    </a:cubicBezTo>
                    <a:cubicBezTo>
                      <a:pt x="3747" y="21600"/>
                      <a:pt x="4870" y="19669"/>
                      <a:pt x="4870" y="17165"/>
                    </a:cubicBezTo>
                    <a:cubicBezTo>
                      <a:pt x="4870" y="16483"/>
                      <a:pt x="4746" y="15917"/>
                      <a:pt x="4621" y="15347"/>
                    </a:cubicBezTo>
                    <a:lnTo>
                      <a:pt x="6804" y="11370"/>
                    </a:lnTo>
                    <a:cubicBezTo>
                      <a:pt x="7117" y="11597"/>
                      <a:pt x="7492" y="11825"/>
                      <a:pt x="7803" y="11825"/>
                    </a:cubicBezTo>
                    <a:cubicBezTo>
                      <a:pt x="8116" y="11825"/>
                      <a:pt x="8491" y="11597"/>
                      <a:pt x="8802" y="11370"/>
                    </a:cubicBezTo>
                    <a:lnTo>
                      <a:pt x="10488" y="14325"/>
                    </a:lnTo>
                    <a:cubicBezTo>
                      <a:pt x="10302" y="14892"/>
                      <a:pt x="10238" y="15689"/>
                      <a:pt x="10238" y="16256"/>
                    </a:cubicBezTo>
                    <a:cubicBezTo>
                      <a:pt x="10238" y="18645"/>
                      <a:pt x="11300" y="20579"/>
                      <a:pt x="12673" y="20579"/>
                    </a:cubicBezTo>
                    <a:cubicBezTo>
                      <a:pt x="13983" y="20579"/>
                      <a:pt x="15045" y="18645"/>
                      <a:pt x="15045" y="16256"/>
                    </a:cubicBezTo>
                    <a:cubicBezTo>
                      <a:pt x="15045" y="15462"/>
                      <a:pt x="14982" y="14892"/>
                      <a:pt x="14857" y="14325"/>
                    </a:cubicBezTo>
                    <a:lnTo>
                      <a:pt x="18105" y="8415"/>
                    </a:lnTo>
                    <a:cubicBezTo>
                      <a:pt x="18416" y="8642"/>
                      <a:pt x="18790" y="8869"/>
                      <a:pt x="19103" y="8869"/>
                    </a:cubicBezTo>
                    <a:cubicBezTo>
                      <a:pt x="20477" y="8869"/>
                      <a:pt x="21600" y="6820"/>
                      <a:pt x="21600" y="4435"/>
                    </a:cubicBezTo>
                    <a:cubicBezTo>
                      <a:pt x="21600" y="1934"/>
                      <a:pt x="20477" y="0"/>
                      <a:pt x="19103" y="0"/>
                    </a:cubicBezTo>
                    <a:close/>
                  </a:path>
                </a:pathLst>
              </a:custGeom>
              <a:solidFill>
                <a:srgbClr val="002060"/>
              </a:solidFill>
              <a:ln w="9525" cap="flat">
                <a:solidFill>
                  <a:srgbClr val="002060"/>
                </a:solidFill>
                <a:prstDash val="solid"/>
                <a:round/>
              </a:ln>
              <a:effectLst/>
            </p:spPr>
            <p:txBody>
              <a:bodyPr wrap="square" lIns="45719" tIns="45719" rIns="45719" bIns="45719" numCol="1" anchor="ctr">
                <a:noAutofit/>
              </a:bodyPr>
              <a:lstStyle/>
              <a:p>
                <a:pPr>
                  <a:defRPr sz="1000">
                    <a:latin typeface="Open Sans"/>
                    <a:ea typeface="Open Sans"/>
                    <a:cs typeface="Open Sans"/>
                    <a:sym typeface="Open Sans"/>
                  </a:defRPr>
                </a:pPr>
              </a:p>
            </p:txBody>
          </p:sp>
        </p:grpSp>
      </p:grpSp>
      <p:grpSp>
        <p:nvGrpSpPr>
          <p:cNvPr id="360" name="Group 50"/>
          <p:cNvGrpSpPr/>
          <p:nvPr/>
        </p:nvGrpSpPr>
        <p:grpSpPr>
          <a:xfrm>
            <a:off x="2107923" y="1774619"/>
            <a:ext cx="475591" cy="462763"/>
            <a:chOff x="0" y="0"/>
            <a:chExt cx="475590" cy="462762"/>
          </a:xfrm>
        </p:grpSpPr>
        <p:sp>
          <p:nvSpPr>
            <p:cNvPr id="356" name="Oval 76"/>
            <p:cNvSpPr/>
            <p:nvPr/>
          </p:nvSpPr>
          <p:spPr>
            <a:xfrm>
              <a:off x="-1" y="-1"/>
              <a:ext cx="475592" cy="462764"/>
            </a:xfrm>
            <a:prstGeom prst="ellipse">
              <a:avLst/>
            </a:prstGeom>
            <a:solidFill>
              <a:srgbClr val="FFFFFF"/>
            </a:solidFill>
            <a:ln w="38100" cap="flat">
              <a:solidFill>
                <a:srgbClr val="002060"/>
              </a:solidFill>
              <a:prstDash val="solid"/>
              <a:round/>
            </a:ln>
            <a:effectLst/>
          </p:spPr>
          <p:txBody>
            <a:bodyPr wrap="square" lIns="45719" tIns="45719" rIns="45719" bIns="45719" numCol="1" anchor="ctr">
              <a:noAutofit/>
            </a:bodyPr>
            <a:lstStyle/>
            <a:p>
              <a:pPr algn="ctr">
                <a:defRPr sz="1000">
                  <a:solidFill>
                    <a:srgbClr val="FFFFFF"/>
                  </a:solidFill>
                </a:defRPr>
              </a:pPr>
            </a:p>
          </p:txBody>
        </p:sp>
        <p:grpSp>
          <p:nvGrpSpPr>
            <p:cNvPr id="359" name="Google Shape;8929;p86"/>
            <p:cNvGrpSpPr/>
            <p:nvPr/>
          </p:nvGrpSpPr>
          <p:grpSpPr>
            <a:xfrm>
              <a:off x="104824" y="102588"/>
              <a:ext cx="265219" cy="265190"/>
              <a:chOff x="0" y="0"/>
              <a:chExt cx="265217" cy="265188"/>
            </a:xfrm>
          </p:grpSpPr>
          <p:sp>
            <p:nvSpPr>
              <p:cNvPr id="357" name="Google Shape;8930;p86"/>
              <p:cNvSpPr/>
              <p:nvPr/>
            </p:nvSpPr>
            <p:spPr>
              <a:xfrm>
                <a:off x="47322" y="47299"/>
                <a:ext cx="170599" cy="169885"/>
              </a:xfrm>
              <a:custGeom>
                <a:avLst/>
                <a:gdLst/>
                <a:ahLst/>
                <a:cxnLst>
                  <a:cxn ang="0">
                    <a:pos x="wd2" y="hd2"/>
                  </a:cxn>
                  <a:cxn ang="5400000">
                    <a:pos x="wd2" y="hd2"/>
                  </a:cxn>
                  <a:cxn ang="10800000">
                    <a:pos x="wd2" y="hd2"/>
                  </a:cxn>
                  <a:cxn ang="16200000">
                    <a:pos x="wd2" y="hd2"/>
                  </a:cxn>
                </a:cxnLst>
                <a:rect l="0" t="0" r="r" b="b"/>
                <a:pathLst>
                  <a:path w="21512" h="21600" fill="norm" stroke="1" extrusionOk="0">
                    <a:moveTo>
                      <a:pt x="10756" y="1915"/>
                    </a:moveTo>
                    <a:cubicBezTo>
                      <a:pt x="11298" y="1915"/>
                      <a:pt x="11748" y="2369"/>
                      <a:pt x="11748" y="2916"/>
                    </a:cubicBezTo>
                    <a:lnTo>
                      <a:pt x="11748" y="10480"/>
                    </a:lnTo>
                    <a:lnTo>
                      <a:pt x="15366" y="14125"/>
                    </a:lnTo>
                    <a:cubicBezTo>
                      <a:pt x="15816" y="14582"/>
                      <a:pt x="15816" y="15129"/>
                      <a:pt x="15366" y="15493"/>
                    </a:cubicBezTo>
                    <a:cubicBezTo>
                      <a:pt x="15185" y="15676"/>
                      <a:pt x="14936" y="15765"/>
                      <a:pt x="14686" y="15765"/>
                    </a:cubicBezTo>
                    <a:cubicBezTo>
                      <a:pt x="14439" y="15765"/>
                      <a:pt x="14190" y="15676"/>
                      <a:pt x="14009" y="15493"/>
                    </a:cubicBezTo>
                    <a:lnTo>
                      <a:pt x="10033" y="11484"/>
                    </a:lnTo>
                    <a:cubicBezTo>
                      <a:pt x="9852" y="11302"/>
                      <a:pt x="9760" y="11027"/>
                      <a:pt x="9760" y="10755"/>
                    </a:cubicBezTo>
                    <a:lnTo>
                      <a:pt x="9760" y="2916"/>
                    </a:lnTo>
                    <a:cubicBezTo>
                      <a:pt x="9760" y="2369"/>
                      <a:pt x="10213" y="1915"/>
                      <a:pt x="10756" y="1915"/>
                    </a:cubicBezTo>
                    <a:close/>
                    <a:moveTo>
                      <a:pt x="10756" y="0"/>
                    </a:moveTo>
                    <a:cubicBezTo>
                      <a:pt x="4791" y="0"/>
                      <a:pt x="0" y="4921"/>
                      <a:pt x="0" y="10845"/>
                    </a:cubicBezTo>
                    <a:cubicBezTo>
                      <a:pt x="0" y="16859"/>
                      <a:pt x="4880" y="21600"/>
                      <a:pt x="10756" y="21600"/>
                    </a:cubicBezTo>
                    <a:cubicBezTo>
                      <a:pt x="16631" y="21600"/>
                      <a:pt x="21511" y="16769"/>
                      <a:pt x="21511" y="10845"/>
                    </a:cubicBezTo>
                    <a:cubicBezTo>
                      <a:pt x="21600" y="4921"/>
                      <a:pt x="16720" y="0"/>
                      <a:pt x="10756" y="0"/>
                    </a:cubicBezTo>
                    <a:close/>
                  </a:path>
                </a:pathLst>
              </a:custGeom>
              <a:solidFill>
                <a:srgbClr val="002060"/>
              </a:solidFill>
              <a:ln w="12700" cap="flat">
                <a:noFill/>
                <a:miter lim="400000"/>
              </a:ln>
              <a:effectLst/>
            </p:spPr>
            <p:txBody>
              <a:bodyPr wrap="square" lIns="45719" tIns="45719" rIns="45719" bIns="45719" numCol="1" anchor="ctr">
                <a:noAutofit/>
              </a:bodyPr>
              <a:lstStyle/>
              <a:p>
                <a:pPr>
                  <a:defRPr sz="1000"/>
                </a:pPr>
              </a:p>
            </p:txBody>
          </p:sp>
          <p:sp>
            <p:nvSpPr>
              <p:cNvPr id="358" name="Google Shape;8931;p86"/>
              <p:cNvSpPr/>
              <p:nvPr/>
            </p:nvSpPr>
            <p:spPr>
              <a:xfrm>
                <a:off x="0" y="0"/>
                <a:ext cx="265218" cy="265189"/>
              </a:xfrm>
              <a:custGeom>
                <a:avLst/>
                <a:gdLst/>
                <a:ahLst/>
                <a:cxnLst>
                  <a:cxn ang="0">
                    <a:pos x="wd2" y="hd2"/>
                  </a:cxn>
                  <a:cxn ang="5400000">
                    <a:pos x="wd2" y="hd2"/>
                  </a:cxn>
                  <a:cxn ang="10800000">
                    <a:pos x="wd2" y="hd2"/>
                  </a:cxn>
                  <a:cxn ang="16200000">
                    <a:pos x="wd2" y="hd2"/>
                  </a:cxn>
                </a:cxnLst>
                <a:rect l="0" t="0" r="r" b="b"/>
                <a:pathLst>
                  <a:path w="21541" h="21600" fill="norm" stroke="1" extrusionOk="0">
                    <a:moveTo>
                      <a:pt x="10771" y="2509"/>
                    </a:moveTo>
                    <a:cubicBezTo>
                      <a:pt x="15312" y="2509"/>
                      <a:pt x="18980" y="6247"/>
                      <a:pt x="18980" y="10800"/>
                    </a:cubicBezTo>
                    <a:cubicBezTo>
                      <a:pt x="18980" y="15353"/>
                      <a:pt x="15371" y="19032"/>
                      <a:pt x="10771" y="19032"/>
                    </a:cubicBezTo>
                    <a:cubicBezTo>
                      <a:pt x="6288" y="19032"/>
                      <a:pt x="2563" y="15296"/>
                      <a:pt x="2563" y="10800"/>
                    </a:cubicBezTo>
                    <a:cubicBezTo>
                      <a:pt x="2563" y="6247"/>
                      <a:pt x="6229" y="2509"/>
                      <a:pt x="10771" y="2509"/>
                    </a:cubicBezTo>
                    <a:close/>
                    <a:moveTo>
                      <a:pt x="10771" y="0"/>
                    </a:moveTo>
                    <a:cubicBezTo>
                      <a:pt x="4891" y="0"/>
                      <a:pt x="0" y="4846"/>
                      <a:pt x="0" y="10800"/>
                    </a:cubicBezTo>
                    <a:cubicBezTo>
                      <a:pt x="0" y="16697"/>
                      <a:pt x="4891" y="21600"/>
                      <a:pt x="10771" y="21600"/>
                    </a:cubicBezTo>
                    <a:cubicBezTo>
                      <a:pt x="16651" y="21600"/>
                      <a:pt x="21541" y="16697"/>
                      <a:pt x="21541" y="10800"/>
                    </a:cubicBezTo>
                    <a:cubicBezTo>
                      <a:pt x="21600" y="4846"/>
                      <a:pt x="16709" y="0"/>
                      <a:pt x="10771" y="0"/>
                    </a:cubicBezTo>
                    <a:close/>
                  </a:path>
                </a:pathLst>
              </a:custGeom>
              <a:solidFill>
                <a:srgbClr val="002060"/>
              </a:solidFill>
              <a:ln w="12700" cap="flat">
                <a:noFill/>
                <a:miter lim="400000"/>
              </a:ln>
              <a:effectLst/>
            </p:spPr>
            <p:txBody>
              <a:bodyPr wrap="square" lIns="45719" tIns="45719" rIns="45719" bIns="45719" numCol="1" anchor="ctr">
                <a:noAutofit/>
              </a:bodyPr>
              <a:lstStyle/>
              <a:p>
                <a:pPr>
                  <a:defRPr sz="1000"/>
                </a:pPr>
              </a:p>
            </p:txBody>
          </p:sp>
        </p:grpSp>
      </p:grpSp>
      <p:sp>
        <p:nvSpPr>
          <p:cNvPr id="361" name="Oval 51"/>
          <p:cNvSpPr/>
          <p:nvPr/>
        </p:nvSpPr>
        <p:spPr>
          <a:xfrm>
            <a:off x="3132875" y="1698169"/>
            <a:ext cx="1593001" cy="1595276"/>
          </a:xfrm>
          <a:prstGeom prst="ellipse">
            <a:avLst/>
          </a:prstGeom>
          <a:solidFill>
            <a:srgbClr val="FFFFFF"/>
          </a:solidFill>
          <a:ln w="28575">
            <a:solidFill>
              <a:srgbClr val="002060"/>
            </a:solidFill>
          </a:ln>
        </p:spPr>
        <p:txBody>
          <a:bodyPr lIns="45719" rIns="45719" anchor="ctr"/>
          <a:lstStyle/>
          <a:p>
            <a:pPr algn="ctr">
              <a:defRPr sz="1000">
                <a:solidFill>
                  <a:srgbClr val="FFFFFF"/>
                </a:solidFill>
              </a:defRPr>
            </a:pPr>
          </a:p>
        </p:txBody>
      </p:sp>
      <p:grpSp>
        <p:nvGrpSpPr>
          <p:cNvPr id="370" name="Google Shape;8551;p85"/>
          <p:cNvGrpSpPr/>
          <p:nvPr/>
        </p:nvGrpSpPr>
        <p:grpSpPr>
          <a:xfrm>
            <a:off x="2665662" y="2288196"/>
            <a:ext cx="430678" cy="442197"/>
            <a:chOff x="36" y="37"/>
            <a:chExt cx="430677" cy="442196"/>
          </a:xfrm>
        </p:grpSpPr>
        <p:sp>
          <p:nvSpPr>
            <p:cNvPr id="362" name="Google Shape;8552;p85"/>
            <p:cNvSpPr/>
            <p:nvPr/>
          </p:nvSpPr>
          <p:spPr>
            <a:xfrm>
              <a:off x="163842" y="168217"/>
              <a:ext cx="100793" cy="1023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09" y="0"/>
                    <a:pt x="0" y="4965"/>
                    <a:pt x="0" y="10670"/>
                  </a:cubicBezTo>
                  <a:cubicBezTo>
                    <a:pt x="0" y="16635"/>
                    <a:pt x="4909" y="21600"/>
                    <a:pt x="10800" y="21600"/>
                  </a:cubicBezTo>
                  <a:cubicBezTo>
                    <a:pt x="16691" y="21600"/>
                    <a:pt x="21600" y="16635"/>
                    <a:pt x="21600" y="10670"/>
                  </a:cubicBezTo>
                  <a:cubicBezTo>
                    <a:pt x="21600" y="4965"/>
                    <a:pt x="16691" y="0"/>
                    <a:pt x="10800" y="0"/>
                  </a:cubicBezTo>
                  <a:close/>
                </a:path>
              </a:pathLst>
            </a:custGeom>
            <a:solidFill>
              <a:srgbClr val="009AF2"/>
            </a:solidFill>
            <a:ln w="9525" cap="flat">
              <a:solidFill>
                <a:srgbClr val="009AF2"/>
              </a:solidFill>
              <a:prstDash val="solid"/>
              <a:round/>
            </a:ln>
            <a:effectLst/>
          </p:spPr>
          <p:txBody>
            <a:bodyPr wrap="square" lIns="45719" tIns="45719" rIns="45719" bIns="45719" numCol="1" anchor="ctr">
              <a:noAutofit/>
            </a:bodyPr>
            <a:lstStyle/>
            <a:p>
              <a:pPr>
                <a:defRPr sz="1000"/>
              </a:pPr>
            </a:p>
          </p:txBody>
        </p:sp>
        <p:sp>
          <p:nvSpPr>
            <p:cNvPr id="363" name="Google Shape;8553;p85"/>
            <p:cNvSpPr/>
            <p:nvPr/>
          </p:nvSpPr>
          <p:spPr>
            <a:xfrm>
              <a:off x="49269" y="37"/>
              <a:ext cx="126027" cy="12935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11" y="0"/>
                    <a:pt x="0" y="4906"/>
                    <a:pt x="0" y="10797"/>
                  </a:cubicBezTo>
                  <a:cubicBezTo>
                    <a:pt x="0" y="16688"/>
                    <a:pt x="4911" y="21600"/>
                    <a:pt x="10800" y="21600"/>
                  </a:cubicBezTo>
                  <a:cubicBezTo>
                    <a:pt x="17082" y="21600"/>
                    <a:pt x="21600" y="16688"/>
                    <a:pt x="21600" y="10797"/>
                  </a:cubicBezTo>
                  <a:cubicBezTo>
                    <a:pt x="21600" y="4906"/>
                    <a:pt x="16689" y="0"/>
                    <a:pt x="10800" y="0"/>
                  </a:cubicBezTo>
                  <a:close/>
                </a:path>
              </a:pathLst>
            </a:custGeom>
            <a:solidFill>
              <a:srgbClr val="009AF2"/>
            </a:solidFill>
            <a:ln w="9525" cap="flat">
              <a:solidFill>
                <a:srgbClr val="009AF2"/>
              </a:solidFill>
              <a:prstDash val="solid"/>
              <a:round/>
            </a:ln>
            <a:effectLst/>
          </p:spPr>
          <p:txBody>
            <a:bodyPr wrap="square" lIns="45719" tIns="45719" rIns="45719" bIns="45719" numCol="1" anchor="ctr">
              <a:noAutofit/>
            </a:bodyPr>
            <a:lstStyle/>
            <a:p>
              <a:pPr>
                <a:defRPr sz="1000"/>
              </a:pPr>
            </a:p>
          </p:txBody>
        </p:sp>
        <p:sp>
          <p:nvSpPr>
            <p:cNvPr id="364" name="Google Shape;8554;p85"/>
            <p:cNvSpPr/>
            <p:nvPr/>
          </p:nvSpPr>
          <p:spPr>
            <a:xfrm>
              <a:off x="252053" y="37"/>
              <a:ext cx="125992" cy="12935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06" y="0"/>
                    <a:pt x="0" y="4906"/>
                    <a:pt x="0" y="10797"/>
                  </a:cubicBezTo>
                  <a:cubicBezTo>
                    <a:pt x="0" y="16688"/>
                    <a:pt x="4906" y="21600"/>
                    <a:pt x="10797" y="21600"/>
                  </a:cubicBezTo>
                  <a:cubicBezTo>
                    <a:pt x="16694" y="21600"/>
                    <a:pt x="21600" y="16688"/>
                    <a:pt x="21600" y="10797"/>
                  </a:cubicBezTo>
                  <a:cubicBezTo>
                    <a:pt x="21600" y="4906"/>
                    <a:pt x="16694" y="0"/>
                    <a:pt x="10797" y="0"/>
                  </a:cubicBezTo>
                  <a:close/>
                </a:path>
              </a:pathLst>
            </a:custGeom>
            <a:solidFill>
              <a:srgbClr val="009AF2"/>
            </a:solidFill>
            <a:ln w="9525" cap="flat">
              <a:solidFill>
                <a:srgbClr val="009AF2"/>
              </a:solidFill>
              <a:prstDash val="solid"/>
              <a:round/>
            </a:ln>
            <a:effectLst/>
          </p:spPr>
          <p:txBody>
            <a:bodyPr wrap="square" lIns="45719" tIns="45719" rIns="45719" bIns="45719" numCol="1" anchor="ctr">
              <a:noAutofit/>
            </a:bodyPr>
            <a:lstStyle/>
            <a:p>
              <a:pPr>
                <a:defRPr sz="1000"/>
              </a:pPr>
            </a:p>
          </p:txBody>
        </p:sp>
        <p:sp>
          <p:nvSpPr>
            <p:cNvPr id="365" name="Google Shape;8555;p85"/>
            <p:cNvSpPr/>
            <p:nvPr/>
          </p:nvSpPr>
          <p:spPr>
            <a:xfrm>
              <a:off x="182168" y="290516"/>
              <a:ext cx="60723" cy="376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0994" y="21600"/>
                  </a:lnTo>
                  <a:lnTo>
                    <a:pt x="21600" y="0"/>
                  </a:lnTo>
                  <a:cubicBezTo>
                    <a:pt x="18742" y="2700"/>
                    <a:pt x="15081" y="3386"/>
                    <a:pt x="10994" y="3386"/>
                  </a:cubicBezTo>
                  <a:cubicBezTo>
                    <a:pt x="7334" y="3386"/>
                    <a:pt x="3660" y="2036"/>
                    <a:pt x="0" y="0"/>
                  </a:cubicBezTo>
                  <a:close/>
                </a:path>
              </a:pathLst>
            </a:custGeom>
            <a:solidFill>
              <a:srgbClr val="009AF2"/>
            </a:solidFill>
            <a:ln w="9525" cap="flat">
              <a:solidFill>
                <a:srgbClr val="009AF2"/>
              </a:solidFill>
              <a:prstDash val="solid"/>
              <a:round/>
            </a:ln>
            <a:effectLst/>
          </p:spPr>
          <p:txBody>
            <a:bodyPr wrap="square" lIns="45719" tIns="45719" rIns="45719" bIns="45719" numCol="1" anchor="ctr">
              <a:noAutofit/>
            </a:bodyPr>
            <a:lstStyle/>
            <a:p>
              <a:pPr>
                <a:defRPr sz="1000"/>
              </a:pPr>
            </a:p>
          </p:txBody>
        </p:sp>
        <p:sp>
          <p:nvSpPr>
            <p:cNvPr id="366" name="Google Shape;8556;p85"/>
            <p:cNvSpPr/>
            <p:nvPr/>
          </p:nvSpPr>
          <p:spPr>
            <a:xfrm>
              <a:off x="100828" y="282303"/>
              <a:ext cx="101957" cy="15877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706" y="0"/>
                  </a:moveTo>
                  <a:cubicBezTo>
                    <a:pt x="3644" y="3037"/>
                    <a:pt x="0" y="7679"/>
                    <a:pt x="0" y="12641"/>
                  </a:cubicBezTo>
                  <a:lnTo>
                    <a:pt x="0" y="19838"/>
                  </a:lnTo>
                  <a:cubicBezTo>
                    <a:pt x="0" y="20798"/>
                    <a:pt x="1209" y="21600"/>
                    <a:pt x="2912" y="21600"/>
                  </a:cubicBezTo>
                  <a:lnTo>
                    <a:pt x="21600" y="21600"/>
                  </a:lnTo>
                  <a:lnTo>
                    <a:pt x="21600" y="9599"/>
                  </a:lnTo>
                  <a:lnTo>
                    <a:pt x="9706" y="0"/>
                  </a:lnTo>
                  <a:close/>
                </a:path>
              </a:pathLst>
            </a:custGeom>
            <a:solidFill>
              <a:srgbClr val="009AF2"/>
            </a:solidFill>
            <a:ln w="9525" cap="flat">
              <a:solidFill>
                <a:srgbClr val="009AF2"/>
              </a:solidFill>
              <a:prstDash val="solid"/>
              <a:round/>
            </a:ln>
            <a:effectLst/>
          </p:spPr>
          <p:txBody>
            <a:bodyPr wrap="square" lIns="45719" tIns="45719" rIns="45719" bIns="45719" numCol="1" anchor="ctr">
              <a:noAutofit/>
            </a:bodyPr>
            <a:lstStyle/>
            <a:p>
              <a:pPr>
                <a:defRPr sz="1000"/>
              </a:pPr>
            </a:p>
          </p:txBody>
        </p:sp>
        <p:sp>
          <p:nvSpPr>
            <p:cNvPr id="367" name="Google Shape;8557;p85"/>
            <p:cNvSpPr/>
            <p:nvPr/>
          </p:nvSpPr>
          <p:spPr>
            <a:xfrm>
              <a:off x="226855" y="283461"/>
              <a:ext cx="101921" cy="1587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890" y="0"/>
                  </a:moveTo>
                  <a:lnTo>
                    <a:pt x="0" y="9599"/>
                  </a:lnTo>
                  <a:lnTo>
                    <a:pt x="0" y="21600"/>
                  </a:lnTo>
                  <a:lnTo>
                    <a:pt x="18934" y="21600"/>
                  </a:lnTo>
                  <a:cubicBezTo>
                    <a:pt x="20390" y="21600"/>
                    <a:pt x="21600" y="20803"/>
                    <a:pt x="21600" y="19843"/>
                  </a:cubicBezTo>
                  <a:lnTo>
                    <a:pt x="21600" y="12641"/>
                  </a:lnTo>
                  <a:cubicBezTo>
                    <a:pt x="21361" y="7522"/>
                    <a:pt x="17716" y="2880"/>
                    <a:pt x="11890" y="0"/>
                  </a:cubicBezTo>
                  <a:close/>
                </a:path>
              </a:pathLst>
            </a:custGeom>
            <a:solidFill>
              <a:srgbClr val="009AF2"/>
            </a:solidFill>
            <a:ln w="9525" cap="flat">
              <a:solidFill>
                <a:srgbClr val="009AF2"/>
              </a:solidFill>
              <a:prstDash val="solid"/>
              <a:round/>
            </a:ln>
            <a:effectLst/>
          </p:spPr>
          <p:txBody>
            <a:bodyPr wrap="square" lIns="45719" tIns="45719" rIns="45719" bIns="45719" numCol="1" anchor="ctr">
              <a:noAutofit/>
            </a:bodyPr>
            <a:lstStyle/>
            <a:p>
              <a:pPr>
                <a:defRPr sz="1000"/>
              </a:pPr>
            </a:p>
          </p:txBody>
        </p:sp>
        <p:sp>
          <p:nvSpPr>
            <p:cNvPr id="368" name="Google Shape;8558;p85"/>
            <p:cNvSpPr/>
            <p:nvPr/>
          </p:nvSpPr>
          <p:spPr>
            <a:xfrm>
              <a:off x="230256" y="124688"/>
              <a:ext cx="200458" cy="1623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442" y="7511"/>
                  </a:moveTo>
                  <a:cubicBezTo>
                    <a:pt x="15308" y="7511"/>
                    <a:pt x="15923" y="8296"/>
                    <a:pt x="15923" y="9235"/>
                  </a:cubicBezTo>
                  <a:cubicBezTo>
                    <a:pt x="15923" y="10174"/>
                    <a:pt x="15308" y="10954"/>
                    <a:pt x="14442" y="10954"/>
                  </a:cubicBezTo>
                  <a:lnTo>
                    <a:pt x="11727" y="10954"/>
                  </a:lnTo>
                  <a:cubicBezTo>
                    <a:pt x="10986" y="10954"/>
                    <a:pt x="10367" y="10174"/>
                    <a:pt x="10367" y="9235"/>
                  </a:cubicBezTo>
                  <a:cubicBezTo>
                    <a:pt x="10367" y="8296"/>
                    <a:pt x="10986" y="7511"/>
                    <a:pt x="11727" y="7511"/>
                  </a:cubicBezTo>
                  <a:close/>
                  <a:moveTo>
                    <a:pt x="16170" y="0"/>
                  </a:moveTo>
                  <a:cubicBezTo>
                    <a:pt x="14442" y="2663"/>
                    <a:pt x="11973" y="4228"/>
                    <a:pt x="9133" y="4228"/>
                  </a:cubicBezTo>
                  <a:cubicBezTo>
                    <a:pt x="6296" y="4228"/>
                    <a:pt x="3828" y="2504"/>
                    <a:pt x="2100" y="313"/>
                  </a:cubicBezTo>
                  <a:cubicBezTo>
                    <a:pt x="1360" y="1098"/>
                    <a:pt x="619" y="1878"/>
                    <a:pt x="0" y="2817"/>
                  </a:cubicBezTo>
                  <a:cubicBezTo>
                    <a:pt x="3703" y="3756"/>
                    <a:pt x="6418" y="7824"/>
                    <a:pt x="6418" y="12991"/>
                  </a:cubicBezTo>
                  <a:cubicBezTo>
                    <a:pt x="6418" y="14556"/>
                    <a:pt x="6171" y="15967"/>
                    <a:pt x="5677" y="17218"/>
                  </a:cubicBezTo>
                  <a:cubicBezTo>
                    <a:pt x="7284" y="18470"/>
                    <a:pt x="8639" y="19876"/>
                    <a:pt x="9873" y="21600"/>
                  </a:cubicBezTo>
                  <a:lnTo>
                    <a:pt x="20244" y="21600"/>
                  </a:lnTo>
                  <a:cubicBezTo>
                    <a:pt x="20985" y="21600"/>
                    <a:pt x="21600" y="20815"/>
                    <a:pt x="21600" y="19876"/>
                  </a:cubicBezTo>
                  <a:lnTo>
                    <a:pt x="21600" y="12991"/>
                  </a:lnTo>
                  <a:cubicBezTo>
                    <a:pt x="21479" y="7511"/>
                    <a:pt x="19257" y="2817"/>
                    <a:pt x="16170" y="0"/>
                  </a:cubicBezTo>
                  <a:close/>
                </a:path>
              </a:pathLst>
            </a:custGeom>
            <a:solidFill>
              <a:srgbClr val="009AF2"/>
            </a:solidFill>
            <a:ln w="9525" cap="flat">
              <a:solidFill>
                <a:srgbClr val="009AF2"/>
              </a:solidFill>
              <a:prstDash val="solid"/>
              <a:round/>
            </a:ln>
            <a:effectLst/>
          </p:spPr>
          <p:txBody>
            <a:bodyPr wrap="square" lIns="45719" tIns="45719" rIns="45719" bIns="45719" numCol="1" anchor="ctr">
              <a:noAutofit/>
            </a:bodyPr>
            <a:lstStyle/>
            <a:p>
              <a:pPr>
                <a:defRPr sz="1000"/>
              </a:pPr>
            </a:p>
          </p:txBody>
        </p:sp>
        <p:sp>
          <p:nvSpPr>
            <p:cNvPr id="369" name="Google Shape;8559;p85"/>
            <p:cNvSpPr/>
            <p:nvPr/>
          </p:nvSpPr>
          <p:spPr>
            <a:xfrm>
              <a:off x="36" y="123531"/>
              <a:ext cx="198168" cy="16228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611" y="7667"/>
                  </a:moveTo>
                  <a:cubicBezTo>
                    <a:pt x="10360" y="7667"/>
                    <a:pt x="10986" y="8452"/>
                    <a:pt x="10986" y="9391"/>
                  </a:cubicBezTo>
                  <a:cubicBezTo>
                    <a:pt x="10986" y="10330"/>
                    <a:pt x="10360" y="11111"/>
                    <a:pt x="9611" y="11111"/>
                  </a:cubicBezTo>
                  <a:lnTo>
                    <a:pt x="6864" y="11111"/>
                  </a:lnTo>
                  <a:cubicBezTo>
                    <a:pt x="5993" y="11111"/>
                    <a:pt x="5366" y="10330"/>
                    <a:pt x="5366" y="9391"/>
                  </a:cubicBezTo>
                  <a:cubicBezTo>
                    <a:pt x="5366" y="8452"/>
                    <a:pt x="5993" y="7667"/>
                    <a:pt x="6864" y="7667"/>
                  </a:cubicBezTo>
                  <a:close/>
                  <a:moveTo>
                    <a:pt x="5243" y="0"/>
                  </a:moveTo>
                  <a:cubicBezTo>
                    <a:pt x="2120" y="2817"/>
                    <a:pt x="0" y="7513"/>
                    <a:pt x="0" y="12676"/>
                  </a:cubicBezTo>
                  <a:lnTo>
                    <a:pt x="0" y="19568"/>
                  </a:lnTo>
                  <a:cubicBezTo>
                    <a:pt x="0" y="20820"/>
                    <a:pt x="373" y="21600"/>
                    <a:pt x="1248" y="21600"/>
                  </a:cubicBezTo>
                  <a:lnTo>
                    <a:pt x="11609" y="21600"/>
                  </a:lnTo>
                  <a:cubicBezTo>
                    <a:pt x="12734" y="19722"/>
                    <a:pt x="14109" y="18157"/>
                    <a:pt x="15857" y="17217"/>
                  </a:cubicBezTo>
                  <a:cubicBezTo>
                    <a:pt x="15358" y="15811"/>
                    <a:pt x="15108" y="14554"/>
                    <a:pt x="15108" y="12989"/>
                  </a:cubicBezTo>
                  <a:cubicBezTo>
                    <a:pt x="15108" y="7980"/>
                    <a:pt x="17855" y="3757"/>
                    <a:pt x="21600" y="2817"/>
                  </a:cubicBezTo>
                  <a:cubicBezTo>
                    <a:pt x="20974" y="1719"/>
                    <a:pt x="20225" y="939"/>
                    <a:pt x="19476" y="154"/>
                  </a:cubicBezTo>
                  <a:cubicBezTo>
                    <a:pt x="17728" y="2504"/>
                    <a:pt x="15231" y="4070"/>
                    <a:pt x="12484" y="4070"/>
                  </a:cubicBezTo>
                  <a:cubicBezTo>
                    <a:pt x="9611" y="4070"/>
                    <a:pt x="7114" y="2504"/>
                    <a:pt x="5243" y="0"/>
                  </a:cubicBezTo>
                  <a:close/>
                </a:path>
              </a:pathLst>
            </a:custGeom>
            <a:solidFill>
              <a:srgbClr val="009AF2"/>
            </a:solidFill>
            <a:ln w="9525" cap="flat">
              <a:solidFill>
                <a:srgbClr val="009AF2"/>
              </a:solidFill>
              <a:prstDash val="solid"/>
              <a:round/>
            </a:ln>
            <a:effectLst/>
          </p:spPr>
          <p:txBody>
            <a:bodyPr wrap="square" lIns="45719" tIns="45719" rIns="45719" bIns="45719" numCol="1" anchor="ctr">
              <a:noAutofit/>
            </a:bodyPr>
            <a:lstStyle/>
            <a:p>
              <a:pPr>
                <a:defRPr sz="1000"/>
              </a:pPr>
            </a:p>
          </p:txBody>
        </p:sp>
      </p:grpSp>
      <p:pic>
        <p:nvPicPr>
          <p:cNvPr id="371" name="Picture 100" descr="Picture 100"/>
          <p:cNvPicPr>
            <a:picLocks noChangeAspect="1"/>
          </p:cNvPicPr>
          <p:nvPr/>
        </p:nvPicPr>
        <p:blipFill>
          <a:blip r:embed="rId7">
            <a:extLst/>
          </a:blip>
          <a:stretch>
            <a:fillRect/>
          </a:stretch>
        </p:blipFill>
        <p:spPr>
          <a:xfrm>
            <a:off x="3247165" y="1840533"/>
            <a:ext cx="1374127" cy="1308691"/>
          </a:xfrm>
          <a:prstGeom prst="rect">
            <a:avLst/>
          </a:prstGeom>
          <a:ln w="12700">
            <a:miter lim="400000"/>
          </a:ln>
        </p:spPr>
      </p:pic>
      <p:sp>
        <p:nvSpPr>
          <p:cNvPr id="372" name="Rectangle 101"/>
          <p:cNvSpPr txBox="1"/>
          <p:nvPr/>
        </p:nvSpPr>
        <p:spPr>
          <a:xfrm>
            <a:off x="4075125" y="3528579"/>
            <a:ext cx="5092561" cy="828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b="1" sz="1800">
                <a:solidFill>
                  <a:srgbClr val="002060"/>
                </a:solidFill>
                <a:latin typeface="Open Sans"/>
                <a:ea typeface="Open Sans"/>
                <a:cs typeface="Open Sans"/>
                <a:sym typeface="Open Sans"/>
              </a:defRPr>
            </a:pPr>
            <a:r>
              <a:t>Churn</a:t>
            </a:r>
            <a:r>
              <a:rPr baseline="30000"/>
              <a:t>*</a:t>
            </a:r>
            <a:r>
              <a:t>:</a:t>
            </a:r>
            <a:r>
              <a:rPr sz="1600">
                <a:solidFill>
                  <a:srgbClr val="00B0F0"/>
                </a:solidFill>
              </a:rPr>
              <a:t> </a:t>
            </a:r>
            <a:r>
              <a:rPr sz="1000"/>
              <a:t>No Value is generated from a customer in next 6M</a:t>
            </a:r>
            <a:endParaRPr>
              <a:solidFill>
                <a:srgbClr val="FFFFFF"/>
              </a:solidFill>
            </a:endParaRPr>
          </a:p>
          <a:p>
            <a:pPr>
              <a:defRPr b="1" sz="1000">
                <a:solidFill>
                  <a:srgbClr val="002060"/>
                </a:solidFill>
                <a:latin typeface="Open Sans"/>
                <a:ea typeface="Open Sans"/>
                <a:cs typeface="Open Sans"/>
                <a:sym typeface="Open Sans"/>
              </a:defRPr>
            </a:pPr>
          </a:p>
          <a:p>
            <a:pPr>
              <a:defRPr b="1" baseline="30000" i="1" sz="1000">
                <a:solidFill>
                  <a:srgbClr val="0070C0"/>
                </a:solidFill>
                <a:latin typeface="Open Sans"/>
                <a:ea typeface="Open Sans"/>
                <a:cs typeface="Open Sans"/>
                <a:sym typeface="Open Sans"/>
              </a:defRPr>
            </a:pPr>
            <a:r>
              <a:t>*</a:t>
            </a:r>
            <a:r>
              <a:rPr baseline="0"/>
              <a:t>Retention Rate = 1 - Churn</a:t>
            </a:r>
            <a:endParaRPr>
              <a:solidFill>
                <a:srgbClr val="FFFFFF"/>
              </a:solidFill>
            </a:endParaRPr>
          </a:p>
        </p:txBody>
      </p:sp>
      <p:sp>
        <p:nvSpPr>
          <p:cNvPr id="373" name="TextBox 20"/>
          <p:cNvSpPr txBox="1"/>
          <p:nvPr/>
        </p:nvSpPr>
        <p:spPr>
          <a:xfrm>
            <a:off x="45719" y="4540555"/>
            <a:ext cx="9052561"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lgn="ctr">
              <a:lnSpc>
                <a:spcPct val="150000"/>
              </a:lnSpc>
              <a:defRPr baseline="30000" i="1" sz="1800">
                <a:solidFill>
                  <a:srgbClr val="002060"/>
                </a:solidFill>
                <a:latin typeface="Open Sans"/>
                <a:ea typeface="Open Sans"/>
                <a:cs typeface="Open Sans"/>
                <a:sym typeface="Open Sans"/>
              </a:defRPr>
            </a:pPr>
            <a:r>
              <a:t>Developed using </a:t>
            </a:r>
            <a:r>
              <a:rPr b="1"/>
              <a:t> and  Cust. Base</a:t>
            </a:r>
            <a:r>
              <a:t>; With </a:t>
            </a:r>
            <a:r>
              <a:rPr b="1"/>
              <a:t>Next 12M Customer Value </a:t>
            </a:r>
            <a:r>
              <a:t>and </a:t>
            </a:r>
            <a:r>
              <a:rPr b="1"/>
              <a:t>Last 12M RFM Customer Behaviour </a:t>
            </a:r>
          </a:p>
        </p:txBody>
      </p:sp>
      <p:sp>
        <p:nvSpPr>
          <p:cNvPr id="374" name="Rounded Rectangle 26"/>
          <p:cNvSpPr txBox="1"/>
          <p:nvPr/>
        </p:nvSpPr>
        <p:spPr>
          <a:xfrm>
            <a:off x="-899" y="696679"/>
            <a:ext cx="1407979" cy="1463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300">
                <a:solidFill>
                  <a:srgbClr val="FF9300"/>
                </a:solidFill>
                <a:latin typeface="Open Sans"/>
                <a:ea typeface="Open Sans"/>
                <a:cs typeface="Open Sans"/>
                <a:sym typeface="Open Sans"/>
              </a:defRPr>
            </a:pPr>
            <a:r>
              <a:t>190+ </a:t>
            </a:r>
            <a:r>
              <a:rPr sz="1000"/>
              <a:t>Attributes </a:t>
            </a:r>
            <a:r>
              <a:rPr sz="1000">
                <a:solidFill>
                  <a:srgbClr val="242852"/>
                </a:solidFill>
              </a:rPr>
              <a:t>covering multiple dimensions of customer’s </a:t>
            </a:r>
            <a:r>
              <a:rPr sz="1000">
                <a:solidFill>
                  <a:srgbClr val="00B0F0"/>
                </a:solidFill>
              </a:rPr>
              <a:t>Profile/ Preferences </a:t>
            </a:r>
            <a:endParaRPr i="1" sz="500"/>
          </a:p>
          <a:p>
            <a:pPr>
              <a:defRPr b="1" i="1" sz="500">
                <a:solidFill>
                  <a:srgbClr val="FF9300"/>
                </a:solidFill>
                <a:latin typeface="Open Sans"/>
                <a:ea typeface="Open Sans"/>
                <a:cs typeface="Open Sans"/>
                <a:sym typeface="Open Sans"/>
              </a:defRPr>
            </a:pPr>
          </a:p>
          <a:p>
            <a:pPr>
              <a:defRPr b="1" i="1" sz="500">
                <a:solidFill>
                  <a:srgbClr val="FF9300"/>
                </a:solidFill>
                <a:latin typeface="Open Sans"/>
                <a:ea typeface="Open Sans"/>
                <a:cs typeface="Open Sans"/>
                <a:sym typeface="Open Sans"/>
              </a:defRPr>
            </a:pPr>
          </a:p>
          <a:p>
            <a:pPr>
              <a:defRPr b="1" i="1" sz="500">
                <a:solidFill>
                  <a:srgbClr val="FF9300"/>
                </a:solidFill>
                <a:latin typeface="Open Sans"/>
                <a:ea typeface="Open Sans"/>
                <a:cs typeface="Open Sans"/>
                <a:sym typeface="Open Sans"/>
              </a:defRPr>
            </a:pPr>
          </a:p>
          <a:p>
            <a:pPr>
              <a:defRPr b="1" i="1" sz="500">
                <a:solidFill>
                  <a:srgbClr val="FF9300"/>
                </a:solidFill>
                <a:latin typeface="Open Sans"/>
                <a:ea typeface="Open Sans"/>
                <a:cs typeface="Open Sans"/>
                <a:sym typeface="Open Sans"/>
              </a:defRPr>
            </a:pPr>
          </a:p>
          <a:p>
            <a:pPr>
              <a:defRPr b="1" i="1" sz="500">
                <a:solidFill>
                  <a:srgbClr val="FF9300"/>
                </a:solidFill>
                <a:latin typeface="Open Sans"/>
                <a:ea typeface="Open Sans"/>
                <a:cs typeface="Open Sans"/>
                <a:sym typeface="Open Sans"/>
              </a:defRPr>
            </a:pPr>
          </a:p>
          <a:p>
            <a:pPr>
              <a:defRPr b="1" i="1" sz="1000">
                <a:solidFill>
                  <a:srgbClr val="242852"/>
                </a:solidFill>
                <a:latin typeface="Open Sans"/>
                <a:ea typeface="Open Sans"/>
                <a:cs typeface="Open Sans"/>
                <a:sym typeface="Open Sans"/>
              </a:defRPr>
            </a:pPr>
            <a:r>
              <a:t>#towards@</a:t>
            </a:r>
            <a:r>
              <a:rPr sz="1200">
                <a:solidFill>
                  <a:srgbClr val="00B0F0"/>
                </a:solidFill>
              </a:rPr>
              <a:t>360°</a:t>
            </a:r>
          </a:p>
        </p:txBody>
      </p:sp>
      <p:sp>
        <p:nvSpPr>
          <p:cNvPr id="375" name="TextBox 1"/>
          <p:cNvSpPr txBox="1"/>
          <p:nvPr/>
        </p:nvSpPr>
        <p:spPr>
          <a:xfrm>
            <a:off x="7792719" y="3087502"/>
            <a:ext cx="1325834"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000">
                <a:solidFill>
                  <a:srgbClr val="002060"/>
                </a:solidFill>
                <a:latin typeface="Open Sans"/>
                <a:ea typeface="Open Sans"/>
                <a:cs typeface="Open Sans"/>
                <a:sym typeface="Open Sans"/>
              </a:defRPr>
            </a:lvl1pPr>
          </a:lstStyle>
          <a:p>
            <a:pPr/>
            <a:r>
              <a:t>*12.3 Cr Customers</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7" name="Rectangle 117"/>
          <p:cNvSpPr/>
          <p:nvPr/>
        </p:nvSpPr>
        <p:spPr>
          <a:xfrm>
            <a:off x="3963394" y="634810"/>
            <a:ext cx="5184002" cy="4239002"/>
          </a:xfrm>
          <a:prstGeom prst="rect">
            <a:avLst/>
          </a:prstGeom>
          <a:gradFill>
            <a:gsLst>
              <a:gs pos="2000">
                <a:srgbClr val="FFC39C"/>
              </a:gs>
              <a:gs pos="50000">
                <a:srgbClr val="FFD9C3"/>
              </a:gs>
              <a:gs pos="100000">
                <a:srgbClr val="FFECE2"/>
              </a:gs>
            </a:gsLst>
          </a:gradFill>
          <a:ln w="12700">
            <a:miter lim="400000"/>
          </a:ln>
        </p:spPr>
        <p:txBody>
          <a:bodyPr lIns="45719" rIns="45719" anchor="ctr"/>
          <a:lstStyle/>
          <a:p>
            <a:pPr algn="ctr">
              <a:defRPr sz="1000">
                <a:solidFill>
                  <a:srgbClr val="FFFFFF"/>
                </a:solidFill>
              </a:defRPr>
            </a:pPr>
          </a:p>
        </p:txBody>
      </p:sp>
      <p:sp>
        <p:nvSpPr>
          <p:cNvPr id="378" name="Rectangle 115"/>
          <p:cNvSpPr/>
          <p:nvPr/>
        </p:nvSpPr>
        <p:spPr>
          <a:xfrm>
            <a:off x="0" y="637081"/>
            <a:ext cx="3971646" cy="4239002"/>
          </a:xfrm>
          <a:prstGeom prst="rect">
            <a:avLst/>
          </a:prstGeom>
          <a:gradFill>
            <a:gsLst>
              <a:gs pos="0">
                <a:srgbClr val="92D0FF"/>
              </a:gs>
              <a:gs pos="50000">
                <a:srgbClr val="BDE1FF"/>
              </a:gs>
              <a:gs pos="100000">
                <a:srgbClr val="DEEFFF"/>
              </a:gs>
            </a:gsLst>
            <a:lin ang="10800000"/>
          </a:gradFill>
          <a:ln w="12700">
            <a:miter lim="400000"/>
          </a:ln>
        </p:spPr>
        <p:txBody>
          <a:bodyPr lIns="45719" rIns="45719" anchor="ctr"/>
          <a:lstStyle/>
          <a:p>
            <a:pPr algn="ctr">
              <a:defRPr sz="1000">
                <a:solidFill>
                  <a:srgbClr val="FFFFFF"/>
                </a:solidFill>
              </a:defRPr>
            </a:pPr>
          </a:p>
        </p:txBody>
      </p:sp>
      <p:sp>
        <p:nvSpPr>
          <p:cNvPr id="379" name="Slide Number Placeholder 3"/>
          <p:cNvSpPr txBox="1"/>
          <p:nvPr>
            <p:ph type="sldNum" sz="quarter" idx="4294967295"/>
          </p:nvPr>
        </p:nvSpPr>
        <p:spPr>
          <a:xfrm>
            <a:off x="11853513" y="6202479"/>
            <a:ext cx="203024" cy="288824"/>
          </a:xfrm>
          <a:prstGeom prst="rect">
            <a:avLst/>
          </a:prstGeom>
          <a:extLst>
            <a:ext uri="{C572A759-6A51-4108-AA02-DFA0A04FC94B}">
              <ma14:wrappingTextBoxFlag xmlns:ma14="http://schemas.microsoft.com/office/mac/drawingml/2011/main" val="1"/>
            </a:ext>
          </a:extLst>
        </p:spPr>
        <p:txBody>
          <a:bodyPr lIns="45719" tIns="45719" rIns="45719" bIns="45719"/>
          <a:lstStyle>
            <a:lvl1pPr algn="r" defTabSz="548599">
              <a:defRPr sz="1400"/>
            </a:lvl1pPr>
          </a:lstStyle>
          <a:p>
            <a:pPr/>
            <a:fld id="{86CB4B4D-7CA3-9044-876B-883B54F8677D}" type="slidenum"/>
          </a:p>
        </p:txBody>
      </p:sp>
      <p:sp>
        <p:nvSpPr>
          <p:cNvPr id="380" name="Title 1"/>
          <p:cNvSpPr txBox="1"/>
          <p:nvPr/>
        </p:nvSpPr>
        <p:spPr>
          <a:xfrm>
            <a:off x="9539" y="63083"/>
            <a:ext cx="8245941" cy="5511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ctr">
            <a:spAutoFit/>
          </a:bodyPr>
          <a:lstStyle/>
          <a:p>
            <a:pPr defTabSz="914309">
              <a:defRPr b="1" i="1" spc="-150" sz="2400">
                <a:solidFill>
                  <a:srgbClr val="242852"/>
                </a:solidFill>
                <a:latin typeface="Open Sans"/>
                <a:ea typeface="Open Sans"/>
                <a:cs typeface="Open Sans"/>
                <a:sym typeface="Open Sans"/>
              </a:defRPr>
            </a:pPr>
            <a:r>
              <a:t>Data Science Model ~ </a:t>
            </a:r>
            <a:r>
              <a:rPr>
                <a:solidFill>
                  <a:srgbClr val="00B0F0"/>
                </a:solidFill>
              </a:rPr>
              <a:t>Predictive</a:t>
            </a:r>
            <a:r>
              <a:t> Output</a:t>
            </a:r>
          </a:p>
        </p:txBody>
      </p:sp>
      <p:sp>
        <p:nvSpPr>
          <p:cNvPr id="381" name="Straight Connector 8"/>
          <p:cNvSpPr/>
          <p:nvPr/>
        </p:nvSpPr>
        <p:spPr>
          <a:xfrm>
            <a:off x="-12300" y="618293"/>
            <a:ext cx="9180002" cy="13502"/>
          </a:xfrm>
          <a:prstGeom prst="line">
            <a:avLst/>
          </a:prstGeom>
          <a:ln w="38100">
            <a:solidFill>
              <a:srgbClr val="072C62"/>
            </a:solidFill>
          </a:ln>
        </p:spPr>
        <p:txBody>
          <a:bodyPr lIns="45719" rIns="45719"/>
          <a:lstStyle/>
          <a:p>
            <a:pPr/>
          </a:p>
        </p:txBody>
      </p:sp>
      <p:sp>
        <p:nvSpPr>
          <p:cNvPr id="382" name="Pie 10"/>
          <p:cNvSpPr/>
          <p:nvPr/>
        </p:nvSpPr>
        <p:spPr>
          <a:xfrm>
            <a:off x="2620267" y="1315223"/>
            <a:ext cx="1328077" cy="25183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548" y="21600"/>
                </a:moveTo>
                <a:cubicBezTo>
                  <a:pt x="9647" y="21600"/>
                  <a:pt x="0" y="16765"/>
                  <a:pt x="0" y="10800"/>
                </a:cubicBezTo>
                <a:cubicBezTo>
                  <a:pt x="0" y="4835"/>
                  <a:pt x="9647" y="0"/>
                  <a:pt x="21548" y="0"/>
                </a:cubicBezTo>
                <a:lnTo>
                  <a:pt x="21600" y="10800"/>
                </a:lnTo>
                <a:close/>
              </a:path>
            </a:pathLst>
          </a:custGeom>
          <a:solidFill>
            <a:srgbClr val="FFFFFF"/>
          </a:solidFill>
          <a:ln w="28575">
            <a:solidFill>
              <a:srgbClr val="000000"/>
            </a:solidFill>
          </a:ln>
        </p:spPr>
        <p:txBody>
          <a:bodyPr lIns="45719" rIns="45719" anchor="ctr"/>
          <a:lstStyle/>
          <a:p>
            <a:pPr algn="ctr">
              <a:defRPr sz="1000"/>
            </a:pPr>
          </a:p>
        </p:txBody>
      </p:sp>
      <p:sp>
        <p:nvSpPr>
          <p:cNvPr id="383" name="TextBox 28"/>
          <p:cNvSpPr txBox="1"/>
          <p:nvPr/>
        </p:nvSpPr>
        <p:spPr>
          <a:xfrm>
            <a:off x="2001587" y="945685"/>
            <a:ext cx="941299" cy="535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r">
              <a:defRPr b="1" sz="900">
                <a:solidFill>
                  <a:srgbClr val="002060"/>
                </a:solidFill>
                <a:latin typeface="Open Sans Extrabold"/>
                <a:ea typeface="Open Sans Extrabold"/>
                <a:cs typeface="Open Sans Extrabold"/>
                <a:sym typeface="Open Sans Extrabold"/>
              </a:defRPr>
            </a:pPr>
            <a:r>
              <a:t>Frequency</a:t>
            </a:r>
            <a:r>
              <a:rPr b="0">
                <a:solidFill>
                  <a:srgbClr val="00B0F0"/>
                </a:solidFill>
                <a:latin typeface="Open Sans"/>
                <a:ea typeface="Open Sans"/>
                <a:cs typeface="Open Sans"/>
                <a:sym typeface="Open Sans"/>
              </a:rPr>
              <a:t> </a:t>
            </a:r>
            <a:r>
              <a:rPr b="0">
                <a:solidFill>
                  <a:srgbClr val="000000"/>
                </a:solidFill>
                <a:latin typeface="Open Sans"/>
                <a:ea typeface="Open Sans"/>
                <a:cs typeface="Open Sans"/>
                <a:sym typeface="Open Sans"/>
              </a:rPr>
              <a:t> </a:t>
            </a:r>
            <a:endParaRPr b="0">
              <a:solidFill>
                <a:srgbClr val="000000"/>
              </a:solidFill>
              <a:latin typeface="Open Sans"/>
              <a:ea typeface="Open Sans"/>
              <a:cs typeface="Open Sans"/>
              <a:sym typeface="Open Sans"/>
            </a:endParaRPr>
          </a:p>
          <a:p>
            <a:pPr>
              <a:defRPr sz="700">
                <a:solidFill>
                  <a:srgbClr val="111111"/>
                </a:solidFill>
                <a:latin typeface="Open Sans"/>
                <a:ea typeface="Open Sans"/>
                <a:cs typeface="Open Sans"/>
                <a:sym typeface="Open Sans"/>
              </a:defRPr>
            </a:pPr>
            <a:r>
              <a:t>How often a customer makes a transactions</a:t>
            </a:r>
          </a:p>
        </p:txBody>
      </p:sp>
      <p:sp>
        <p:nvSpPr>
          <p:cNvPr id="384" name="TextBox 41"/>
          <p:cNvSpPr txBox="1"/>
          <p:nvPr/>
        </p:nvSpPr>
        <p:spPr>
          <a:xfrm>
            <a:off x="1181809" y="1878578"/>
            <a:ext cx="941300" cy="535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r">
              <a:defRPr b="1" sz="900">
                <a:solidFill>
                  <a:srgbClr val="002060"/>
                </a:solidFill>
                <a:latin typeface="Open Sans Extrabold"/>
                <a:ea typeface="Open Sans Extrabold"/>
                <a:cs typeface="Open Sans Extrabold"/>
                <a:sym typeface="Open Sans Extrabold"/>
              </a:defRPr>
            </a:pPr>
            <a:r>
              <a:t>Recency</a:t>
            </a:r>
          </a:p>
          <a:p>
            <a:pPr>
              <a:defRPr sz="700">
                <a:solidFill>
                  <a:srgbClr val="111111"/>
                </a:solidFill>
                <a:latin typeface="Open Sans"/>
                <a:ea typeface="Open Sans"/>
                <a:cs typeface="Open Sans"/>
                <a:sym typeface="Open Sans"/>
              </a:defRPr>
            </a:pPr>
            <a:r>
              <a:t>How recently a customer has made a transactions</a:t>
            </a:r>
          </a:p>
        </p:txBody>
      </p:sp>
      <p:sp>
        <p:nvSpPr>
          <p:cNvPr id="385" name="TextBox 43"/>
          <p:cNvSpPr txBox="1"/>
          <p:nvPr/>
        </p:nvSpPr>
        <p:spPr>
          <a:xfrm>
            <a:off x="1178302" y="2894222"/>
            <a:ext cx="941299" cy="535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r">
              <a:defRPr b="1" sz="900">
                <a:solidFill>
                  <a:srgbClr val="002060"/>
                </a:solidFill>
                <a:latin typeface="Open Sans Extrabold"/>
                <a:ea typeface="Open Sans Extrabold"/>
                <a:cs typeface="Open Sans Extrabold"/>
                <a:sym typeface="Open Sans Extrabold"/>
              </a:defRPr>
            </a:pPr>
            <a:r>
              <a:t>Monetary</a:t>
            </a:r>
          </a:p>
          <a:p>
            <a:pPr>
              <a:defRPr sz="700">
                <a:solidFill>
                  <a:srgbClr val="111111"/>
                </a:solidFill>
                <a:latin typeface="Open Sans"/>
                <a:ea typeface="Open Sans"/>
                <a:cs typeface="Open Sans"/>
                <a:sym typeface="Open Sans"/>
              </a:defRPr>
            </a:pPr>
            <a:r>
              <a:t>How much money a customer spends on transactions</a:t>
            </a:r>
          </a:p>
        </p:txBody>
      </p:sp>
      <p:sp>
        <p:nvSpPr>
          <p:cNvPr id="386" name="TextBox 49"/>
          <p:cNvSpPr txBox="1"/>
          <p:nvPr/>
        </p:nvSpPr>
        <p:spPr>
          <a:xfrm>
            <a:off x="1462466" y="3868113"/>
            <a:ext cx="1405708" cy="4343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r">
              <a:defRPr b="1" sz="900">
                <a:solidFill>
                  <a:srgbClr val="002060"/>
                </a:solidFill>
                <a:latin typeface="Open Sans Extrabold"/>
                <a:ea typeface="Open Sans Extrabold"/>
                <a:cs typeface="Open Sans Extrabold"/>
                <a:sym typeface="Open Sans Extrabold"/>
              </a:defRPr>
            </a:pPr>
            <a:r>
              <a:t>Customer Demography</a:t>
            </a:r>
          </a:p>
          <a:p>
            <a:pPr>
              <a:defRPr sz="700">
                <a:latin typeface="Open Sans"/>
                <a:ea typeface="Open Sans"/>
                <a:cs typeface="Open Sans"/>
                <a:sym typeface="Open Sans"/>
              </a:defRPr>
            </a:pPr>
            <a:r>
              <a:t>Standard profiles of customers; Age, Vintage etc.</a:t>
            </a:r>
          </a:p>
        </p:txBody>
      </p:sp>
      <p:sp>
        <p:nvSpPr>
          <p:cNvPr id="387" name="Block Arc 18"/>
          <p:cNvSpPr/>
          <p:nvPr/>
        </p:nvSpPr>
        <p:spPr>
          <a:xfrm rot="16200000">
            <a:off x="1367872" y="1712343"/>
            <a:ext cx="3402154" cy="1742661"/>
          </a:xfrm>
          <a:custGeom>
            <a:avLst/>
            <a:gdLst/>
            <a:ahLst/>
            <a:cxnLst>
              <a:cxn ang="0">
                <a:pos x="wd2" y="hd2"/>
              </a:cxn>
              <a:cxn ang="5400000">
                <a:pos x="wd2" y="hd2"/>
              </a:cxn>
              <a:cxn ang="10800000">
                <a:pos x="wd2" y="hd2"/>
              </a:cxn>
              <a:cxn ang="16200000">
                <a:pos x="wd2" y="hd2"/>
              </a:cxn>
            </a:cxnLst>
            <a:rect l="0" t="0" r="r" b="b"/>
            <a:pathLst>
              <a:path w="21600" h="18686" fill="norm" stroke="1" extrusionOk="0">
                <a:moveTo>
                  <a:pt x="0" y="17724"/>
                </a:moveTo>
                <a:lnTo>
                  <a:pt x="0" y="17724"/>
                </a:lnTo>
                <a:cubicBezTo>
                  <a:pt x="1800" y="4540"/>
                  <a:pt x="8082" y="-2914"/>
                  <a:pt x="14031" y="1076"/>
                </a:cubicBezTo>
                <a:cubicBezTo>
                  <a:pt x="17703" y="3538"/>
                  <a:pt x="20556" y="9976"/>
                  <a:pt x="21600" y="18157"/>
                </a:cubicBezTo>
                <a:lnTo>
                  <a:pt x="20757" y="18686"/>
                </a:lnTo>
                <a:lnTo>
                  <a:pt x="20757" y="18686"/>
                </a:lnTo>
                <a:cubicBezTo>
                  <a:pt x="19228" y="6213"/>
                  <a:pt x="13517" y="-1094"/>
                  <a:pt x="8003" y="2364"/>
                </a:cubicBezTo>
                <a:cubicBezTo>
                  <a:pt x="4560" y="4523"/>
                  <a:pt x="1852" y="10540"/>
                  <a:pt x="837" y="18285"/>
                </a:cubicBezTo>
                <a:close/>
              </a:path>
            </a:pathLst>
          </a:custGeom>
          <a:solidFill>
            <a:srgbClr val="002060"/>
          </a:solidFill>
          <a:ln w="25400">
            <a:solidFill>
              <a:srgbClr val="002060"/>
            </a:solidFill>
          </a:ln>
        </p:spPr>
        <p:txBody>
          <a:bodyPr lIns="45719" rIns="45719" anchor="ctr"/>
          <a:lstStyle/>
          <a:p>
            <a:pPr algn="ctr">
              <a:defRPr sz="1000"/>
            </a:pPr>
          </a:p>
        </p:txBody>
      </p:sp>
      <p:grpSp>
        <p:nvGrpSpPr>
          <p:cNvPr id="390" name="Group 53"/>
          <p:cNvGrpSpPr/>
          <p:nvPr/>
        </p:nvGrpSpPr>
        <p:grpSpPr>
          <a:xfrm>
            <a:off x="2113296" y="2920203"/>
            <a:ext cx="475591" cy="462763"/>
            <a:chOff x="0" y="0"/>
            <a:chExt cx="475590" cy="462762"/>
          </a:xfrm>
        </p:grpSpPr>
        <p:sp>
          <p:nvSpPr>
            <p:cNvPr id="388" name="Oval 11"/>
            <p:cNvSpPr/>
            <p:nvPr/>
          </p:nvSpPr>
          <p:spPr>
            <a:xfrm>
              <a:off x="-1" y="-1"/>
              <a:ext cx="475592" cy="462764"/>
            </a:xfrm>
            <a:prstGeom prst="ellipse">
              <a:avLst/>
            </a:prstGeom>
            <a:solidFill>
              <a:srgbClr val="FFFFFF"/>
            </a:solidFill>
            <a:ln w="38100" cap="flat">
              <a:solidFill>
                <a:srgbClr val="002060"/>
              </a:solidFill>
              <a:prstDash val="solid"/>
              <a:round/>
            </a:ln>
            <a:effectLst/>
          </p:spPr>
          <p:txBody>
            <a:bodyPr wrap="square" lIns="45719" tIns="45719" rIns="45719" bIns="45719" numCol="1" anchor="ctr">
              <a:noAutofit/>
            </a:bodyPr>
            <a:lstStyle/>
            <a:p>
              <a:pPr algn="ctr">
                <a:defRPr sz="1000">
                  <a:solidFill>
                    <a:srgbClr val="FFFFFF"/>
                  </a:solidFill>
                </a:defRPr>
              </a:pPr>
            </a:p>
          </p:txBody>
        </p:sp>
        <p:pic>
          <p:nvPicPr>
            <p:cNvPr id="389" name="Picture 39" descr="Picture 39"/>
            <p:cNvPicPr>
              <a:picLocks noChangeAspect="1"/>
            </p:cNvPicPr>
            <p:nvPr/>
          </p:nvPicPr>
          <p:blipFill>
            <a:blip r:embed="rId2">
              <a:extLst/>
            </a:blip>
            <a:stretch>
              <a:fillRect/>
            </a:stretch>
          </p:blipFill>
          <p:spPr>
            <a:xfrm>
              <a:off x="104229" y="99566"/>
              <a:ext cx="260698" cy="260698"/>
            </a:xfrm>
            <a:prstGeom prst="rect">
              <a:avLst/>
            </a:prstGeom>
            <a:ln w="12700" cap="flat">
              <a:noFill/>
              <a:miter lim="400000"/>
            </a:ln>
            <a:effectLst/>
          </p:spPr>
        </p:pic>
      </p:grpSp>
      <p:grpSp>
        <p:nvGrpSpPr>
          <p:cNvPr id="401" name="Group 54"/>
          <p:cNvGrpSpPr/>
          <p:nvPr/>
        </p:nvGrpSpPr>
        <p:grpSpPr>
          <a:xfrm>
            <a:off x="2898444" y="3676069"/>
            <a:ext cx="475591" cy="462763"/>
            <a:chOff x="0" y="0"/>
            <a:chExt cx="475590" cy="462762"/>
          </a:xfrm>
        </p:grpSpPr>
        <p:sp>
          <p:nvSpPr>
            <p:cNvPr id="391" name="Oval 12"/>
            <p:cNvSpPr/>
            <p:nvPr/>
          </p:nvSpPr>
          <p:spPr>
            <a:xfrm>
              <a:off x="-1" y="-1"/>
              <a:ext cx="475592" cy="462764"/>
            </a:xfrm>
            <a:prstGeom prst="ellipse">
              <a:avLst/>
            </a:prstGeom>
            <a:solidFill>
              <a:srgbClr val="FFFFFF"/>
            </a:solidFill>
            <a:ln w="38100" cap="flat">
              <a:solidFill>
                <a:srgbClr val="002060"/>
              </a:solidFill>
              <a:prstDash val="solid"/>
              <a:round/>
            </a:ln>
            <a:effectLst/>
          </p:spPr>
          <p:txBody>
            <a:bodyPr wrap="square" lIns="45719" tIns="45719" rIns="45719" bIns="45719" numCol="1" anchor="ctr">
              <a:noAutofit/>
            </a:bodyPr>
            <a:lstStyle/>
            <a:p>
              <a:pPr algn="ctr">
                <a:defRPr sz="1000">
                  <a:solidFill>
                    <a:srgbClr val="FFFFFF"/>
                  </a:solidFill>
                </a:defRPr>
              </a:pPr>
            </a:p>
          </p:txBody>
        </p:sp>
        <p:grpSp>
          <p:nvGrpSpPr>
            <p:cNvPr id="400" name="Google Shape;8868;p86"/>
            <p:cNvGrpSpPr/>
            <p:nvPr/>
          </p:nvGrpSpPr>
          <p:grpSpPr>
            <a:xfrm>
              <a:off x="117440" y="90183"/>
              <a:ext cx="265941" cy="265394"/>
              <a:chOff x="0" y="0"/>
              <a:chExt cx="265939" cy="265393"/>
            </a:xfrm>
          </p:grpSpPr>
          <p:sp>
            <p:nvSpPr>
              <p:cNvPr id="392" name="Google Shape;8869;p86"/>
              <p:cNvSpPr/>
              <p:nvPr/>
            </p:nvSpPr>
            <p:spPr>
              <a:xfrm>
                <a:off x="55194" y="0"/>
                <a:ext cx="93895" cy="3101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376" y="0"/>
                    </a:moveTo>
                    <a:cubicBezTo>
                      <a:pt x="1376" y="0"/>
                      <a:pt x="0" y="4691"/>
                      <a:pt x="0" y="10618"/>
                    </a:cubicBezTo>
                    <a:lnTo>
                      <a:pt x="0" y="16101"/>
                    </a:lnTo>
                    <a:cubicBezTo>
                      <a:pt x="0" y="19096"/>
                      <a:pt x="827" y="21600"/>
                      <a:pt x="1816" y="21600"/>
                    </a:cubicBezTo>
                    <a:lnTo>
                      <a:pt x="19789" y="21600"/>
                    </a:lnTo>
                    <a:cubicBezTo>
                      <a:pt x="20778" y="21600"/>
                      <a:pt x="21600" y="19096"/>
                      <a:pt x="21600" y="16101"/>
                    </a:cubicBezTo>
                    <a:lnTo>
                      <a:pt x="21600" y="10618"/>
                    </a:lnTo>
                    <a:cubicBezTo>
                      <a:pt x="21600" y="4120"/>
                      <a:pt x="19951" y="127"/>
                      <a:pt x="18140" y="127"/>
                    </a:cubicBezTo>
                    <a:lnTo>
                      <a:pt x="3957" y="127"/>
                    </a:lnTo>
                    <a:cubicBezTo>
                      <a:pt x="3758" y="48"/>
                      <a:pt x="3564" y="0"/>
                      <a:pt x="3376" y="0"/>
                    </a:cubicBezTo>
                    <a:close/>
                  </a:path>
                </a:pathLst>
              </a:custGeom>
              <a:solidFill>
                <a:srgbClr val="002060"/>
              </a:solidFill>
              <a:ln w="12700" cap="flat">
                <a:noFill/>
                <a:miter lim="400000"/>
              </a:ln>
              <a:effectLst/>
            </p:spPr>
            <p:txBody>
              <a:bodyPr wrap="square" lIns="45719" tIns="45719" rIns="45719" bIns="45719" numCol="1" anchor="ctr">
                <a:noAutofit/>
              </a:bodyPr>
              <a:lstStyle/>
              <a:p>
                <a:pPr>
                  <a:defRPr sz="1000"/>
                </a:pPr>
              </a:p>
            </p:txBody>
          </p:sp>
          <p:sp>
            <p:nvSpPr>
              <p:cNvPr id="393" name="Google Shape;8870;p86"/>
              <p:cNvSpPr/>
              <p:nvPr/>
            </p:nvSpPr>
            <p:spPr>
              <a:xfrm>
                <a:off x="47322" y="138532"/>
                <a:ext cx="15040" cy="16473"/>
              </a:xfrm>
              <a:prstGeom prst="rect">
                <a:avLst/>
              </a:prstGeom>
              <a:solidFill>
                <a:srgbClr val="002060"/>
              </a:solidFill>
              <a:ln w="12700" cap="flat">
                <a:noFill/>
                <a:miter lim="400000"/>
              </a:ln>
              <a:effectLst/>
            </p:spPr>
            <p:txBody>
              <a:bodyPr wrap="square" lIns="45719" tIns="45719" rIns="45719" bIns="45719" numCol="1" anchor="ctr">
                <a:noAutofit/>
              </a:bodyPr>
              <a:lstStyle/>
              <a:p>
                <a:pPr>
                  <a:defRPr sz="1000"/>
                </a:pPr>
              </a:p>
            </p:txBody>
          </p:sp>
          <p:sp>
            <p:nvSpPr>
              <p:cNvPr id="394" name="Google Shape;8871;p86"/>
              <p:cNvSpPr/>
              <p:nvPr/>
            </p:nvSpPr>
            <p:spPr>
              <a:xfrm>
                <a:off x="47322" y="76876"/>
                <a:ext cx="15040" cy="15062"/>
              </a:xfrm>
              <a:prstGeom prst="rect">
                <a:avLst/>
              </a:prstGeom>
              <a:solidFill>
                <a:srgbClr val="002060"/>
              </a:solidFill>
              <a:ln w="12700" cap="flat">
                <a:noFill/>
                <a:miter lim="400000"/>
              </a:ln>
              <a:effectLst/>
            </p:spPr>
            <p:txBody>
              <a:bodyPr wrap="square" lIns="45719" tIns="45719" rIns="45719" bIns="45719" numCol="1" anchor="ctr">
                <a:noAutofit/>
              </a:bodyPr>
              <a:lstStyle/>
              <a:p>
                <a:pPr>
                  <a:defRPr sz="1000"/>
                </a:pPr>
              </a:p>
            </p:txBody>
          </p:sp>
          <p:sp>
            <p:nvSpPr>
              <p:cNvPr id="395" name="Google Shape;8872;p86"/>
              <p:cNvSpPr/>
              <p:nvPr/>
            </p:nvSpPr>
            <p:spPr>
              <a:xfrm>
                <a:off x="47322" y="202326"/>
                <a:ext cx="15040" cy="15040"/>
              </a:xfrm>
              <a:prstGeom prst="rect">
                <a:avLst/>
              </a:prstGeom>
              <a:solidFill>
                <a:srgbClr val="002060"/>
              </a:solidFill>
              <a:ln w="12700" cap="flat">
                <a:noFill/>
                <a:miter lim="400000"/>
              </a:ln>
              <a:effectLst/>
            </p:spPr>
            <p:txBody>
              <a:bodyPr wrap="square" lIns="45719" tIns="45719" rIns="45719" bIns="45719" numCol="1" anchor="ctr">
                <a:noAutofit/>
              </a:bodyPr>
              <a:lstStyle/>
              <a:p>
                <a:pPr>
                  <a:defRPr sz="1000"/>
                </a:pPr>
              </a:p>
            </p:txBody>
          </p:sp>
          <p:sp>
            <p:nvSpPr>
              <p:cNvPr id="396" name="Google Shape;8873;p86"/>
              <p:cNvSpPr/>
              <p:nvPr/>
            </p:nvSpPr>
            <p:spPr>
              <a:xfrm>
                <a:off x="0" y="15243"/>
                <a:ext cx="202851" cy="2501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402" y="4023"/>
                    </a:moveTo>
                    <a:cubicBezTo>
                      <a:pt x="17937" y="4023"/>
                      <a:pt x="18317" y="4332"/>
                      <a:pt x="18317" y="4703"/>
                    </a:cubicBezTo>
                    <a:cubicBezTo>
                      <a:pt x="18317" y="5074"/>
                      <a:pt x="17937" y="5385"/>
                      <a:pt x="17402" y="5385"/>
                    </a:cubicBezTo>
                    <a:lnTo>
                      <a:pt x="10839" y="5385"/>
                    </a:lnTo>
                    <a:cubicBezTo>
                      <a:pt x="10381" y="5385"/>
                      <a:pt x="9998" y="5074"/>
                      <a:pt x="9998" y="4703"/>
                    </a:cubicBezTo>
                    <a:cubicBezTo>
                      <a:pt x="9998" y="4332"/>
                      <a:pt x="10381" y="4023"/>
                      <a:pt x="10839" y="4023"/>
                    </a:cubicBezTo>
                    <a:close/>
                    <a:moveTo>
                      <a:pt x="7634" y="3960"/>
                    </a:moveTo>
                    <a:cubicBezTo>
                      <a:pt x="8092" y="3960"/>
                      <a:pt x="8472" y="4271"/>
                      <a:pt x="8472" y="4642"/>
                    </a:cubicBezTo>
                    <a:lnTo>
                      <a:pt x="8472" y="7365"/>
                    </a:lnTo>
                    <a:cubicBezTo>
                      <a:pt x="8472" y="7736"/>
                      <a:pt x="8092" y="8047"/>
                      <a:pt x="7634" y="8047"/>
                    </a:cubicBezTo>
                    <a:lnTo>
                      <a:pt x="4273" y="8047"/>
                    </a:lnTo>
                    <a:cubicBezTo>
                      <a:pt x="3816" y="8047"/>
                      <a:pt x="3435" y="7736"/>
                      <a:pt x="3435" y="7365"/>
                    </a:cubicBezTo>
                    <a:lnTo>
                      <a:pt x="3435" y="4642"/>
                    </a:lnTo>
                    <a:cubicBezTo>
                      <a:pt x="3435" y="4271"/>
                      <a:pt x="3816" y="3960"/>
                      <a:pt x="4273" y="3960"/>
                    </a:cubicBezTo>
                    <a:close/>
                    <a:moveTo>
                      <a:pt x="14197" y="6622"/>
                    </a:moveTo>
                    <a:cubicBezTo>
                      <a:pt x="14654" y="6622"/>
                      <a:pt x="15037" y="6931"/>
                      <a:pt x="15037" y="7365"/>
                    </a:cubicBezTo>
                    <a:cubicBezTo>
                      <a:pt x="15037" y="7736"/>
                      <a:pt x="14654" y="8047"/>
                      <a:pt x="14197" y="8047"/>
                    </a:cubicBezTo>
                    <a:lnTo>
                      <a:pt x="10839" y="8047"/>
                    </a:lnTo>
                    <a:cubicBezTo>
                      <a:pt x="10381" y="8047"/>
                      <a:pt x="9998" y="7736"/>
                      <a:pt x="9998" y="7365"/>
                    </a:cubicBezTo>
                    <a:cubicBezTo>
                      <a:pt x="9998" y="6931"/>
                      <a:pt x="10381" y="6622"/>
                      <a:pt x="10839" y="6622"/>
                    </a:cubicBezTo>
                    <a:close/>
                    <a:moveTo>
                      <a:pt x="17402" y="9345"/>
                    </a:moveTo>
                    <a:cubicBezTo>
                      <a:pt x="17937" y="9345"/>
                      <a:pt x="18317" y="9656"/>
                      <a:pt x="18317" y="10027"/>
                    </a:cubicBezTo>
                    <a:cubicBezTo>
                      <a:pt x="18317" y="10459"/>
                      <a:pt x="17937" y="10770"/>
                      <a:pt x="17402" y="10770"/>
                    </a:cubicBezTo>
                    <a:lnTo>
                      <a:pt x="10839" y="10770"/>
                    </a:lnTo>
                    <a:cubicBezTo>
                      <a:pt x="10381" y="10770"/>
                      <a:pt x="9998" y="10459"/>
                      <a:pt x="9998" y="10027"/>
                    </a:cubicBezTo>
                    <a:cubicBezTo>
                      <a:pt x="9998" y="9656"/>
                      <a:pt x="10381" y="9345"/>
                      <a:pt x="10839" y="9345"/>
                    </a:cubicBezTo>
                    <a:close/>
                    <a:moveTo>
                      <a:pt x="7634" y="9345"/>
                    </a:moveTo>
                    <a:cubicBezTo>
                      <a:pt x="8092" y="9345"/>
                      <a:pt x="8472" y="9656"/>
                      <a:pt x="8472" y="10027"/>
                    </a:cubicBezTo>
                    <a:lnTo>
                      <a:pt x="8472" y="12750"/>
                    </a:lnTo>
                    <a:cubicBezTo>
                      <a:pt x="8472" y="13121"/>
                      <a:pt x="8092" y="13430"/>
                      <a:pt x="7634" y="13430"/>
                    </a:cubicBezTo>
                    <a:lnTo>
                      <a:pt x="4273" y="13430"/>
                    </a:lnTo>
                    <a:cubicBezTo>
                      <a:pt x="3816" y="13430"/>
                      <a:pt x="3435" y="13121"/>
                      <a:pt x="3435" y="12750"/>
                    </a:cubicBezTo>
                    <a:lnTo>
                      <a:pt x="3435" y="10027"/>
                    </a:lnTo>
                    <a:cubicBezTo>
                      <a:pt x="3435" y="9656"/>
                      <a:pt x="3816" y="9345"/>
                      <a:pt x="4273" y="9345"/>
                    </a:cubicBezTo>
                    <a:close/>
                    <a:moveTo>
                      <a:pt x="14197" y="12068"/>
                    </a:moveTo>
                    <a:cubicBezTo>
                      <a:pt x="14654" y="12068"/>
                      <a:pt x="15037" y="12378"/>
                      <a:pt x="15037" y="12750"/>
                    </a:cubicBezTo>
                    <a:cubicBezTo>
                      <a:pt x="15037" y="13121"/>
                      <a:pt x="14654" y="13430"/>
                      <a:pt x="14197" y="13430"/>
                    </a:cubicBezTo>
                    <a:lnTo>
                      <a:pt x="10839" y="13430"/>
                    </a:lnTo>
                    <a:cubicBezTo>
                      <a:pt x="10381" y="13430"/>
                      <a:pt x="9998" y="13121"/>
                      <a:pt x="9998" y="12750"/>
                    </a:cubicBezTo>
                    <a:cubicBezTo>
                      <a:pt x="9998" y="12378"/>
                      <a:pt x="10381" y="12068"/>
                      <a:pt x="10839" y="12068"/>
                    </a:cubicBezTo>
                    <a:close/>
                    <a:moveTo>
                      <a:pt x="17402" y="14854"/>
                    </a:moveTo>
                    <a:cubicBezTo>
                      <a:pt x="17937" y="14854"/>
                      <a:pt x="18317" y="15164"/>
                      <a:pt x="18317" y="15535"/>
                    </a:cubicBezTo>
                    <a:cubicBezTo>
                      <a:pt x="18317" y="15907"/>
                      <a:pt x="17937" y="16215"/>
                      <a:pt x="17402" y="16215"/>
                    </a:cubicBezTo>
                    <a:lnTo>
                      <a:pt x="10839" y="16215"/>
                    </a:lnTo>
                    <a:cubicBezTo>
                      <a:pt x="10381" y="16215"/>
                      <a:pt x="9998" y="15907"/>
                      <a:pt x="9998" y="15535"/>
                    </a:cubicBezTo>
                    <a:cubicBezTo>
                      <a:pt x="9998" y="15164"/>
                      <a:pt x="10381" y="14854"/>
                      <a:pt x="10839" y="14854"/>
                    </a:cubicBezTo>
                    <a:close/>
                    <a:moveTo>
                      <a:pt x="7634" y="14793"/>
                    </a:moveTo>
                    <a:cubicBezTo>
                      <a:pt x="8092" y="14793"/>
                      <a:pt x="8472" y="15040"/>
                      <a:pt x="8472" y="15473"/>
                    </a:cubicBezTo>
                    <a:lnTo>
                      <a:pt x="8472" y="18135"/>
                    </a:lnTo>
                    <a:cubicBezTo>
                      <a:pt x="8472" y="18567"/>
                      <a:pt x="8092" y="18877"/>
                      <a:pt x="7634" y="18877"/>
                    </a:cubicBezTo>
                    <a:lnTo>
                      <a:pt x="4273" y="18877"/>
                    </a:lnTo>
                    <a:cubicBezTo>
                      <a:pt x="3816" y="18877"/>
                      <a:pt x="3435" y="18567"/>
                      <a:pt x="3435" y="18135"/>
                    </a:cubicBezTo>
                    <a:lnTo>
                      <a:pt x="3435" y="15473"/>
                    </a:lnTo>
                    <a:cubicBezTo>
                      <a:pt x="3435" y="15040"/>
                      <a:pt x="3816" y="14793"/>
                      <a:pt x="4273" y="14793"/>
                    </a:cubicBezTo>
                    <a:close/>
                    <a:moveTo>
                      <a:pt x="14197" y="17453"/>
                    </a:moveTo>
                    <a:cubicBezTo>
                      <a:pt x="14654" y="17453"/>
                      <a:pt x="15037" y="17763"/>
                      <a:pt x="15037" y="18135"/>
                    </a:cubicBezTo>
                    <a:cubicBezTo>
                      <a:pt x="15037" y="18567"/>
                      <a:pt x="14654" y="18877"/>
                      <a:pt x="14197" y="18877"/>
                    </a:cubicBezTo>
                    <a:lnTo>
                      <a:pt x="10839" y="18877"/>
                    </a:lnTo>
                    <a:cubicBezTo>
                      <a:pt x="10381" y="18877"/>
                      <a:pt x="9998" y="18567"/>
                      <a:pt x="9998" y="18135"/>
                    </a:cubicBezTo>
                    <a:cubicBezTo>
                      <a:pt x="9998" y="17763"/>
                      <a:pt x="10381" y="17453"/>
                      <a:pt x="10839" y="17453"/>
                    </a:cubicBezTo>
                    <a:close/>
                    <a:moveTo>
                      <a:pt x="2520" y="0"/>
                    </a:moveTo>
                    <a:cubicBezTo>
                      <a:pt x="1221" y="0"/>
                      <a:pt x="0" y="927"/>
                      <a:pt x="0" y="1980"/>
                    </a:cubicBezTo>
                    <a:lnTo>
                      <a:pt x="0" y="19557"/>
                    </a:lnTo>
                    <a:cubicBezTo>
                      <a:pt x="78" y="20673"/>
                      <a:pt x="1221" y="21600"/>
                      <a:pt x="2520" y="21600"/>
                    </a:cubicBezTo>
                    <a:lnTo>
                      <a:pt x="19158" y="21600"/>
                    </a:lnTo>
                    <a:cubicBezTo>
                      <a:pt x="20457" y="21600"/>
                      <a:pt x="21600" y="20673"/>
                      <a:pt x="21600" y="19557"/>
                    </a:cubicBezTo>
                    <a:lnTo>
                      <a:pt x="21600" y="1980"/>
                    </a:lnTo>
                    <a:cubicBezTo>
                      <a:pt x="21600" y="927"/>
                      <a:pt x="20457" y="0"/>
                      <a:pt x="19158" y="0"/>
                    </a:cubicBezTo>
                    <a:lnTo>
                      <a:pt x="17402" y="0"/>
                    </a:lnTo>
                    <a:lnTo>
                      <a:pt x="17402" y="680"/>
                    </a:lnTo>
                    <a:cubicBezTo>
                      <a:pt x="17402" y="1796"/>
                      <a:pt x="16258" y="2723"/>
                      <a:pt x="14960" y="2723"/>
                    </a:cubicBezTo>
                    <a:lnTo>
                      <a:pt x="6640" y="2723"/>
                    </a:lnTo>
                    <a:cubicBezTo>
                      <a:pt x="5344" y="2723"/>
                      <a:pt x="4198" y="1796"/>
                      <a:pt x="4198" y="680"/>
                    </a:cubicBezTo>
                    <a:lnTo>
                      <a:pt x="4198" y="0"/>
                    </a:lnTo>
                    <a:close/>
                  </a:path>
                </a:pathLst>
              </a:custGeom>
              <a:solidFill>
                <a:srgbClr val="002060"/>
              </a:solidFill>
              <a:ln w="12700" cap="flat">
                <a:noFill/>
                <a:miter lim="400000"/>
              </a:ln>
              <a:effectLst/>
            </p:spPr>
            <p:txBody>
              <a:bodyPr wrap="square" lIns="45719" tIns="45719" rIns="45719" bIns="45719" numCol="1" anchor="ctr">
                <a:noAutofit/>
              </a:bodyPr>
              <a:lstStyle/>
              <a:p>
                <a:pPr>
                  <a:defRPr sz="1000"/>
                </a:pPr>
              </a:p>
            </p:txBody>
          </p:sp>
          <p:sp>
            <p:nvSpPr>
              <p:cNvPr id="397" name="Google Shape;8874;p86"/>
              <p:cNvSpPr/>
              <p:nvPr/>
            </p:nvSpPr>
            <p:spPr>
              <a:xfrm>
                <a:off x="219344" y="91937"/>
                <a:ext cx="46596" cy="94624"/>
              </a:xfrm>
              <a:prstGeom prst="rect">
                <a:avLst/>
              </a:prstGeom>
              <a:solidFill>
                <a:srgbClr val="002060"/>
              </a:solidFill>
              <a:ln w="12700" cap="flat">
                <a:noFill/>
                <a:miter lim="400000"/>
              </a:ln>
              <a:effectLst/>
            </p:spPr>
            <p:txBody>
              <a:bodyPr wrap="square" lIns="45719" tIns="45719" rIns="45719" bIns="45719" numCol="1" anchor="ctr">
                <a:noAutofit/>
              </a:bodyPr>
              <a:lstStyle/>
              <a:p>
                <a:pPr>
                  <a:defRPr sz="1000"/>
                </a:pPr>
              </a:p>
            </p:txBody>
          </p:sp>
          <p:sp>
            <p:nvSpPr>
              <p:cNvPr id="398" name="Google Shape;8875;p86"/>
              <p:cNvSpPr/>
              <p:nvPr/>
            </p:nvSpPr>
            <p:spPr>
              <a:xfrm>
                <a:off x="219344" y="30304"/>
                <a:ext cx="46596" cy="465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31" y="0"/>
                    </a:moveTo>
                    <a:cubicBezTo>
                      <a:pt x="4978" y="0"/>
                      <a:pt x="0" y="4981"/>
                      <a:pt x="0" y="10964"/>
                    </a:cubicBezTo>
                    <a:lnTo>
                      <a:pt x="0" y="21600"/>
                    </a:lnTo>
                    <a:lnTo>
                      <a:pt x="21600" y="21600"/>
                    </a:lnTo>
                    <a:lnTo>
                      <a:pt x="21600" y="10964"/>
                    </a:lnTo>
                    <a:cubicBezTo>
                      <a:pt x="21600" y="4981"/>
                      <a:pt x="16611" y="0"/>
                      <a:pt x="10631" y="0"/>
                    </a:cubicBezTo>
                    <a:close/>
                  </a:path>
                </a:pathLst>
              </a:custGeom>
              <a:solidFill>
                <a:srgbClr val="002060"/>
              </a:solidFill>
              <a:ln w="12700" cap="flat">
                <a:noFill/>
                <a:miter lim="400000"/>
              </a:ln>
              <a:effectLst/>
            </p:spPr>
            <p:txBody>
              <a:bodyPr wrap="square" lIns="45719" tIns="45719" rIns="45719" bIns="45719" numCol="1" anchor="ctr">
                <a:noAutofit/>
              </a:bodyPr>
              <a:lstStyle/>
              <a:p>
                <a:pPr>
                  <a:defRPr sz="1000"/>
                </a:pPr>
              </a:p>
            </p:txBody>
          </p:sp>
          <p:sp>
            <p:nvSpPr>
              <p:cNvPr id="399" name="Google Shape;8876;p86"/>
              <p:cNvSpPr/>
              <p:nvPr/>
            </p:nvSpPr>
            <p:spPr>
              <a:xfrm>
                <a:off x="220778" y="202326"/>
                <a:ext cx="42295" cy="465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6948" y="18941"/>
                    </a:lnTo>
                    <a:cubicBezTo>
                      <a:pt x="8052" y="20935"/>
                      <a:pt x="9144" y="21600"/>
                      <a:pt x="10980" y="21600"/>
                    </a:cubicBezTo>
                    <a:cubicBezTo>
                      <a:pt x="12804" y="21600"/>
                      <a:pt x="14268" y="20935"/>
                      <a:pt x="14640" y="18941"/>
                    </a:cubicBezTo>
                    <a:lnTo>
                      <a:pt x="21600" y="0"/>
                    </a:lnTo>
                    <a:close/>
                  </a:path>
                </a:pathLst>
              </a:custGeom>
              <a:solidFill>
                <a:srgbClr val="002060"/>
              </a:solidFill>
              <a:ln w="12700" cap="flat">
                <a:noFill/>
                <a:miter lim="400000"/>
              </a:ln>
              <a:effectLst/>
            </p:spPr>
            <p:txBody>
              <a:bodyPr wrap="square" lIns="45719" tIns="45719" rIns="45719" bIns="45719" numCol="1" anchor="ctr">
                <a:noAutofit/>
              </a:bodyPr>
              <a:lstStyle/>
              <a:p>
                <a:pPr>
                  <a:defRPr sz="1000"/>
                </a:pPr>
              </a:p>
            </p:txBody>
          </p:sp>
        </p:grpSp>
      </p:grpSp>
      <p:grpSp>
        <p:nvGrpSpPr>
          <p:cNvPr id="406" name="Group 48"/>
          <p:cNvGrpSpPr/>
          <p:nvPr/>
        </p:nvGrpSpPr>
        <p:grpSpPr>
          <a:xfrm>
            <a:off x="2898445" y="1016891"/>
            <a:ext cx="475591" cy="462763"/>
            <a:chOff x="0" y="0"/>
            <a:chExt cx="475590" cy="462762"/>
          </a:xfrm>
        </p:grpSpPr>
        <p:sp>
          <p:nvSpPr>
            <p:cNvPr id="402" name="Oval 9"/>
            <p:cNvSpPr/>
            <p:nvPr/>
          </p:nvSpPr>
          <p:spPr>
            <a:xfrm>
              <a:off x="-1" y="-1"/>
              <a:ext cx="475592" cy="462764"/>
            </a:xfrm>
            <a:prstGeom prst="ellipse">
              <a:avLst/>
            </a:prstGeom>
            <a:solidFill>
              <a:srgbClr val="FFFFFF"/>
            </a:solidFill>
            <a:ln w="38100" cap="flat">
              <a:solidFill>
                <a:srgbClr val="002060"/>
              </a:solidFill>
              <a:prstDash val="solid"/>
              <a:round/>
            </a:ln>
            <a:effectLst/>
          </p:spPr>
          <p:txBody>
            <a:bodyPr wrap="square" lIns="45719" tIns="45719" rIns="45719" bIns="45719" numCol="1" anchor="ctr">
              <a:noAutofit/>
            </a:bodyPr>
            <a:lstStyle/>
            <a:p>
              <a:pPr algn="ctr">
                <a:defRPr sz="1000">
                  <a:solidFill>
                    <a:srgbClr val="FFFFFF"/>
                  </a:solidFill>
                </a:defRPr>
              </a:pPr>
            </a:p>
          </p:txBody>
        </p:sp>
        <p:grpSp>
          <p:nvGrpSpPr>
            <p:cNvPr id="405" name="Google Shape;8345;p85"/>
            <p:cNvGrpSpPr/>
            <p:nvPr/>
          </p:nvGrpSpPr>
          <p:grpSpPr>
            <a:xfrm>
              <a:off x="109823" y="90554"/>
              <a:ext cx="274753" cy="275425"/>
              <a:chOff x="21" y="21"/>
              <a:chExt cx="274751" cy="275423"/>
            </a:xfrm>
          </p:grpSpPr>
          <p:sp>
            <p:nvSpPr>
              <p:cNvPr id="403" name="Google Shape;8346;p85"/>
              <p:cNvSpPr/>
              <p:nvPr/>
            </p:nvSpPr>
            <p:spPr>
              <a:xfrm>
                <a:off x="21" y="21"/>
                <a:ext cx="274752" cy="2754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45" y="0"/>
                    </a:moveTo>
                    <a:cubicBezTo>
                      <a:pt x="268" y="0"/>
                      <a:pt x="0" y="322"/>
                      <a:pt x="0" y="696"/>
                    </a:cubicBezTo>
                    <a:lnTo>
                      <a:pt x="0" y="20850"/>
                    </a:lnTo>
                    <a:cubicBezTo>
                      <a:pt x="0" y="21278"/>
                      <a:pt x="322" y="21600"/>
                      <a:pt x="645" y="21600"/>
                    </a:cubicBezTo>
                    <a:lnTo>
                      <a:pt x="20901" y="21600"/>
                    </a:lnTo>
                    <a:cubicBezTo>
                      <a:pt x="21278" y="21600"/>
                      <a:pt x="21600" y="21278"/>
                      <a:pt x="21600" y="20850"/>
                    </a:cubicBezTo>
                    <a:cubicBezTo>
                      <a:pt x="21545" y="20528"/>
                      <a:pt x="21278" y="20207"/>
                      <a:pt x="20901" y="20207"/>
                    </a:cubicBezTo>
                    <a:lnTo>
                      <a:pt x="1397" y="20207"/>
                    </a:lnTo>
                    <a:lnTo>
                      <a:pt x="1397" y="696"/>
                    </a:lnTo>
                    <a:cubicBezTo>
                      <a:pt x="1397" y="267"/>
                      <a:pt x="1074" y="0"/>
                      <a:pt x="645" y="0"/>
                    </a:cubicBezTo>
                    <a:close/>
                  </a:path>
                </a:pathLst>
              </a:custGeom>
              <a:solidFill>
                <a:srgbClr val="002060"/>
              </a:solidFill>
              <a:ln w="9525" cap="flat">
                <a:solidFill>
                  <a:srgbClr val="002060"/>
                </a:solidFill>
                <a:prstDash val="solid"/>
                <a:round/>
              </a:ln>
              <a:effectLst/>
            </p:spPr>
            <p:txBody>
              <a:bodyPr wrap="square" lIns="45719" tIns="45719" rIns="45719" bIns="45719" numCol="1" anchor="ctr">
                <a:noAutofit/>
              </a:bodyPr>
              <a:lstStyle/>
              <a:p>
                <a:pPr>
                  <a:defRPr sz="1000">
                    <a:latin typeface="Open Sans"/>
                    <a:ea typeface="Open Sans"/>
                    <a:cs typeface="Open Sans"/>
                    <a:sym typeface="Open Sans"/>
                  </a:defRPr>
                </a:pPr>
              </a:p>
            </p:txBody>
          </p:sp>
          <p:sp>
            <p:nvSpPr>
              <p:cNvPr id="404" name="Google Shape;8347;p85"/>
              <p:cNvSpPr/>
              <p:nvPr/>
            </p:nvSpPr>
            <p:spPr>
              <a:xfrm>
                <a:off x="38289" y="77923"/>
                <a:ext cx="236484" cy="12986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103" y="0"/>
                    </a:moveTo>
                    <a:cubicBezTo>
                      <a:pt x="17792" y="0"/>
                      <a:pt x="16732" y="1934"/>
                      <a:pt x="16732" y="4435"/>
                    </a:cubicBezTo>
                    <a:cubicBezTo>
                      <a:pt x="16732" y="5117"/>
                      <a:pt x="16793" y="5683"/>
                      <a:pt x="16918" y="6253"/>
                    </a:cubicBezTo>
                    <a:lnTo>
                      <a:pt x="13672" y="12279"/>
                    </a:lnTo>
                    <a:cubicBezTo>
                      <a:pt x="13359" y="11937"/>
                      <a:pt x="12985" y="11825"/>
                      <a:pt x="12673" y="11825"/>
                    </a:cubicBezTo>
                    <a:cubicBezTo>
                      <a:pt x="12360" y="11825"/>
                      <a:pt x="11924" y="11937"/>
                      <a:pt x="11611" y="12279"/>
                    </a:cubicBezTo>
                    <a:lnTo>
                      <a:pt x="9989" y="9209"/>
                    </a:lnTo>
                    <a:cubicBezTo>
                      <a:pt x="10177" y="8642"/>
                      <a:pt x="10238" y="7960"/>
                      <a:pt x="10238" y="7390"/>
                    </a:cubicBezTo>
                    <a:cubicBezTo>
                      <a:pt x="10238" y="5001"/>
                      <a:pt x="9115" y="2955"/>
                      <a:pt x="7803" y="2955"/>
                    </a:cubicBezTo>
                    <a:cubicBezTo>
                      <a:pt x="6493" y="2955"/>
                      <a:pt x="5370" y="5001"/>
                      <a:pt x="5370" y="7390"/>
                    </a:cubicBezTo>
                    <a:cubicBezTo>
                      <a:pt x="5370" y="8072"/>
                      <a:pt x="5495" y="8642"/>
                      <a:pt x="5619" y="9209"/>
                    </a:cubicBezTo>
                    <a:lnTo>
                      <a:pt x="3434" y="13189"/>
                    </a:lnTo>
                    <a:cubicBezTo>
                      <a:pt x="3121" y="12961"/>
                      <a:pt x="2746" y="12846"/>
                      <a:pt x="2435" y="12846"/>
                    </a:cubicBezTo>
                    <a:cubicBezTo>
                      <a:pt x="1123" y="12846"/>
                      <a:pt x="0" y="14780"/>
                      <a:pt x="0" y="17165"/>
                    </a:cubicBezTo>
                    <a:cubicBezTo>
                      <a:pt x="0" y="19669"/>
                      <a:pt x="1123" y="21600"/>
                      <a:pt x="2435" y="21600"/>
                    </a:cubicBezTo>
                    <a:cubicBezTo>
                      <a:pt x="3747" y="21600"/>
                      <a:pt x="4870" y="19669"/>
                      <a:pt x="4870" y="17165"/>
                    </a:cubicBezTo>
                    <a:cubicBezTo>
                      <a:pt x="4870" y="16483"/>
                      <a:pt x="4746" y="15917"/>
                      <a:pt x="4621" y="15347"/>
                    </a:cubicBezTo>
                    <a:lnTo>
                      <a:pt x="6804" y="11370"/>
                    </a:lnTo>
                    <a:cubicBezTo>
                      <a:pt x="7117" y="11597"/>
                      <a:pt x="7492" y="11825"/>
                      <a:pt x="7803" y="11825"/>
                    </a:cubicBezTo>
                    <a:cubicBezTo>
                      <a:pt x="8116" y="11825"/>
                      <a:pt x="8491" y="11597"/>
                      <a:pt x="8802" y="11370"/>
                    </a:cubicBezTo>
                    <a:lnTo>
                      <a:pt x="10488" y="14325"/>
                    </a:lnTo>
                    <a:cubicBezTo>
                      <a:pt x="10302" y="14892"/>
                      <a:pt x="10238" y="15689"/>
                      <a:pt x="10238" y="16256"/>
                    </a:cubicBezTo>
                    <a:cubicBezTo>
                      <a:pt x="10238" y="18645"/>
                      <a:pt x="11300" y="20579"/>
                      <a:pt x="12673" y="20579"/>
                    </a:cubicBezTo>
                    <a:cubicBezTo>
                      <a:pt x="13983" y="20579"/>
                      <a:pt x="15045" y="18645"/>
                      <a:pt x="15045" y="16256"/>
                    </a:cubicBezTo>
                    <a:cubicBezTo>
                      <a:pt x="15045" y="15462"/>
                      <a:pt x="14982" y="14892"/>
                      <a:pt x="14857" y="14325"/>
                    </a:cubicBezTo>
                    <a:lnTo>
                      <a:pt x="18105" y="8415"/>
                    </a:lnTo>
                    <a:cubicBezTo>
                      <a:pt x="18416" y="8642"/>
                      <a:pt x="18790" y="8869"/>
                      <a:pt x="19103" y="8869"/>
                    </a:cubicBezTo>
                    <a:cubicBezTo>
                      <a:pt x="20477" y="8869"/>
                      <a:pt x="21600" y="6820"/>
                      <a:pt x="21600" y="4435"/>
                    </a:cubicBezTo>
                    <a:cubicBezTo>
                      <a:pt x="21600" y="1934"/>
                      <a:pt x="20477" y="0"/>
                      <a:pt x="19103" y="0"/>
                    </a:cubicBezTo>
                    <a:close/>
                  </a:path>
                </a:pathLst>
              </a:custGeom>
              <a:solidFill>
                <a:srgbClr val="002060"/>
              </a:solidFill>
              <a:ln w="9525" cap="flat">
                <a:solidFill>
                  <a:srgbClr val="002060"/>
                </a:solidFill>
                <a:prstDash val="solid"/>
                <a:round/>
              </a:ln>
              <a:effectLst/>
            </p:spPr>
            <p:txBody>
              <a:bodyPr wrap="square" lIns="45719" tIns="45719" rIns="45719" bIns="45719" numCol="1" anchor="ctr">
                <a:noAutofit/>
              </a:bodyPr>
              <a:lstStyle/>
              <a:p>
                <a:pPr>
                  <a:defRPr sz="1000">
                    <a:latin typeface="Open Sans"/>
                    <a:ea typeface="Open Sans"/>
                    <a:cs typeface="Open Sans"/>
                    <a:sym typeface="Open Sans"/>
                  </a:defRPr>
                </a:pPr>
              </a:p>
            </p:txBody>
          </p:sp>
        </p:grpSp>
      </p:grpSp>
      <p:grpSp>
        <p:nvGrpSpPr>
          <p:cNvPr id="411" name="Group 52"/>
          <p:cNvGrpSpPr/>
          <p:nvPr/>
        </p:nvGrpSpPr>
        <p:grpSpPr>
          <a:xfrm>
            <a:off x="2108587" y="1894778"/>
            <a:ext cx="475591" cy="462763"/>
            <a:chOff x="0" y="0"/>
            <a:chExt cx="475590" cy="462762"/>
          </a:xfrm>
        </p:grpSpPr>
        <p:sp>
          <p:nvSpPr>
            <p:cNvPr id="407" name="Oval 47"/>
            <p:cNvSpPr/>
            <p:nvPr/>
          </p:nvSpPr>
          <p:spPr>
            <a:xfrm>
              <a:off x="-1" y="-1"/>
              <a:ext cx="475592" cy="462764"/>
            </a:xfrm>
            <a:prstGeom prst="ellipse">
              <a:avLst/>
            </a:prstGeom>
            <a:solidFill>
              <a:srgbClr val="FFFFFF"/>
            </a:solidFill>
            <a:ln w="38100" cap="flat">
              <a:solidFill>
                <a:srgbClr val="002060"/>
              </a:solidFill>
              <a:prstDash val="solid"/>
              <a:round/>
            </a:ln>
            <a:effectLst/>
          </p:spPr>
          <p:txBody>
            <a:bodyPr wrap="square" lIns="45719" tIns="45719" rIns="45719" bIns="45719" numCol="1" anchor="ctr">
              <a:noAutofit/>
            </a:bodyPr>
            <a:lstStyle/>
            <a:p>
              <a:pPr algn="ctr">
                <a:defRPr sz="1000">
                  <a:solidFill>
                    <a:srgbClr val="FFFFFF"/>
                  </a:solidFill>
                </a:defRPr>
              </a:pPr>
            </a:p>
          </p:txBody>
        </p:sp>
        <p:grpSp>
          <p:nvGrpSpPr>
            <p:cNvPr id="410" name="Google Shape;8929;p86"/>
            <p:cNvGrpSpPr/>
            <p:nvPr/>
          </p:nvGrpSpPr>
          <p:grpSpPr>
            <a:xfrm>
              <a:off x="104824" y="102588"/>
              <a:ext cx="265219" cy="265190"/>
              <a:chOff x="0" y="0"/>
              <a:chExt cx="265217" cy="265188"/>
            </a:xfrm>
          </p:grpSpPr>
          <p:sp>
            <p:nvSpPr>
              <p:cNvPr id="408" name="Google Shape;8930;p86"/>
              <p:cNvSpPr/>
              <p:nvPr/>
            </p:nvSpPr>
            <p:spPr>
              <a:xfrm>
                <a:off x="47322" y="47299"/>
                <a:ext cx="170599" cy="169885"/>
              </a:xfrm>
              <a:custGeom>
                <a:avLst/>
                <a:gdLst/>
                <a:ahLst/>
                <a:cxnLst>
                  <a:cxn ang="0">
                    <a:pos x="wd2" y="hd2"/>
                  </a:cxn>
                  <a:cxn ang="5400000">
                    <a:pos x="wd2" y="hd2"/>
                  </a:cxn>
                  <a:cxn ang="10800000">
                    <a:pos x="wd2" y="hd2"/>
                  </a:cxn>
                  <a:cxn ang="16200000">
                    <a:pos x="wd2" y="hd2"/>
                  </a:cxn>
                </a:cxnLst>
                <a:rect l="0" t="0" r="r" b="b"/>
                <a:pathLst>
                  <a:path w="21512" h="21600" fill="norm" stroke="1" extrusionOk="0">
                    <a:moveTo>
                      <a:pt x="10756" y="1915"/>
                    </a:moveTo>
                    <a:cubicBezTo>
                      <a:pt x="11298" y="1915"/>
                      <a:pt x="11748" y="2369"/>
                      <a:pt x="11748" y="2916"/>
                    </a:cubicBezTo>
                    <a:lnTo>
                      <a:pt x="11748" y="10480"/>
                    </a:lnTo>
                    <a:lnTo>
                      <a:pt x="15366" y="14125"/>
                    </a:lnTo>
                    <a:cubicBezTo>
                      <a:pt x="15816" y="14582"/>
                      <a:pt x="15816" y="15129"/>
                      <a:pt x="15366" y="15493"/>
                    </a:cubicBezTo>
                    <a:cubicBezTo>
                      <a:pt x="15185" y="15676"/>
                      <a:pt x="14936" y="15765"/>
                      <a:pt x="14686" y="15765"/>
                    </a:cubicBezTo>
                    <a:cubicBezTo>
                      <a:pt x="14439" y="15765"/>
                      <a:pt x="14190" y="15676"/>
                      <a:pt x="14009" y="15493"/>
                    </a:cubicBezTo>
                    <a:lnTo>
                      <a:pt x="10033" y="11484"/>
                    </a:lnTo>
                    <a:cubicBezTo>
                      <a:pt x="9852" y="11302"/>
                      <a:pt x="9760" y="11027"/>
                      <a:pt x="9760" y="10755"/>
                    </a:cubicBezTo>
                    <a:lnTo>
                      <a:pt x="9760" y="2916"/>
                    </a:lnTo>
                    <a:cubicBezTo>
                      <a:pt x="9760" y="2369"/>
                      <a:pt x="10213" y="1915"/>
                      <a:pt x="10756" y="1915"/>
                    </a:cubicBezTo>
                    <a:close/>
                    <a:moveTo>
                      <a:pt x="10756" y="0"/>
                    </a:moveTo>
                    <a:cubicBezTo>
                      <a:pt x="4791" y="0"/>
                      <a:pt x="0" y="4921"/>
                      <a:pt x="0" y="10845"/>
                    </a:cubicBezTo>
                    <a:cubicBezTo>
                      <a:pt x="0" y="16859"/>
                      <a:pt x="4880" y="21600"/>
                      <a:pt x="10756" y="21600"/>
                    </a:cubicBezTo>
                    <a:cubicBezTo>
                      <a:pt x="16631" y="21600"/>
                      <a:pt x="21511" y="16769"/>
                      <a:pt x="21511" y="10845"/>
                    </a:cubicBezTo>
                    <a:cubicBezTo>
                      <a:pt x="21600" y="4921"/>
                      <a:pt x="16720" y="0"/>
                      <a:pt x="10756" y="0"/>
                    </a:cubicBezTo>
                    <a:close/>
                  </a:path>
                </a:pathLst>
              </a:custGeom>
              <a:solidFill>
                <a:srgbClr val="002060"/>
              </a:solidFill>
              <a:ln w="12700" cap="flat">
                <a:noFill/>
                <a:miter lim="400000"/>
              </a:ln>
              <a:effectLst/>
            </p:spPr>
            <p:txBody>
              <a:bodyPr wrap="square" lIns="45719" tIns="45719" rIns="45719" bIns="45719" numCol="1" anchor="ctr">
                <a:noAutofit/>
              </a:bodyPr>
              <a:lstStyle/>
              <a:p>
                <a:pPr>
                  <a:defRPr sz="1000"/>
                </a:pPr>
              </a:p>
            </p:txBody>
          </p:sp>
          <p:sp>
            <p:nvSpPr>
              <p:cNvPr id="409" name="Google Shape;8931;p86"/>
              <p:cNvSpPr/>
              <p:nvPr/>
            </p:nvSpPr>
            <p:spPr>
              <a:xfrm>
                <a:off x="0" y="0"/>
                <a:ext cx="265218" cy="265189"/>
              </a:xfrm>
              <a:custGeom>
                <a:avLst/>
                <a:gdLst/>
                <a:ahLst/>
                <a:cxnLst>
                  <a:cxn ang="0">
                    <a:pos x="wd2" y="hd2"/>
                  </a:cxn>
                  <a:cxn ang="5400000">
                    <a:pos x="wd2" y="hd2"/>
                  </a:cxn>
                  <a:cxn ang="10800000">
                    <a:pos x="wd2" y="hd2"/>
                  </a:cxn>
                  <a:cxn ang="16200000">
                    <a:pos x="wd2" y="hd2"/>
                  </a:cxn>
                </a:cxnLst>
                <a:rect l="0" t="0" r="r" b="b"/>
                <a:pathLst>
                  <a:path w="21541" h="21600" fill="norm" stroke="1" extrusionOk="0">
                    <a:moveTo>
                      <a:pt x="10771" y="2509"/>
                    </a:moveTo>
                    <a:cubicBezTo>
                      <a:pt x="15312" y="2509"/>
                      <a:pt x="18980" y="6247"/>
                      <a:pt x="18980" y="10800"/>
                    </a:cubicBezTo>
                    <a:cubicBezTo>
                      <a:pt x="18980" y="15353"/>
                      <a:pt x="15371" y="19032"/>
                      <a:pt x="10771" y="19032"/>
                    </a:cubicBezTo>
                    <a:cubicBezTo>
                      <a:pt x="6288" y="19032"/>
                      <a:pt x="2563" y="15296"/>
                      <a:pt x="2563" y="10800"/>
                    </a:cubicBezTo>
                    <a:cubicBezTo>
                      <a:pt x="2563" y="6247"/>
                      <a:pt x="6229" y="2509"/>
                      <a:pt x="10771" y="2509"/>
                    </a:cubicBezTo>
                    <a:close/>
                    <a:moveTo>
                      <a:pt x="10771" y="0"/>
                    </a:moveTo>
                    <a:cubicBezTo>
                      <a:pt x="4891" y="0"/>
                      <a:pt x="0" y="4846"/>
                      <a:pt x="0" y="10800"/>
                    </a:cubicBezTo>
                    <a:cubicBezTo>
                      <a:pt x="0" y="16697"/>
                      <a:pt x="4891" y="21600"/>
                      <a:pt x="10771" y="21600"/>
                    </a:cubicBezTo>
                    <a:cubicBezTo>
                      <a:pt x="16651" y="21600"/>
                      <a:pt x="21541" y="16697"/>
                      <a:pt x="21541" y="10800"/>
                    </a:cubicBezTo>
                    <a:cubicBezTo>
                      <a:pt x="21600" y="4846"/>
                      <a:pt x="16709" y="0"/>
                      <a:pt x="10771" y="0"/>
                    </a:cubicBezTo>
                    <a:close/>
                  </a:path>
                </a:pathLst>
              </a:custGeom>
              <a:solidFill>
                <a:srgbClr val="002060"/>
              </a:solidFill>
              <a:ln w="12700" cap="flat">
                <a:noFill/>
                <a:miter lim="400000"/>
              </a:ln>
              <a:effectLst/>
            </p:spPr>
            <p:txBody>
              <a:bodyPr wrap="square" lIns="45719" tIns="45719" rIns="45719" bIns="45719" numCol="1" anchor="ctr">
                <a:noAutofit/>
              </a:bodyPr>
              <a:lstStyle/>
              <a:p>
                <a:pPr>
                  <a:defRPr sz="1000"/>
                </a:pPr>
              </a:p>
            </p:txBody>
          </p:sp>
        </p:grpSp>
      </p:grpSp>
      <p:sp>
        <p:nvSpPr>
          <p:cNvPr id="412" name="Oval 55"/>
          <p:cNvSpPr/>
          <p:nvPr/>
        </p:nvSpPr>
        <p:spPr>
          <a:xfrm>
            <a:off x="3133539" y="1818328"/>
            <a:ext cx="1593001" cy="1595275"/>
          </a:xfrm>
          <a:prstGeom prst="ellipse">
            <a:avLst/>
          </a:prstGeom>
          <a:solidFill>
            <a:srgbClr val="FFFFFF"/>
          </a:solidFill>
          <a:ln w="28575">
            <a:solidFill>
              <a:srgbClr val="002060"/>
            </a:solidFill>
          </a:ln>
        </p:spPr>
        <p:txBody>
          <a:bodyPr lIns="45719" rIns="45719" anchor="ctr"/>
          <a:lstStyle/>
          <a:p>
            <a:pPr algn="ctr">
              <a:defRPr sz="1000">
                <a:solidFill>
                  <a:srgbClr val="FFFFFF"/>
                </a:solidFill>
              </a:defRPr>
            </a:pPr>
          </a:p>
        </p:txBody>
      </p:sp>
      <p:grpSp>
        <p:nvGrpSpPr>
          <p:cNvPr id="421" name="Google Shape;8551;p85"/>
          <p:cNvGrpSpPr/>
          <p:nvPr/>
        </p:nvGrpSpPr>
        <p:grpSpPr>
          <a:xfrm>
            <a:off x="2666327" y="2408355"/>
            <a:ext cx="430678" cy="442197"/>
            <a:chOff x="36" y="37"/>
            <a:chExt cx="430677" cy="442196"/>
          </a:xfrm>
        </p:grpSpPr>
        <p:sp>
          <p:nvSpPr>
            <p:cNvPr id="413" name="Google Shape;8552;p85"/>
            <p:cNvSpPr/>
            <p:nvPr/>
          </p:nvSpPr>
          <p:spPr>
            <a:xfrm>
              <a:off x="163842" y="168217"/>
              <a:ext cx="100793" cy="1023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09" y="0"/>
                    <a:pt x="0" y="4965"/>
                    <a:pt x="0" y="10670"/>
                  </a:cubicBezTo>
                  <a:cubicBezTo>
                    <a:pt x="0" y="16635"/>
                    <a:pt x="4909" y="21600"/>
                    <a:pt x="10800" y="21600"/>
                  </a:cubicBezTo>
                  <a:cubicBezTo>
                    <a:pt x="16691" y="21600"/>
                    <a:pt x="21600" y="16635"/>
                    <a:pt x="21600" y="10670"/>
                  </a:cubicBezTo>
                  <a:cubicBezTo>
                    <a:pt x="21600" y="4965"/>
                    <a:pt x="16691" y="0"/>
                    <a:pt x="10800" y="0"/>
                  </a:cubicBezTo>
                  <a:close/>
                </a:path>
              </a:pathLst>
            </a:custGeom>
            <a:solidFill>
              <a:srgbClr val="009AF2"/>
            </a:solidFill>
            <a:ln w="9525" cap="flat">
              <a:solidFill>
                <a:srgbClr val="009AF2"/>
              </a:solidFill>
              <a:prstDash val="solid"/>
              <a:round/>
            </a:ln>
            <a:effectLst/>
          </p:spPr>
          <p:txBody>
            <a:bodyPr wrap="square" lIns="45719" tIns="45719" rIns="45719" bIns="45719" numCol="1" anchor="ctr">
              <a:noAutofit/>
            </a:bodyPr>
            <a:lstStyle/>
            <a:p>
              <a:pPr>
                <a:defRPr sz="1000"/>
              </a:pPr>
            </a:p>
          </p:txBody>
        </p:sp>
        <p:sp>
          <p:nvSpPr>
            <p:cNvPr id="414" name="Google Shape;8553;p85"/>
            <p:cNvSpPr/>
            <p:nvPr/>
          </p:nvSpPr>
          <p:spPr>
            <a:xfrm>
              <a:off x="49269" y="37"/>
              <a:ext cx="126027" cy="12935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11" y="0"/>
                    <a:pt x="0" y="4906"/>
                    <a:pt x="0" y="10797"/>
                  </a:cubicBezTo>
                  <a:cubicBezTo>
                    <a:pt x="0" y="16688"/>
                    <a:pt x="4911" y="21600"/>
                    <a:pt x="10800" y="21600"/>
                  </a:cubicBezTo>
                  <a:cubicBezTo>
                    <a:pt x="17082" y="21600"/>
                    <a:pt x="21600" y="16688"/>
                    <a:pt x="21600" y="10797"/>
                  </a:cubicBezTo>
                  <a:cubicBezTo>
                    <a:pt x="21600" y="4906"/>
                    <a:pt x="16689" y="0"/>
                    <a:pt x="10800" y="0"/>
                  </a:cubicBezTo>
                  <a:close/>
                </a:path>
              </a:pathLst>
            </a:custGeom>
            <a:solidFill>
              <a:srgbClr val="009AF2"/>
            </a:solidFill>
            <a:ln w="9525" cap="flat">
              <a:solidFill>
                <a:srgbClr val="009AF2"/>
              </a:solidFill>
              <a:prstDash val="solid"/>
              <a:round/>
            </a:ln>
            <a:effectLst/>
          </p:spPr>
          <p:txBody>
            <a:bodyPr wrap="square" lIns="45719" tIns="45719" rIns="45719" bIns="45719" numCol="1" anchor="ctr">
              <a:noAutofit/>
            </a:bodyPr>
            <a:lstStyle/>
            <a:p>
              <a:pPr>
                <a:defRPr sz="1000"/>
              </a:pPr>
            </a:p>
          </p:txBody>
        </p:sp>
        <p:sp>
          <p:nvSpPr>
            <p:cNvPr id="415" name="Google Shape;8554;p85"/>
            <p:cNvSpPr/>
            <p:nvPr/>
          </p:nvSpPr>
          <p:spPr>
            <a:xfrm>
              <a:off x="252053" y="37"/>
              <a:ext cx="125992" cy="12935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06" y="0"/>
                    <a:pt x="0" y="4906"/>
                    <a:pt x="0" y="10797"/>
                  </a:cubicBezTo>
                  <a:cubicBezTo>
                    <a:pt x="0" y="16688"/>
                    <a:pt x="4906" y="21600"/>
                    <a:pt x="10797" y="21600"/>
                  </a:cubicBezTo>
                  <a:cubicBezTo>
                    <a:pt x="16694" y="21600"/>
                    <a:pt x="21600" y="16688"/>
                    <a:pt x="21600" y="10797"/>
                  </a:cubicBezTo>
                  <a:cubicBezTo>
                    <a:pt x="21600" y="4906"/>
                    <a:pt x="16694" y="0"/>
                    <a:pt x="10797" y="0"/>
                  </a:cubicBezTo>
                  <a:close/>
                </a:path>
              </a:pathLst>
            </a:custGeom>
            <a:solidFill>
              <a:srgbClr val="009AF2"/>
            </a:solidFill>
            <a:ln w="9525" cap="flat">
              <a:solidFill>
                <a:srgbClr val="009AF2"/>
              </a:solidFill>
              <a:prstDash val="solid"/>
              <a:round/>
            </a:ln>
            <a:effectLst/>
          </p:spPr>
          <p:txBody>
            <a:bodyPr wrap="square" lIns="45719" tIns="45719" rIns="45719" bIns="45719" numCol="1" anchor="ctr">
              <a:noAutofit/>
            </a:bodyPr>
            <a:lstStyle/>
            <a:p>
              <a:pPr>
                <a:defRPr sz="1000"/>
              </a:pPr>
            </a:p>
          </p:txBody>
        </p:sp>
        <p:sp>
          <p:nvSpPr>
            <p:cNvPr id="416" name="Google Shape;8555;p85"/>
            <p:cNvSpPr/>
            <p:nvPr/>
          </p:nvSpPr>
          <p:spPr>
            <a:xfrm>
              <a:off x="182168" y="290516"/>
              <a:ext cx="60723" cy="376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0994" y="21600"/>
                  </a:lnTo>
                  <a:lnTo>
                    <a:pt x="21600" y="0"/>
                  </a:lnTo>
                  <a:cubicBezTo>
                    <a:pt x="18742" y="2700"/>
                    <a:pt x="15081" y="3386"/>
                    <a:pt x="10994" y="3386"/>
                  </a:cubicBezTo>
                  <a:cubicBezTo>
                    <a:pt x="7334" y="3386"/>
                    <a:pt x="3660" y="2036"/>
                    <a:pt x="0" y="0"/>
                  </a:cubicBezTo>
                  <a:close/>
                </a:path>
              </a:pathLst>
            </a:custGeom>
            <a:solidFill>
              <a:srgbClr val="009AF2"/>
            </a:solidFill>
            <a:ln w="9525" cap="flat">
              <a:solidFill>
                <a:srgbClr val="009AF2"/>
              </a:solidFill>
              <a:prstDash val="solid"/>
              <a:round/>
            </a:ln>
            <a:effectLst/>
          </p:spPr>
          <p:txBody>
            <a:bodyPr wrap="square" lIns="45719" tIns="45719" rIns="45719" bIns="45719" numCol="1" anchor="ctr">
              <a:noAutofit/>
            </a:bodyPr>
            <a:lstStyle/>
            <a:p>
              <a:pPr>
                <a:defRPr sz="1000"/>
              </a:pPr>
            </a:p>
          </p:txBody>
        </p:sp>
        <p:sp>
          <p:nvSpPr>
            <p:cNvPr id="417" name="Google Shape;8556;p85"/>
            <p:cNvSpPr/>
            <p:nvPr/>
          </p:nvSpPr>
          <p:spPr>
            <a:xfrm>
              <a:off x="100828" y="282303"/>
              <a:ext cx="101957" cy="15877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706" y="0"/>
                  </a:moveTo>
                  <a:cubicBezTo>
                    <a:pt x="3644" y="3037"/>
                    <a:pt x="0" y="7679"/>
                    <a:pt x="0" y="12641"/>
                  </a:cubicBezTo>
                  <a:lnTo>
                    <a:pt x="0" y="19838"/>
                  </a:lnTo>
                  <a:cubicBezTo>
                    <a:pt x="0" y="20798"/>
                    <a:pt x="1209" y="21600"/>
                    <a:pt x="2912" y="21600"/>
                  </a:cubicBezTo>
                  <a:lnTo>
                    <a:pt x="21600" y="21600"/>
                  </a:lnTo>
                  <a:lnTo>
                    <a:pt x="21600" y="9599"/>
                  </a:lnTo>
                  <a:lnTo>
                    <a:pt x="9706" y="0"/>
                  </a:lnTo>
                  <a:close/>
                </a:path>
              </a:pathLst>
            </a:custGeom>
            <a:solidFill>
              <a:srgbClr val="009AF2"/>
            </a:solidFill>
            <a:ln w="9525" cap="flat">
              <a:solidFill>
                <a:srgbClr val="009AF2"/>
              </a:solidFill>
              <a:prstDash val="solid"/>
              <a:round/>
            </a:ln>
            <a:effectLst/>
          </p:spPr>
          <p:txBody>
            <a:bodyPr wrap="square" lIns="45719" tIns="45719" rIns="45719" bIns="45719" numCol="1" anchor="ctr">
              <a:noAutofit/>
            </a:bodyPr>
            <a:lstStyle/>
            <a:p>
              <a:pPr>
                <a:defRPr sz="1000"/>
              </a:pPr>
            </a:p>
          </p:txBody>
        </p:sp>
        <p:sp>
          <p:nvSpPr>
            <p:cNvPr id="418" name="Google Shape;8557;p85"/>
            <p:cNvSpPr/>
            <p:nvPr/>
          </p:nvSpPr>
          <p:spPr>
            <a:xfrm>
              <a:off x="226855" y="283461"/>
              <a:ext cx="101921" cy="1587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890" y="0"/>
                  </a:moveTo>
                  <a:lnTo>
                    <a:pt x="0" y="9599"/>
                  </a:lnTo>
                  <a:lnTo>
                    <a:pt x="0" y="21600"/>
                  </a:lnTo>
                  <a:lnTo>
                    <a:pt x="18934" y="21600"/>
                  </a:lnTo>
                  <a:cubicBezTo>
                    <a:pt x="20390" y="21600"/>
                    <a:pt x="21600" y="20803"/>
                    <a:pt x="21600" y="19843"/>
                  </a:cubicBezTo>
                  <a:lnTo>
                    <a:pt x="21600" y="12641"/>
                  </a:lnTo>
                  <a:cubicBezTo>
                    <a:pt x="21361" y="7522"/>
                    <a:pt x="17716" y="2880"/>
                    <a:pt x="11890" y="0"/>
                  </a:cubicBezTo>
                  <a:close/>
                </a:path>
              </a:pathLst>
            </a:custGeom>
            <a:solidFill>
              <a:srgbClr val="009AF2"/>
            </a:solidFill>
            <a:ln w="9525" cap="flat">
              <a:solidFill>
                <a:srgbClr val="009AF2"/>
              </a:solidFill>
              <a:prstDash val="solid"/>
              <a:round/>
            </a:ln>
            <a:effectLst/>
          </p:spPr>
          <p:txBody>
            <a:bodyPr wrap="square" lIns="45719" tIns="45719" rIns="45719" bIns="45719" numCol="1" anchor="ctr">
              <a:noAutofit/>
            </a:bodyPr>
            <a:lstStyle/>
            <a:p>
              <a:pPr>
                <a:defRPr sz="1000"/>
              </a:pPr>
            </a:p>
          </p:txBody>
        </p:sp>
        <p:sp>
          <p:nvSpPr>
            <p:cNvPr id="419" name="Google Shape;8558;p85"/>
            <p:cNvSpPr/>
            <p:nvPr/>
          </p:nvSpPr>
          <p:spPr>
            <a:xfrm>
              <a:off x="230256" y="124688"/>
              <a:ext cx="200458" cy="1623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442" y="7511"/>
                  </a:moveTo>
                  <a:cubicBezTo>
                    <a:pt x="15308" y="7511"/>
                    <a:pt x="15923" y="8296"/>
                    <a:pt x="15923" y="9235"/>
                  </a:cubicBezTo>
                  <a:cubicBezTo>
                    <a:pt x="15923" y="10174"/>
                    <a:pt x="15308" y="10954"/>
                    <a:pt x="14442" y="10954"/>
                  </a:cubicBezTo>
                  <a:lnTo>
                    <a:pt x="11727" y="10954"/>
                  </a:lnTo>
                  <a:cubicBezTo>
                    <a:pt x="10986" y="10954"/>
                    <a:pt x="10367" y="10174"/>
                    <a:pt x="10367" y="9235"/>
                  </a:cubicBezTo>
                  <a:cubicBezTo>
                    <a:pt x="10367" y="8296"/>
                    <a:pt x="10986" y="7511"/>
                    <a:pt x="11727" y="7511"/>
                  </a:cubicBezTo>
                  <a:close/>
                  <a:moveTo>
                    <a:pt x="16170" y="0"/>
                  </a:moveTo>
                  <a:cubicBezTo>
                    <a:pt x="14442" y="2663"/>
                    <a:pt x="11973" y="4228"/>
                    <a:pt x="9133" y="4228"/>
                  </a:cubicBezTo>
                  <a:cubicBezTo>
                    <a:pt x="6296" y="4228"/>
                    <a:pt x="3828" y="2504"/>
                    <a:pt x="2100" y="313"/>
                  </a:cubicBezTo>
                  <a:cubicBezTo>
                    <a:pt x="1360" y="1098"/>
                    <a:pt x="619" y="1878"/>
                    <a:pt x="0" y="2817"/>
                  </a:cubicBezTo>
                  <a:cubicBezTo>
                    <a:pt x="3703" y="3756"/>
                    <a:pt x="6418" y="7824"/>
                    <a:pt x="6418" y="12991"/>
                  </a:cubicBezTo>
                  <a:cubicBezTo>
                    <a:pt x="6418" y="14556"/>
                    <a:pt x="6171" y="15967"/>
                    <a:pt x="5677" y="17218"/>
                  </a:cubicBezTo>
                  <a:cubicBezTo>
                    <a:pt x="7284" y="18470"/>
                    <a:pt x="8639" y="19876"/>
                    <a:pt x="9873" y="21600"/>
                  </a:cubicBezTo>
                  <a:lnTo>
                    <a:pt x="20244" y="21600"/>
                  </a:lnTo>
                  <a:cubicBezTo>
                    <a:pt x="20985" y="21600"/>
                    <a:pt x="21600" y="20815"/>
                    <a:pt x="21600" y="19876"/>
                  </a:cubicBezTo>
                  <a:lnTo>
                    <a:pt x="21600" y="12991"/>
                  </a:lnTo>
                  <a:cubicBezTo>
                    <a:pt x="21479" y="7511"/>
                    <a:pt x="19257" y="2817"/>
                    <a:pt x="16170" y="0"/>
                  </a:cubicBezTo>
                  <a:close/>
                </a:path>
              </a:pathLst>
            </a:custGeom>
            <a:solidFill>
              <a:srgbClr val="009AF2"/>
            </a:solidFill>
            <a:ln w="9525" cap="flat">
              <a:solidFill>
                <a:srgbClr val="009AF2"/>
              </a:solidFill>
              <a:prstDash val="solid"/>
              <a:round/>
            </a:ln>
            <a:effectLst/>
          </p:spPr>
          <p:txBody>
            <a:bodyPr wrap="square" lIns="45719" tIns="45719" rIns="45719" bIns="45719" numCol="1" anchor="ctr">
              <a:noAutofit/>
            </a:bodyPr>
            <a:lstStyle/>
            <a:p>
              <a:pPr>
                <a:defRPr sz="1000"/>
              </a:pPr>
            </a:p>
          </p:txBody>
        </p:sp>
        <p:sp>
          <p:nvSpPr>
            <p:cNvPr id="420" name="Google Shape;8559;p85"/>
            <p:cNvSpPr/>
            <p:nvPr/>
          </p:nvSpPr>
          <p:spPr>
            <a:xfrm>
              <a:off x="36" y="123531"/>
              <a:ext cx="198168" cy="16228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611" y="7667"/>
                  </a:moveTo>
                  <a:cubicBezTo>
                    <a:pt x="10360" y="7667"/>
                    <a:pt x="10986" y="8452"/>
                    <a:pt x="10986" y="9391"/>
                  </a:cubicBezTo>
                  <a:cubicBezTo>
                    <a:pt x="10986" y="10330"/>
                    <a:pt x="10360" y="11111"/>
                    <a:pt x="9611" y="11111"/>
                  </a:cubicBezTo>
                  <a:lnTo>
                    <a:pt x="6864" y="11111"/>
                  </a:lnTo>
                  <a:cubicBezTo>
                    <a:pt x="5993" y="11111"/>
                    <a:pt x="5366" y="10330"/>
                    <a:pt x="5366" y="9391"/>
                  </a:cubicBezTo>
                  <a:cubicBezTo>
                    <a:pt x="5366" y="8452"/>
                    <a:pt x="5993" y="7667"/>
                    <a:pt x="6864" y="7667"/>
                  </a:cubicBezTo>
                  <a:close/>
                  <a:moveTo>
                    <a:pt x="5243" y="0"/>
                  </a:moveTo>
                  <a:cubicBezTo>
                    <a:pt x="2120" y="2817"/>
                    <a:pt x="0" y="7513"/>
                    <a:pt x="0" y="12676"/>
                  </a:cubicBezTo>
                  <a:lnTo>
                    <a:pt x="0" y="19568"/>
                  </a:lnTo>
                  <a:cubicBezTo>
                    <a:pt x="0" y="20820"/>
                    <a:pt x="373" y="21600"/>
                    <a:pt x="1248" y="21600"/>
                  </a:cubicBezTo>
                  <a:lnTo>
                    <a:pt x="11609" y="21600"/>
                  </a:lnTo>
                  <a:cubicBezTo>
                    <a:pt x="12734" y="19722"/>
                    <a:pt x="14109" y="18157"/>
                    <a:pt x="15857" y="17217"/>
                  </a:cubicBezTo>
                  <a:cubicBezTo>
                    <a:pt x="15358" y="15811"/>
                    <a:pt x="15108" y="14554"/>
                    <a:pt x="15108" y="12989"/>
                  </a:cubicBezTo>
                  <a:cubicBezTo>
                    <a:pt x="15108" y="7980"/>
                    <a:pt x="17855" y="3757"/>
                    <a:pt x="21600" y="2817"/>
                  </a:cubicBezTo>
                  <a:cubicBezTo>
                    <a:pt x="20974" y="1719"/>
                    <a:pt x="20225" y="939"/>
                    <a:pt x="19476" y="154"/>
                  </a:cubicBezTo>
                  <a:cubicBezTo>
                    <a:pt x="17728" y="2504"/>
                    <a:pt x="15231" y="4070"/>
                    <a:pt x="12484" y="4070"/>
                  </a:cubicBezTo>
                  <a:cubicBezTo>
                    <a:pt x="9611" y="4070"/>
                    <a:pt x="7114" y="2504"/>
                    <a:pt x="5243" y="0"/>
                  </a:cubicBezTo>
                  <a:close/>
                </a:path>
              </a:pathLst>
            </a:custGeom>
            <a:solidFill>
              <a:srgbClr val="009AF2"/>
            </a:solidFill>
            <a:ln w="9525" cap="flat">
              <a:solidFill>
                <a:srgbClr val="009AF2"/>
              </a:solidFill>
              <a:prstDash val="solid"/>
              <a:round/>
            </a:ln>
            <a:effectLst/>
          </p:spPr>
          <p:txBody>
            <a:bodyPr wrap="square" lIns="45719" tIns="45719" rIns="45719" bIns="45719" numCol="1" anchor="ctr">
              <a:noAutofit/>
            </a:bodyPr>
            <a:lstStyle/>
            <a:p>
              <a:pPr>
                <a:defRPr sz="1000"/>
              </a:pPr>
            </a:p>
          </p:txBody>
        </p:sp>
      </p:grpSp>
      <p:pic>
        <p:nvPicPr>
          <p:cNvPr id="422" name="Picture 75" descr="Picture 75"/>
          <p:cNvPicPr>
            <a:picLocks noChangeAspect="1"/>
          </p:cNvPicPr>
          <p:nvPr/>
        </p:nvPicPr>
        <p:blipFill>
          <a:blip r:embed="rId3">
            <a:extLst/>
          </a:blip>
          <a:stretch>
            <a:fillRect/>
          </a:stretch>
        </p:blipFill>
        <p:spPr>
          <a:xfrm>
            <a:off x="3278446" y="1967202"/>
            <a:ext cx="1316369" cy="1316369"/>
          </a:xfrm>
          <a:prstGeom prst="rect">
            <a:avLst/>
          </a:prstGeom>
          <a:ln w="12700">
            <a:miter lim="400000"/>
          </a:ln>
        </p:spPr>
      </p:pic>
      <p:grpSp>
        <p:nvGrpSpPr>
          <p:cNvPr id="425" name="Oval 84"/>
          <p:cNvGrpSpPr/>
          <p:nvPr/>
        </p:nvGrpSpPr>
        <p:grpSpPr>
          <a:xfrm>
            <a:off x="4750284" y="1403025"/>
            <a:ext cx="270001" cy="261083"/>
            <a:chOff x="0" y="0"/>
            <a:chExt cx="269999" cy="261082"/>
          </a:xfrm>
        </p:grpSpPr>
        <p:sp>
          <p:nvSpPr>
            <p:cNvPr id="423" name="Circle"/>
            <p:cNvSpPr/>
            <p:nvPr/>
          </p:nvSpPr>
          <p:spPr>
            <a:xfrm>
              <a:off x="0" y="-1"/>
              <a:ext cx="270000" cy="261084"/>
            </a:xfrm>
            <a:prstGeom prst="ellipse">
              <a:avLst/>
            </a:prstGeom>
            <a:solidFill>
              <a:srgbClr val="FF6464"/>
            </a:solidFill>
            <a:ln w="3175" cap="flat">
              <a:solidFill>
                <a:srgbClr val="002060"/>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424" name="1"/>
            <p:cNvSpPr txBox="1"/>
            <p:nvPr/>
          </p:nvSpPr>
          <p:spPr>
            <a:xfrm>
              <a:off x="86848" y="8621"/>
              <a:ext cx="96304"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1000">
                  <a:solidFill>
                    <a:srgbClr val="002060"/>
                  </a:solidFill>
                  <a:latin typeface="Open Sans Extrabold"/>
                  <a:ea typeface="Open Sans Extrabold"/>
                  <a:cs typeface="Open Sans Extrabold"/>
                  <a:sym typeface="Open Sans Extrabold"/>
                </a:defRPr>
              </a:lvl1pPr>
            </a:lstStyle>
            <a:p>
              <a:pPr/>
              <a:r>
                <a:t>1</a:t>
              </a:r>
            </a:p>
          </p:txBody>
        </p:sp>
      </p:grpSp>
      <p:grpSp>
        <p:nvGrpSpPr>
          <p:cNvPr id="428" name="Oval 87"/>
          <p:cNvGrpSpPr/>
          <p:nvPr/>
        </p:nvGrpSpPr>
        <p:grpSpPr>
          <a:xfrm>
            <a:off x="4747760" y="1768171"/>
            <a:ext cx="270001" cy="261083"/>
            <a:chOff x="0" y="0"/>
            <a:chExt cx="269999" cy="261082"/>
          </a:xfrm>
        </p:grpSpPr>
        <p:sp>
          <p:nvSpPr>
            <p:cNvPr id="426" name="Circle"/>
            <p:cNvSpPr/>
            <p:nvPr/>
          </p:nvSpPr>
          <p:spPr>
            <a:xfrm>
              <a:off x="0" y="-1"/>
              <a:ext cx="270000" cy="261084"/>
            </a:xfrm>
            <a:prstGeom prst="ellipse">
              <a:avLst/>
            </a:prstGeom>
            <a:solidFill>
              <a:srgbClr val="FF7D7D"/>
            </a:solidFill>
            <a:ln w="3175" cap="flat">
              <a:solidFill>
                <a:srgbClr val="002060"/>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427" name="2"/>
            <p:cNvSpPr txBox="1"/>
            <p:nvPr/>
          </p:nvSpPr>
          <p:spPr>
            <a:xfrm>
              <a:off x="86848" y="8621"/>
              <a:ext cx="96304"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1000">
                  <a:solidFill>
                    <a:srgbClr val="002060"/>
                  </a:solidFill>
                  <a:latin typeface="Open Sans Extrabold"/>
                  <a:ea typeface="Open Sans Extrabold"/>
                  <a:cs typeface="Open Sans Extrabold"/>
                  <a:sym typeface="Open Sans Extrabold"/>
                </a:defRPr>
              </a:lvl1pPr>
            </a:lstStyle>
            <a:p>
              <a:pPr/>
              <a:r>
                <a:t>2</a:t>
              </a:r>
            </a:p>
          </p:txBody>
        </p:sp>
      </p:grpSp>
      <p:grpSp>
        <p:nvGrpSpPr>
          <p:cNvPr id="431" name="Oval 88"/>
          <p:cNvGrpSpPr/>
          <p:nvPr/>
        </p:nvGrpSpPr>
        <p:grpSpPr>
          <a:xfrm>
            <a:off x="4749539" y="2145540"/>
            <a:ext cx="270001" cy="261083"/>
            <a:chOff x="0" y="0"/>
            <a:chExt cx="269999" cy="261082"/>
          </a:xfrm>
        </p:grpSpPr>
        <p:sp>
          <p:nvSpPr>
            <p:cNvPr id="429" name="Circle"/>
            <p:cNvSpPr/>
            <p:nvPr/>
          </p:nvSpPr>
          <p:spPr>
            <a:xfrm>
              <a:off x="0" y="-1"/>
              <a:ext cx="270000" cy="261084"/>
            </a:xfrm>
            <a:prstGeom prst="ellipse">
              <a:avLst/>
            </a:prstGeom>
            <a:solidFill>
              <a:srgbClr val="F7A76C"/>
            </a:solidFill>
            <a:ln w="3175" cap="flat">
              <a:solidFill>
                <a:srgbClr val="002060"/>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430" name="3"/>
            <p:cNvSpPr txBox="1"/>
            <p:nvPr/>
          </p:nvSpPr>
          <p:spPr>
            <a:xfrm>
              <a:off x="86848" y="8621"/>
              <a:ext cx="96304"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1000">
                  <a:solidFill>
                    <a:srgbClr val="002060"/>
                  </a:solidFill>
                  <a:latin typeface="Open Sans Extrabold"/>
                  <a:ea typeface="Open Sans Extrabold"/>
                  <a:cs typeface="Open Sans Extrabold"/>
                  <a:sym typeface="Open Sans Extrabold"/>
                </a:defRPr>
              </a:lvl1pPr>
            </a:lstStyle>
            <a:p>
              <a:pPr/>
              <a:r>
                <a:t>3</a:t>
              </a:r>
            </a:p>
          </p:txBody>
        </p:sp>
      </p:grpSp>
      <p:grpSp>
        <p:nvGrpSpPr>
          <p:cNvPr id="434" name="Oval 89"/>
          <p:cNvGrpSpPr/>
          <p:nvPr/>
        </p:nvGrpSpPr>
        <p:grpSpPr>
          <a:xfrm>
            <a:off x="4762994" y="2527580"/>
            <a:ext cx="270001" cy="261083"/>
            <a:chOff x="0" y="0"/>
            <a:chExt cx="269999" cy="261082"/>
          </a:xfrm>
        </p:grpSpPr>
        <p:sp>
          <p:nvSpPr>
            <p:cNvPr id="432" name="Circle"/>
            <p:cNvSpPr/>
            <p:nvPr/>
          </p:nvSpPr>
          <p:spPr>
            <a:xfrm>
              <a:off x="0" y="-1"/>
              <a:ext cx="270000" cy="261084"/>
            </a:xfrm>
            <a:prstGeom prst="ellipse">
              <a:avLst/>
            </a:prstGeom>
            <a:solidFill>
              <a:srgbClr val="E1FFB1"/>
            </a:solidFill>
            <a:ln w="3175" cap="flat">
              <a:solidFill>
                <a:srgbClr val="002060"/>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433" name="4"/>
            <p:cNvSpPr txBox="1"/>
            <p:nvPr/>
          </p:nvSpPr>
          <p:spPr>
            <a:xfrm>
              <a:off x="86848" y="8621"/>
              <a:ext cx="96304"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1000">
                  <a:solidFill>
                    <a:srgbClr val="002060"/>
                  </a:solidFill>
                  <a:latin typeface="Open Sans Extrabold"/>
                  <a:ea typeface="Open Sans Extrabold"/>
                  <a:cs typeface="Open Sans Extrabold"/>
                  <a:sym typeface="Open Sans Extrabold"/>
                </a:defRPr>
              </a:lvl1pPr>
            </a:lstStyle>
            <a:p>
              <a:pPr/>
              <a:r>
                <a:t>4</a:t>
              </a:r>
            </a:p>
          </p:txBody>
        </p:sp>
      </p:grpSp>
      <p:grpSp>
        <p:nvGrpSpPr>
          <p:cNvPr id="437" name="Oval 90"/>
          <p:cNvGrpSpPr/>
          <p:nvPr/>
        </p:nvGrpSpPr>
        <p:grpSpPr>
          <a:xfrm>
            <a:off x="4762994" y="2913198"/>
            <a:ext cx="270001" cy="261083"/>
            <a:chOff x="0" y="0"/>
            <a:chExt cx="269999" cy="261082"/>
          </a:xfrm>
        </p:grpSpPr>
        <p:sp>
          <p:nvSpPr>
            <p:cNvPr id="435" name="Circle"/>
            <p:cNvSpPr/>
            <p:nvPr/>
          </p:nvSpPr>
          <p:spPr>
            <a:xfrm>
              <a:off x="0" y="-1"/>
              <a:ext cx="270000" cy="261084"/>
            </a:xfrm>
            <a:prstGeom prst="ellipse">
              <a:avLst/>
            </a:prstGeom>
            <a:solidFill>
              <a:srgbClr val="C7F2A4"/>
            </a:solidFill>
            <a:ln w="3175" cap="flat">
              <a:solidFill>
                <a:srgbClr val="002060"/>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436" name="5"/>
            <p:cNvSpPr txBox="1"/>
            <p:nvPr/>
          </p:nvSpPr>
          <p:spPr>
            <a:xfrm>
              <a:off x="86848" y="8621"/>
              <a:ext cx="96304"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1000">
                  <a:solidFill>
                    <a:srgbClr val="002060"/>
                  </a:solidFill>
                  <a:latin typeface="Open Sans Extrabold"/>
                  <a:ea typeface="Open Sans Extrabold"/>
                  <a:cs typeface="Open Sans Extrabold"/>
                  <a:sym typeface="Open Sans Extrabold"/>
                </a:defRPr>
              </a:lvl1pPr>
            </a:lstStyle>
            <a:p>
              <a:pPr/>
              <a:r>
                <a:t>5</a:t>
              </a:r>
            </a:p>
          </p:txBody>
        </p:sp>
      </p:grpSp>
      <p:grpSp>
        <p:nvGrpSpPr>
          <p:cNvPr id="440" name="Oval 91"/>
          <p:cNvGrpSpPr/>
          <p:nvPr/>
        </p:nvGrpSpPr>
        <p:grpSpPr>
          <a:xfrm>
            <a:off x="4762994" y="3291992"/>
            <a:ext cx="270001" cy="261083"/>
            <a:chOff x="0" y="0"/>
            <a:chExt cx="269999" cy="261082"/>
          </a:xfrm>
        </p:grpSpPr>
        <p:sp>
          <p:nvSpPr>
            <p:cNvPr id="438" name="Circle"/>
            <p:cNvSpPr/>
            <p:nvPr/>
          </p:nvSpPr>
          <p:spPr>
            <a:xfrm>
              <a:off x="0" y="-1"/>
              <a:ext cx="270000" cy="261084"/>
            </a:xfrm>
            <a:prstGeom prst="ellipse">
              <a:avLst/>
            </a:prstGeom>
            <a:solidFill>
              <a:srgbClr val="92D050"/>
            </a:solidFill>
            <a:ln w="3175" cap="flat">
              <a:solidFill>
                <a:srgbClr val="002060"/>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439" name="6"/>
            <p:cNvSpPr txBox="1"/>
            <p:nvPr/>
          </p:nvSpPr>
          <p:spPr>
            <a:xfrm>
              <a:off x="86848" y="8621"/>
              <a:ext cx="96304"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1000">
                  <a:solidFill>
                    <a:srgbClr val="002060"/>
                  </a:solidFill>
                  <a:latin typeface="Open Sans Extrabold"/>
                  <a:ea typeface="Open Sans Extrabold"/>
                  <a:cs typeface="Open Sans Extrabold"/>
                  <a:sym typeface="Open Sans Extrabold"/>
                </a:defRPr>
              </a:lvl1pPr>
            </a:lstStyle>
            <a:p>
              <a:pPr/>
              <a:r>
                <a:t>6</a:t>
              </a:r>
            </a:p>
          </p:txBody>
        </p:sp>
      </p:grpSp>
      <p:grpSp>
        <p:nvGrpSpPr>
          <p:cNvPr id="443" name="Oval 92"/>
          <p:cNvGrpSpPr/>
          <p:nvPr/>
        </p:nvGrpSpPr>
        <p:grpSpPr>
          <a:xfrm>
            <a:off x="4766226" y="3679440"/>
            <a:ext cx="270001" cy="261083"/>
            <a:chOff x="0" y="0"/>
            <a:chExt cx="269999" cy="261082"/>
          </a:xfrm>
        </p:grpSpPr>
        <p:sp>
          <p:nvSpPr>
            <p:cNvPr id="441" name="Circle"/>
            <p:cNvSpPr/>
            <p:nvPr/>
          </p:nvSpPr>
          <p:spPr>
            <a:xfrm>
              <a:off x="0" y="-1"/>
              <a:ext cx="270000" cy="261084"/>
            </a:xfrm>
            <a:prstGeom prst="ellipse">
              <a:avLst/>
            </a:prstGeom>
            <a:solidFill>
              <a:srgbClr val="00B050"/>
            </a:solidFill>
            <a:ln w="3175" cap="flat">
              <a:solidFill>
                <a:srgbClr val="002060"/>
              </a:solidFill>
              <a:prstDash val="solid"/>
              <a:round/>
            </a:ln>
            <a:effectLst/>
          </p:spPr>
          <p:txBody>
            <a:bodyPr wrap="square" lIns="45719" tIns="45719" rIns="45719" bIns="45719" numCol="1" anchor="ctr">
              <a:noAutofit/>
            </a:bodyPr>
            <a:lstStyle/>
            <a:p>
              <a:pPr algn="ctr">
                <a:defRPr>
                  <a:solidFill>
                    <a:srgbClr val="FFFFFF"/>
                  </a:solidFill>
                </a:defRPr>
              </a:pPr>
            </a:p>
          </p:txBody>
        </p:sp>
        <p:sp>
          <p:nvSpPr>
            <p:cNvPr id="442" name="7"/>
            <p:cNvSpPr txBox="1"/>
            <p:nvPr/>
          </p:nvSpPr>
          <p:spPr>
            <a:xfrm>
              <a:off x="86848" y="8621"/>
              <a:ext cx="96304"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1000">
                  <a:solidFill>
                    <a:srgbClr val="002060"/>
                  </a:solidFill>
                  <a:latin typeface="Open Sans Extrabold"/>
                  <a:ea typeface="Open Sans Extrabold"/>
                  <a:cs typeface="Open Sans Extrabold"/>
                  <a:sym typeface="Open Sans Extrabold"/>
                </a:defRPr>
              </a:lvl1pPr>
            </a:lstStyle>
            <a:p>
              <a:pPr/>
              <a:r>
                <a:t>7</a:t>
              </a:r>
            </a:p>
          </p:txBody>
        </p:sp>
      </p:grpSp>
      <p:sp>
        <p:nvSpPr>
          <p:cNvPr id="444" name="Rectangle 100"/>
          <p:cNvSpPr txBox="1"/>
          <p:nvPr/>
        </p:nvSpPr>
        <p:spPr>
          <a:xfrm>
            <a:off x="7271515" y="607334"/>
            <a:ext cx="1723808" cy="574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b="1" sz="1600">
                <a:solidFill>
                  <a:srgbClr val="0070C0"/>
                </a:solidFill>
                <a:latin typeface="Open Sans Extrabold"/>
                <a:ea typeface="Open Sans Extrabold"/>
                <a:cs typeface="Open Sans Extrabold"/>
                <a:sym typeface="Open Sans Extrabold"/>
              </a:defRPr>
            </a:pPr>
            <a:r>
              <a:t>Retention Rate</a:t>
            </a:r>
            <a:r>
              <a:rPr baseline="30000"/>
              <a:t>* </a:t>
            </a:r>
            <a:r>
              <a:t>Band</a:t>
            </a:r>
          </a:p>
        </p:txBody>
      </p:sp>
      <p:grpSp>
        <p:nvGrpSpPr>
          <p:cNvPr id="447" name="Rectangle 107"/>
          <p:cNvGrpSpPr/>
          <p:nvPr/>
        </p:nvGrpSpPr>
        <p:grpSpPr>
          <a:xfrm>
            <a:off x="5705800" y="1392319"/>
            <a:ext cx="1338656" cy="243841"/>
            <a:chOff x="0" y="0"/>
            <a:chExt cx="1338655" cy="243840"/>
          </a:xfrm>
        </p:grpSpPr>
        <p:sp>
          <p:nvSpPr>
            <p:cNvPr id="445" name="Rectangle"/>
            <p:cNvSpPr/>
            <p:nvPr/>
          </p:nvSpPr>
          <p:spPr>
            <a:xfrm>
              <a:off x="0" y="15154"/>
              <a:ext cx="1338656" cy="213532"/>
            </a:xfrm>
            <a:prstGeom prst="rect">
              <a:avLst/>
            </a:prstGeom>
            <a:solidFill>
              <a:srgbClr val="FF6464"/>
            </a:solidFill>
            <a:ln w="3175" cap="flat">
              <a:solidFill>
                <a:srgbClr val="002060"/>
              </a:solidFill>
              <a:prstDash val="dash"/>
              <a:round/>
            </a:ln>
            <a:effectLst/>
          </p:spPr>
          <p:txBody>
            <a:bodyPr wrap="square" lIns="45719" tIns="45719" rIns="45719" bIns="45719" numCol="1" anchor="ctr">
              <a:noAutofit/>
            </a:bodyPr>
            <a:lstStyle/>
            <a:p>
              <a:pPr algn="ctr">
                <a:defRPr sz="1000">
                  <a:solidFill>
                    <a:srgbClr val="002060"/>
                  </a:solidFill>
                  <a:latin typeface="Open Sans"/>
                  <a:ea typeface="Open Sans"/>
                  <a:cs typeface="Open Sans"/>
                  <a:sym typeface="Open Sans"/>
                </a:defRPr>
              </a:pPr>
            </a:p>
          </p:txBody>
        </p:sp>
        <p:sp>
          <p:nvSpPr>
            <p:cNvPr id="446" name="0 to ₹5 (23%)"/>
            <p:cNvSpPr txBox="1"/>
            <p:nvPr/>
          </p:nvSpPr>
          <p:spPr>
            <a:xfrm>
              <a:off x="47307" y="0"/>
              <a:ext cx="1244041" cy="2438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p>
              <a:pPr algn="ctr">
                <a:defRPr sz="1000">
                  <a:solidFill>
                    <a:srgbClr val="002060"/>
                  </a:solidFill>
                  <a:latin typeface="Open Sans"/>
                  <a:ea typeface="Open Sans"/>
                  <a:cs typeface="Open Sans"/>
                  <a:sym typeface="Open Sans"/>
                </a:defRPr>
              </a:pPr>
              <a:r>
                <a:t>0 to ₹5 </a:t>
              </a:r>
              <a:r>
                <a:rPr sz="800"/>
                <a:t>(23%)</a:t>
              </a:r>
            </a:p>
          </p:txBody>
        </p:sp>
      </p:grpSp>
      <p:sp>
        <p:nvSpPr>
          <p:cNvPr id="448" name="Rectangle 108"/>
          <p:cNvSpPr txBox="1"/>
          <p:nvPr/>
        </p:nvSpPr>
        <p:spPr>
          <a:xfrm>
            <a:off x="5481311" y="602863"/>
            <a:ext cx="1723808" cy="574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b="1" sz="1600">
                <a:solidFill>
                  <a:srgbClr val="0070C0"/>
                </a:solidFill>
                <a:latin typeface="Open Sans Extrabold"/>
                <a:ea typeface="Open Sans Extrabold"/>
                <a:cs typeface="Open Sans Extrabold"/>
                <a:sym typeface="Open Sans Extrabold"/>
              </a:defRPr>
            </a:pPr>
            <a:r>
              <a:t>Customer</a:t>
            </a:r>
            <a:endParaRPr>
              <a:solidFill>
                <a:srgbClr val="FFFFFF"/>
              </a:solidFill>
            </a:endParaRPr>
          </a:p>
          <a:p>
            <a:pPr algn="ctr">
              <a:defRPr b="1" sz="1600">
                <a:solidFill>
                  <a:srgbClr val="0070C0"/>
                </a:solidFill>
                <a:latin typeface="Open Sans Extrabold"/>
                <a:ea typeface="Open Sans Extrabold"/>
                <a:cs typeface="Open Sans Extrabold"/>
                <a:sym typeface="Open Sans Extrabold"/>
              </a:defRPr>
            </a:pPr>
            <a:r>
              <a:t>Value Band</a:t>
            </a:r>
          </a:p>
        </p:txBody>
      </p:sp>
      <p:grpSp>
        <p:nvGrpSpPr>
          <p:cNvPr id="451" name="Rectangle 109"/>
          <p:cNvGrpSpPr/>
          <p:nvPr/>
        </p:nvGrpSpPr>
        <p:grpSpPr>
          <a:xfrm>
            <a:off x="5713069" y="1752349"/>
            <a:ext cx="1338632" cy="243841"/>
            <a:chOff x="0" y="0"/>
            <a:chExt cx="1338630" cy="243840"/>
          </a:xfrm>
        </p:grpSpPr>
        <p:sp>
          <p:nvSpPr>
            <p:cNvPr id="449" name="Rectangle"/>
            <p:cNvSpPr/>
            <p:nvPr/>
          </p:nvSpPr>
          <p:spPr>
            <a:xfrm>
              <a:off x="0" y="15154"/>
              <a:ext cx="1338631" cy="213532"/>
            </a:xfrm>
            <a:prstGeom prst="rect">
              <a:avLst/>
            </a:prstGeom>
            <a:solidFill>
              <a:srgbClr val="FF7D7D"/>
            </a:solidFill>
            <a:ln w="3175" cap="flat">
              <a:solidFill>
                <a:srgbClr val="002060"/>
              </a:solidFill>
              <a:prstDash val="dash"/>
              <a:round/>
            </a:ln>
            <a:effectLst/>
          </p:spPr>
          <p:txBody>
            <a:bodyPr wrap="square" lIns="45719" tIns="45719" rIns="45719" bIns="45719" numCol="1" anchor="ctr">
              <a:noAutofit/>
            </a:bodyPr>
            <a:lstStyle/>
            <a:p>
              <a:pPr algn="ctr">
                <a:defRPr sz="1000">
                  <a:solidFill>
                    <a:srgbClr val="002060"/>
                  </a:solidFill>
                  <a:latin typeface="Open Sans"/>
                  <a:ea typeface="Open Sans"/>
                  <a:cs typeface="Open Sans"/>
                  <a:sym typeface="Open Sans"/>
                </a:defRPr>
              </a:pPr>
            </a:p>
          </p:txBody>
        </p:sp>
        <p:sp>
          <p:nvSpPr>
            <p:cNvPr id="450" name="₹6 to ₹25 (27%)"/>
            <p:cNvSpPr txBox="1"/>
            <p:nvPr/>
          </p:nvSpPr>
          <p:spPr>
            <a:xfrm>
              <a:off x="47307" y="0"/>
              <a:ext cx="1244017" cy="2438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p>
              <a:pPr algn="ctr">
                <a:defRPr sz="1000">
                  <a:solidFill>
                    <a:srgbClr val="002060"/>
                  </a:solidFill>
                  <a:latin typeface="Open Sans"/>
                  <a:ea typeface="Open Sans"/>
                  <a:cs typeface="Open Sans"/>
                  <a:sym typeface="Open Sans"/>
                </a:defRPr>
              </a:pPr>
              <a:r>
                <a:t>₹6 to ₹25 </a:t>
              </a:r>
              <a:r>
                <a:rPr sz="800"/>
                <a:t>(27%)</a:t>
              </a:r>
            </a:p>
          </p:txBody>
        </p:sp>
      </p:grpSp>
      <p:grpSp>
        <p:nvGrpSpPr>
          <p:cNvPr id="454" name="Rectangle 110"/>
          <p:cNvGrpSpPr/>
          <p:nvPr/>
        </p:nvGrpSpPr>
        <p:grpSpPr>
          <a:xfrm>
            <a:off x="5712490" y="2122989"/>
            <a:ext cx="1338632" cy="243841"/>
            <a:chOff x="0" y="0"/>
            <a:chExt cx="1338630" cy="243840"/>
          </a:xfrm>
        </p:grpSpPr>
        <p:sp>
          <p:nvSpPr>
            <p:cNvPr id="452" name="Rectangle"/>
            <p:cNvSpPr/>
            <p:nvPr/>
          </p:nvSpPr>
          <p:spPr>
            <a:xfrm>
              <a:off x="0" y="16785"/>
              <a:ext cx="1338631" cy="210269"/>
            </a:xfrm>
            <a:prstGeom prst="rect">
              <a:avLst/>
            </a:prstGeom>
            <a:solidFill>
              <a:srgbClr val="F7A76C"/>
            </a:solidFill>
            <a:ln w="3175" cap="flat">
              <a:solidFill>
                <a:srgbClr val="002060"/>
              </a:solidFill>
              <a:prstDash val="dash"/>
              <a:round/>
            </a:ln>
            <a:effectLst/>
          </p:spPr>
          <p:txBody>
            <a:bodyPr wrap="square" lIns="45719" tIns="45719" rIns="45719" bIns="45719" numCol="1" anchor="ctr">
              <a:noAutofit/>
            </a:bodyPr>
            <a:lstStyle/>
            <a:p>
              <a:pPr algn="ctr">
                <a:defRPr sz="1000">
                  <a:solidFill>
                    <a:srgbClr val="002060"/>
                  </a:solidFill>
                  <a:latin typeface="Open Sans"/>
                  <a:ea typeface="Open Sans"/>
                  <a:cs typeface="Open Sans"/>
                  <a:sym typeface="Open Sans"/>
                </a:defRPr>
              </a:pPr>
            </a:p>
          </p:txBody>
        </p:sp>
        <p:sp>
          <p:nvSpPr>
            <p:cNvPr id="453" name="₹26 to ₹50 (12%)"/>
            <p:cNvSpPr txBox="1"/>
            <p:nvPr/>
          </p:nvSpPr>
          <p:spPr>
            <a:xfrm>
              <a:off x="47307" y="-1"/>
              <a:ext cx="1244017"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p>
              <a:pPr algn="ctr">
                <a:defRPr sz="1000">
                  <a:solidFill>
                    <a:srgbClr val="002060"/>
                  </a:solidFill>
                  <a:latin typeface="Open Sans"/>
                  <a:ea typeface="Open Sans"/>
                  <a:cs typeface="Open Sans"/>
                  <a:sym typeface="Open Sans"/>
                </a:defRPr>
              </a:pPr>
              <a:r>
                <a:t>₹26 to ₹50 </a:t>
              </a:r>
              <a:r>
                <a:rPr sz="800"/>
                <a:t>(12%)</a:t>
              </a:r>
            </a:p>
          </p:txBody>
        </p:sp>
      </p:grpSp>
      <p:grpSp>
        <p:nvGrpSpPr>
          <p:cNvPr id="457" name="Rectangle 111"/>
          <p:cNvGrpSpPr/>
          <p:nvPr/>
        </p:nvGrpSpPr>
        <p:grpSpPr>
          <a:xfrm>
            <a:off x="5705816" y="2492883"/>
            <a:ext cx="1338632" cy="243841"/>
            <a:chOff x="0" y="0"/>
            <a:chExt cx="1338630" cy="243840"/>
          </a:xfrm>
        </p:grpSpPr>
        <p:sp>
          <p:nvSpPr>
            <p:cNvPr id="455" name="Rectangle"/>
            <p:cNvSpPr/>
            <p:nvPr/>
          </p:nvSpPr>
          <p:spPr>
            <a:xfrm>
              <a:off x="0" y="14702"/>
              <a:ext cx="1338631" cy="214436"/>
            </a:xfrm>
            <a:prstGeom prst="rect">
              <a:avLst/>
            </a:prstGeom>
            <a:solidFill>
              <a:srgbClr val="E1FFB1"/>
            </a:solidFill>
            <a:ln w="3175" cap="flat">
              <a:solidFill>
                <a:srgbClr val="002060"/>
              </a:solidFill>
              <a:prstDash val="dash"/>
              <a:round/>
            </a:ln>
            <a:effectLst/>
          </p:spPr>
          <p:txBody>
            <a:bodyPr wrap="square" lIns="45719" tIns="45719" rIns="45719" bIns="45719" numCol="1" anchor="ctr">
              <a:noAutofit/>
            </a:bodyPr>
            <a:lstStyle/>
            <a:p>
              <a:pPr algn="ctr">
                <a:defRPr sz="1000">
                  <a:solidFill>
                    <a:srgbClr val="002060"/>
                  </a:solidFill>
                  <a:latin typeface="Open Sans"/>
                  <a:ea typeface="Open Sans"/>
                  <a:cs typeface="Open Sans"/>
                  <a:sym typeface="Open Sans"/>
                </a:defRPr>
              </a:pPr>
            </a:p>
          </p:txBody>
        </p:sp>
        <p:sp>
          <p:nvSpPr>
            <p:cNvPr id="456" name="₹51 to ₹100 (10%)"/>
            <p:cNvSpPr txBox="1"/>
            <p:nvPr/>
          </p:nvSpPr>
          <p:spPr>
            <a:xfrm>
              <a:off x="47307" y="0"/>
              <a:ext cx="1244017" cy="2438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p>
              <a:pPr algn="ctr">
                <a:defRPr sz="1000">
                  <a:solidFill>
                    <a:srgbClr val="002060"/>
                  </a:solidFill>
                  <a:latin typeface="Open Sans"/>
                  <a:ea typeface="Open Sans"/>
                  <a:cs typeface="Open Sans"/>
                  <a:sym typeface="Open Sans"/>
                </a:defRPr>
              </a:pPr>
              <a:r>
                <a:t>₹51 to ₹100 </a:t>
              </a:r>
              <a:r>
                <a:rPr sz="800"/>
                <a:t>(10%)</a:t>
              </a:r>
            </a:p>
          </p:txBody>
        </p:sp>
      </p:grpSp>
      <p:grpSp>
        <p:nvGrpSpPr>
          <p:cNvPr id="460" name="Rectangle 112"/>
          <p:cNvGrpSpPr/>
          <p:nvPr/>
        </p:nvGrpSpPr>
        <p:grpSpPr>
          <a:xfrm>
            <a:off x="5711242" y="2897480"/>
            <a:ext cx="1338632" cy="243841"/>
            <a:chOff x="0" y="0"/>
            <a:chExt cx="1338630" cy="243840"/>
          </a:xfrm>
        </p:grpSpPr>
        <p:sp>
          <p:nvSpPr>
            <p:cNvPr id="458" name="Rectangle"/>
            <p:cNvSpPr/>
            <p:nvPr/>
          </p:nvSpPr>
          <p:spPr>
            <a:xfrm>
              <a:off x="0" y="15154"/>
              <a:ext cx="1338631" cy="213532"/>
            </a:xfrm>
            <a:prstGeom prst="rect">
              <a:avLst/>
            </a:prstGeom>
            <a:solidFill>
              <a:srgbClr val="C7F2A4"/>
            </a:solidFill>
            <a:ln w="3175" cap="flat">
              <a:solidFill>
                <a:srgbClr val="002060"/>
              </a:solidFill>
              <a:prstDash val="dash"/>
              <a:round/>
            </a:ln>
            <a:effectLst/>
          </p:spPr>
          <p:txBody>
            <a:bodyPr wrap="square" lIns="45719" tIns="45719" rIns="45719" bIns="45719" numCol="1" anchor="ctr">
              <a:noAutofit/>
            </a:bodyPr>
            <a:lstStyle/>
            <a:p>
              <a:pPr algn="ctr">
                <a:defRPr sz="1000">
                  <a:solidFill>
                    <a:srgbClr val="002060"/>
                  </a:solidFill>
                  <a:latin typeface="Open Sans"/>
                  <a:ea typeface="Open Sans"/>
                  <a:cs typeface="Open Sans"/>
                  <a:sym typeface="Open Sans"/>
                </a:defRPr>
              </a:pPr>
            </a:p>
          </p:txBody>
        </p:sp>
        <p:sp>
          <p:nvSpPr>
            <p:cNvPr id="459" name="₹101 to ₹200 (8%)"/>
            <p:cNvSpPr txBox="1"/>
            <p:nvPr/>
          </p:nvSpPr>
          <p:spPr>
            <a:xfrm>
              <a:off x="47307" y="0"/>
              <a:ext cx="1244017" cy="2438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p>
              <a:pPr algn="ctr">
                <a:defRPr sz="1000">
                  <a:solidFill>
                    <a:srgbClr val="002060"/>
                  </a:solidFill>
                  <a:latin typeface="Open Sans"/>
                  <a:ea typeface="Open Sans"/>
                  <a:cs typeface="Open Sans"/>
                  <a:sym typeface="Open Sans"/>
                </a:defRPr>
              </a:pPr>
              <a:r>
                <a:t>₹101 to ₹200 </a:t>
              </a:r>
              <a:r>
                <a:rPr sz="800"/>
                <a:t>(8%)</a:t>
              </a:r>
            </a:p>
          </p:txBody>
        </p:sp>
      </p:grpSp>
      <p:grpSp>
        <p:nvGrpSpPr>
          <p:cNvPr id="463" name="Rectangle 113"/>
          <p:cNvGrpSpPr/>
          <p:nvPr/>
        </p:nvGrpSpPr>
        <p:grpSpPr>
          <a:xfrm>
            <a:off x="5711242" y="3287207"/>
            <a:ext cx="1338631" cy="243841"/>
            <a:chOff x="0" y="0"/>
            <a:chExt cx="1338630" cy="243840"/>
          </a:xfrm>
        </p:grpSpPr>
        <p:sp>
          <p:nvSpPr>
            <p:cNvPr id="461" name="Rectangle"/>
            <p:cNvSpPr/>
            <p:nvPr/>
          </p:nvSpPr>
          <p:spPr>
            <a:xfrm>
              <a:off x="0" y="18164"/>
              <a:ext cx="1338631" cy="207512"/>
            </a:xfrm>
            <a:prstGeom prst="rect">
              <a:avLst/>
            </a:prstGeom>
            <a:solidFill>
              <a:srgbClr val="92D050"/>
            </a:solidFill>
            <a:ln w="3175" cap="flat">
              <a:solidFill>
                <a:srgbClr val="002060"/>
              </a:solidFill>
              <a:prstDash val="dash"/>
              <a:round/>
            </a:ln>
            <a:effectLst/>
          </p:spPr>
          <p:txBody>
            <a:bodyPr wrap="square" lIns="45719" tIns="45719" rIns="45719" bIns="45719" numCol="1" anchor="ctr">
              <a:noAutofit/>
            </a:bodyPr>
            <a:lstStyle/>
            <a:p>
              <a:pPr algn="ctr">
                <a:defRPr sz="1000">
                  <a:solidFill>
                    <a:srgbClr val="002060"/>
                  </a:solidFill>
                  <a:latin typeface="Open Sans"/>
                  <a:ea typeface="Open Sans"/>
                  <a:cs typeface="Open Sans"/>
                  <a:sym typeface="Open Sans"/>
                </a:defRPr>
              </a:pPr>
            </a:p>
          </p:txBody>
        </p:sp>
        <p:sp>
          <p:nvSpPr>
            <p:cNvPr id="462" name="₹201 to ₹500 (8%)"/>
            <p:cNvSpPr txBox="1"/>
            <p:nvPr/>
          </p:nvSpPr>
          <p:spPr>
            <a:xfrm>
              <a:off x="47307" y="0"/>
              <a:ext cx="1244016"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p>
              <a:pPr algn="ctr">
                <a:defRPr sz="1000">
                  <a:solidFill>
                    <a:srgbClr val="002060"/>
                  </a:solidFill>
                  <a:latin typeface="Open Sans"/>
                  <a:ea typeface="Open Sans"/>
                  <a:cs typeface="Open Sans"/>
                  <a:sym typeface="Open Sans"/>
                </a:defRPr>
              </a:pPr>
              <a:r>
                <a:t>₹201 to ₹500 </a:t>
              </a:r>
              <a:r>
                <a:rPr sz="800"/>
                <a:t>(8%)</a:t>
              </a:r>
            </a:p>
          </p:txBody>
        </p:sp>
      </p:grpSp>
      <p:grpSp>
        <p:nvGrpSpPr>
          <p:cNvPr id="466" name="Rectangle 114"/>
          <p:cNvGrpSpPr/>
          <p:nvPr/>
        </p:nvGrpSpPr>
        <p:grpSpPr>
          <a:xfrm>
            <a:off x="5712202" y="3682106"/>
            <a:ext cx="1338630" cy="243841"/>
            <a:chOff x="0" y="0"/>
            <a:chExt cx="1338629" cy="243840"/>
          </a:xfrm>
        </p:grpSpPr>
        <p:sp>
          <p:nvSpPr>
            <p:cNvPr id="464" name="Rectangle"/>
            <p:cNvSpPr/>
            <p:nvPr/>
          </p:nvSpPr>
          <p:spPr>
            <a:xfrm>
              <a:off x="0" y="17638"/>
              <a:ext cx="1338630" cy="208564"/>
            </a:xfrm>
            <a:prstGeom prst="rect">
              <a:avLst/>
            </a:prstGeom>
            <a:solidFill>
              <a:srgbClr val="00B050"/>
            </a:solidFill>
            <a:ln w="3175" cap="flat">
              <a:solidFill>
                <a:srgbClr val="002060"/>
              </a:solidFill>
              <a:prstDash val="dash"/>
              <a:round/>
            </a:ln>
            <a:effectLst/>
          </p:spPr>
          <p:txBody>
            <a:bodyPr wrap="square" lIns="45719" tIns="45719" rIns="45719" bIns="45719" numCol="1" anchor="ctr">
              <a:noAutofit/>
            </a:bodyPr>
            <a:lstStyle/>
            <a:p>
              <a:pPr algn="ctr">
                <a:defRPr sz="1000">
                  <a:solidFill>
                    <a:srgbClr val="002060"/>
                  </a:solidFill>
                  <a:latin typeface="Open Sans"/>
                  <a:ea typeface="Open Sans"/>
                  <a:cs typeface="Open Sans"/>
                  <a:sym typeface="Open Sans"/>
                </a:defRPr>
              </a:pPr>
            </a:p>
          </p:txBody>
        </p:sp>
        <p:sp>
          <p:nvSpPr>
            <p:cNvPr id="465" name="₹500+ (13%)"/>
            <p:cNvSpPr txBox="1"/>
            <p:nvPr/>
          </p:nvSpPr>
          <p:spPr>
            <a:xfrm>
              <a:off x="47307" y="0"/>
              <a:ext cx="1244015"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p>
              <a:pPr algn="ctr">
                <a:defRPr sz="1000">
                  <a:solidFill>
                    <a:srgbClr val="002060"/>
                  </a:solidFill>
                  <a:latin typeface="Open Sans"/>
                  <a:ea typeface="Open Sans"/>
                  <a:cs typeface="Open Sans"/>
                  <a:sym typeface="Open Sans"/>
                </a:defRPr>
              </a:pPr>
              <a:r>
                <a:t>₹500+ </a:t>
              </a:r>
              <a:r>
                <a:rPr sz="800"/>
                <a:t>(13%)</a:t>
              </a:r>
            </a:p>
          </p:txBody>
        </p:sp>
      </p:grpSp>
      <p:sp>
        <p:nvSpPr>
          <p:cNvPr id="467" name="Rounded Rectangle 116"/>
          <p:cNvSpPr txBox="1"/>
          <p:nvPr/>
        </p:nvSpPr>
        <p:spPr>
          <a:xfrm>
            <a:off x="-899" y="696679"/>
            <a:ext cx="1407979" cy="1463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1300">
                <a:solidFill>
                  <a:srgbClr val="FF9300"/>
                </a:solidFill>
                <a:latin typeface="Open Sans"/>
                <a:ea typeface="Open Sans"/>
                <a:cs typeface="Open Sans"/>
                <a:sym typeface="Open Sans"/>
              </a:defRPr>
            </a:pPr>
            <a:r>
              <a:t>190+ </a:t>
            </a:r>
            <a:r>
              <a:rPr sz="1000"/>
              <a:t>Attributes </a:t>
            </a:r>
            <a:r>
              <a:rPr sz="1000">
                <a:solidFill>
                  <a:srgbClr val="242852"/>
                </a:solidFill>
              </a:rPr>
              <a:t>covering multiple dimensions of customer’s </a:t>
            </a:r>
            <a:r>
              <a:rPr sz="1000">
                <a:solidFill>
                  <a:srgbClr val="00B0F0"/>
                </a:solidFill>
              </a:rPr>
              <a:t>Profile/ Preferences </a:t>
            </a:r>
            <a:endParaRPr i="1" sz="500"/>
          </a:p>
          <a:p>
            <a:pPr>
              <a:defRPr b="1" i="1" sz="500">
                <a:solidFill>
                  <a:srgbClr val="FF9300"/>
                </a:solidFill>
                <a:latin typeface="Open Sans"/>
                <a:ea typeface="Open Sans"/>
                <a:cs typeface="Open Sans"/>
                <a:sym typeface="Open Sans"/>
              </a:defRPr>
            </a:pPr>
          </a:p>
          <a:p>
            <a:pPr>
              <a:defRPr b="1" i="1" sz="500">
                <a:solidFill>
                  <a:srgbClr val="FF9300"/>
                </a:solidFill>
                <a:latin typeface="Open Sans"/>
                <a:ea typeface="Open Sans"/>
                <a:cs typeface="Open Sans"/>
                <a:sym typeface="Open Sans"/>
              </a:defRPr>
            </a:pPr>
          </a:p>
          <a:p>
            <a:pPr>
              <a:defRPr b="1" i="1" sz="500">
                <a:solidFill>
                  <a:srgbClr val="FF9300"/>
                </a:solidFill>
                <a:latin typeface="Open Sans"/>
                <a:ea typeface="Open Sans"/>
                <a:cs typeface="Open Sans"/>
                <a:sym typeface="Open Sans"/>
              </a:defRPr>
            </a:pPr>
          </a:p>
          <a:p>
            <a:pPr>
              <a:defRPr b="1" i="1" sz="500">
                <a:solidFill>
                  <a:srgbClr val="FF9300"/>
                </a:solidFill>
                <a:latin typeface="Open Sans"/>
                <a:ea typeface="Open Sans"/>
                <a:cs typeface="Open Sans"/>
                <a:sym typeface="Open Sans"/>
              </a:defRPr>
            </a:pPr>
          </a:p>
          <a:p>
            <a:pPr>
              <a:defRPr b="1" i="1" sz="500">
                <a:solidFill>
                  <a:srgbClr val="FF9300"/>
                </a:solidFill>
                <a:latin typeface="Open Sans"/>
                <a:ea typeface="Open Sans"/>
                <a:cs typeface="Open Sans"/>
                <a:sym typeface="Open Sans"/>
              </a:defRPr>
            </a:pPr>
          </a:p>
          <a:p>
            <a:pPr>
              <a:defRPr b="1" i="1" sz="1000">
                <a:solidFill>
                  <a:srgbClr val="242852"/>
                </a:solidFill>
                <a:latin typeface="Open Sans"/>
                <a:ea typeface="Open Sans"/>
                <a:cs typeface="Open Sans"/>
                <a:sym typeface="Open Sans"/>
              </a:defRPr>
            </a:pPr>
            <a:r>
              <a:t>#towards@</a:t>
            </a:r>
            <a:r>
              <a:rPr sz="1200">
                <a:solidFill>
                  <a:srgbClr val="00B0F0"/>
                </a:solidFill>
              </a:rPr>
              <a:t>360°</a:t>
            </a:r>
          </a:p>
        </p:txBody>
      </p:sp>
      <p:grpSp>
        <p:nvGrpSpPr>
          <p:cNvPr id="470" name="Left Arrow 1"/>
          <p:cNvGrpSpPr/>
          <p:nvPr/>
        </p:nvGrpSpPr>
        <p:grpSpPr>
          <a:xfrm>
            <a:off x="99434" y="4322914"/>
            <a:ext cx="3761132" cy="540001"/>
            <a:chOff x="0" y="0"/>
            <a:chExt cx="3761130" cy="539999"/>
          </a:xfrm>
        </p:grpSpPr>
        <p:sp>
          <p:nvSpPr>
            <p:cNvPr id="468" name="Arrow"/>
            <p:cNvSpPr/>
            <p:nvPr/>
          </p:nvSpPr>
          <p:spPr>
            <a:xfrm>
              <a:off x="0" y="0"/>
              <a:ext cx="3761131" cy="540000"/>
            </a:xfrm>
            <a:prstGeom prst="leftArrow">
              <a:avLst>
                <a:gd name="adj1" fmla="val 50000"/>
                <a:gd name="adj2" fmla="val 50000"/>
              </a:avLst>
            </a:prstGeom>
            <a:solidFill>
              <a:srgbClr val="0070C0"/>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469" name="Customer Behavior in Last 12M"/>
            <p:cNvSpPr txBox="1"/>
            <p:nvPr/>
          </p:nvSpPr>
          <p:spPr>
            <a:xfrm>
              <a:off x="180719" y="148079"/>
              <a:ext cx="3534691"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1000">
                  <a:solidFill>
                    <a:srgbClr val="FFFFFF"/>
                  </a:solidFill>
                  <a:latin typeface="Open Sans Extrabold"/>
                  <a:ea typeface="Open Sans Extrabold"/>
                  <a:cs typeface="Open Sans Extrabold"/>
                  <a:sym typeface="Open Sans Extrabold"/>
                </a:defRPr>
              </a:lvl1pPr>
            </a:lstStyle>
            <a:p>
              <a:pPr/>
              <a:r>
                <a:t>Customer Behavior in Last 12M</a:t>
              </a:r>
            </a:p>
          </p:txBody>
        </p:sp>
      </p:grpSp>
      <p:grpSp>
        <p:nvGrpSpPr>
          <p:cNvPr id="473" name="Right Arrow 6"/>
          <p:cNvGrpSpPr/>
          <p:nvPr/>
        </p:nvGrpSpPr>
        <p:grpSpPr>
          <a:xfrm>
            <a:off x="4099378" y="4325104"/>
            <a:ext cx="4945187" cy="540001"/>
            <a:chOff x="0" y="0"/>
            <a:chExt cx="4945186" cy="539999"/>
          </a:xfrm>
        </p:grpSpPr>
        <p:sp>
          <p:nvSpPr>
            <p:cNvPr id="471" name="Arrow"/>
            <p:cNvSpPr/>
            <p:nvPr/>
          </p:nvSpPr>
          <p:spPr>
            <a:xfrm>
              <a:off x="0" y="0"/>
              <a:ext cx="4945187" cy="540000"/>
            </a:xfrm>
            <a:prstGeom prst="rightArrow">
              <a:avLst>
                <a:gd name="adj1" fmla="val 50000"/>
                <a:gd name="adj2" fmla="val 50000"/>
              </a:avLst>
            </a:prstGeom>
            <a:solidFill>
              <a:srgbClr val="00B0F0"/>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472" name="Value in Next 12M"/>
            <p:cNvSpPr txBox="1"/>
            <p:nvPr/>
          </p:nvSpPr>
          <p:spPr>
            <a:xfrm>
              <a:off x="45719" y="148079"/>
              <a:ext cx="4718747"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1000">
                  <a:solidFill>
                    <a:srgbClr val="FFFFFF"/>
                  </a:solidFill>
                  <a:latin typeface="Open Sans Extrabold"/>
                  <a:ea typeface="Open Sans Extrabold"/>
                  <a:cs typeface="Open Sans Extrabold"/>
                  <a:sym typeface="Open Sans Extrabold"/>
                </a:defRPr>
              </a:lvl1pPr>
            </a:lstStyle>
            <a:p>
              <a:pPr/>
              <a:r>
                <a:t>Value in Next 12M</a:t>
              </a:r>
            </a:p>
          </p:txBody>
        </p:sp>
      </p:grpSp>
      <p:sp>
        <p:nvSpPr>
          <p:cNvPr id="474" name="Rectangle 13"/>
          <p:cNvSpPr txBox="1"/>
          <p:nvPr/>
        </p:nvSpPr>
        <p:spPr>
          <a:xfrm>
            <a:off x="4091575" y="4215093"/>
            <a:ext cx="3567921" cy="396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baseline="30000" i="1" sz="1000">
                <a:solidFill>
                  <a:srgbClr val="0070C0"/>
                </a:solidFill>
                <a:latin typeface="Open Sans"/>
                <a:ea typeface="Open Sans"/>
                <a:cs typeface="Open Sans"/>
                <a:sym typeface="Open Sans"/>
              </a:defRPr>
            </a:pPr>
            <a:r>
              <a:t>*</a:t>
            </a:r>
            <a:r>
              <a:rPr baseline="0"/>
              <a:t>Retention Rate = 1 - Churn</a:t>
            </a:r>
            <a:endParaRPr>
              <a:solidFill>
                <a:srgbClr val="FFFFFF"/>
              </a:solidFill>
            </a:endParaRPr>
          </a:p>
        </p:txBody>
      </p:sp>
      <p:grpSp>
        <p:nvGrpSpPr>
          <p:cNvPr id="477" name="Rectangle 40"/>
          <p:cNvGrpSpPr/>
          <p:nvPr/>
        </p:nvGrpSpPr>
        <p:grpSpPr>
          <a:xfrm>
            <a:off x="7473776" y="1388236"/>
            <a:ext cx="1328570" cy="243841"/>
            <a:chOff x="0" y="0"/>
            <a:chExt cx="1328569" cy="243840"/>
          </a:xfrm>
        </p:grpSpPr>
        <p:sp>
          <p:nvSpPr>
            <p:cNvPr id="475" name="Rectangle"/>
            <p:cNvSpPr/>
            <p:nvPr/>
          </p:nvSpPr>
          <p:spPr>
            <a:xfrm>
              <a:off x="0" y="19238"/>
              <a:ext cx="1328570" cy="205364"/>
            </a:xfrm>
            <a:prstGeom prst="rect">
              <a:avLst/>
            </a:prstGeom>
            <a:solidFill>
              <a:srgbClr val="FF6464"/>
            </a:solidFill>
            <a:ln w="3175" cap="flat">
              <a:solidFill>
                <a:srgbClr val="002060"/>
              </a:solidFill>
              <a:prstDash val="dash"/>
              <a:round/>
            </a:ln>
            <a:effectLst/>
          </p:spPr>
          <p:txBody>
            <a:bodyPr wrap="square" lIns="45719" tIns="45719" rIns="45719" bIns="45719" numCol="1" anchor="ctr">
              <a:noAutofit/>
            </a:bodyPr>
            <a:lstStyle/>
            <a:p>
              <a:pPr algn="ctr">
                <a:defRPr sz="1000">
                  <a:solidFill>
                    <a:srgbClr val="002060"/>
                  </a:solidFill>
                  <a:latin typeface="Open Sans"/>
                  <a:ea typeface="Open Sans"/>
                  <a:cs typeface="Open Sans"/>
                  <a:sym typeface="Open Sans"/>
                </a:defRPr>
              </a:pPr>
            </a:p>
          </p:txBody>
        </p:sp>
        <p:sp>
          <p:nvSpPr>
            <p:cNvPr id="476" name="&lt;=15% (12%)"/>
            <p:cNvSpPr txBox="1"/>
            <p:nvPr/>
          </p:nvSpPr>
          <p:spPr>
            <a:xfrm>
              <a:off x="47307" y="-1"/>
              <a:ext cx="1233955"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p>
              <a:pPr algn="ctr">
                <a:defRPr sz="1000">
                  <a:solidFill>
                    <a:srgbClr val="002060"/>
                  </a:solidFill>
                  <a:latin typeface="Open Sans"/>
                  <a:ea typeface="Open Sans"/>
                  <a:cs typeface="Open Sans"/>
                  <a:sym typeface="Open Sans"/>
                </a:defRPr>
              </a:pPr>
              <a:r>
                <a:t>&lt;=15% </a:t>
              </a:r>
              <a:r>
                <a:rPr sz="800"/>
                <a:t>(12%)</a:t>
              </a:r>
            </a:p>
          </p:txBody>
        </p:sp>
      </p:grpSp>
      <p:grpSp>
        <p:nvGrpSpPr>
          <p:cNvPr id="480" name="Rectangle 42"/>
          <p:cNvGrpSpPr/>
          <p:nvPr/>
        </p:nvGrpSpPr>
        <p:grpSpPr>
          <a:xfrm>
            <a:off x="7481044" y="1748266"/>
            <a:ext cx="1328546" cy="243841"/>
            <a:chOff x="0" y="0"/>
            <a:chExt cx="1328544" cy="243840"/>
          </a:xfrm>
        </p:grpSpPr>
        <p:sp>
          <p:nvSpPr>
            <p:cNvPr id="478" name="Rectangle"/>
            <p:cNvSpPr/>
            <p:nvPr/>
          </p:nvSpPr>
          <p:spPr>
            <a:xfrm>
              <a:off x="0" y="19238"/>
              <a:ext cx="1328545" cy="205364"/>
            </a:xfrm>
            <a:prstGeom prst="rect">
              <a:avLst/>
            </a:prstGeom>
            <a:solidFill>
              <a:srgbClr val="FF7D7D"/>
            </a:solidFill>
            <a:ln w="3175" cap="flat">
              <a:solidFill>
                <a:srgbClr val="002060"/>
              </a:solidFill>
              <a:prstDash val="dash"/>
              <a:round/>
            </a:ln>
            <a:effectLst/>
          </p:spPr>
          <p:txBody>
            <a:bodyPr wrap="square" lIns="45719" tIns="45719" rIns="45719" bIns="45719" numCol="1" anchor="ctr">
              <a:noAutofit/>
            </a:bodyPr>
            <a:lstStyle/>
            <a:p>
              <a:pPr algn="ctr">
                <a:defRPr sz="1000">
                  <a:solidFill>
                    <a:srgbClr val="002060"/>
                  </a:solidFill>
                  <a:latin typeface="Open Sans"/>
                  <a:ea typeface="Open Sans"/>
                  <a:cs typeface="Open Sans"/>
                  <a:sym typeface="Open Sans"/>
                </a:defRPr>
              </a:pPr>
            </a:p>
          </p:txBody>
        </p:sp>
        <p:sp>
          <p:nvSpPr>
            <p:cNvPr id="479" name="&lt;= 30% (14%)"/>
            <p:cNvSpPr txBox="1"/>
            <p:nvPr/>
          </p:nvSpPr>
          <p:spPr>
            <a:xfrm>
              <a:off x="47307" y="-1"/>
              <a:ext cx="1233931"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p>
              <a:pPr algn="ctr">
                <a:defRPr sz="1000">
                  <a:solidFill>
                    <a:srgbClr val="002060"/>
                  </a:solidFill>
                  <a:latin typeface="Open Sans"/>
                  <a:ea typeface="Open Sans"/>
                  <a:cs typeface="Open Sans"/>
                  <a:sym typeface="Open Sans"/>
                </a:defRPr>
              </a:pPr>
              <a:r>
                <a:t>&lt;= 30% </a:t>
              </a:r>
              <a:r>
                <a:rPr sz="800"/>
                <a:t>(14%)</a:t>
              </a:r>
            </a:p>
          </p:txBody>
        </p:sp>
      </p:grpSp>
      <p:grpSp>
        <p:nvGrpSpPr>
          <p:cNvPr id="483" name="Rectangle 44"/>
          <p:cNvGrpSpPr/>
          <p:nvPr/>
        </p:nvGrpSpPr>
        <p:grpSpPr>
          <a:xfrm>
            <a:off x="7480448" y="2118968"/>
            <a:ext cx="1328546" cy="243841"/>
            <a:chOff x="0" y="0"/>
            <a:chExt cx="1328544" cy="243840"/>
          </a:xfrm>
        </p:grpSpPr>
        <p:sp>
          <p:nvSpPr>
            <p:cNvPr id="481" name="Rectangle"/>
            <p:cNvSpPr/>
            <p:nvPr/>
          </p:nvSpPr>
          <p:spPr>
            <a:xfrm>
              <a:off x="0" y="20806"/>
              <a:ext cx="1328545" cy="202228"/>
            </a:xfrm>
            <a:prstGeom prst="rect">
              <a:avLst/>
            </a:prstGeom>
            <a:solidFill>
              <a:srgbClr val="F7A76C"/>
            </a:solidFill>
            <a:ln w="3175" cap="flat">
              <a:solidFill>
                <a:srgbClr val="002060"/>
              </a:solidFill>
              <a:prstDash val="dash"/>
              <a:round/>
            </a:ln>
            <a:effectLst/>
          </p:spPr>
          <p:txBody>
            <a:bodyPr wrap="square" lIns="45719" tIns="45719" rIns="45719" bIns="45719" numCol="1" anchor="ctr">
              <a:noAutofit/>
            </a:bodyPr>
            <a:lstStyle/>
            <a:p>
              <a:pPr algn="ctr">
                <a:defRPr sz="1000">
                  <a:solidFill>
                    <a:srgbClr val="002060"/>
                  </a:solidFill>
                  <a:latin typeface="Open Sans"/>
                  <a:ea typeface="Open Sans"/>
                  <a:cs typeface="Open Sans"/>
                  <a:sym typeface="Open Sans"/>
                </a:defRPr>
              </a:pPr>
            </a:p>
          </p:txBody>
        </p:sp>
        <p:sp>
          <p:nvSpPr>
            <p:cNvPr id="482" name="&lt;= 50% (14%)"/>
            <p:cNvSpPr txBox="1"/>
            <p:nvPr/>
          </p:nvSpPr>
          <p:spPr>
            <a:xfrm>
              <a:off x="47307" y="0"/>
              <a:ext cx="1233931" cy="2438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p>
              <a:pPr algn="ctr">
                <a:defRPr sz="1000">
                  <a:solidFill>
                    <a:srgbClr val="002060"/>
                  </a:solidFill>
                  <a:latin typeface="Open Sans"/>
                  <a:ea typeface="Open Sans"/>
                  <a:cs typeface="Open Sans"/>
                  <a:sym typeface="Open Sans"/>
                </a:defRPr>
              </a:pPr>
              <a:r>
                <a:t>&lt;= 50% </a:t>
              </a:r>
              <a:r>
                <a:rPr sz="800"/>
                <a:t>(14%)</a:t>
              </a:r>
            </a:p>
          </p:txBody>
        </p:sp>
      </p:grpSp>
      <p:grpSp>
        <p:nvGrpSpPr>
          <p:cNvPr id="486" name="Rectangle 45"/>
          <p:cNvGrpSpPr/>
          <p:nvPr/>
        </p:nvGrpSpPr>
        <p:grpSpPr>
          <a:xfrm>
            <a:off x="7473776" y="2488781"/>
            <a:ext cx="1328546" cy="243841"/>
            <a:chOff x="0" y="0"/>
            <a:chExt cx="1328544" cy="243840"/>
          </a:xfrm>
        </p:grpSpPr>
        <p:sp>
          <p:nvSpPr>
            <p:cNvPr id="484" name="Rectangle"/>
            <p:cNvSpPr/>
            <p:nvPr/>
          </p:nvSpPr>
          <p:spPr>
            <a:xfrm>
              <a:off x="0" y="18803"/>
              <a:ext cx="1328545" cy="206234"/>
            </a:xfrm>
            <a:prstGeom prst="rect">
              <a:avLst/>
            </a:prstGeom>
            <a:solidFill>
              <a:srgbClr val="E1FFB1"/>
            </a:solidFill>
            <a:ln w="3175" cap="flat">
              <a:solidFill>
                <a:srgbClr val="002060"/>
              </a:solidFill>
              <a:prstDash val="dash"/>
              <a:round/>
            </a:ln>
            <a:effectLst/>
          </p:spPr>
          <p:txBody>
            <a:bodyPr wrap="square" lIns="45719" tIns="45719" rIns="45719" bIns="45719" numCol="1" anchor="ctr">
              <a:noAutofit/>
            </a:bodyPr>
            <a:lstStyle/>
            <a:p>
              <a:pPr algn="ctr">
                <a:defRPr sz="1000">
                  <a:solidFill>
                    <a:srgbClr val="002060"/>
                  </a:solidFill>
                  <a:latin typeface="Open Sans"/>
                  <a:ea typeface="Open Sans"/>
                  <a:cs typeface="Open Sans"/>
                  <a:sym typeface="Open Sans"/>
                </a:defRPr>
              </a:pPr>
            </a:p>
          </p:txBody>
        </p:sp>
        <p:sp>
          <p:nvSpPr>
            <p:cNvPr id="485" name="&lt;= 75% (13%)"/>
            <p:cNvSpPr txBox="1"/>
            <p:nvPr/>
          </p:nvSpPr>
          <p:spPr>
            <a:xfrm>
              <a:off x="47307" y="0"/>
              <a:ext cx="1233931"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p>
              <a:pPr algn="ctr">
                <a:defRPr sz="1000">
                  <a:solidFill>
                    <a:srgbClr val="002060"/>
                  </a:solidFill>
                  <a:latin typeface="Open Sans"/>
                  <a:ea typeface="Open Sans"/>
                  <a:cs typeface="Open Sans"/>
                  <a:sym typeface="Open Sans"/>
                </a:defRPr>
              </a:pPr>
              <a:r>
                <a:t>&lt;= 75% </a:t>
              </a:r>
              <a:r>
                <a:rPr sz="800"/>
                <a:t>(13%)</a:t>
              </a:r>
            </a:p>
          </p:txBody>
        </p:sp>
      </p:grpSp>
      <p:grpSp>
        <p:nvGrpSpPr>
          <p:cNvPr id="489" name="Rectangle 46"/>
          <p:cNvGrpSpPr/>
          <p:nvPr/>
        </p:nvGrpSpPr>
        <p:grpSpPr>
          <a:xfrm>
            <a:off x="7479200" y="2893397"/>
            <a:ext cx="1328546" cy="243841"/>
            <a:chOff x="0" y="0"/>
            <a:chExt cx="1328544" cy="243840"/>
          </a:xfrm>
        </p:grpSpPr>
        <p:sp>
          <p:nvSpPr>
            <p:cNvPr id="487" name="Rectangle"/>
            <p:cNvSpPr/>
            <p:nvPr/>
          </p:nvSpPr>
          <p:spPr>
            <a:xfrm>
              <a:off x="0" y="19238"/>
              <a:ext cx="1328545" cy="205364"/>
            </a:xfrm>
            <a:prstGeom prst="rect">
              <a:avLst/>
            </a:prstGeom>
            <a:solidFill>
              <a:srgbClr val="C7F2A4"/>
            </a:solidFill>
            <a:ln w="3175" cap="flat">
              <a:solidFill>
                <a:srgbClr val="002060"/>
              </a:solidFill>
              <a:prstDash val="dash"/>
              <a:round/>
            </a:ln>
            <a:effectLst/>
          </p:spPr>
          <p:txBody>
            <a:bodyPr wrap="square" lIns="45719" tIns="45719" rIns="45719" bIns="45719" numCol="1" anchor="ctr">
              <a:noAutofit/>
            </a:bodyPr>
            <a:lstStyle/>
            <a:p>
              <a:pPr algn="ctr">
                <a:defRPr sz="1000">
                  <a:solidFill>
                    <a:srgbClr val="002060"/>
                  </a:solidFill>
                  <a:latin typeface="Open Sans"/>
                  <a:ea typeface="Open Sans"/>
                  <a:cs typeface="Open Sans"/>
                  <a:sym typeface="Open Sans"/>
                </a:defRPr>
              </a:pPr>
            </a:p>
          </p:txBody>
        </p:sp>
        <p:sp>
          <p:nvSpPr>
            <p:cNvPr id="488" name="&lt;= 90% (12%)"/>
            <p:cNvSpPr txBox="1"/>
            <p:nvPr/>
          </p:nvSpPr>
          <p:spPr>
            <a:xfrm>
              <a:off x="47307" y="-1"/>
              <a:ext cx="1233931"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p>
              <a:pPr algn="ctr">
                <a:defRPr sz="1000">
                  <a:solidFill>
                    <a:srgbClr val="002060"/>
                  </a:solidFill>
                  <a:latin typeface="Open Sans"/>
                  <a:ea typeface="Open Sans"/>
                  <a:cs typeface="Open Sans"/>
                  <a:sym typeface="Open Sans"/>
                </a:defRPr>
              </a:pPr>
              <a:r>
                <a:t>&lt;= 90% </a:t>
              </a:r>
              <a:r>
                <a:rPr sz="800"/>
                <a:t>(12%)</a:t>
              </a:r>
            </a:p>
          </p:txBody>
        </p:sp>
      </p:grpSp>
      <p:grpSp>
        <p:nvGrpSpPr>
          <p:cNvPr id="492" name="Rectangle 50"/>
          <p:cNvGrpSpPr/>
          <p:nvPr/>
        </p:nvGrpSpPr>
        <p:grpSpPr>
          <a:xfrm>
            <a:off x="7479201" y="3283239"/>
            <a:ext cx="1328545" cy="243841"/>
            <a:chOff x="0" y="0"/>
            <a:chExt cx="1328544" cy="243840"/>
          </a:xfrm>
        </p:grpSpPr>
        <p:sp>
          <p:nvSpPr>
            <p:cNvPr id="490" name="Rectangle"/>
            <p:cNvSpPr/>
            <p:nvPr/>
          </p:nvSpPr>
          <p:spPr>
            <a:xfrm>
              <a:off x="0" y="22132"/>
              <a:ext cx="1328545" cy="199575"/>
            </a:xfrm>
            <a:prstGeom prst="rect">
              <a:avLst/>
            </a:prstGeom>
            <a:solidFill>
              <a:srgbClr val="92D050"/>
            </a:solidFill>
            <a:ln w="3175" cap="flat">
              <a:solidFill>
                <a:srgbClr val="002060"/>
              </a:solidFill>
              <a:prstDash val="dash"/>
              <a:round/>
            </a:ln>
            <a:effectLst/>
          </p:spPr>
          <p:txBody>
            <a:bodyPr wrap="square" lIns="45719" tIns="45719" rIns="45719" bIns="45719" numCol="1" anchor="ctr">
              <a:noAutofit/>
            </a:bodyPr>
            <a:lstStyle/>
            <a:p>
              <a:pPr algn="ctr">
                <a:defRPr sz="1000">
                  <a:solidFill>
                    <a:srgbClr val="002060"/>
                  </a:solidFill>
                  <a:latin typeface="Open Sans"/>
                  <a:ea typeface="Open Sans"/>
                  <a:cs typeface="Open Sans"/>
                  <a:sym typeface="Open Sans"/>
                </a:defRPr>
              </a:pPr>
            </a:p>
          </p:txBody>
        </p:sp>
        <p:sp>
          <p:nvSpPr>
            <p:cNvPr id="491" name="&lt;= 99% (22%)"/>
            <p:cNvSpPr txBox="1"/>
            <p:nvPr/>
          </p:nvSpPr>
          <p:spPr>
            <a:xfrm>
              <a:off x="47307" y="-1"/>
              <a:ext cx="1233930"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p>
              <a:pPr algn="ctr">
                <a:defRPr sz="1000">
                  <a:solidFill>
                    <a:srgbClr val="002060"/>
                  </a:solidFill>
                  <a:latin typeface="Open Sans"/>
                  <a:ea typeface="Open Sans"/>
                  <a:cs typeface="Open Sans"/>
                  <a:sym typeface="Open Sans"/>
                </a:defRPr>
              </a:pPr>
              <a:r>
                <a:t>&lt;= 99% </a:t>
              </a:r>
              <a:r>
                <a:rPr sz="800"/>
                <a:t>(22%)</a:t>
              </a:r>
            </a:p>
          </p:txBody>
        </p:sp>
      </p:grpSp>
      <p:grpSp>
        <p:nvGrpSpPr>
          <p:cNvPr id="495" name="Rectangle 51"/>
          <p:cNvGrpSpPr/>
          <p:nvPr/>
        </p:nvGrpSpPr>
        <p:grpSpPr>
          <a:xfrm>
            <a:off x="7480162" y="3678118"/>
            <a:ext cx="1328544" cy="243841"/>
            <a:chOff x="0" y="0"/>
            <a:chExt cx="1328543" cy="243840"/>
          </a:xfrm>
        </p:grpSpPr>
        <p:sp>
          <p:nvSpPr>
            <p:cNvPr id="493" name="Rectangle"/>
            <p:cNvSpPr/>
            <p:nvPr/>
          </p:nvSpPr>
          <p:spPr>
            <a:xfrm>
              <a:off x="0" y="21627"/>
              <a:ext cx="1328544" cy="200587"/>
            </a:xfrm>
            <a:prstGeom prst="rect">
              <a:avLst/>
            </a:prstGeom>
            <a:solidFill>
              <a:srgbClr val="00B050"/>
            </a:solidFill>
            <a:ln w="3175" cap="flat">
              <a:solidFill>
                <a:srgbClr val="002060"/>
              </a:solidFill>
              <a:prstDash val="dash"/>
              <a:round/>
            </a:ln>
            <a:effectLst/>
          </p:spPr>
          <p:txBody>
            <a:bodyPr wrap="square" lIns="45719" tIns="45719" rIns="45719" bIns="45719" numCol="1" anchor="ctr">
              <a:noAutofit/>
            </a:bodyPr>
            <a:lstStyle/>
            <a:p>
              <a:pPr algn="ctr">
                <a:defRPr sz="1000">
                  <a:solidFill>
                    <a:srgbClr val="002060"/>
                  </a:solidFill>
                  <a:latin typeface="Open Sans"/>
                  <a:ea typeface="Open Sans"/>
                  <a:cs typeface="Open Sans"/>
                  <a:sym typeface="Open Sans"/>
                </a:defRPr>
              </a:pPr>
            </a:p>
          </p:txBody>
        </p:sp>
        <p:sp>
          <p:nvSpPr>
            <p:cNvPr id="494" name="&gt; 99% (14%)"/>
            <p:cNvSpPr txBox="1"/>
            <p:nvPr/>
          </p:nvSpPr>
          <p:spPr>
            <a:xfrm>
              <a:off x="47307" y="0"/>
              <a:ext cx="1233929" cy="2438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p>
              <a:pPr algn="ctr">
                <a:defRPr sz="1000">
                  <a:solidFill>
                    <a:srgbClr val="002060"/>
                  </a:solidFill>
                  <a:latin typeface="Open Sans"/>
                  <a:ea typeface="Open Sans"/>
                  <a:cs typeface="Open Sans"/>
                  <a:sym typeface="Open Sans"/>
                </a:defRPr>
              </a:pPr>
              <a:r>
                <a:t>&gt; 99% </a:t>
              </a:r>
              <a:r>
                <a:rPr sz="800"/>
                <a:t>(14%)</a:t>
              </a:r>
            </a:p>
          </p:txBody>
        </p:sp>
      </p:grpSp>
      <p:sp>
        <p:nvSpPr>
          <p:cNvPr id="496" name="TextBox 57"/>
          <p:cNvSpPr txBox="1"/>
          <p:nvPr/>
        </p:nvSpPr>
        <p:spPr>
          <a:xfrm>
            <a:off x="6036124" y="1144852"/>
            <a:ext cx="667776"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000">
                <a:solidFill>
                  <a:srgbClr val="0070C0"/>
                </a:solidFill>
                <a:latin typeface="Open Sans"/>
                <a:ea typeface="Open Sans"/>
                <a:cs typeface="Open Sans"/>
                <a:sym typeface="Open Sans"/>
              </a:defRPr>
            </a:lvl1pPr>
          </a:lstStyle>
          <a:p>
            <a:pPr/>
            <a:r>
              <a:t>(~ ₹390)</a:t>
            </a:r>
          </a:p>
        </p:txBody>
      </p:sp>
      <p:sp>
        <p:nvSpPr>
          <p:cNvPr id="497" name="TextBox 58"/>
          <p:cNvSpPr txBox="1"/>
          <p:nvPr/>
        </p:nvSpPr>
        <p:spPr>
          <a:xfrm>
            <a:off x="7805915" y="1144852"/>
            <a:ext cx="667776"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000">
                <a:solidFill>
                  <a:srgbClr val="0070C0"/>
                </a:solidFill>
                <a:latin typeface="Open Sans"/>
                <a:ea typeface="Open Sans"/>
                <a:cs typeface="Open Sans"/>
                <a:sym typeface="Open Sans"/>
              </a:defRPr>
            </a:lvl1pPr>
          </a:lstStyle>
          <a:p>
            <a:pPr/>
            <a:r>
              <a:t>(~ 62%)</a:t>
            </a:r>
          </a:p>
        </p:txBody>
      </p:sp>
      <p:sp>
        <p:nvSpPr>
          <p:cNvPr id="498" name="TextBox 19"/>
          <p:cNvSpPr txBox="1"/>
          <p:nvPr/>
        </p:nvSpPr>
        <p:spPr>
          <a:xfrm>
            <a:off x="7470500" y="4027458"/>
            <a:ext cx="1325834"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000">
                <a:solidFill>
                  <a:srgbClr val="002060"/>
                </a:solidFill>
                <a:latin typeface="Open Sans"/>
                <a:ea typeface="Open Sans"/>
                <a:cs typeface="Open Sans"/>
                <a:sym typeface="Open Sans"/>
              </a:defRPr>
            </a:lvl1pPr>
          </a:lstStyle>
          <a:p>
            <a:pPr/>
            <a:r>
              <a:t>*12.9 Cr Customers</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0" name="Slide Number Placeholder 3"/>
          <p:cNvSpPr txBox="1"/>
          <p:nvPr>
            <p:ph type="sldNum" sz="quarter" idx="4294967295"/>
          </p:nvPr>
        </p:nvSpPr>
        <p:spPr>
          <a:xfrm>
            <a:off x="11853513" y="6202479"/>
            <a:ext cx="203024" cy="288824"/>
          </a:xfrm>
          <a:prstGeom prst="rect">
            <a:avLst/>
          </a:prstGeom>
          <a:extLst>
            <a:ext uri="{C572A759-6A51-4108-AA02-DFA0A04FC94B}">
              <ma14:wrappingTextBoxFlag xmlns:ma14="http://schemas.microsoft.com/office/mac/drawingml/2011/main" val="1"/>
            </a:ext>
          </a:extLst>
        </p:spPr>
        <p:txBody>
          <a:bodyPr lIns="45719" tIns="45719" rIns="45719" bIns="45719"/>
          <a:lstStyle>
            <a:lvl1pPr algn="r" defTabSz="548599">
              <a:defRPr sz="1400"/>
            </a:lvl1pPr>
          </a:lstStyle>
          <a:p>
            <a:pPr/>
            <a:fld id="{86CB4B4D-7CA3-9044-876B-883B54F8677D}" type="slidenum"/>
          </a:p>
        </p:txBody>
      </p:sp>
      <p:sp>
        <p:nvSpPr>
          <p:cNvPr id="501" name="Title 1"/>
          <p:cNvSpPr txBox="1"/>
          <p:nvPr/>
        </p:nvSpPr>
        <p:spPr>
          <a:xfrm>
            <a:off x="9539" y="63083"/>
            <a:ext cx="8245941" cy="5511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ctr">
            <a:spAutoFit/>
          </a:bodyPr>
          <a:lstStyle/>
          <a:p>
            <a:pPr defTabSz="914309">
              <a:defRPr b="1" i="1" spc="-150" sz="2400">
                <a:solidFill>
                  <a:srgbClr val="002060"/>
                </a:solidFill>
                <a:latin typeface="Open Sans"/>
                <a:ea typeface="Open Sans"/>
                <a:cs typeface="Open Sans"/>
                <a:sym typeface="Open Sans"/>
              </a:defRPr>
            </a:pPr>
            <a:r>
              <a:t>Model Validation ~ </a:t>
            </a:r>
            <a:r>
              <a:rPr>
                <a:solidFill>
                  <a:srgbClr val="00B0F0"/>
                </a:solidFill>
              </a:rPr>
              <a:t>Out Of Time ()</a:t>
            </a:r>
          </a:p>
        </p:txBody>
      </p:sp>
      <p:sp>
        <p:nvSpPr>
          <p:cNvPr id="502" name="Straight Connector 8"/>
          <p:cNvSpPr/>
          <p:nvPr/>
        </p:nvSpPr>
        <p:spPr>
          <a:xfrm>
            <a:off x="-12300" y="618294"/>
            <a:ext cx="9156300" cy="10370"/>
          </a:xfrm>
          <a:prstGeom prst="line">
            <a:avLst/>
          </a:prstGeom>
          <a:ln w="38100">
            <a:solidFill>
              <a:srgbClr val="072C62"/>
            </a:solidFill>
          </a:ln>
        </p:spPr>
        <p:txBody>
          <a:bodyPr lIns="45719" rIns="45719"/>
          <a:lstStyle/>
          <a:p>
            <a:pPr/>
          </a:p>
        </p:txBody>
      </p:sp>
      <p:graphicFrame>
        <p:nvGraphicFramePr>
          <p:cNvPr id="503" name="Table 18"/>
          <p:cNvGraphicFramePr/>
          <p:nvPr/>
        </p:nvGraphicFramePr>
        <p:xfrm>
          <a:off x="578851" y="861782"/>
          <a:ext cx="5424387" cy="1434160"/>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789626"/>
                <a:gridCol w="549305"/>
                <a:gridCol w="549305"/>
                <a:gridCol w="549305"/>
                <a:gridCol w="549305"/>
                <a:gridCol w="549305"/>
                <a:gridCol w="549305"/>
                <a:gridCol w="549305"/>
                <a:gridCol w="789626"/>
              </a:tblGrid>
              <a:tr h="168724">
                <a:tc>
                  <a:txBody>
                    <a:bodyPr/>
                    <a:lstStyle/>
                    <a:p>
                      <a:pPr>
                        <a:defRPr b="0" sz="1400">
                          <a:solidFill>
                            <a:srgbClr val="000000"/>
                          </a:solidFill>
                        </a:defRPr>
                      </a:pPr>
                    </a:p>
                  </a:txBody>
                  <a:tcPr marL="45720" marR="45720" marT="45720" marB="45720" anchor="t" anchorCtr="0" horzOverflow="overflow">
                    <a:lnL w="12700">
                      <a:miter lim="400000"/>
                    </a:lnL>
                    <a:lnR w="3175">
                      <a:solidFill>
                        <a:srgbClr val="002060"/>
                      </a:solidFill>
                      <a:prstDash val="lgDash"/>
                    </a:lnR>
                    <a:lnT w="12700">
                      <a:miter lim="400000"/>
                    </a:lnT>
                    <a:lnB w="3175">
                      <a:solidFill>
                        <a:srgbClr val="002060"/>
                      </a:solidFill>
                      <a:prstDash val="lgDash"/>
                    </a:lnB>
                    <a:noFill/>
                  </a:tcPr>
                </a:tc>
                <a:tc>
                  <a:txBody>
                    <a:bodyPr/>
                    <a:lstStyle/>
                    <a:p>
                      <a:pPr algn="ctr">
                        <a:defRPr b="0" sz="1800">
                          <a:solidFill>
                            <a:srgbClr val="000000"/>
                          </a:solidFill>
                        </a:defRPr>
                      </a:pPr>
                      <a:r>
                        <a:rPr b="1" sz="700">
                          <a:solidFill>
                            <a:srgbClr val="FFFFFF"/>
                          </a:solidFill>
                          <a:latin typeface="Open Sans"/>
                          <a:ea typeface="Open Sans"/>
                          <a:cs typeface="Open Sans"/>
                          <a:sym typeface="Open Sans"/>
                        </a:rPr>
                        <a:t>&lt;=₹5</a:t>
                      </a:r>
                    </a:p>
                  </a:txBody>
                  <a:tcPr marL="45720" marR="45720" marT="45720" marB="45720" anchor="ctr" anchorCtr="0" horzOverflow="overflow">
                    <a:lnL w="3175">
                      <a:solidFill>
                        <a:srgbClr val="002060"/>
                      </a:solidFill>
                      <a:prstDash val="lgDash"/>
                    </a:lnL>
                    <a:lnR w="3175">
                      <a:solidFill>
                        <a:srgbClr val="002060"/>
                      </a:solidFill>
                      <a:prstDash val="lgDash"/>
                    </a:lnR>
                    <a:lnT w="12700">
                      <a:miter lim="400000"/>
                    </a:lnT>
                    <a:lnB w="3175">
                      <a:solidFill>
                        <a:srgbClr val="002060"/>
                      </a:solidFill>
                      <a:prstDash val="lgDash"/>
                    </a:lnB>
                    <a:solidFill>
                      <a:srgbClr val="002060"/>
                    </a:solidFill>
                  </a:tcPr>
                </a:tc>
                <a:tc>
                  <a:txBody>
                    <a:bodyPr/>
                    <a:lstStyle/>
                    <a:p>
                      <a:pPr algn="ctr">
                        <a:defRPr b="0" sz="1800">
                          <a:solidFill>
                            <a:srgbClr val="000000"/>
                          </a:solidFill>
                        </a:defRPr>
                      </a:pPr>
                      <a:r>
                        <a:rPr b="1" sz="700">
                          <a:solidFill>
                            <a:srgbClr val="FFFFFF"/>
                          </a:solidFill>
                          <a:latin typeface="Open Sans"/>
                          <a:ea typeface="Open Sans"/>
                          <a:cs typeface="Open Sans"/>
                          <a:sym typeface="Open Sans"/>
                        </a:rPr>
                        <a:t>&lt;=₹25</a:t>
                      </a:r>
                    </a:p>
                  </a:txBody>
                  <a:tcPr marL="45720" marR="45720" marT="45720" marB="45720" anchor="ctr" anchorCtr="0" horzOverflow="overflow">
                    <a:lnL w="3175">
                      <a:solidFill>
                        <a:srgbClr val="002060"/>
                      </a:solidFill>
                      <a:prstDash val="lgDash"/>
                    </a:lnL>
                    <a:lnR w="3175">
                      <a:solidFill>
                        <a:srgbClr val="002060"/>
                      </a:solidFill>
                      <a:prstDash val="lgDash"/>
                    </a:lnR>
                    <a:lnT w="12700">
                      <a:miter lim="400000"/>
                    </a:lnT>
                    <a:lnB w="3175">
                      <a:solidFill>
                        <a:srgbClr val="002060"/>
                      </a:solidFill>
                      <a:prstDash val="lgDash"/>
                    </a:lnB>
                    <a:solidFill>
                      <a:srgbClr val="002060"/>
                    </a:solidFill>
                  </a:tcPr>
                </a:tc>
                <a:tc>
                  <a:txBody>
                    <a:bodyPr/>
                    <a:lstStyle/>
                    <a:p>
                      <a:pPr algn="ctr">
                        <a:defRPr b="0" sz="1800">
                          <a:solidFill>
                            <a:srgbClr val="000000"/>
                          </a:solidFill>
                        </a:defRPr>
                      </a:pPr>
                      <a:r>
                        <a:rPr b="1" sz="700">
                          <a:solidFill>
                            <a:srgbClr val="FFFFFF"/>
                          </a:solidFill>
                          <a:latin typeface="Open Sans"/>
                          <a:ea typeface="Open Sans"/>
                          <a:cs typeface="Open Sans"/>
                          <a:sym typeface="Open Sans"/>
                        </a:rPr>
                        <a:t>&lt;=₹50</a:t>
                      </a:r>
                    </a:p>
                  </a:txBody>
                  <a:tcPr marL="45720" marR="45720" marT="45720" marB="45720" anchor="ctr" anchorCtr="0" horzOverflow="overflow">
                    <a:lnL w="3175">
                      <a:solidFill>
                        <a:srgbClr val="002060"/>
                      </a:solidFill>
                      <a:prstDash val="lgDash"/>
                    </a:lnL>
                    <a:lnR w="3175">
                      <a:solidFill>
                        <a:srgbClr val="002060"/>
                      </a:solidFill>
                      <a:prstDash val="lgDash"/>
                    </a:lnR>
                    <a:lnT w="12700">
                      <a:miter lim="400000"/>
                    </a:lnT>
                    <a:lnB w="3175">
                      <a:solidFill>
                        <a:srgbClr val="002060"/>
                      </a:solidFill>
                      <a:prstDash val="lgDash"/>
                    </a:lnB>
                    <a:solidFill>
                      <a:srgbClr val="002060"/>
                    </a:solidFill>
                  </a:tcPr>
                </a:tc>
                <a:tc>
                  <a:txBody>
                    <a:bodyPr/>
                    <a:lstStyle/>
                    <a:p>
                      <a:pPr algn="ctr">
                        <a:defRPr b="0" sz="1800">
                          <a:solidFill>
                            <a:srgbClr val="000000"/>
                          </a:solidFill>
                        </a:defRPr>
                      </a:pPr>
                      <a:r>
                        <a:rPr b="1" sz="700">
                          <a:solidFill>
                            <a:srgbClr val="FFFFFF"/>
                          </a:solidFill>
                          <a:latin typeface="Open Sans"/>
                          <a:ea typeface="Open Sans"/>
                          <a:cs typeface="Open Sans"/>
                          <a:sym typeface="Open Sans"/>
                        </a:rPr>
                        <a:t>&lt;=₹100</a:t>
                      </a:r>
                    </a:p>
                  </a:txBody>
                  <a:tcPr marL="45720" marR="45720" marT="45720" marB="45720" anchor="ctr" anchorCtr="0" horzOverflow="overflow">
                    <a:lnL w="3175">
                      <a:solidFill>
                        <a:srgbClr val="002060"/>
                      </a:solidFill>
                      <a:prstDash val="lgDash"/>
                    </a:lnL>
                    <a:lnR w="3175">
                      <a:solidFill>
                        <a:srgbClr val="002060"/>
                      </a:solidFill>
                      <a:prstDash val="lgDash"/>
                    </a:lnR>
                    <a:lnT w="12700">
                      <a:miter lim="400000"/>
                    </a:lnT>
                    <a:lnB w="3175">
                      <a:solidFill>
                        <a:srgbClr val="002060"/>
                      </a:solidFill>
                      <a:prstDash val="lgDash"/>
                    </a:lnB>
                    <a:solidFill>
                      <a:srgbClr val="002060"/>
                    </a:solidFill>
                  </a:tcPr>
                </a:tc>
                <a:tc>
                  <a:txBody>
                    <a:bodyPr/>
                    <a:lstStyle/>
                    <a:p>
                      <a:pPr algn="ctr">
                        <a:defRPr b="0" sz="1800">
                          <a:solidFill>
                            <a:srgbClr val="000000"/>
                          </a:solidFill>
                        </a:defRPr>
                      </a:pPr>
                      <a:r>
                        <a:rPr b="1" sz="700">
                          <a:solidFill>
                            <a:srgbClr val="FFFFFF"/>
                          </a:solidFill>
                          <a:latin typeface="Open Sans"/>
                          <a:ea typeface="Open Sans"/>
                          <a:cs typeface="Open Sans"/>
                          <a:sym typeface="Open Sans"/>
                        </a:rPr>
                        <a:t>&lt;=₹200</a:t>
                      </a:r>
                    </a:p>
                  </a:txBody>
                  <a:tcPr marL="45720" marR="45720" marT="45720" marB="45720" anchor="ctr" anchorCtr="0" horzOverflow="overflow">
                    <a:lnL w="3175">
                      <a:solidFill>
                        <a:srgbClr val="002060"/>
                      </a:solidFill>
                      <a:prstDash val="lgDash"/>
                    </a:lnL>
                    <a:lnR w="3175">
                      <a:solidFill>
                        <a:srgbClr val="002060"/>
                      </a:solidFill>
                      <a:prstDash val="lgDash"/>
                    </a:lnR>
                    <a:lnT w="12700">
                      <a:miter lim="400000"/>
                    </a:lnT>
                    <a:lnB w="3175">
                      <a:solidFill>
                        <a:srgbClr val="002060"/>
                      </a:solidFill>
                      <a:prstDash val="lgDash"/>
                    </a:lnB>
                    <a:solidFill>
                      <a:srgbClr val="002060"/>
                    </a:solidFill>
                  </a:tcPr>
                </a:tc>
                <a:tc>
                  <a:txBody>
                    <a:bodyPr/>
                    <a:lstStyle/>
                    <a:p>
                      <a:pPr algn="ctr">
                        <a:defRPr b="0" sz="1800">
                          <a:solidFill>
                            <a:srgbClr val="000000"/>
                          </a:solidFill>
                        </a:defRPr>
                      </a:pPr>
                      <a:r>
                        <a:rPr b="1" sz="700">
                          <a:solidFill>
                            <a:srgbClr val="FFFFFF"/>
                          </a:solidFill>
                          <a:latin typeface="Open Sans"/>
                          <a:ea typeface="Open Sans"/>
                          <a:cs typeface="Open Sans"/>
                          <a:sym typeface="Open Sans"/>
                        </a:rPr>
                        <a:t> &lt;=₹500</a:t>
                      </a:r>
                    </a:p>
                  </a:txBody>
                  <a:tcPr marL="45720" marR="45720" marT="45720" marB="45720" anchor="ctr" anchorCtr="0" horzOverflow="overflow">
                    <a:lnL w="3175">
                      <a:solidFill>
                        <a:srgbClr val="002060"/>
                      </a:solidFill>
                      <a:prstDash val="lgDash"/>
                    </a:lnL>
                    <a:lnR w="3175">
                      <a:solidFill>
                        <a:srgbClr val="002060"/>
                      </a:solidFill>
                      <a:prstDash val="lgDash"/>
                    </a:lnR>
                    <a:lnT w="12700">
                      <a:miter lim="400000"/>
                    </a:lnT>
                    <a:lnB w="3175">
                      <a:solidFill>
                        <a:srgbClr val="002060"/>
                      </a:solidFill>
                      <a:prstDash val="lgDash"/>
                    </a:lnB>
                    <a:solidFill>
                      <a:srgbClr val="002060"/>
                    </a:solidFill>
                  </a:tcPr>
                </a:tc>
                <a:tc>
                  <a:txBody>
                    <a:bodyPr/>
                    <a:lstStyle/>
                    <a:p>
                      <a:pPr algn="ctr">
                        <a:defRPr b="0" sz="1800">
                          <a:solidFill>
                            <a:srgbClr val="000000"/>
                          </a:solidFill>
                        </a:defRPr>
                      </a:pPr>
                      <a:r>
                        <a:rPr b="1" sz="700">
                          <a:solidFill>
                            <a:srgbClr val="FFFFFF"/>
                          </a:solidFill>
                          <a:latin typeface="Open Sans"/>
                          <a:ea typeface="Open Sans"/>
                          <a:cs typeface="Open Sans"/>
                          <a:sym typeface="Open Sans"/>
                        </a:rPr>
                        <a:t>₹500+</a:t>
                      </a:r>
                    </a:p>
                  </a:txBody>
                  <a:tcPr marL="45720" marR="45720" marT="45720" marB="45720" anchor="ctr" anchorCtr="0" horzOverflow="overflow">
                    <a:lnL w="3175">
                      <a:solidFill>
                        <a:srgbClr val="002060"/>
                      </a:solidFill>
                      <a:prstDash val="lgDash"/>
                    </a:lnL>
                    <a:lnR w="3175">
                      <a:solidFill>
                        <a:srgbClr val="002060"/>
                      </a:solidFill>
                      <a:prstDash val="lgDash"/>
                    </a:lnR>
                    <a:lnT w="12700">
                      <a:miter lim="400000"/>
                    </a:lnT>
                    <a:lnB w="3175">
                      <a:solidFill>
                        <a:srgbClr val="002060"/>
                      </a:solidFill>
                      <a:prstDash val="lgDash"/>
                    </a:lnB>
                    <a:solidFill>
                      <a:srgbClr val="002060"/>
                    </a:solidFill>
                  </a:tcPr>
                </a:tc>
                <a:tc>
                  <a:txBody>
                    <a:bodyPr/>
                    <a:lstStyle/>
                    <a:p>
                      <a:pPr algn="ctr">
                        <a:defRPr b="0" sz="1800">
                          <a:solidFill>
                            <a:srgbClr val="000000"/>
                          </a:solidFill>
                        </a:defRPr>
                      </a:pPr>
                      <a:r>
                        <a:rPr b="1" sz="800">
                          <a:solidFill>
                            <a:srgbClr val="002060"/>
                          </a:solidFill>
                          <a:latin typeface="Open Sans"/>
                          <a:ea typeface="Open Sans"/>
                          <a:cs typeface="Open Sans"/>
                          <a:sym typeface="Open Sans"/>
                        </a:rPr>
                        <a:t>Customers</a:t>
                      </a:r>
                    </a:p>
                  </a:txBody>
                  <a:tcPr marL="45720" marR="45720" marT="45720" marB="45720" anchor="ctr" anchorCtr="0" horzOverflow="overflow">
                    <a:lnL w="3175">
                      <a:solidFill>
                        <a:srgbClr val="002060"/>
                      </a:solidFill>
                      <a:prstDash val="lgDash"/>
                    </a:lnL>
                    <a:lnR w="12700">
                      <a:miter lim="400000"/>
                    </a:lnR>
                    <a:lnT w="12700">
                      <a:miter lim="400000"/>
                    </a:lnT>
                    <a:lnB w="3175">
                      <a:solidFill>
                        <a:srgbClr val="002060"/>
                      </a:solidFill>
                      <a:prstDash val="lgDash"/>
                    </a:lnB>
                    <a:noFill/>
                  </a:tcPr>
                </a:tc>
              </a:tr>
              <a:tr h="156673">
                <a:tc>
                  <a:txBody>
                    <a:bodyPr/>
                    <a:lstStyle/>
                    <a:p>
                      <a:pPr algn="ctr">
                        <a:defRPr sz="1800"/>
                      </a:pPr>
                      <a:r>
                        <a:rPr b="1" sz="700">
                          <a:solidFill>
                            <a:srgbClr val="FFFFFF"/>
                          </a:solidFill>
                          <a:latin typeface="Open Sans"/>
                          <a:ea typeface="Open Sans"/>
                          <a:cs typeface="Open Sans"/>
                          <a:sym typeface="Open Sans"/>
                        </a:rPr>
                        <a:t>&lt;=₹5</a:t>
                      </a:r>
                    </a:p>
                  </a:txBody>
                  <a:tcPr marL="45720" marR="45720" marT="45720" marB="45720" anchor="ctr" anchorCtr="0" horzOverflow="overflow">
                    <a:lnL w="12700">
                      <a:miter lim="400000"/>
                    </a:lnL>
                    <a:lnR w="3175">
                      <a:solidFill>
                        <a:srgbClr val="002060"/>
                      </a:solidFill>
                      <a:prstDash val="lgDash"/>
                    </a:lnR>
                    <a:lnT w="3175">
                      <a:solidFill>
                        <a:srgbClr val="002060"/>
                      </a:solidFill>
                      <a:prstDash val="lgDash"/>
                    </a:lnT>
                    <a:lnB w="3175">
                      <a:solidFill>
                        <a:srgbClr val="002060"/>
                      </a:solidFill>
                      <a:prstDash val="lgDash"/>
                    </a:lnB>
                    <a:solidFill>
                      <a:srgbClr val="002060"/>
                    </a:solidFill>
                  </a:tcPr>
                </a:tc>
                <a:tc>
                  <a:txBody>
                    <a:bodyPr/>
                    <a:lstStyle/>
                    <a:p>
                      <a:pPr algn="ctr">
                        <a:defRPr sz="1800"/>
                      </a:pPr>
                      <a:r>
                        <a:rPr sz="700">
                          <a:solidFill>
                            <a:srgbClr val="002060"/>
                          </a:solidFill>
                          <a:latin typeface="Open Sans"/>
                          <a:ea typeface="Open Sans"/>
                          <a:cs typeface="Open Sans"/>
                          <a:sym typeface="Open Sans"/>
                        </a:rPr>
                        <a:t>55%</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002060"/>
                          </a:solidFill>
                          <a:latin typeface="Open Sans"/>
                          <a:ea typeface="Open Sans"/>
                          <a:cs typeface="Open Sans"/>
                          <a:sym typeface="Open Sans"/>
                        </a:rPr>
                        <a:t>29%</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A6A6A6"/>
                          </a:solidFill>
                          <a:latin typeface="Open Sans"/>
                          <a:ea typeface="Open Sans"/>
                          <a:cs typeface="Open Sans"/>
                          <a:sym typeface="Open Sans"/>
                        </a:rPr>
                        <a:t>7%</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4%</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2%</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2%</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1%</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b="1" sz="800">
                          <a:solidFill>
                            <a:srgbClr val="002060"/>
                          </a:solidFill>
                          <a:latin typeface="Open Sans"/>
                          <a:ea typeface="Open Sans"/>
                          <a:cs typeface="Open Sans"/>
                          <a:sym typeface="Open Sans"/>
                        </a:rPr>
                        <a:t>64%</a:t>
                      </a:r>
                    </a:p>
                  </a:txBody>
                  <a:tcPr marL="9525" marR="9525" marT="9525" marB="9525" anchor="ctr" anchorCtr="0" horzOverflow="overflow">
                    <a:lnL w="3175">
                      <a:solidFill>
                        <a:srgbClr val="002060"/>
                      </a:solidFill>
                      <a:prstDash val="lgDash"/>
                    </a:lnL>
                    <a:lnR w="12700">
                      <a:miter lim="400000"/>
                    </a:lnR>
                    <a:lnT w="3175">
                      <a:solidFill>
                        <a:srgbClr val="002060"/>
                      </a:solidFill>
                      <a:prstDash val="lgDash"/>
                    </a:lnT>
                    <a:lnB w="3175">
                      <a:solidFill>
                        <a:srgbClr val="002060"/>
                      </a:solidFill>
                      <a:prstDash val="lgDash"/>
                    </a:lnB>
                    <a:noFill/>
                  </a:tcPr>
                </a:tc>
              </a:tr>
              <a:tr h="156673">
                <a:tc>
                  <a:txBody>
                    <a:bodyPr/>
                    <a:lstStyle/>
                    <a:p>
                      <a:pPr algn="ctr">
                        <a:defRPr sz="1800"/>
                      </a:pPr>
                      <a:r>
                        <a:rPr b="1" sz="700">
                          <a:solidFill>
                            <a:srgbClr val="FFFFFF"/>
                          </a:solidFill>
                          <a:latin typeface="Open Sans"/>
                          <a:ea typeface="Open Sans"/>
                          <a:cs typeface="Open Sans"/>
                          <a:sym typeface="Open Sans"/>
                        </a:rPr>
                        <a:t>&lt;=₹25</a:t>
                      </a:r>
                    </a:p>
                  </a:txBody>
                  <a:tcPr marL="45720" marR="45720" marT="45720" marB="45720" anchor="ctr" anchorCtr="0" horzOverflow="overflow">
                    <a:lnL w="12700">
                      <a:miter lim="400000"/>
                    </a:lnL>
                    <a:lnR w="3175">
                      <a:solidFill>
                        <a:srgbClr val="002060"/>
                      </a:solidFill>
                      <a:prstDash val="lgDash"/>
                    </a:lnR>
                    <a:lnT w="3175">
                      <a:solidFill>
                        <a:srgbClr val="002060"/>
                      </a:solidFill>
                      <a:prstDash val="lgDash"/>
                    </a:lnT>
                    <a:lnB w="3175">
                      <a:solidFill>
                        <a:srgbClr val="002060"/>
                      </a:solidFill>
                      <a:prstDash val="lgDash"/>
                    </a:lnB>
                    <a:solidFill>
                      <a:srgbClr val="002060"/>
                    </a:solidFill>
                  </a:tcPr>
                </a:tc>
                <a:tc>
                  <a:txBody>
                    <a:bodyPr/>
                    <a:lstStyle/>
                    <a:p>
                      <a:pPr algn="ctr">
                        <a:defRPr sz="1800"/>
                      </a:pPr>
                      <a:r>
                        <a:rPr sz="700">
                          <a:solidFill>
                            <a:srgbClr val="002060"/>
                          </a:solidFill>
                          <a:latin typeface="Open Sans"/>
                          <a:ea typeface="Open Sans"/>
                          <a:cs typeface="Open Sans"/>
                          <a:sym typeface="Open Sans"/>
                        </a:rPr>
                        <a:t>10%</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002060"/>
                          </a:solidFill>
                          <a:latin typeface="Open Sans"/>
                          <a:ea typeface="Open Sans"/>
                          <a:cs typeface="Open Sans"/>
                          <a:sym typeface="Open Sans"/>
                        </a:rPr>
                        <a:t>33%</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002060"/>
                          </a:solidFill>
                          <a:latin typeface="Open Sans"/>
                          <a:ea typeface="Open Sans"/>
                          <a:cs typeface="Open Sans"/>
                          <a:sym typeface="Open Sans"/>
                        </a:rPr>
                        <a:t>20%</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A6A6A6"/>
                          </a:solidFill>
                          <a:latin typeface="Open Sans"/>
                          <a:ea typeface="Open Sans"/>
                          <a:cs typeface="Open Sans"/>
                          <a:sym typeface="Open Sans"/>
                        </a:rPr>
                        <a:t>17%</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10%</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7%</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3%</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b="1" sz="800">
                          <a:solidFill>
                            <a:srgbClr val="002060"/>
                          </a:solidFill>
                          <a:latin typeface="Open Sans"/>
                          <a:ea typeface="Open Sans"/>
                          <a:cs typeface="Open Sans"/>
                          <a:sym typeface="Open Sans"/>
                        </a:rPr>
                        <a:t>12%</a:t>
                      </a:r>
                    </a:p>
                  </a:txBody>
                  <a:tcPr marL="9525" marR="9525" marT="9525" marB="9525" anchor="ctr" anchorCtr="0" horzOverflow="overflow">
                    <a:lnL w="3175">
                      <a:solidFill>
                        <a:srgbClr val="002060"/>
                      </a:solidFill>
                      <a:prstDash val="lgDash"/>
                    </a:lnL>
                    <a:lnR w="12700">
                      <a:miter lim="400000"/>
                    </a:lnR>
                    <a:lnT w="3175">
                      <a:solidFill>
                        <a:srgbClr val="002060"/>
                      </a:solidFill>
                      <a:prstDash val="lgDash"/>
                    </a:lnT>
                    <a:lnB w="3175">
                      <a:solidFill>
                        <a:srgbClr val="002060"/>
                      </a:solidFill>
                      <a:prstDash val="lgDash"/>
                    </a:lnB>
                    <a:noFill/>
                  </a:tcPr>
                </a:tc>
              </a:tr>
              <a:tr h="156673">
                <a:tc>
                  <a:txBody>
                    <a:bodyPr/>
                    <a:lstStyle/>
                    <a:p>
                      <a:pPr algn="ctr">
                        <a:defRPr sz="1800"/>
                      </a:pPr>
                      <a:r>
                        <a:rPr b="1" sz="700">
                          <a:solidFill>
                            <a:srgbClr val="FFFFFF"/>
                          </a:solidFill>
                          <a:latin typeface="Open Sans"/>
                          <a:ea typeface="Open Sans"/>
                          <a:cs typeface="Open Sans"/>
                          <a:sym typeface="Open Sans"/>
                        </a:rPr>
                        <a:t>&lt;=₹50</a:t>
                      </a:r>
                    </a:p>
                  </a:txBody>
                  <a:tcPr marL="45720" marR="45720" marT="45720" marB="45720" anchor="ctr" anchorCtr="0" horzOverflow="overflow">
                    <a:lnL w="12700">
                      <a:miter lim="400000"/>
                    </a:lnL>
                    <a:lnR w="3175">
                      <a:solidFill>
                        <a:srgbClr val="002060"/>
                      </a:solidFill>
                      <a:prstDash val="lgDash"/>
                    </a:lnR>
                    <a:lnT w="3175">
                      <a:solidFill>
                        <a:srgbClr val="002060"/>
                      </a:solidFill>
                      <a:prstDash val="lgDash"/>
                    </a:lnT>
                    <a:lnB w="3175">
                      <a:solidFill>
                        <a:srgbClr val="002060"/>
                      </a:solidFill>
                      <a:prstDash val="lgDash"/>
                    </a:lnB>
                    <a:solidFill>
                      <a:srgbClr val="002060"/>
                    </a:solidFill>
                  </a:tcPr>
                </a:tc>
                <a:tc>
                  <a:txBody>
                    <a:bodyPr/>
                    <a:lstStyle/>
                    <a:p>
                      <a:pPr algn="ctr">
                        <a:defRPr sz="1800"/>
                      </a:pPr>
                      <a:r>
                        <a:rPr sz="700">
                          <a:solidFill>
                            <a:srgbClr val="A6A6A6"/>
                          </a:solidFill>
                          <a:latin typeface="Open Sans"/>
                          <a:ea typeface="Open Sans"/>
                          <a:cs typeface="Open Sans"/>
                          <a:sym typeface="Open Sans"/>
                        </a:rPr>
                        <a:t>5%</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002060"/>
                          </a:solidFill>
                          <a:latin typeface="Open Sans"/>
                          <a:ea typeface="Open Sans"/>
                          <a:cs typeface="Open Sans"/>
                          <a:sym typeface="Open Sans"/>
                        </a:rPr>
                        <a:t>21%</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002060"/>
                          </a:solidFill>
                          <a:latin typeface="Open Sans"/>
                          <a:ea typeface="Open Sans"/>
                          <a:cs typeface="Open Sans"/>
                          <a:sym typeface="Open Sans"/>
                        </a:rPr>
                        <a:t>17%</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002060"/>
                          </a:solidFill>
                          <a:latin typeface="Open Sans"/>
                          <a:ea typeface="Open Sans"/>
                          <a:cs typeface="Open Sans"/>
                          <a:sym typeface="Open Sans"/>
                        </a:rPr>
                        <a:t>20%</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A6A6A6"/>
                          </a:solidFill>
                          <a:latin typeface="Open Sans"/>
                          <a:ea typeface="Open Sans"/>
                          <a:cs typeface="Open Sans"/>
                          <a:sym typeface="Open Sans"/>
                        </a:rPr>
                        <a:t>17%</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14%</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6%</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b="1" sz="800">
                          <a:solidFill>
                            <a:srgbClr val="002060"/>
                          </a:solidFill>
                          <a:latin typeface="Open Sans"/>
                          <a:ea typeface="Open Sans"/>
                          <a:cs typeface="Open Sans"/>
                          <a:sym typeface="Open Sans"/>
                        </a:rPr>
                        <a:t>6%</a:t>
                      </a:r>
                    </a:p>
                  </a:txBody>
                  <a:tcPr marL="9525" marR="9525" marT="9525" marB="9525" anchor="ctr" anchorCtr="0" horzOverflow="overflow">
                    <a:lnL w="3175">
                      <a:solidFill>
                        <a:srgbClr val="002060"/>
                      </a:solidFill>
                      <a:prstDash val="lgDash"/>
                    </a:lnL>
                    <a:lnR w="12700">
                      <a:miter lim="400000"/>
                    </a:lnR>
                    <a:lnT w="3175">
                      <a:solidFill>
                        <a:srgbClr val="002060"/>
                      </a:solidFill>
                      <a:prstDash val="lgDash"/>
                    </a:lnT>
                    <a:lnB w="3175">
                      <a:solidFill>
                        <a:srgbClr val="002060"/>
                      </a:solidFill>
                      <a:prstDash val="lgDash"/>
                    </a:lnB>
                    <a:noFill/>
                  </a:tcPr>
                </a:tc>
              </a:tr>
              <a:tr h="156673">
                <a:tc>
                  <a:txBody>
                    <a:bodyPr/>
                    <a:lstStyle/>
                    <a:p>
                      <a:pPr algn="ctr">
                        <a:defRPr sz="1800"/>
                      </a:pPr>
                      <a:r>
                        <a:rPr b="1" sz="700">
                          <a:solidFill>
                            <a:srgbClr val="FFFFFF"/>
                          </a:solidFill>
                          <a:latin typeface="Open Sans"/>
                          <a:ea typeface="Open Sans"/>
                          <a:cs typeface="Open Sans"/>
                          <a:sym typeface="Open Sans"/>
                        </a:rPr>
                        <a:t>&lt;=₹100</a:t>
                      </a:r>
                    </a:p>
                  </a:txBody>
                  <a:tcPr marL="45720" marR="45720" marT="45720" marB="45720" anchor="ctr" anchorCtr="0" horzOverflow="overflow">
                    <a:lnL w="12700">
                      <a:miter lim="400000"/>
                    </a:lnL>
                    <a:lnR w="3175">
                      <a:solidFill>
                        <a:srgbClr val="002060"/>
                      </a:solidFill>
                      <a:prstDash val="lgDash"/>
                    </a:lnR>
                    <a:lnT w="3175">
                      <a:solidFill>
                        <a:srgbClr val="002060"/>
                      </a:solidFill>
                      <a:prstDash val="lgDash"/>
                    </a:lnT>
                    <a:lnB w="3175">
                      <a:solidFill>
                        <a:srgbClr val="002060"/>
                      </a:solidFill>
                      <a:prstDash val="lgDash"/>
                    </a:lnB>
                    <a:solidFill>
                      <a:srgbClr val="002060"/>
                    </a:solidFill>
                  </a:tcPr>
                </a:tc>
                <a:tc>
                  <a:txBody>
                    <a:bodyPr/>
                    <a:lstStyle/>
                    <a:p>
                      <a:pPr algn="ctr">
                        <a:defRPr sz="1800"/>
                      </a:pPr>
                      <a:r>
                        <a:rPr sz="700">
                          <a:solidFill>
                            <a:srgbClr val="A6A6A6"/>
                          </a:solidFill>
                          <a:latin typeface="Open Sans"/>
                          <a:ea typeface="Open Sans"/>
                          <a:cs typeface="Open Sans"/>
                          <a:sym typeface="Open Sans"/>
                        </a:rPr>
                        <a:t>4%</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14%</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002060"/>
                          </a:solidFill>
                          <a:latin typeface="Open Sans"/>
                          <a:ea typeface="Open Sans"/>
                          <a:cs typeface="Open Sans"/>
                          <a:sym typeface="Open Sans"/>
                        </a:rPr>
                        <a:t>13%</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002060"/>
                          </a:solidFill>
                          <a:latin typeface="Open Sans"/>
                          <a:ea typeface="Open Sans"/>
                          <a:cs typeface="Open Sans"/>
                          <a:sym typeface="Open Sans"/>
                        </a:rPr>
                        <a:t>18%</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002060"/>
                          </a:solidFill>
                          <a:latin typeface="Open Sans"/>
                          <a:ea typeface="Open Sans"/>
                          <a:cs typeface="Open Sans"/>
                          <a:sym typeface="Open Sans"/>
                        </a:rPr>
                        <a:t>20%</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A6A6A6"/>
                          </a:solidFill>
                          <a:latin typeface="Open Sans"/>
                          <a:ea typeface="Open Sans"/>
                          <a:cs typeface="Open Sans"/>
                          <a:sym typeface="Open Sans"/>
                        </a:rPr>
                        <a:t>20%</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10%</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b="1" sz="800">
                          <a:solidFill>
                            <a:srgbClr val="002060"/>
                          </a:solidFill>
                          <a:latin typeface="Open Sans"/>
                          <a:ea typeface="Open Sans"/>
                          <a:cs typeface="Open Sans"/>
                          <a:sym typeface="Open Sans"/>
                        </a:rPr>
                        <a:t>5%</a:t>
                      </a:r>
                    </a:p>
                  </a:txBody>
                  <a:tcPr marL="9525" marR="9525" marT="9525" marB="9525" anchor="ctr" anchorCtr="0" horzOverflow="overflow">
                    <a:lnL w="3175">
                      <a:solidFill>
                        <a:srgbClr val="002060"/>
                      </a:solidFill>
                      <a:prstDash val="lgDash"/>
                    </a:lnL>
                    <a:lnR w="12700">
                      <a:miter lim="400000"/>
                    </a:lnR>
                    <a:lnT w="3175">
                      <a:solidFill>
                        <a:srgbClr val="002060"/>
                      </a:solidFill>
                      <a:prstDash val="lgDash"/>
                    </a:lnT>
                    <a:lnB w="3175">
                      <a:solidFill>
                        <a:srgbClr val="002060"/>
                      </a:solidFill>
                      <a:prstDash val="lgDash"/>
                    </a:lnB>
                    <a:noFill/>
                  </a:tcPr>
                </a:tc>
              </a:tr>
              <a:tr h="156673">
                <a:tc>
                  <a:txBody>
                    <a:bodyPr/>
                    <a:lstStyle/>
                    <a:p>
                      <a:pPr algn="ctr">
                        <a:defRPr sz="1800"/>
                      </a:pPr>
                      <a:r>
                        <a:rPr b="1" sz="700">
                          <a:solidFill>
                            <a:srgbClr val="FFFFFF"/>
                          </a:solidFill>
                          <a:latin typeface="Open Sans"/>
                          <a:ea typeface="Open Sans"/>
                          <a:cs typeface="Open Sans"/>
                          <a:sym typeface="Open Sans"/>
                        </a:rPr>
                        <a:t>&lt;=₹200</a:t>
                      </a:r>
                    </a:p>
                  </a:txBody>
                  <a:tcPr marL="45720" marR="45720" marT="45720" marB="45720" anchor="ctr" anchorCtr="0" horzOverflow="overflow">
                    <a:lnL w="12700">
                      <a:miter lim="400000"/>
                    </a:lnL>
                    <a:lnR w="3175">
                      <a:solidFill>
                        <a:srgbClr val="002060"/>
                      </a:solidFill>
                      <a:prstDash val="lgDash"/>
                    </a:lnR>
                    <a:lnT w="3175">
                      <a:solidFill>
                        <a:srgbClr val="002060"/>
                      </a:solidFill>
                      <a:prstDash val="lgDash"/>
                    </a:lnT>
                    <a:lnB w="3175">
                      <a:solidFill>
                        <a:srgbClr val="002060"/>
                      </a:solidFill>
                      <a:prstDash val="lgDash"/>
                    </a:lnB>
                    <a:solidFill>
                      <a:srgbClr val="002060"/>
                    </a:solidFill>
                  </a:tcPr>
                </a:tc>
                <a:tc>
                  <a:txBody>
                    <a:bodyPr/>
                    <a:lstStyle/>
                    <a:p>
                      <a:pPr algn="ctr">
                        <a:defRPr sz="1800"/>
                      </a:pPr>
                      <a:r>
                        <a:rPr sz="700">
                          <a:solidFill>
                            <a:srgbClr val="A6A6A6"/>
                          </a:solidFill>
                          <a:latin typeface="Open Sans"/>
                          <a:ea typeface="Open Sans"/>
                          <a:cs typeface="Open Sans"/>
                          <a:sym typeface="Open Sans"/>
                        </a:rPr>
                        <a:t>3%</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9%</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9%</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002060"/>
                          </a:solidFill>
                          <a:latin typeface="Open Sans"/>
                          <a:ea typeface="Open Sans"/>
                          <a:cs typeface="Open Sans"/>
                          <a:sym typeface="Open Sans"/>
                        </a:rPr>
                        <a:t>14%</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002060"/>
                          </a:solidFill>
                          <a:latin typeface="Open Sans"/>
                          <a:ea typeface="Open Sans"/>
                          <a:cs typeface="Open Sans"/>
                          <a:sym typeface="Open Sans"/>
                        </a:rPr>
                        <a:t>19%</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002060"/>
                          </a:solidFill>
                          <a:latin typeface="Open Sans"/>
                          <a:ea typeface="Open Sans"/>
                          <a:cs typeface="Open Sans"/>
                          <a:sym typeface="Open Sans"/>
                        </a:rPr>
                        <a:t>27%</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A6A6A6"/>
                          </a:solidFill>
                          <a:latin typeface="Open Sans"/>
                          <a:ea typeface="Open Sans"/>
                          <a:cs typeface="Open Sans"/>
                          <a:sym typeface="Open Sans"/>
                        </a:rPr>
                        <a:t>19%</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b="1" sz="800">
                          <a:solidFill>
                            <a:srgbClr val="002060"/>
                          </a:solidFill>
                          <a:latin typeface="Open Sans"/>
                          <a:ea typeface="Open Sans"/>
                          <a:cs typeface="Open Sans"/>
                          <a:sym typeface="Open Sans"/>
                        </a:rPr>
                        <a:t>4%</a:t>
                      </a:r>
                    </a:p>
                  </a:txBody>
                  <a:tcPr marL="9525" marR="9525" marT="9525" marB="9525" anchor="ctr" anchorCtr="0" horzOverflow="overflow">
                    <a:lnL w="3175">
                      <a:solidFill>
                        <a:srgbClr val="002060"/>
                      </a:solidFill>
                      <a:prstDash val="lgDash"/>
                    </a:lnL>
                    <a:lnR w="12700">
                      <a:miter lim="400000"/>
                    </a:lnR>
                    <a:lnT w="3175">
                      <a:solidFill>
                        <a:srgbClr val="002060"/>
                      </a:solidFill>
                      <a:prstDash val="lgDash"/>
                    </a:lnT>
                    <a:lnB w="3175">
                      <a:solidFill>
                        <a:srgbClr val="002060"/>
                      </a:solidFill>
                      <a:prstDash val="lgDash"/>
                    </a:lnB>
                    <a:noFill/>
                  </a:tcPr>
                </a:tc>
              </a:tr>
              <a:tr h="156673">
                <a:tc>
                  <a:txBody>
                    <a:bodyPr/>
                    <a:lstStyle/>
                    <a:p>
                      <a:pPr algn="ctr">
                        <a:defRPr sz="1800"/>
                      </a:pPr>
                      <a:r>
                        <a:rPr b="1" sz="700">
                          <a:solidFill>
                            <a:srgbClr val="FFFFFF"/>
                          </a:solidFill>
                          <a:latin typeface="Open Sans"/>
                          <a:ea typeface="Open Sans"/>
                          <a:cs typeface="Open Sans"/>
                          <a:sym typeface="Open Sans"/>
                        </a:rPr>
                        <a:t>&lt;=₹500</a:t>
                      </a:r>
                    </a:p>
                  </a:txBody>
                  <a:tcPr marL="45720" marR="45720" marT="45720" marB="45720" anchor="ctr" anchorCtr="0" horzOverflow="overflow">
                    <a:lnL w="12700">
                      <a:miter lim="400000"/>
                    </a:lnL>
                    <a:lnR w="3175">
                      <a:solidFill>
                        <a:srgbClr val="002060"/>
                      </a:solidFill>
                      <a:prstDash val="lgDash"/>
                    </a:lnR>
                    <a:lnT w="3175">
                      <a:solidFill>
                        <a:srgbClr val="002060"/>
                      </a:solidFill>
                      <a:prstDash val="lgDash"/>
                    </a:lnT>
                    <a:lnB w="3175">
                      <a:solidFill>
                        <a:srgbClr val="002060"/>
                      </a:solidFill>
                      <a:prstDash val="lgDash"/>
                    </a:lnB>
                    <a:solidFill>
                      <a:srgbClr val="002060"/>
                    </a:solidFill>
                  </a:tcPr>
                </a:tc>
                <a:tc>
                  <a:txBody>
                    <a:bodyPr/>
                    <a:lstStyle/>
                    <a:p>
                      <a:pPr algn="ctr">
                        <a:defRPr sz="1800"/>
                      </a:pPr>
                      <a:r>
                        <a:rPr sz="700">
                          <a:solidFill>
                            <a:srgbClr val="A6A6A6"/>
                          </a:solidFill>
                          <a:latin typeface="Open Sans"/>
                          <a:ea typeface="Open Sans"/>
                          <a:cs typeface="Open Sans"/>
                          <a:sym typeface="Open Sans"/>
                        </a:rPr>
                        <a:t>2%</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6%</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5%</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9%</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002060"/>
                          </a:solidFill>
                          <a:latin typeface="Open Sans"/>
                          <a:ea typeface="Open Sans"/>
                          <a:cs typeface="Open Sans"/>
                          <a:sym typeface="Open Sans"/>
                        </a:rPr>
                        <a:t>14%</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002060"/>
                          </a:solidFill>
                          <a:latin typeface="Open Sans"/>
                          <a:ea typeface="Open Sans"/>
                          <a:cs typeface="Open Sans"/>
                          <a:sym typeface="Open Sans"/>
                        </a:rPr>
                        <a:t>28%</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002060"/>
                          </a:solidFill>
                          <a:latin typeface="Open Sans"/>
                          <a:ea typeface="Open Sans"/>
                          <a:cs typeface="Open Sans"/>
                          <a:sym typeface="Open Sans"/>
                        </a:rPr>
                        <a:t>36%</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b="1" sz="800">
                          <a:solidFill>
                            <a:srgbClr val="002060"/>
                          </a:solidFill>
                          <a:latin typeface="Open Sans"/>
                          <a:ea typeface="Open Sans"/>
                          <a:cs typeface="Open Sans"/>
                          <a:sym typeface="Open Sans"/>
                        </a:rPr>
                        <a:t>4%</a:t>
                      </a:r>
                    </a:p>
                  </a:txBody>
                  <a:tcPr marL="9525" marR="9525" marT="9525" marB="9525" anchor="ctr" anchorCtr="0" horzOverflow="overflow">
                    <a:lnL w="3175">
                      <a:solidFill>
                        <a:srgbClr val="002060"/>
                      </a:solidFill>
                      <a:prstDash val="lgDash"/>
                    </a:lnL>
                    <a:lnR w="12700">
                      <a:miter lim="400000"/>
                    </a:lnR>
                    <a:lnT w="3175">
                      <a:solidFill>
                        <a:srgbClr val="002060"/>
                      </a:solidFill>
                      <a:prstDash val="lgDash"/>
                    </a:lnT>
                    <a:lnB w="3175">
                      <a:solidFill>
                        <a:srgbClr val="002060"/>
                      </a:solidFill>
                      <a:prstDash val="lgDash"/>
                    </a:lnB>
                    <a:noFill/>
                  </a:tcPr>
                </a:tc>
              </a:tr>
              <a:tr h="156673">
                <a:tc>
                  <a:txBody>
                    <a:bodyPr/>
                    <a:lstStyle/>
                    <a:p>
                      <a:pPr algn="ctr">
                        <a:defRPr sz="1800"/>
                      </a:pPr>
                      <a:r>
                        <a:rPr b="1" sz="700">
                          <a:solidFill>
                            <a:srgbClr val="FFFFFF"/>
                          </a:solidFill>
                          <a:latin typeface="Open Sans"/>
                          <a:ea typeface="Open Sans"/>
                          <a:cs typeface="Open Sans"/>
                          <a:sym typeface="Open Sans"/>
                        </a:rPr>
                        <a:t>₹500+</a:t>
                      </a:r>
                    </a:p>
                  </a:txBody>
                  <a:tcPr marL="45720" marR="45720" marT="45720" marB="45720" anchor="ctr" anchorCtr="0" horzOverflow="overflow">
                    <a:lnL w="12700">
                      <a:miter lim="400000"/>
                    </a:lnL>
                    <a:lnR w="3175">
                      <a:solidFill>
                        <a:srgbClr val="002060"/>
                      </a:solidFill>
                      <a:prstDash val="lgDash"/>
                    </a:lnR>
                    <a:lnT w="3175">
                      <a:solidFill>
                        <a:srgbClr val="002060"/>
                      </a:solidFill>
                      <a:prstDash val="lgDash"/>
                    </a:lnT>
                    <a:lnB w="3175">
                      <a:solidFill>
                        <a:srgbClr val="002060"/>
                      </a:solidFill>
                      <a:prstDash val="lgDash"/>
                    </a:lnB>
                    <a:solidFill>
                      <a:srgbClr val="002060"/>
                    </a:solidFill>
                  </a:tcPr>
                </a:tc>
                <a:tc>
                  <a:txBody>
                    <a:bodyPr/>
                    <a:lstStyle/>
                    <a:p>
                      <a:pPr algn="ctr">
                        <a:defRPr sz="1800"/>
                      </a:pPr>
                      <a:r>
                        <a:rPr sz="700">
                          <a:solidFill>
                            <a:srgbClr val="A6A6A6"/>
                          </a:solidFill>
                          <a:latin typeface="Open Sans"/>
                          <a:ea typeface="Open Sans"/>
                          <a:cs typeface="Open Sans"/>
                          <a:sym typeface="Open Sans"/>
                        </a:rPr>
                        <a:t>1%</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3%</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3%</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4%</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6%</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002060"/>
                          </a:solidFill>
                          <a:latin typeface="Open Sans"/>
                          <a:ea typeface="Open Sans"/>
                          <a:cs typeface="Open Sans"/>
                          <a:sym typeface="Open Sans"/>
                        </a:rPr>
                        <a:t>13%</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002060"/>
                          </a:solidFill>
                          <a:latin typeface="Open Sans"/>
                          <a:ea typeface="Open Sans"/>
                          <a:cs typeface="Open Sans"/>
                          <a:sym typeface="Open Sans"/>
                        </a:rPr>
                        <a:t>70%</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b="1" sz="800">
                          <a:solidFill>
                            <a:srgbClr val="002060"/>
                          </a:solidFill>
                          <a:latin typeface="Open Sans"/>
                          <a:ea typeface="Open Sans"/>
                          <a:cs typeface="Open Sans"/>
                          <a:sym typeface="Open Sans"/>
                        </a:rPr>
                        <a:t>4%</a:t>
                      </a:r>
                    </a:p>
                  </a:txBody>
                  <a:tcPr marL="9525" marR="9525" marT="9525" marB="9525" anchor="ctr" anchorCtr="0" horzOverflow="overflow">
                    <a:lnL w="3175">
                      <a:solidFill>
                        <a:srgbClr val="002060"/>
                      </a:solidFill>
                      <a:prstDash val="lgDash"/>
                    </a:lnL>
                    <a:lnR w="12700">
                      <a:miter lim="400000"/>
                    </a:lnR>
                    <a:lnT w="3175">
                      <a:solidFill>
                        <a:srgbClr val="002060"/>
                      </a:solidFill>
                      <a:prstDash val="lgDash"/>
                    </a:lnT>
                    <a:lnB w="3175">
                      <a:solidFill>
                        <a:srgbClr val="002060"/>
                      </a:solidFill>
                      <a:prstDash val="lgDash"/>
                    </a:lnB>
                    <a:noFill/>
                  </a:tcPr>
                </a:tc>
              </a:tr>
              <a:tr h="168724">
                <a:tc>
                  <a:txBody>
                    <a:bodyPr/>
                    <a:lstStyle/>
                    <a:p>
                      <a:pPr algn="ctr">
                        <a:defRPr sz="1800"/>
                      </a:pPr>
                      <a:r>
                        <a:rPr b="1" sz="800">
                          <a:solidFill>
                            <a:srgbClr val="002060"/>
                          </a:solidFill>
                          <a:latin typeface="Open Sans"/>
                          <a:ea typeface="Open Sans"/>
                          <a:cs typeface="Open Sans"/>
                          <a:sym typeface="Open Sans"/>
                        </a:rPr>
                        <a:t>Customers</a:t>
                      </a:r>
                    </a:p>
                  </a:txBody>
                  <a:tcPr marL="45720" marR="45720" marT="45720" marB="45720" anchor="ctr" anchorCtr="0" horzOverflow="overflow">
                    <a:lnL w="12700">
                      <a:miter lim="400000"/>
                    </a:lnL>
                    <a:lnR w="3175">
                      <a:solidFill>
                        <a:srgbClr val="002060"/>
                      </a:solidFill>
                      <a:prstDash val="lgDash"/>
                    </a:lnR>
                    <a:lnT w="3175">
                      <a:solidFill>
                        <a:srgbClr val="002060"/>
                      </a:solidFill>
                      <a:prstDash val="lgDash"/>
                    </a:lnT>
                    <a:lnB w="12700">
                      <a:miter lim="400000"/>
                    </a:lnB>
                    <a:noFill/>
                  </a:tcPr>
                </a:tc>
                <a:tc>
                  <a:txBody>
                    <a:bodyPr/>
                    <a:lstStyle/>
                    <a:p>
                      <a:pPr algn="ctr">
                        <a:defRPr sz="1800"/>
                      </a:pPr>
                      <a:r>
                        <a:rPr b="1" sz="800">
                          <a:solidFill>
                            <a:srgbClr val="002060"/>
                          </a:solidFill>
                          <a:latin typeface="Open Sans"/>
                          <a:ea typeface="Open Sans"/>
                          <a:cs typeface="Open Sans"/>
                          <a:sym typeface="Open Sans"/>
                        </a:rPr>
                        <a:t>37%</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12700">
                      <a:miter lim="400000"/>
                    </a:lnB>
                    <a:noFill/>
                  </a:tcPr>
                </a:tc>
                <a:tc>
                  <a:txBody>
                    <a:bodyPr/>
                    <a:lstStyle/>
                    <a:p>
                      <a:pPr algn="ctr">
                        <a:defRPr sz="1800"/>
                      </a:pPr>
                      <a:r>
                        <a:rPr b="1" sz="800">
                          <a:solidFill>
                            <a:srgbClr val="002060"/>
                          </a:solidFill>
                          <a:latin typeface="Open Sans"/>
                          <a:ea typeface="Open Sans"/>
                          <a:cs typeface="Open Sans"/>
                          <a:sym typeface="Open Sans"/>
                        </a:rPr>
                        <a:t>26%</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12700">
                      <a:miter lim="400000"/>
                    </a:lnB>
                    <a:noFill/>
                  </a:tcPr>
                </a:tc>
                <a:tc>
                  <a:txBody>
                    <a:bodyPr/>
                    <a:lstStyle/>
                    <a:p>
                      <a:pPr algn="ctr">
                        <a:defRPr sz="1800"/>
                      </a:pPr>
                      <a:r>
                        <a:rPr b="1" sz="800">
                          <a:solidFill>
                            <a:srgbClr val="002060"/>
                          </a:solidFill>
                          <a:latin typeface="Open Sans"/>
                          <a:ea typeface="Open Sans"/>
                          <a:cs typeface="Open Sans"/>
                          <a:sym typeface="Open Sans"/>
                        </a:rPr>
                        <a:t>9%</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12700">
                      <a:miter lim="400000"/>
                    </a:lnB>
                    <a:noFill/>
                  </a:tcPr>
                </a:tc>
                <a:tc>
                  <a:txBody>
                    <a:bodyPr/>
                    <a:lstStyle/>
                    <a:p>
                      <a:pPr algn="ctr">
                        <a:defRPr sz="1800"/>
                      </a:pPr>
                      <a:r>
                        <a:rPr b="1" sz="800">
                          <a:solidFill>
                            <a:srgbClr val="002060"/>
                          </a:solidFill>
                          <a:latin typeface="Open Sans"/>
                          <a:ea typeface="Open Sans"/>
                          <a:cs typeface="Open Sans"/>
                          <a:sym typeface="Open Sans"/>
                        </a:rPr>
                        <a:t>8%</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12700">
                      <a:miter lim="400000"/>
                    </a:lnB>
                    <a:noFill/>
                  </a:tcPr>
                </a:tc>
                <a:tc>
                  <a:txBody>
                    <a:bodyPr/>
                    <a:lstStyle/>
                    <a:p>
                      <a:pPr algn="ctr">
                        <a:defRPr sz="1800"/>
                      </a:pPr>
                      <a:r>
                        <a:rPr b="1" sz="800">
                          <a:solidFill>
                            <a:srgbClr val="002060"/>
                          </a:solidFill>
                          <a:latin typeface="Open Sans"/>
                          <a:ea typeface="Open Sans"/>
                          <a:cs typeface="Open Sans"/>
                          <a:sym typeface="Open Sans"/>
                        </a:rPr>
                        <a:t>6%</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12700">
                      <a:miter lim="400000"/>
                    </a:lnB>
                    <a:noFill/>
                  </a:tcPr>
                </a:tc>
                <a:tc>
                  <a:txBody>
                    <a:bodyPr/>
                    <a:lstStyle/>
                    <a:p>
                      <a:pPr algn="ctr">
                        <a:defRPr sz="1800"/>
                      </a:pPr>
                      <a:r>
                        <a:rPr b="1" sz="800">
                          <a:solidFill>
                            <a:srgbClr val="002060"/>
                          </a:solidFill>
                          <a:latin typeface="Open Sans"/>
                          <a:ea typeface="Open Sans"/>
                          <a:cs typeface="Open Sans"/>
                          <a:sym typeface="Open Sans"/>
                        </a:rPr>
                        <a:t>7%</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12700">
                      <a:miter lim="400000"/>
                    </a:lnB>
                    <a:noFill/>
                  </a:tcPr>
                </a:tc>
                <a:tc>
                  <a:txBody>
                    <a:bodyPr/>
                    <a:lstStyle/>
                    <a:p>
                      <a:pPr algn="ctr">
                        <a:defRPr sz="1800"/>
                      </a:pPr>
                      <a:r>
                        <a:rPr b="1" sz="800">
                          <a:solidFill>
                            <a:srgbClr val="002060"/>
                          </a:solidFill>
                          <a:latin typeface="Open Sans"/>
                          <a:ea typeface="Open Sans"/>
                          <a:cs typeface="Open Sans"/>
                          <a:sym typeface="Open Sans"/>
                        </a:rPr>
                        <a:t>7%</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12700">
                      <a:miter lim="400000"/>
                    </a:lnB>
                    <a:noFill/>
                  </a:tcPr>
                </a:tc>
                <a:tc>
                  <a:txBody>
                    <a:bodyPr/>
                    <a:lstStyle/>
                    <a:p>
                      <a:pPr algn="ctr">
                        <a:defRPr sz="1800"/>
                      </a:pPr>
                      <a:r>
                        <a:rPr b="1" sz="800">
                          <a:solidFill>
                            <a:srgbClr val="002060"/>
                          </a:solidFill>
                          <a:latin typeface="Open Sans"/>
                          <a:ea typeface="Open Sans"/>
                          <a:cs typeface="Open Sans"/>
                          <a:sym typeface="Open Sans"/>
                        </a:rPr>
                        <a:t>12.63 Cr.</a:t>
                      </a:r>
                    </a:p>
                  </a:txBody>
                  <a:tcPr marL="9525" marR="9525" marT="9525" marB="9525" anchor="ctr" anchorCtr="0" horzOverflow="overflow">
                    <a:lnL w="3175">
                      <a:solidFill>
                        <a:srgbClr val="002060"/>
                      </a:solidFill>
                      <a:prstDash val="lgDash"/>
                    </a:lnL>
                    <a:lnR w="12700">
                      <a:miter lim="400000"/>
                    </a:lnR>
                    <a:lnT w="3175">
                      <a:solidFill>
                        <a:srgbClr val="002060"/>
                      </a:solidFill>
                      <a:prstDash val="lgDash"/>
                    </a:lnT>
                    <a:lnB w="12700">
                      <a:miter lim="400000"/>
                    </a:lnB>
                    <a:noFill/>
                  </a:tcPr>
                </a:tc>
              </a:tr>
            </a:tbl>
          </a:graphicData>
        </a:graphic>
      </p:graphicFrame>
      <p:sp>
        <p:nvSpPr>
          <p:cNvPr id="504" name="TextBox 19"/>
          <p:cNvSpPr txBox="1"/>
          <p:nvPr/>
        </p:nvSpPr>
        <p:spPr>
          <a:xfrm>
            <a:off x="1836326" y="602576"/>
            <a:ext cx="2783594" cy="269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1200">
                <a:solidFill>
                  <a:srgbClr val="0070C0"/>
                </a:solidFill>
                <a:latin typeface="Open Sans"/>
                <a:ea typeface="Open Sans"/>
                <a:cs typeface="Open Sans"/>
                <a:sym typeface="Open Sans"/>
              </a:defRPr>
            </a:lvl1pPr>
          </a:lstStyle>
          <a:p>
            <a:pPr/>
            <a:r>
              <a:t>Predicted Customer Value</a:t>
            </a:r>
          </a:p>
        </p:txBody>
      </p:sp>
      <p:sp>
        <p:nvSpPr>
          <p:cNvPr id="505" name="TextBox 20"/>
          <p:cNvSpPr txBox="1"/>
          <p:nvPr/>
        </p:nvSpPr>
        <p:spPr>
          <a:xfrm rot="16200000">
            <a:off x="-405045" y="1586231"/>
            <a:ext cx="1486026" cy="447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1200">
                <a:solidFill>
                  <a:srgbClr val="0070C0"/>
                </a:solidFill>
                <a:latin typeface="Open Sans"/>
                <a:ea typeface="Open Sans"/>
                <a:cs typeface="Open Sans"/>
                <a:sym typeface="Open Sans"/>
              </a:defRPr>
            </a:lvl1pPr>
          </a:lstStyle>
          <a:p>
            <a:pPr/>
            <a:r>
              <a:t>Observed Customer Value</a:t>
            </a:r>
          </a:p>
        </p:txBody>
      </p:sp>
      <p:sp>
        <p:nvSpPr>
          <p:cNvPr id="506" name="Rectangle 21"/>
          <p:cNvSpPr/>
          <p:nvPr/>
        </p:nvSpPr>
        <p:spPr>
          <a:xfrm rot="1110765">
            <a:off x="1418756" y="1489094"/>
            <a:ext cx="3744575" cy="572804"/>
          </a:xfrm>
          <a:prstGeom prst="rect">
            <a:avLst/>
          </a:prstGeom>
          <a:ln w="12700">
            <a:solidFill>
              <a:srgbClr val="0070C0"/>
            </a:solidFill>
            <a:prstDash val="lgDash"/>
          </a:ln>
        </p:spPr>
        <p:txBody>
          <a:bodyPr lIns="45719" rIns="45719" anchor="ctr"/>
          <a:lstStyle/>
          <a:p>
            <a:pPr algn="ctr">
              <a:defRPr sz="1200">
                <a:solidFill>
                  <a:srgbClr val="FFFFFF"/>
                </a:solidFill>
              </a:defRPr>
            </a:pPr>
          </a:p>
        </p:txBody>
      </p:sp>
      <p:sp>
        <p:nvSpPr>
          <p:cNvPr id="507" name="Rectangle 22"/>
          <p:cNvSpPr txBox="1"/>
          <p:nvPr/>
        </p:nvSpPr>
        <p:spPr>
          <a:xfrm>
            <a:off x="6142382" y="859152"/>
            <a:ext cx="2862471" cy="146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28600" indent="-228600">
              <a:lnSpc>
                <a:spcPct val="150000"/>
              </a:lnSpc>
              <a:spcBef>
                <a:spcPts val="900"/>
              </a:spcBef>
              <a:buClr>
                <a:srgbClr val="00B0F0"/>
              </a:buClr>
              <a:buSzPct val="100000"/>
              <a:buFont typeface="Helvetica"/>
              <a:buChar char="⁃"/>
              <a:defRPr sz="1200">
                <a:solidFill>
                  <a:srgbClr val="0070C0"/>
                </a:solidFill>
                <a:latin typeface="Open Sans"/>
                <a:ea typeface="Open Sans"/>
                <a:cs typeface="Open Sans"/>
                <a:sym typeface="Open Sans"/>
              </a:defRPr>
            </a:pPr>
            <a:r>
              <a:t>12.63 Cr. L12M Active Customers in</a:t>
            </a:r>
          </a:p>
          <a:p>
            <a:pPr marL="228600" indent="-228600">
              <a:spcBef>
                <a:spcPts val="900"/>
              </a:spcBef>
              <a:buClr>
                <a:srgbClr val="00B0F0"/>
              </a:buClr>
              <a:buSzPct val="100000"/>
              <a:buFont typeface="Helvetica"/>
              <a:buChar char="⁃"/>
              <a:defRPr b="1" sz="1200">
                <a:solidFill>
                  <a:srgbClr val="0070C0"/>
                </a:solidFill>
                <a:latin typeface="Open Sans"/>
                <a:ea typeface="Open Sans"/>
                <a:cs typeface="Open Sans"/>
                <a:sym typeface="Open Sans"/>
              </a:defRPr>
            </a:pPr>
            <a:r>
              <a:t>Accuracy</a:t>
            </a:r>
            <a:r>
              <a:rPr b="0"/>
              <a:t> of the model is </a:t>
            </a:r>
            <a:r>
              <a:t>77%</a:t>
            </a:r>
            <a:r>
              <a:rPr b="0"/>
              <a:t> on </a:t>
            </a:r>
            <a:r>
              <a:t>Out-of-Time</a:t>
            </a:r>
            <a:r>
              <a:rPr b="0"/>
              <a:t> sample </a:t>
            </a:r>
            <a:endParaRPr b="0"/>
          </a:p>
          <a:p>
            <a:pPr marL="403225" indent="-217488">
              <a:spcBef>
                <a:spcPts val="900"/>
              </a:spcBef>
              <a:buClr>
                <a:srgbClr val="00B0F0"/>
              </a:buClr>
              <a:buSzPct val="100000"/>
              <a:buFont typeface="Arial"/>
              <a:buChar char="•"/>
              <a:defRPr sz="1100">
                <a:solidFill>
                  <a:srgbClr val="0070C0"/>
                </a:solidFill>
                <a:latin typeface="Open Sans"/>
                <a:ea typeface="Open Sans"/>
                <a:cs typeface="Open Sans"/>
                <a:sym typeface="Open Sans"/>
              </a:defRPr>
            </a:pPr>
            <a:r>
              <a:t>On extended Accuracy, Model is able to predict Customer Value correctly </a:t>
            </a:r>
          </a:p>
          <a:p>
            <a:pPr marL="403225" indent="-217488">
              <a:spcBef>
                <a:spcPts val="900"/>
              </a:spcBef>
              <a:buClr>
                <a:srgbClr val="00B0F0"/>
              </a:buClr>
              <a:buSzPct val="100000"/>
              <a:buFont typeface="Arial"/>
              <a:buChar char="•"/>
              <a:defRPr sz="1100">
                <a:solidFill>
                  <a:srgbClr val="0070C0"/>
                </a:solidFill>
                <a:latin typeface="Open Sans"/>
                <a:ea typeface="Open Sans"/>
                <a:cs typeface="Open Sans"/>
                <a:sym typeface="Open Sans"/>
              </a:defRPr>
            </a:pPr>
            <a:r>
              <a:t>Development is done at 6M Value</a:t>
            </a:r>
          </a:p>
        </p:txBody>
      </p:sp>
      <p:sp>
        <p:nvSpPr>
          <p:cNvPr id="508" name="Straight Connector 23"/>
          <p:cNvSpPr/>
          <p:nvPr/>
        </p:nvSpPr>
        <p:spPr>
          <a:xfrm>
            <a:off x="0" y="2815282"/>
            <a:ext cx="9144000" cy="1"/>
          </a:xfrm>
          <a:prstGeom prst="line">
            <a:avLst/>
          </a:prstGeom>
          <a:ln>
            <a:solidFill>
              <a:srgbClr val="002060"/>
            </a:solidFill>
            <a:prstDash val="lgDash"/>
          </a:ln>
        </p:spPr>
        <p:txBody>
          <a:bodyPr lIns="45719" rIns="45719"/>
          <a:lstStyle/>
          <a:p>
            <a:pPr/>
          </a:p>
        </p:txBody>
      </p:sp>
      <p:graphicFrame>
        <p:nvGraphicFramePr>
          <p:cNvPr id="509" name="Chart 27"/>
          <p:cNvGraphicFramePr/>
          <p:nvPr/>
        </p:nvGraphicFramePr>
        <p:xfrm>
          <a:off x="246250" y="3169774"/>
          <a:ext cx="5723334" cy="1568287"/>
        </p:xfrm>
        <a:graphic xmlns:a="http://schemas.openxmlformats.org/drawingml/2006/main">
          <a:graphicData uri="http://schemas.openxmlformats.org/drawingml/2006/chart">
            <c:chart xmlns:c="http://schemas.openxmlformats.org/drawingml/2006/chart" r:id="rId2"/>
          </a:graphicData>
        </a:graphic>
      </p:graphicFrame>
      <p:sp>
        <p:nvSpPr>
          <p:cNvPr id="510" name="TextBox 13"/>
          <p:cNvSpPr txBox="1"/>
          <p:nvPr/>
        </p:nvSpPr>
        <p:spPr>
          <a:xfrm>
            <a:off x="1062544" y="4639977"/>
            <a:ext cx="4590918" cy="269241"/>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45719" rIns="45719">
            <a:spAutoFit/>
          </a:bodyPr>
          <a:lstStyle>
            <a:lvl1pPr>
              <a:defRPr sz="600">
                <a:solidFill>
                  <a:srgbClr val="0070C0"/>
                </a:solidFill>
                <a:latin typeface="Open Sans"/>
                <a:ea typeface="Open Sans"/>
                <a:cs typeface="Open Sans"/>
                <a:sym typeface="Open Sans"/>
              </a:defRPr>
            </a:lvl1pPr>
          </a:lstStyle>
          <a:p>
            <a:pPr/>
            <a:r>
              <a:t> 1                      2                      3                     4                      5                    6                     7                       8                     9                     10</a:t>
            </a:r>
          </a:p>
        </p:txBody>
      </p:sp>
      <p:sp>
        <p:nvSpPr>
          <p:cNvPr id="511" name="TextBox 28"/>
          <p:cNvSpPr txBox="1"/>
          <p:nvPr/>
        </p:nvSpPr>
        <p:spPr>
          <a:xfrm>
            <a:off x="1754536" y="2924562"/>
            <a:ext cx="2783594" cy="269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b="1" sz="1200">
                <a:solidFill>
                  <a:srgbClr val="0070C0"/>
                </a:solidFill>
                <a:latin typeface="Open Sans"/>
                <a:ea typeface="Open Sans"/>
                <a:cs typeface="Open Sans"/>
                <a:sym typeface="Open Sans"/>
              </a:defRPr>
            </a:pPr>
            <a:r>
              <a:t>Churn</a:t>
            </a:r>
            <a:r>
              <a:rPr baseline="30000"/>
              <a:t>*</a:t>
            </a:r>
            <a:r>
              <a:t> Rate by Predicted Deciles</a:t>
            </a:r>
          </a:p>
        </p:txBody>
      </p:sp>
      <p:sp>
        <p:nvSpPr>
          <p:cNvPr id="512" name="TextBox 30"/>
          <p:cNvSpPr/>
          <p:nvPr/>
        </p:nvSpPr>
        <p:spPr>
          <a:xfrm rot="20036587">
            <a:off x="750893" y="3917905"/>
            <a:ext cx="1915849" cy="308040"/>
          </a:xfrm>
          <a:prstGeom prst="rect">
            <a:avLst/>
          </a:prstGeom>
          <a:solidFill>
            <a:srgbClr val="002060">
              <a:alpha val="15684"/>
            </a:srgbClr>
          </a:solidFill>
          <a:ln w="12700">
            <a:miter lim="400000"/>
          </a:ln>
        </p:spPr>
        <p:txBody>
          <a:bodyPr lIns="45719" rIns="45719"/>
          <a:lstStyle/>
          <a:p>
            <a:pPr>
              <a:defRPr sz="1000">
                <a:solidFill>
                  <a:srgbClr val="002060"/>
                </a:solidFill>
                <a:latin typeface="Open Sans"/>
                <a:ea typeface="Open Sans"/>
                <a:cs typeface="Open Sans"/>
                <a:sym typeface="Open Sans"/>
              </a:defRPr>
            </a:pPr>
          </a:p>
        </p:txBody>
      </p:sp>
      <p:sp>
        <p:nvSpPr>
          <p:cNvPr id="513" name="Straight Connector 31"/>
          <p:cNvSpPr/>
          <p:nvPr/>
        </p:nvSpPr>
        <p:spPr>
          <a:xfrm flipH="1">
            <a:off x="2554656" y="3618281"/>
            <a:ext cx="1" cy="1011953"/>
          </a:xfrm>
          <a:prstGeom prst="line">
            <a:avLst/>
          </a:prstGeom>
          <a:ln w="3175">
            <a:solidFill>
              <a:srgbClr val="048F41"/>
            </a:solidFill>
            <a:prstDash val="lgDash"/>
          </a:ln>
        </p:spPr>
        <p:txBody>
          <a:bodyPr lIns="45719" rIns="45719"/>
          <a:lstStyle/>
          <a:p>
            <a:pPr/>
          </a:p>
        </p:txBody>
      </p:sp>
      <p:sp>
        <p:nvSpPr>
          <p:cNvPr id="514" name="Straight Connector 33"/>
          <p:cNvSpPr/>
          <p:nvPr/>
        </p:nvSpPr>
        <p:spPr>
          <a:xfrm flipH="1">
            <a:off x="2567581" y="3580215"/>
            <a:ext cx="2720036" cy="38067"/>
          </a:xfrm>
          <a:prstGeom prst="line">
            <a:avLst/>
          </a:prstGeom>
          <a:ln w="3175">
            <a:solidFill>
              <a:srgbClr val="048F41"/>
            </a:solidFill>
            <a:prstDash val="lgDash"/>
          </a:ln>
        </p:spPr>
        <p:txBody>
          <a:bodyPr lIns="45719" rIns="45719"/>
          <a:lstStyle/>
          <a:p>
            <a:pPr/>
          </a:p>
        </p:txBody>
      </p:sp>
      <p:sp>
        <p:nvSpPr>
          <p:cNvPr id="515" name="TextBox 39"/>
          <p:cNvSpPr txBox="1"/>
          <p:nvPr/>
        </p:nvSpPr>
        <p:spPr>
          <a:xfrm>
            <a:off x="876772" y="3533316"/>
            <a:ext cx="1150101" cy="421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700">
                <a:solidFill>
                  <a:srgbClr val="048F41"/>
                </a:solidFill>
                <a:latin typeface="Open Sans"/>
                <a:ea typeface="Open Sans"/>
                <a:cs typeface="Open Sans"/>
                <a:sym typeface="Open Sans"/>
              </a:defRPr>
            </a:pPr>
            <a:r>
              <a:t>80% of </a:t>
            </a:r>
            <a:r>
              <a:rPr b="1" i="1" sz="800"/>
              <a:t>Churn</a:t>
            </a:r>
            <a:r>
              <a:t> are intercepted by the model in the first  40% population</a:t>
            </a:r>
          </a:p>
        </p:txBody>
      </p:sp>
      <p:graphicFrame>
        <p:nvGraphicFramePr>
          <p:cNvPr id="516" name="Table 41"/>
          <p:cNvGraphicFramePr/>
          <p:nvPr/>
        </p:nvGraphicFramePr>
        <p:xfrm>
          <a:off x="6253272" y="3201560"/>
          <a:ext cx="2520001" cy="1008001"/>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1260000"/>
                <a:gridCol w="1260000"/>
              </a:tblGrid>
              <a:tr h="252000">
                <a:tc>
                  <a:txBody>
                    <a:bodyPr/>
                    <a:lstStyle/>
                    <a:p>
                      <a:pPr algn="ctr">
                        <a:defRPr b="0" sz="1800">
                          <a:solidFill>
                            <a:srgbClr val="000000"/>
                          </a:solidFill>
                        </a:defRPr>
                      </a:pPr>
                      <a:r>
                        <a:rPr b="1" sz="1200">
                          <a:solidFill>
                            <a:srgbClr val="FFFFFF"/>
                          </a:solidFill>
                          <a:latin typeface="Open Sans"/>
                          <a:ea typeface="Open Sans"/>
                          <a:cs typeface="Open Sans"/>
                          <a:sym typeface="Open Sans"/>
                        </a:rPr>
                        <a:t>KPI</a:t>
                      </a:r>
                    </a:p>
                  </a:txBody>
                  <a:tcPr marL="45720" marR="45720" marT="45720" marB="45720" anchor="ctr" anchorCtr="0" horzOverflow="overflow">
                    <a:lnL w="3175">
                      <a:solidFill>
                        <a:srgbClr val="002060"/>
                      </a:solidFill>
                      <a:prstDash val="lgDash"/>
                    </a:lnL>
                    <a:lnR w="3175">
                      <a:solidFill>
                        <a:srgbClr val="002060"/>
                      </a:solidFill>
                      <a:prstDash val="lgDash"/>
                    </a:lnR>
                    <a:lnT w="12700">
                      <a:miter lim="400000"/>
                    </a:lnT>
                    <a:lnB w="3175">
                      <a:solidFill>
                        <a:srgbClr val="002060"/>
                      </a:solidFill>
                      <a:prstDash val="lgDash"/>
                    </a:lnB>
                    <a:solidFill>
                      <a:srgbClr val="002060"/>
                    </a:solidFill>
                  </a:tcPr>
                </a:tc>
                <a:tc>
                  <a:txBody>
                    <a:bodyPr/>
                    <a:lstStyle/>
                    <a:p>
                      <a:pPr algn="ctr">
                        <a:defRPr b="0" sz="1800">
                          <a:solidFill>
                            <a:srgbClr val="000000"/>
                          </a:solidFill>
                        </a:defRPr>
                      </a:pPr>
                      <a:r>
                        <a:rPr b="1" sz="1200">
                          <a:solidFill>
                            <a:srgbClr val="FFFFFF"/>
                          </a:solidFill>
                          <a:latin typeface="Open Sans"/>
                          <a:ea typeface="Open Sans"/>
                          <a:cs typeface="Open Sans"/>
                          <a:sym typeface="Open Sans"/>
                        </a:rPr>
                        <a:t> Metrics</a:t>
                      </a:r>
                    </a:p>
                  </a:txBody>
                  <a:tcPr marL="45720" marR="45720" marT="45720" marB="45720" anchor="ctr" anchorCtr="0" horzOverflow="overflow">
                    <a:lnL w="3175">
                      <a:solidFill>
                        <a:srgbClr val="002060"/>
                      </a:solidFill>
                      <a:prstDash val="lgDash"/>
                    </a:lnL>
                    <a:lnR w="3175">
                      <a:solidFill>
                        <a:srgbClr val="002060"/>
                      </a:solidFill>
                      <a:prstDash val="lgDash"/>
                    </a:lnR>
                    <a:lnT w="12700">
                      <a:miter lim="400000"/>
                    </a:lnT>
                    <a:lnB w="3175">
                      <a:solidFill>
                        <a:srgbClr val="002060"/>
                      </a:solidFill>
                      <a:prstDash val="lgDash"/>
                    </a:lnB>
                    <a:solidFill>
                      <a:srgbClr val="002060"/>
                    </a:solidFill>
                  </a:tcPr>
                </a:tc>
              </a:tr>
              <a:tr h="252000">
                <a:tc>
                  <a:txBody>
                    <a:bodyPr/>
                    <a:lstStyle/>
                    <a:p>
                      <a:pPr algn="ctr">
                        <a:defRPr sz="1800"/>
                      </a:pPr>
                      <a:r>
                        <a:rPr sz="1100">
                          <a:solidFill>
                            <a:srgbClr val="002060"/>
                          </a:solidFill>
                          <a:latin typeface="Open Sans"/>
                          <a:ea typeface="Open Sans"/>
                          <a:cs typeface="Open Sans"/>
                          <a:sym typeface="Open Sans"/>
                        </a:rPr>
                        <a:t>Gini</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1100">
                          <a:solidFill>
                            <a:srgbClr val="002060"/>
                          </a:solidFill>
                          <a:latin typeface="Open Sans"/>
                          <a:ea typeface="Open Sans"/>
                          <a:cs typeface="Open Sans"/>
                          <a:sym typeface="Open Sans"/>
                        </a:rPr>
                        <a:t>79.6%</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r>
              <a:tr h="252000">
                <a:tc>
                  <a:txBody>
                    <a:bodyPr/>
                    <a:lstStyle/>
                    <a:p>
                      <a:pPr algn="ctr">
                        <a:defRPr sz="1800"/>
                      </a:pPr>
                      <a:r>
                        <a:rPr sz="1100">
                          <a:solidFill>
                            <a:srgbClr val="002060"/>
                          </a:solidFill>
                          <a:latin typeface="Open Sans"/>
                          <a:ea typeface="Open Sans"/>
                          <a:cs typeface="Open Sans"/>
                          <a:sym typeface="Open Sans"/>
                        </a:rPr>
                        <a:t>AUC</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1100">
                          <a:solidFill>
                            <a:srgbClr val="002060"/>
                          </a:solidFill>
                          <a:latin typeface="Open Sans"/>
                          <a:ea typeface="Open Sans"/>
                          <a:cs typeface="Open Sans"/>
                          <a:sym typeface="Open Sans"/>
                        </a:rPr>
                        <a:t>89.8%</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r>
              <a:tr h="252000">
                <a:tc>
                  <a:txBody>
                    <a:bodyPr/>
                    <a:lstStyle/>
                    <a:p>
                      <a:pPr algn="ctr">
                        <a:defRPr sz="1800"/>
                      </a:pPr>
                      <a:r>
                        <a:rPr sz="1100">
                          <a:solidFill>
                            <a:srgbClr val="002060"/>
                          </a:solidFill>
                          <a:latin typeface="Open Sans"/>
                          <a:ea typeface="Open Sans"/>
                          <a:cs typeface="Open Sans"/>
                          <a:sym typeface="Open Sans"/>
                        </a:rPr>
                        <a:t>KS</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1100">
                          <a:solidFill>
                            <a:srgbClr val="002060"/>
                          </a:solidFill>
                          <a:latin typeface="Open Sans"/>
                          <a:ea typeface="Open Sans"/>
                          <a:cs typeface="Open Sans"/>
                          <a:sym typeface="Open Sans"/>
                        </a:rPr>
                        <a:t>65%</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r>
            </a:tbl>
          </a:graphicData>
        </a:graphic>
      </p:graphicFrame>
      <p:sp>
        <p:nvSpPr>
          <p:cNvPr id="517" name="TextBox 42"/>
          <p:cNvSpPr txBox="1"/>
          <p:nvPr/>
        </p:nvSpPr>
        <p:spPr>
          <a:xfrm>
            <a:off x="6175538" y="2924561"/>
            <a:ext cx="2783595" cy="269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1200">
                <a:solidFill>
                  <a:srgbClr val="0070C0"/>
                </a:solidFill>
                <a:latin typeface="Open Sans"/>
                <a:ea typeface="Open Sans"/>
                <a:cs typeface="Open Sans"/>
                <a:sym typeface="Open Sans"/>
              </a:defRPr>
            </a:lvl1pPr>
          </a:lstStyle>
          <a:p>
            <a:pPr/>
            <a:r>
              <a:t>Model Performance Metrics</a:t>
            </a:r>
          </a:p>
        </p:txBody>
      </p:sp>
      <p:sp>
        <p:nvSpPr>
          <p:cNvPr id="518" name="Rectangle 43"/>
          <p:cNvSpPr txBox="1"/>
          <p:nvPr/>
        </p:nvSpPr>
        <p:spPr>
          <a:xfrm>
            <a:off x="6298993" y="4572444"/>
            <a:ext cx="2428561" cy="396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baseline="30000" i="1" sz="1000">
                <a:solidFill>
                  <a:srgbClr val="0070C0"/>
                </a:solidFill>
                <a:latin typeface="Open Sans"/>
                <a:ea typeface="Open Sans"/>
                <a:cs typeface="Open Sans"/>
                <a:sym typeface="Open Sans"/>
              </a:defRPr>
            </a:pPr>
            <a:r>
              <a:t>*</a:t>
            </a:r>
            <a:r>
              <a:rPr baseline="0"/>
              <a:t>Retention Rate = 1 - Churn</a:t>
            </a:r>
            <a:endParaRPr>
              <a:solidFill>
                <a:srgbClr val="FFFFFF"/>
              </a:solidFill>
            </a:endParaRP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20" name="Title 1"/>
          <p:cNvSpPr txBox="1"/>
          <p:nvPr/>
        </p:nvSpPr>
        <p:spPr>
          <a:xfrm>
            <a:off x="9536" y="47647"/>
            <a:ext cx="8365344" cy="5511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ctr">
            <a:spAutoFit/>
          </a:bodyPr>
          <a:lstStyle/>
          <a:p>
            <a:pPr>
              <a:defRPr b="1" i="1" sz="2400">
                <a:solidFill>
                  <a:srgbClr val="002060"/>
                </a:solidFill>
                <a:latin typeface="Open Sans"/>
                <a:ea typeface="Open Sans"/>
                <a:cs typeface="Open Sans"/>
                <a:sym typeface="Open Sans"/>
              </a:defRPr>
            </a:pPr>
            <a:r>
              <a:t>Use </a:t>
            </a:r>
            <a:r>
              <a:rPr>
                <a:solidFill>
                  <a:srgbClr val="00B0F0"/>
                </a:solidFill>
              </a:rPr>
              <a:t>Cases ~ </a:t>
            </a:r>
            <a:r>
              <a:t>Customer</a:t>
            </a:r>
            <a:r>
              <a:rPr>
                <a:solidFill>
                  <a:srgbClr val="00B0F0"/>
                </a:solidFill>
              </a:rPr>
              <a:t> Value and </a:t>
            </a:r>
            <a:r>
              <a:t>Retention</a:t>
            </a:r>
            <a:r>
              <a:rPr>
                <a:solidFill>
                  <a:srgbClr val="00B0F0"/>
                </a:solidFill>
              </a:rPr>
              <a:t> Rate</a:t>
            </a:r>
          </a:p>
        </p:txBody>
      </p:sp>
      <p:sp>
        <p:nvSpPr>
          <p:cNvPr id="521" name="Straight Connector 20"/>
          <p:cNvSpPr/>
          <p:nvPr/>
        </p:nvSpPr>
        <p:spPr>
          <a:xfrm>
            <a:off x="9536" y="614137"/>
            <a:ext cx="9144001" cy="1"/>
          </a:xfrm>
          <a:prstGeom prst="line">
            <a:avLst/>
          </a:prstGeom>
          <a:ln w="31750">
            <a:solidFill>
              <a:srgbClr val="072C62"/>
            </a:solidFill>
          </a:ln>
        </p:spPr>
        <p:txBody>
          <a:bodyPr lIns="45719" rIns="45719"/>
          <a:lstStyle/>
          <a:p>
            <a:pPr/>
          </a:p>
        </p:txBody>
      </p:sp>
      <p:graphicFrame>
        <p:nvGraphicFramePr>
          <p:cNvPr id="522" name="Table 11"/>
          <p:cNvGraphicFramePr/>
          <p:nvPr/>
        </p:nvGraphicFramePr>
        <p:xfrm>
          <a:off x="690082" y="1998689"/>
          <a:ext cx="7942264" cy="1324337"/>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992783"/>
                <a:gridCol w="992783"/>
                <a:gridCol w="992783"/>
                <a:gridCol w="992783"/>
                <a:gridCol w="992783"/>
                <a:gridCol w="992783"/>
                <a:gridCol w="992783"/>
                <a:gridCol w="992783"/>
              </a:tblGrid>
              <a:tr h="165542">
                <a:tc>
                  <a:txBody>
                    <a:bodyPr/>
                    <a:lstStyle/>
                    <a:p>
                      <a:pPr>
                        <a:defRPr b="0" sz="1400">
                          <a:solidFill>
                            <a:srgbClr val="000000"/>
                          </a:solidFill>
                        </a:defRPr>
                      </a:pPr>
                    </a:p>
                  </a:txBody>
                  <a:tcPr marL="45720" marR="45720" marT="45720" marB="45720" anchor="t" anchorCtr="0" horzOverflow="overflow">
                    <a:lnL w="12700">
                      <a:miter lim="400000"/>
                    </a:lnL>
                    <a:lnR w="3175">
                      <a:solidFill>
                        <a:srgbClr val="002060"/>
                      </a:solidFill>
                      <a:prstDash val="lgDash"/>
                    </a:lnR>
                    <a:lnT w="12700">
                      <a:miter lim="400000"/>
                    </a:lnT>
                    <a:lnB w="3175">
                      <a:solidFill>
                        <a:srgbClr val="002060"/>
                      </a:solidFill>
                      <a:prstDash val="lgDash"/>
                    </a:lnB>
                    <a:noFill/>
                  </a:tcPr>
                </a:tc>
                <a:tc>
                  <a:txBody>
                    <a:bodyPr/>
                    <a:lstStyle/>
                    <a:p>
                      <a:pPr algn="ctr">
                        <a:defRPr b="0" sz="1800">
                          <a:solidFill>
                            <a:srgbClr val="000000"/>
                          </a:solidFill>
                        </a:defRPr>
                      </a:pPr>
                      <a:r>
                        <a:rPr b="1" sz="700">
                          <a:solidFill>
                            <a:srgbClr val="FFFFFF"/>
                          </a:solidFill>
                          <a:latin typeface="Open Sans"/>
                          <a:ea typeface="Open Sans"/>
                          <a:cs typeface="Open Sans"/>
                          <a:sym typeface="Open Sans"/>
                        </a:rPr>
                        <a:t>&lt;= 15%</a:t>
                      </a:r>
                    </a:p>
                  </a:txBody>
                  <a:tcPr marL="45720" marR="45720" marT="45720" marB="45720" anchor="ctr" anchorCtr="0" horzOverflow="overflow">
                    <a:lnL w="3175">
                      <a:solidFill>
                        <a:srgbClr val="002060"/>
                      </a:solidFill>
                      <a:prstDash val="lgDash"/>
                    </a:lnL>
                    <a:lnR w="3175">
                      <a:solidFill>
                        <a:srgbClr val="002060"/>
                      </a:solidFill>
                      <a:prstDash val="lgDash"/>
                    </a:lnR>
                    <a:lnT w="12700">
                      <a:miter lim="400000"/>
                    </a:lnT>
                    <a:lnB w="3175">
                      <a:solidFill>
                        <a:srgbClr val="002060"/>
                      </a:solidFill>
                      <a:prstDash val="lgDash"/>
                    </a:lnB>
                    <a:solidFill>
                      <a:srgbClr val="002060"/>
                    </a:solidFill>
                  </a:tcPr>
                </a:tc>
                <a:tc>
                  <a:txBody>
                    <a:bodyPr/>
                    <a:lstStyle/>
                    <a:p>
                      <a:pPr algn="ctr">
                        <a:defRPr b="0" sz="1800">
                          <a:solidFill>
                            <a:srgbClr val="000000"/>
                          </a:solidFill>
                        </a:defRPr>
                      </a:pPr>
                      <a:r>
                        <a:rPr b="1" sz="700">
                          <a:solidFill>
                            <a:srgbClr val="FFFFFF"/>
                          </a:solidFill>
                          <a:latin typeface="Open Sans"/>
                          <a:ea typeface="Open Sans"/>
                          <a:cs typeface="Open Sans"/>
                          <a:sym typeface="Open Sans"/>
                        </a:rPr>
                        <a:t>&lt;=30%</a:t>
                      </a:r>
                    </a:p>
                  </a:txBody>
                  <a:tcPr marL="45720" marR="45720" marT="45720" marB="45720" anchor="ctr" anchorCtr="0" horzOverflow="overflow">
                    <a:lnL w="3175">
                      <a:solidFill>
                        <a:srgbClr val="002060"/>
                      </a:solidFill>
                      <a:prstDash val="lgDash"/>
                    </a:lnL>
                    <a:lnR w="3175">
                      <a:solidFill>
                        <a:srgbClr val="002060"/>
                      </a:solidFill>
                      <a:prstDash val="lgDash"/>
                    </a:lnR>
                    <a:lnT w="12700">
                      <a:miter lim="400000"/>
                    </a:lnT>
                    <a:lnB w="3175">
                      <a:solidFill>
                        <a:srgbClr val="002060"/>
                      </a:solidFill>
                      <a:prstDash val="lgDash"/>
                    </a:lnB>
                    <a:solidFill>
                      <a:srgbClr val="002060"/>
                    </a:solidFill>
                  </a:tcPr>
                </a:tc>
                <a:tc>
                  <a:txBody>
                    <a:bodyPr/>
                    <a:lstStyle/>
                    <a:p>
                      <a:pPr algn="ctr">
                        <a:defRPr b="0" sz="1800">
                          <a:solidFill>
                            <a:srgbClr val="000000"/>
                          </a:solidFill>
                        </a:defRPr>
                      </a:pPr>
                      <a:r>
                        <a:rPr b="1" sz="700">
                          <a:solidFill>
                            <a:srgbClr val="FFFFFF"/>
                          </a:solidFill>
                          <a:latin typeface="Open Sans"/>
                          <a:ea typeface="Open Sans"/>
                          <a:cs typeface="Open Sans"/>
                          <a:sym typeface="Open Sans"/>
                        </a:rPr>
                        <a:t>&lt;=50%</a:t>
                      </a:r>
                    </a:p>
                  </a:txBody>
                  <a:tcPr marL="45720" marR="45720" marT="45720" marB="45720" anchor="ctr" anchorCtr="0" horzOverflow="overflow">
                    <a:lnL w="3175">
                      <a:solidFill>
                        <a:srgbClr val="002060"/>
                      </a:solidFill>
                      <a:prstDash val="lgDash"/>
                    </a:lnL>
                    <a:lnR w="3175">
                      <a:solidFill>
                        <a:srgbClr val="002060"/>
                      </a:solidFill>
                      <a:prstDash val="lgDash"/>
                    </a:lnR>
                    <a:lnT w="12700">
                      <a:miter lim="400000"/>
                    </a:lnT>
                    <a:lnB w="3175">
                      <a:solidFill>
                        <a:srgbClr val="002060"/>
                      </a:solidFill>
                      <a:prstDash val="lgDash"/>
                    </a:lnB>
                    <a:solidFill>
                      <a:srgbClr val="002060"/>
                    </a:solidFill>
                  </a:tcPr>
                </a:tc>
                <a:tc>
                  <a:txBody>
                    <a:bodyPr/>
                    <a:lstStyle/>
                    <a:p>
                      <a:pPr algn="ctr">
                        <a:defRPr b="0" sz="1800">
                          <a:solidFill>
                            <a:srgbClr val="000000"/>
                          </a:solidFill>
                        </a:defRPr>
                      </a:pPr>
                      <a:r>
                        <a:rPr b="1" sz="700">
                          <a:solidFill>
                            <a:srgbClr val="FFFFFF"/>
                          </a:solidFill>
                          <a:latin typeface="Open Sans"/>
                          <a:ea typeface="Open Sans"/>
                          <a:cs typeface="Open Sans"/>
                          <a:sym typeface="Open Sans"/>
                        </a:rPr>
                        <a:t>&lt;= 75%</a:t>
                      </a:r>
                    </a:p>
                  </a:txBody>
                  <a:tcPr marL="45720" marR="45720" marT="45720" marB="45720" anchor="ctr" anchorCtr="0" horzOverflow="overflow">
                    <a:lnL w="3175">
                      <a:solidFill>
                        <a:srgbClr val="002060"/>
                      </a:solidFill>
                      <a:prstDash val="lgDash"/>
                    </a:lnL>
                    <a:lnR w="3175">
                      <a:solidFill>
                        <a:srgbClr val="002060"/>
                      </a:solidFill>
                      <a:prstDash val="lgDash"/>
                    </a:lnR>
                    <a:lnT w="12700">
                      <a:miter lim="400000"/>
                    </a:lnT>
                    <a:lnB w="3175">
                      <a:solidFill>
                        <a:srgbClr val="002060"/>
                      </a:solidFill>
                      <a:prstDash val="lgDash"/>
                    </a:lnB>
                    <a:solidFill>
                      <a:srgbClr val="002060"/>
                    </a:solidFill>
                  </a:tcPr>
                </a:tc>
                <a:tc>
                  <a:txBody>
                    <a:bodyPr/>
                    <a:lstStyle/>
                    <a:p>
                      <a:pPr algn="ctr">
                        <a:defRPr b="0" sz="1800">
                          <a:solidFill>
                            <a:srgbClr val="000000"/>
                          </a:solidFill>
                        </a:defRPr>
                      </a:pPr>
                      <a:r>
                        <a:rPr b="1" sz="700">
                          <a:solidFill>
                            <a:srgbClr val="FFFFFF"/>
                          </a:solidFill>
                          <a:latin typeface="Open Sans"/>
                          <a:ea typeface="Open Sans"/>
                          <a:cs typeface="Open Sans"/>
                          <a:sym typeface="Open Sans"/>
                        </a:rPr>
                        <a:t>&lt;=90%</a:t>
                      </a:r>
                    </a:p>
                  </a:txBody>
                  <a:tcPr marL="45720" marR="45720" marT="45720" marB="45720" anchor="ctr" anchorCtr="0" horzOverflow="overflow">
                    <a:lnL w="3175">
                      <a:solidFill>
                        <a:srgbClr val="002060"/>
                      </a:solidFill>
                      <a:prstDash val="lgDash"/>
                    </a:lnL>
                    <a:lnR w="3175">
                      <a:solidFill>
                        <a:srgbClr val="002060"/>
                      </a:solidFill>
                      <a:prstDash val="lgDash"/>
                    </a:lnR>
                    <a:lnT w="12700">
                      <a:miter lim="400000"/>
                    </a:lnT>
                    <a:lnB w="3175">
                      <a:solidFill>
                        <a:srgbClr val="002060"/>
                      </a:solidFill>
                      <a:prstDash val="lgDash"/>
                    </a:lnB>
                    <a:solidFill>
                      <a:srgbClr val="002060"/>
                    </a:solidFill>
                  </a:tcPr>
                </a:tc>
                <a:tc>
                  <a:txBody>
                    <a:bodyPr/>
                    <a:lstStyle/>
                    <a:p>
                      <a:pPr algn="ctr">
                        <a:defRPr b="0" sz="1800">
                          <a:solidFill>
                            <a:srgbClr val="000000"/>
                          </a:solidFill>
                        </a:defRPr>
                      </a:pPr>
                      <a:r>
                        <a:rPr b="1" sz="700">
                          <a:solidFill>
                            <a:srgbClr val="FFFFFF"/>
                          </a:solidFill>
                          <a:latin typeface="Open Sans"/>
                          <a:ea typeface="Open Sans"/>
                          <a:cs typeface="Open Sans"/>
                          <a:sym typeface="Open Sans"/>
                        </a:rPr>
                        <a:t> &lt;=99%</a:t>
                      </a:r>
                    </a:p>
                  </a:txBody>
                  <a:tcPr marL="45720" marR="45720" marT="45720" marB="45720" anchor="ctr" anchorCtr="0" horzOverflow="overflow">
                    <a:lnL w="3175">
                      <a:solidFill>
                        <a:srgbClr val="002060"/>
                      </a:solidFill>
                      <a:prstDash val="lgDash"/>
                    </a:lnL>
                    <a:lnR w="3175">
                      <a:solidFill>
                        <a:srgbClr val="002060"/>
                      </a:solidFill>
                      <a:prstDash val="lgDash"/>
                    </a:lnR>
                    <a:lnT w="12700">
                      <a:miter lim="400000"/>
                    </a:lnT>
                    <a:lnB w="3175">
                      <a:solidFill>
                        <a:srgbClr val="002060"/>
                      </a:solidFill>
                      <a:prstDash val="lgDash"/>
                    </a:lnB>
                    <a:solidFill>
                      <a:srgbClr val="002060"/>
                    </a:solidFill>
                  </a:tcPr>
                </a:tc>
                <a:tc>
                  <a:txBody>
                    <a:bodyPr/>
                    <a:lstStyle/>
                    <a:p>
                      <a:pPr algn="ctr">
                        <a:defRPr b="0" sz="1800">
                          <a:solidFill>
                            <a:srgbClr val="000000"/>
                          </a:solidFill>
                        </a:defRPr>
                      </a:pPr>
                      <a:r>
                        <a:rPr b="1" sz="700">
                          <a:solidFill>
                            <a:srgbClr val="FFFFFF"/>
                          </a:solidFill>
                          <a:latin typeface="Open Sans"/>
                          <a:ea typeface="Open Sans"/>
                          <a:cs typeface="Open Sans"/>
                          <a:sym typeface="Open Sans"/>
                        </a:rPr>
                        <a:t>&gt; 99%</a:t>
                      </a:r>
                    </a:p>
                  </a:txBody>
                  <a:tcPr marL="45720" marR="45720" marT="45720" marB="45720" anchor="ctr" anchorCtr="0" horzOverflow="overflow">
                    <a:lnL w="3175">
                      <a:solidFill>
                        <a:srgbClr val="002060"/>
                      </a:solidFill>
                      <a:prstDash val="lgDash"/>
                    </a:lnL>
                    <a:lnR w="12700">
                      <a:miter lim="400000"/>
                    </a:lnR>
                    <a:lnT w="12700">
                      <a:miter lim="400000"/>
                    </a:lnT>
                    <a:lnB w="3175">
                      <a:solidFill>
                        <a:srgbClr val="002060"/>
                      </a:solidFill>
                      <a:prstDash val="lgDash"/>
                    </a:lnB>
                    <a:solidFill>
                      <a:srgbClr val="002060"/>
                    </a:solidFill>
                  </a:tcPr>
                </a:tc>
              </a:tr>
              <a:tr h="165542">
                <a:tc>
                  <a:txBody>
                    <a:bodyPr/>
                    <a:lstStyle/>
                    <a:p>
                      <a:pPr algn="ctr">
                        <a:defRPr sz="1800"/>
                      </a:pPr>
                      <a:r>
                        <a:rPr b="1" sz="700">
                          <a:solidFill>
                            <a:srgbClr val="FFFFFF"/>
                          </a:solidFill>
                          <a:latin typeface="Open Sans"/>
                          <a:ea typeface="Open Sans"/>
                          <a:cs typeface="Open Sans"/>
                          <a:sym typeface="Open Sans"/>
                        </a:rPr>
                        <a:t>&lt;=₹5</a:t>
                      </a:r>
                    </a:p>
                  </a:txBody>
                  <a:tcPr marL="45720" marR="45720" marT="45720" marB="45720" anchor="ctr" anchorCtr="0" horzOverflow="overflow">
                    <a:lnL w="12700">
                      <a:miter lim="400000"/>
                    </a:lnL>
                    <a:lnR w="3175">
                      <a:solidFill>
                        <a:srgbClr val="002060"/>
                      </a:solidFill>
                      <a:prstDash val="lgDash"/>
                    </a:lnR>
                    <a:lnT w="3175">
                      <a:solidFill>
                        <a:srgbClr val="002060"/>
                      </a:solidFill>
                      <a:prstDash val="lgDash"/>
                    </a:lnT>
                    <a:lnB w="3175">
                      <a:solidFill>
                        <a:srgbClr val="002060"/>
                      </a:solidFill>
                      <a:prstDash val="lgDash"/>
                    </a:lnB>
                    <a:solidFill>
                      <a:srgbClr val="002060"/>
                    </a:solidFill>
                  </a:tcPr>
                </a:tc>
                <a:tc>
                  <a:txBody>
                    <a:bodyPr/>
                    <a:lstStyle/>
                    <a:p>
                      <a:pPr algn="ctr">
                        <a:defRPr sz="1800"/>
                      </a:pPr>
                      <a:r>
                        <a:rPr sz="800">
                          <a:solidFill>
                            <a:srgbClr val="002060"/>
                          </a:solidFill>
                          <a:latin typeface="Open Sans"/>
                          <a:ea typeface="Open Sans"/>
                          <a:cs typeface="Open Sans"/>
                          <a:sym typeface="Open Sans"/>
                        </a:rPr>
                        <a:t>11.7%</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FF6464"/>
                    </a:solidFill>
                  </a:tcPr>
                </a:tc>
                <a:tc>
                  <a:txBody>
                    <a:bodyPr/>
                    <a:lstStyle/>
                    <a:p>
                      <a:pPr algn="ctr">
                        <a:defRPr sz="1800"/>
                      </a:pPr>
                      <a:r>
                        <a:rPr sz="800">
                          <a:solidFill>
                            <a:srgbClr val="002060"/>
                          </a:solidFill>
                          <a:latin typeface="Open Sans"/>
                          <a:ea typeface="Open Sans"/>
                          <a:cs typeface="Open Sans"/>
                          <a:sym typeface="Open Sans"/>
                        </a:rPr>
                        <a:t>13.9%</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FF6464"/>
                    </a:solidFill>
                  </a:tcPr>
                </a:tc>
                <a:tc>
                  <a:txBody>
                    <a:bodyPr/>
                    <a:lstStyle/>
                    <a:p>
                      <a:pPr algn="ctr">
                        <a:defRPr sz="1800"/>
                      </a:pPr>
                      <a:r>
                        <a:rPr sz="800">
                          <a:solidFill>
                            <a:srgbClr val="002060"/>
                          </a:solidFill>
                          <a:latin typeface="Open Sans"/>
                          <a:ea typeface="Open Sans"/>
                          <a:cs typeface="Open Sans"/>
                          <a:sym typeface="Open Sans"/>
                        </a:rPr>
                        <a:t>9.6%</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FF6464"/>
                    </a:solidFill>
                  </a:tcPr>
                </a:tc>
                <a:tc>
                  <a:txBody>
                    <a:bodyPr/>
                    <a:lstStyle/>
                    <a:p>
                      <a:pPr algn="ctr">
                        <a:defRPr sz="1800"/>
                      </a:pPr>
                      <a:r>
                        <a:rPr sz="800">
                          <a:solidFill>
                            <a:srgbClr val="002060"/>
                          </a:solidFill>
                          <a:latin typeface="Open Sans"/>
                          <a:ea typeface="Open Sans"/>
                          <a:cs typeface="Open Sans"/>
                          <a:sym typeface="Open Sans"/>
                        </a:rPr>
                        <a:t>1.8%</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800">
                          <a:solidFill>
                            <a:srgbClr val="002060"/>
                          </a:solidFill>
                          <a:latin typeface="Open Sans"/>
                          <a:ea typeface="Open Sans"/>
                          <a:cs typeface="Open Sans"/>
                          <a:sym typeface="Open Sans"/>
                        </a:rPr>
                        <a:t>0.1%</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F7A76C"/>
                    </a:solidFill>
                  </a:tcPr>
                </a:tc>
                <a:tc>
                  <a:txBody>
                    <a:bodyPr/>
                    <a:lstStyle/>
                    <a:p>
                      <a:pPr algn="ctr">
                        <a:defRPr sz="1800"/>
                      </a:pPr>
                      <a:r>
                        <a:rPr sz="800">
                          <a:solidFill>
                            <a:srgbClr val="002060"/>
                          </a:solidFill>
                          <a:latin typeface="Open Sans"/>
                          <a:ea typeface="Open Sans"/>
                          <a:cs typeface="Open Sans"/>
                          <a:sym typeface="Open Sans"/>
                        </a:rPr>
                        <a:t>0.0%</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F7A76C"/>
                    </a:solidFill>
                  </a:tcPr>
                </a:tc>
                <a:tc>
                  <a:txBody>
                    <a:bodyPr/>
                    <a:lstStyle/>
                    <a:p>
                      <a:pPr algn="ctr">
                        <a:defRPr sz="1800"/>
                      </a:pPr>
                      <a:r>
                        <a:rPr sz="800">
                          <a:solidFill>
                            <a:srgbClr val="002060"/>
                          </a:solidFill>
                          <a:latin typeface="Open Sans"/>
                          <a:ea typeface="Open Sans"/>
                          <a:cs typeface="Open Sans"/>
                          <a:sym typeface="Open Sans"/>
                        </a:rPr>
                        <a:t>0.0%</a:t>
                      </a:r>
                    </a:p>
                  </a:txBody>
                  <a:tcPr marL="7620" marR="7620" marT="7620" marB="7620" anchor="ctr" anchorCtr="0" horzOverflow="overflow">
                    <a:lnL w="3175">
                      <a:solidFill>
                        <a:srgbClr val="002060"/>
                      </a:solidFill>
                      <a:prstDash val="lgDash"/>
                    </a:lnL>
                    <a:lnR w="12700">
                      <a:miter lim="400000"/>
                    </a:lnR>
                    <a:lnT w="3175">
                      <a:solidFill>
                        <a:srgbClr val="002060"/>
                      </a:solidFill>
                      <a:prstDash val="lgDash"/>
                    </a:lnT>
                    <a:lnB w="3175">
                      <a:solidFill>
                        <a:srgbClr val="002060"/>
                      </a:solidFill>
                      <a:prstDash val="lgDash"/>
                    </a:lnB>
                    <a:solidFill>
                      <a:srgbClr val="F7A76C"/>
                    </a:solidFill>
                  </a:tcPr>
                </a:tc>
              </a:tr>
              <a:tr h="165542">
                <a:tc>
                  <a:txBody>
                    <a:bodyPr/>
                    <a:lstStyle/>
                    <a:p>
                      <a:pPr algn="ctr">
                        <a:defRPr sz="1800"/>
                      </a:pPr>
                      <a:r>
                        <a:rPr b="1" sz="700">
                          <a:solidFill>
                            <a:srgbClr val="FFFFFF"/>
                          </a:solidFill>
                          <a:latin typeface="Open Sans"/>
                          <a:ea typeface="Open Sans"/>
                          <a:cs typeface="Open Sans"/>
                          <a:sym typeface="Open Sans"/>
                        </a:rPr>
                        <a:t>&lt;=₹25</a:t>
                      </a:r>
                    </a:p>
                  </a:txBody>
                  <a:tcPr marL="45720" marR="45720" marT="45720" marB="45720" anchor="ctr" anchorCtr="0" horzOverflow="overflow">
                    <a:lnL w="12700">
                      <a:miter lim="400000"/>
                    </a:lnL>
                    <a:lnR w="3175">
                      <a:solidFill>
                        <a:srgbClr val="002060"/>
                      </a:solidFill>
                      <a:prstDash val="lgDash"/>
                    </a:lnR>
                    <a:lnT w="3175">
                      <a:solidFill>
                        <a:srgbClr val="002060"/>
                      </a:solidFill>
                      <a:prstDash val="lgDash"/>
                    </a:lnT>
                    <a:lnB w="3175">
                      <a:solidFill>
                        <a:srgbClr val="002060"/>
                      </a:solidFill>
                      <a:prstDash val="lgDash"/>
                    </a:lnB>
                    <a:solidFill>
                      <a:srgbClr val="002060"/>
                    </a:solidFill>
                  </a:tcPr>
                </a:tc>
                <a:tc>
                  <a:txBody>
                    <a:bodyPr/>
                    <a:lstStyle/>
                    <a:p>
                      <a:pPr algn="ctr">
                        <a:defRPr sz="1800"/>
                      </a:pPr>
                      <a:r>
                        <a:rPr sz="800">
                          <a:solidFill>
                            <a:srgbClr val="002060"/>
                          </a:solidFill>
                          <a:latin typeface="Open Sans"/>
                          <a:ea typeface="Open Sans"/>
                          <a:cs typeface="Open Sans"/>
                          <a:sym typeface="Open Sans"/>
                        </a:rPr>
                        <a:t>0.2%</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FF6464"/>
                    </a:solidFill>
                  </a:tcPr>
                </a:tc>
                <a:tc>
                  <a:txBody>
                    <a:bodyPr/>
                    <a:lstStyle/>
                    <a:p>
                      <a:pPr algn="ctr">
                        <a:defRPr sz="1800"/>
                      </a:pPr>
                      <a:r>
                        <a:rPr sz="800">
                          <a:solidFill>
                            <a:srgbClr val="002060"/>
                          </a:solidFill>
                          <a:latin typeface="Open Sans"/>
                          <a:ea typeface="Open Sans"/>
                          <a:cs typeface="Open Sans"/>
                          <a:sym typeface="Open Sans"/>
                        </a:rPr>
                        <a:t>0.9%</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FF6464"/>
                    </a:solidFill>
                  </a:tcPr>
                </a:tc>
                <a:tc>
                  <a:txBody>
                    <a:bodyPr/>
                    <a:lstStyle/>
                    <a:p>
                      <a:pPr algn="ctr">
                        <a:defRPr sz="1800"/>
                      </a:pPr>
                      <a:r>
                        <a:rPr sz="800">
                          <a:solidFill>
                            <a:srgbClr val="002060"/>
                          </a:solidFill>
                          <a:latin typeface="Open Sans"/>
                          <a:ea typeface="Open Sans"/>
                          <a:cs typeface="Open Sans"/>
                          <a:sym typeface="Open Sans"/>
                        </a:rPr>
                        <a:t>4.5%</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FF6464"/>
                    </a:solidFill>
                  </a:tcPr>
                </a:tc>
                <a:tc>
                  <a:txBody>
                    <a:bodyPr/>
                    <a:lstStyle/>
                    <a:p>
                      <a:pPr algn="ctr">
                        <a:defRPr sz="1800"/>
                      </a:pPr>
                      <a:r>
                        <a:rPr sz="800">
                          <a:solidFill>
                            <a:srgbClr val="002060"/>
                          </a:solidFill>
                          <a:latin typeface="Open Sans"/>
                          <a:ea typeface="Open Sans"/>
                          <a:cs typeface="Open Sans"/>
                          <a:sym typeface="Open Sans"/>
                        </a:rPr>
                        <a:t>8.7%</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800">
                          <a:solidFill>
                            <a:srgbClr val="002060"/>
                          </a:solidFill>
                          <a:latin typeface="Open Sans"/>
                          <a:ea typeface="Open Sans"/>
                          <a:cs typeface="Open Sans"/>
                          <a:sym typeface="Open Sans"/>
                        </a:rPr>
                        <a:t>6.9%</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F7A76C"/>
                    </a:solidFill>
                  </a:tcPr>
                </a:tc>
                <a:tc>
                  <a:txBody>
                    <a:bodyPr/>
                    <a:lstStyle/>
                    <a:p>
                      <a:pPr algn="ctr">
                        <a:defRPr sz="1800"/>
                      </a:pPr>
                      <a:r>
                        <a:rPr sz="800">
                          <a:solidFill>
                            <a:srgbClr val="002060"/>
                          </a:solidFill>
                          <a:latin typeface="Open Sans"/>
                          <a:ea typeface="Open Sans"/>
                          <a:cs typeface="Open Sans"/>
                          <a:sym typeface="Open Sans"/>
                        </a:rPr>
                        <a:t>4.5%</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F7A76C"/>
                    </a:solidFill>
                  </a:tcPr>
                </a:tc>
                <a:tc>
                  <a:txBody>
                    <a:bodyPr/>
                    <a:lstStyle/>
                    <a:p>
                      <a:pPr algn="ctr">
                        <a:defRPr sz="1800"/>
                      </a:pPr>
                      <a:r>
                        <a:rPr sz="800">
                          <a:solidFill>
                            <a:srgbClr val="002060"/>
                          </a:solidFill>
                          <a:latin typeface="Open Sans"/>
                          <a:ea typeface="Open Sans"/>
                          <a:cs typeface="Open Sans"/>
                          <a:sym typeface="Open Sans"/>
                        </a:rPr>
                        <a:t>0.0%</a:t>
                      </a:r>
                    </a:p>
                  </a:txBody>
                  <a:tcPr marL="7620" marR="7620" marT="7620" marB="7620" anchor="ctr" anchorCtr="0" horzOverflow="overflow">
                    <a:lnL w="3175">
                      <a:solidFill>
                        <a:srgbClr val="002060"/>
                      </a:solidFill>
                      <a:prstDash val="lgDash"/>
                    </a:lnL>
                    <a:lnR w="12700">
                      <a:miter lim="400000"/>
                    </a:lnR>
                    <a:lnT w="3175">
                      <a:solidFill>
                        <a:srgbClr val="002060"/>
                      </a:solidFill>
                      <a:prstDash val="lgDash"/>
                    </a:lnT>
                    <a:lnB w="3175">
                      <a:solidFill>
                        <a:srgbClr val="002060"/>
                      </a:solidFill>
                      <a:prstDash val="lgDash"/>
                    </a:lnB>
                    <a:solidFill>
                      <a:srgbClr val="F7A76C"/>
                    </a:solidFill>
                  </a:tcPr>
                </a:tc>
              </a:tr>
              <a:tr h="165542">
                <a:tc>
                  <a:txBody>
                    <a:bodyPr/>
                    <a:lstStyle/>
                    <a:p>
                      <a:pPr algn="ctr">
                        <a:defRPr sz="1800"/>
                      </a:pPr>
                      <a:r>
                        <a:rPr b="1" sz="700">
                          <a:solidFill>
                            <a:srgbClr val="FFFFFF"/>
                          </a:solidFill>
                          <a:latin typeface="Open Sans"/>
                          <a:ea typeface="Open Sans"/>
                          <a:cs typeface="Open Sans"/>
                          <a:sym typeface="Open Sans"/>
                        </a:rPr>
                        <a:t>&lt;=₹50</a:t>
                      </a:r>
                    </a:p>
                  </a:txBody>
                  <a:tcPr marL="45720" marR="45720" marT="45720" marB="45720" anchor="ctr" anchorCtr="0" horzOverflow="overflow">
                    <a:lnL w="12700">
                      <a:miter lim="400000"/>
                    </a:lnL>
                    <a:lnR w="3175">
                      <a:solidFill>
                        <a:srgbClr val="002060"/>
                      </a:solidFill>
                      <a:prstDash val="lgDash"/>
                    </a:lnR>
                    <a:lnT w="3175">
                      <a:solidFill>
                        <a:srgbClr val="002060"/>
                      </a:solidFill>
                      <a:prstDash val="lgDash"/>
                    </a:lnT>
                    <a:lnB w="3175">
                      <a:solidFill>
                        <a:srgbClr val="002060"/>
                      </a:solidFill>
                      <a:prstDash val="lgDash"/>
                    </a:lnB>
                    <a:solidFill>
                      <a:srgbClr val="002060"/>
                    </a:solidFill>
                  </a:tcPr>
                </a:tc>
                <a:tc>
                  <a:txBody>
                    <a:bodyPr/>
                    <a:lstStyle/>
                    <a:p>
                      <a:pPr algn="ctr">
                        <a:defRPr sz="1800"/>
                      </a:pPr>
                      <a:r>
                        <a:rPr sz="800">
                          <a:solidFill>
                            <a:srgbClr val="002060"/>
                          </a:solidFill>
                          <a:latin typeface="Open Sans"/>
                          <a:ea typeface="Open Sans"/>
                          <a:cs typeface="Open Sans"/>
                          <a:sym typeface="Open Sans"/>
                        </a:rPr>
                        <a:t>0.0%</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FF6464"/>
                    </a:solidFill>
                  </a:tcPr>
                </a:tc>
                <a:tc>
                  <a:txBody>
                    <a:bodyPr/>
                    <a:lstStyle/>
                    <a:p>
                      <a:pPr algn="ctr">
                        <a:defRPr sz="1800"/>
                      </a:pPr>
                      <a:r>
                        <a:rPr sz="800">
                          <a:solidFill>
                            <a:srgbClr val="002060"/>
                          </a:solidFill>
                          <a:latin typeface="Open Sans"/>
                          <a:ea typeface="Open Sans"/>
                          <a:cs typeface="Open Sans"/>
                          <a:sym typeface="Open Sans"/>
                        </a:rPr>
                        <a:t>0.1%</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FF6464"/>
                    </a:solidFill>
                  </a:tcPr>
                </a:tc>
                <a:tc>
                  <a:txBody>
                    <a:bodyPr/>
                    <a:lstStyle/>
                    <a:p>
                      <a:pPr algn="ctr">
                        <a:defRPr sz="1800"/>
                      </a:pPr>
                      <a:r>
                        <a:rPr sz="800">
                          <a:solidFill>
                            <a:srgbClr val="002060"/>
                          </a:solidFill>
                          <a:latin typeface="Open Sans"/>
                          <a:ea typeface="Open Sans"/>
                          <a:cs typeface="Open Sans"/>
                          <a:sym typeface="Open Sans"/>
                        </a:rPr>
                        <a:t>0.3%</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FF6464"/>
                    </a:solidFill>
                  </a:tcPr>
                </a:tc>
                <a:tc>
                  <a:txBody>
                    <a:bodyPr/>
                    <a:lstStyle/>
                    <a:p>
                      <a:pPr algn="ctr">
                        <a:defRPr sz="1800"/>
                      </a:pPr>
                      <a:r>
                        <a:rPr sz="800">
                          <a:solidFill>
                            <a:srgbClr val="002060"/>
                          </a:solidFill>
                          <a:latin typeface="Open Sans"/>
                          <a:ea typeface="Open Sans"/>
                          <a:cs typeface="Open Sans"/>
                          <a:sym typeface="Open Sans"/>
                        </a:rPr>
                        <a:t>0.8%</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800">
                          <a:solidFill>
                            <a:srgbClr val="002060"/>
                          </a:solidFill>
                          <a:latin typeface="Open Sans"/>
                          <a:ea typeface="Open Sans"/>
                          <a:cs typeface="Open Sans"/>
                          <a:sym typeface="Open Sans"/>
                        </a:rPr>
                        <a:t>1.9%</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F7A76C"/>
                    </a:solidFill>
                  </a:tcPr>
                </a:tc>
                <a:tc>
                  <a:txBody>
                    <a:bodyPr/>
                    <a:lstStyle/>
                    <a:p>
                      <a:pPr algn="ctr">
                        <a:defRPr sz="1800"/>
                      </a:pPr>
                      <a:r>
                        <a:rPr sz="800">
                          <a:solidFill>
                            <a:srgbClr val="002060"/>
                          </a:solidFill>
                          <a:latin typeface="Open Sans"/>
                          <a:ea typeface="Open Sans"/>
                          <a:cs typeface="Open Sans"/>
                          <a:sym typeface="Open Sans"/>
                        </a:rPr>
                        <a:t>5.7%</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F7A76C"/>
                    </a:solidFill>
                  </a:tcPr>
                </a:tc>
                <a:tc>
                  <a:txBody>
                    <a:bodyPr/>
                    <a:lstStyle/>
                    <a:p>
                      <a:pPr algn="ctr">
                        <a:defRPr sz="1800"/>
                      </a:pPr>
                      <a:r>
                        <a:rPr sz="800">
                          <a:solidFill>
                            <a:srgbClr val="002060"/>
                          </a:solidFill>
                          <a:latin typeface="Open Sans"/>
                          <a:ea typeface="Open Sans"/>
                          <a:cs typeface="Open Sans"/>
                          <a:sym typeface="Open Sans"/>
                        </a:rPr>
                        <a:t>0.3%</a:t>
                      </a:r>
                    </a:p>
                  </a:txBody>
                  <a:tcPr marL="7620" marR="7620" marT="7620" marB="7620" anchor="ctr" anchorCtr="0" horzOverflow="overflow">
                    <a:lnL w="3175">
                      <a:solidFill>
                        <a:srgbClr val="002060"/>
                      </a:solidFill>
                      <a:prstDash val="lgDash"/>
                    </a:lnL>
                    <a:lnR w="12700">
                      <a:miter lim="400000"/>
                    </a:lnR>
                    <a:lnT w="3175">
                      <a:solidFill>
                        <a:srgbClr val="002060"/>
                      </a:solidFill>
                      <a:prstDash val="lgDash"/>
                    </a:lnT>
                    <a:lnB w="3175">
                      <a:solidFill>
                        <a:srgbClr val="002060"/>
                      </a:solidFill>
                      <a:prstDash val="lgDash"/>
                    </a:lnB>
                    <a:solidFill>
                      <a:srgbClr val="F7A76C"/>
                    </a:solidFill>
                  </a:tcPr>
                </a:tc>
              </a:tr>
              <a:tr h="165542">
                <a:tc>
                  <a:txBody>
                    <a:bodyPr/>
                    <a:lstStyle/>
                    <a:p>
                      <a:pPr algn="ctr">
                        <a:defRPr sz="1800"/>
                      </a:pPr>
                      <a:r>
                        <a:rPr b="1" sz="700">
                          <a:solidFill>
                            <a:srgbClr val="FFFFFF"/>
                          </a:solidFill>
                          <a:latin typeface="Open Sans"/>
                          <a:ea typeface="Open Sans"/>
                          <a:cs typeface="Open Sans"/>
                          <a:sym typeface="Open Sans"/>
                        </a:rPr>
                        <a:t>&lt;=₹100</a:t>
                      </a:r>
                    </a:p>
                  </a:txBody>
                  <a:tcPr marL="45720" marR="45720" marT="45720" marB="45720" anchor="ctr" anchorCtr="0" horzOverflow="overflow">
                    <a:lnL w="12700">
                      <a:miter lim="400000"/>
                    </a:lnL>
                    <a:lnR w="3175">
                      <a:solidFill>
                        <a:srgbClr val="002060"/>
                      </a:solidFill>
                      <a:prstDash val="lgDash"/>
                    </a:lnR>
                    <a:lnT w="3175">
                      <a:solidFill>
                        <a:srgbClr val="002060"/>
                      </a:solidFill>
                      <a:prstDash val="lgDash"/>
                    </a:lnT>
                    <a:lnB w="3175">
                      <a:solidFill>
                        <a:srgbClr val="002060"/>
                      </a:solidFill>
                      <a:prstDash val="lgDash"/>
                    </a:lnB>
                    <a:solidFill>
                      <a:srgbClr val="002060"/>
                    </a:solidFill>
                  </a:tcPr>
                </a:tc>
                <a:tc>
                  <a:txBody>
                    <a:bodyPr/>
                    <a:lstStyle/>
                    <a:p>
                      <a:pPr algn="ctr">
                        <a:defRPr sz="1800"/>
                      </a:pPr>
                      <a:r>
                        <a:rPr sz="800">
                          <a:solidFill>
                            <a:srgbClr val="002060"/>
                          </a:solidFill>
                          <a:latin typeface="Open Sans"/>
                          <a:ea typeface="Open Sans"/>
                          <a:cs typeface="Open Sans"/>
                          <a:sym typeface="Open Sans"/>
                        </a:rPr>
                        <a:t>0.0%</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800">
                          <a:solidFill>
                            <a:srgbClr val="002060"/>
                          </a:solidFill>
                          <a:latin typeface="Open Sans"/>
                          <a:ea typeface="Open Sans"/>
                          <a:cs typeface="Open Sans"/>
                          <a:sym typeface="Open Sans"/>
                        </a:rPr>
                        <a:t>0.1%</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800">
                          <a:solidFill>
                            <a:srgbClr val="002060"/>
                          </a:solidFill>
                          <a:latin typeface="Open Sans"/>
                          <a:ea typeface="Open Sans"/>
                          <a:cs typeface="Open Sans"/>
                          <a:sym typeface="Open Sans"/>
                        </a:rPr>
                        <a:t>0.2%</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800">
                          <a:solidFill>
                            <a:srgbClr val="002060"/>
                          </a:solidFill>
                          <a:latin typeface="Open Sans"/>
                          <a:ea typeface="Open Sans"/>
                          <a:cs typeface="Open Sans"/>
                          <a:sym typeface="Open Sans"/>
                        </a:rPr>
                        <a:t>0.4%</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800">
                          <a:solidFill>
                            <a:srgbClr val="002060"/>
                          </a:solidFill>
                          <a:latin typeface="Open Sans"/>
                          <a:ea typeface="Open Sans"/>
                          <a:cs typeface="Open Sans"/>
                          <a:sym typeface="Open Sans"/>
                        </a:rPr>
                        <a:t>0.9%</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800">
                          <a:solidFill>
                            <a:srgbClr val="002060"/>
                          </a:solidFill>
                          <a:latin typeface="Open Sans"/>
                          <a:ea typeface="Open Sans"/>
                          <a:cs typeface="Open Sans"/>
                          <a:sym typeface="Open Sans"/>
                        </a:rPr>
                        <a:t>4.7%</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800">
                          <a:solidFill>
                            <a:srgbClr val="002060"/>
                          </a:solidFill>
                          <a:latin typeface="Open Sans"/>
                          <a:ea typeface="Open Sans"/>
                          <a:cs typeface="Open Sans"/>
                          <a:sym typeface="Open Sans"/>
                        </a:rPr>
                        <a:t>1.5%</a:t>
                      </a:r>
                    </a:p>
                  </a:txBody>
                  <a:tcPr marL="7620" marR="7620" marT="7620" marB="7620" anchor="ctr" anchorCtr="0" horzOverflow="overflow">
                    <a:lnL w="3175">
                      <a:solidFill>
                        <a:srgbClr val="002060"/>
                      </a:solidFill>
                      <a:prstDash val="lgDash"/>
                    </a:lnL>
                    <a:lnR w="12700">
                      <a:miter lim="400000"/>
                    </a:lnR>
                    <a:lnT w="3175">
                      <a:solidFill>
                        <a:srgbClr val="002060"/>
                      </a:solidFill>
                      <a:prstDash val="lgDash"/>
                    </a:lnT>
                    <a:lnB w="3175">
                      <a:solidFill>
                        <a:srgbClr val="002060"/>
                      </a:solidFill>
                      <a:prstDash val="lgDash"/>
                    </a:lnB>
                    <a:noFill/>
                  </a:tcPr>
                </a:tc>
              </a:tr>
              <a:tr h="165542">
                <a:tc>
                  <a:txBody>
                    <a:bodyPr/>
                    <a:lstStyle/>
                    <a:p>
                      <a:pPr algn="ctr">
                        <a:defRPr sz="1800"/>
                      </a:pPr>
                      <a:r>
                        <a:rPr b="1" sz="700">
                          <a:solidFill>
                            <a:srgbClr val="FFFFFF"/>
                          </a:solidFill>
                          <a:latin typeface="Open Sans"/>
                          <a:ea typeface="Open Sans"/>
                          <a:cs typeface="Open Sans"/>
                          <a:sym typeface="Open Sans"/>
                        </a:rPr>
                        <a:t>&lt;=₹200</a:t>
                      </a:r>
                    </a:p>
                  </a:txBody>
                  <a:tcPr marL="45720" marR="45720" marT="45720" marB="45720" anchor="ctr" anchorCtr="0" horzOverflow="overflow">
                    <a:lnL w="12700">
                      <a:miter lim="400000"/>
                    </a:lnL>
                    <a:lnR w="3175">
                      <a:solidFill>
                        <a:srgbClr val="002060"/>
                      </a:solidFill>
                      <a:prstDash val="lgDash"/>
                    </a:lnR>
                    <a:lnT w="3175">
                      <a:solidFill>
                        <a:srgbClr val="002060"/>
                      </a:solidFill>
                      <a:prstDash val="lgDash"/>
                    </a:lnT>
                    <a:lnB w="3175">
                      <a:solidFill>
                        <a:srgbClr val="002060"/>
                      </a:solidFill>
                      <a:prstDash val="lgDash"/>
                    </a:lnB>
                    <a:solidFill>
                      <a:srgbClr val="002060"/>
                    </a:solidFill>
                  </a:tcPr>
                </a:tc>
                <a:tc>
                  <a:txBody>
                    <a:bodyPr/>
                    <a:lstStyle/>
                    <a:p>
                      <a:pPr algn="ctr">
                        <a:defRPr sz="1800"/>
                      </a:pPr>
                      <a:r>
                        <a:rPr sz="800">
                          <a:solidFill>
                            <a:srgbClr val="002060"/>
                          </a:solidFill>
                          <a:latin typeface="Open Sans"/>
                          <a:ea typeface="Open Sans"/>
                          <a:cs typeface="Open Sans"/>
                          <a:sym typeface="Open Sans"/>
                        </a:rPr>
                        <a:t>0.0%</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800">
                          <a:solidFill>
                            <a:srgbClr val="002060"/>
                          </a:solidFill>
                          <a:latin typeface="Open Sans"/>
                          <a:ea typeface="Open Sans"/>
                          <a:cs typeface="Open Sans"/>
                          <a:sym typeface="Open Sans"/>
                        </a:rPr>
                        <a:t>0.1%</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800">
                          <a:solidFill>
                            <a:srgbClr val="002060"/>
                          </a:solidFill>
                          <a:latin typeface="Open Sans"/>
                          <a:ea typeface="Open Sans"/>
                          <a:cs typeface="Open Sans"/>
                          <a:sym typeface="Open Sans"/>
                        </a:rPr>
                        <a:t>0.2%</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800">
                          <a:solidFill>
                            <a:srgbClr val="002060"/>
                          </a:solidFill>
                          <a:latin typeface="Open Sans"/>
                          <a:ea typeface="Open Sans"/>
                          <a:cs typeface="Open Sans"/>
                          <a:sym typeface="Open Sans"/>
                        </a:rPr>
                        <a:t>0.3%</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800">
                          <a:solidFill>
                            <a:srgbClr val="002060"/>
                          </a:solidFill>
                          <a:latin typeface="Open Sans"/>
                          <a:ea typeface="Open Sans"/>
                          <a:cs typeface="Open Sans"/>
                          <a:sym typeface="Open Sans"/>
                        </a:rPr>
                        <a:t>0.5%</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00B050"/>
                    </a:solidFill>
                  </a:tcPr>
                </a:tc>
                <a:tc>
                  <a:txBody>
                    <a:bodyPr/>
                    <a:lstStyle/>
                    <a:p>
                      <a:pPr algn="ctr">
                        <a:defRPr sz="1800"/>
                      </a:pPr>
                      <a:r>
                        <a:rPr sz="800">
                          <a:solidFill>
                            <a:srgbClr val="002060"/>
                          </a:solidFill>
                          <a:latin typeface="Open Sans"/>
                          <a:ea typeface="Open Sans"/>
                          <a:cs typeface="Open Sans"/>
                          <a:sym typeface="Open Sans"/>
                        </a:rPr>
                        <a:t>2.4%</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00B050"/>
                    </a:solidFill>
                  </a:tcPr>
                </a:tc>
                <a:tc>
                  <a:txBody>
                    <a:bodyPr/>
                    <a:lstStyle/>
                    <a:p>
                      <a:pPr algn="ctr">
                        <a:defRPr sz="1800"/>
                      </a:pPr>
                      <a:r>
                        <a:rPr sz="800">
                          <a:solidFill>
                            <a:srgbClr val="002060"/>
                          </a:solidFill>
                          <a:latin typeface="Open Sans"/>
                          <a:ea typeface="Open Sans"/>
                          <a:cs typeface="Open Sans"/>
                          <a:sym typeface="Open Sans"/>
                        </a:rPr>
                        <a:t>2.9%</a:t>
                      </a:r>
                    </a:p>
                  </a:txBody>
                  <a:tcPr marL="7620" marR="7620" marT="7620" marB="7620" anchor="ctr" anchorCtr="0" horzOverflow="overflow">
                    <a:lnL w="3175">
                      <a:solidFill>
                        <a:srgbClr val="002060"/>
                      </a:solidFill>
                      <a:prstDash val="lgDash"/>
                    </a:lnL>
                    <a:lnR w="12700">
                      <a:miter lim="400000"/>
                    </a:lnR>
                    <a:lnT w="3175">
                      <a:solidFill>
                        <a:srgbClr val="002060"/>
                      </a:solidFill>
                      <a:prstDash val="lgDash"/>
                    </a:lnT>
                    <a:lnB w="3175">
                      <a:solidFill>
                        <a:srgbClr val="002060"/>
                      </a:solidFill>
                      <a:prstDash val="lgDash"/>
                    </a:lnB>
                    <a:solidFill>
                      <a:srgbClr val="00B050"/>
                    </a:solidFill>
                  </a:tcPr>
                </a:tc>
              </a:tr>
              <a:tr h="165542">
                <a:tc>
                  <a:txBody>
                    <a:bodyPr/>
                    <a:lstStyle/>
                    <a:p>
                      <a:pPr algn="ctr">
                        <a:defRPr sz="1800"/>
                      </a:pPr>
                      <a:r>
                        <a:rPr b="1" sz="700">
                          <a:solidFill>
                            <a:srgbClr val="FFFFFF"/>
                          </a:solidFill>
                          <a:latin typeface="Open Sans"/>
                          <a:ea typeface="Open Sans"/>
                          <a:cs typeface="Open Sans"/>
                          <a:sym typeface="Open Sans"/>
                        </a:rPr>
                        <a:t>&lt;=₹500</a:t>
                      </a:r>
                    </a:p>
                  </a:txBody>
                  <a:tcPr marL="45720" marR="45720" marT="45720" marB="45720" anchor="ctr" anchorCtr="0" horzOverflow="overflow">
                    <a:lnL w="12700">
                      <a:miter lim="400000"/>
                    </a:lnL>
                    <a:lnR w="3175">
                      <a:solidFill>
                        <a:srgbClr val="002060"/>
                      </a:solidFill>
                      <a:prstDash val="lgDash"/>
                    </a:lnR>
                    <a:lnT w="3175">
                      <a:solidFill>
                        <a:srgbClr val="002060"/>
                      </a:solidFill>
                      <a:prstDash val="lgDash"/>
                    </a:lnT>
                    <a:lnB w="3175">
                      <a:solidFill>
                        <a:srgbClr val="002060"/>
                      </a:solidFill>
                      <a:prstDash val="lgDash"/>
                    </a:lnB>
                    <a:solidFill>
                      <a:srgbClr val="002060"/>
                    </a:solidFill>
                  </a:tcPr>
                </a:tc>
                <a:tc>
                  <a:txBody>
                    <a:bodyPr/>
                    <a:lstStyle/>
                    <a:p>
                      <a:pPr algn="ctr">
                        <a:defRPr sz="1800"/>
                      </a:pPr>
                      <a:r>
                        <a:rPr sz="800">
                          <a:solidFill>
                            <a:srgbClr val="002060"/>
                          </a:solidFill>
                          <a:latin typeface="Open Sans"/>
                          <a:ea typeface="Open Sans"/>
                          <a:cs typeface="Open Sans"/>
                          <a:sym typeface="Open Sans"/>
                        </a:rPr>
                        <a:t>0.0%</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800">
                          <a:solidFill>
                            <a:srgbClr val="002060"/>
                          </a:solidFill>
                          <a:latin typeface="Open Sans"/>
                          <a:ea typeface="Open Sans"/>
                          <a:cs typeface="Open Sans"/>
                          <a:sym typeface="Open Sans"/>
                        </a:rPr>
                        <a:t>0.0%</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800">
                          <a:solidFill>
                            <a:srgbClr val="002060"/>
                          </a:solidFill>
                          <a:latin typeface="Open Sans"/>
                          <a:ea typeface="Open Sans"/>
                          <a:cs typeface="Open Sans"/>
                          <a:sym typeface="Open Sans"/>
                        </a:rPr>
                        <a:t>0.1%</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800">
                          <a:solidFill>
                            <a:srgbClr val="002060"/>
                          </a:solidFill>
                          <a:latin typeface="Open Sans"/>
                          <a:ea typeface="Open Sans"/>
                          <a:cs typeface="Open Sans"/>
                          <a:sym typeface="Open Sans"/>
                        </a:rPr>
                        <a:t>0.2%</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800">
                          <a:solidFill>
                            <a:srgbClr val="002060"/>
                          </a:solidFill>
                          <a:latin typeface="Open Sans"/>
                          <a:ea typeface="Open Sans"/>
                          <a:cs typeface="Open Sans"/>
                          <a:sym typeface="Open Sans"/>
                        </a:rPr>
                        <a:t>0.4%</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00B050"/>
                    </a:solidFill>
                  </a:tcPr>
                </a:tc>
                <a:tc>
                  <a:txBody>
                    <a:bodyPr/>
                    <a:lstStyle/>
                    <a:p>
                      <a:pPr algn="ctr">
                        <a:defRPr sz="1800"/>
                      </a:pPr>
                      <a:r>
                        <a:rPr sz="800">
                          <a:solidFill>
                            <a:srgbClr val="002060"/>
                          </a:solidFill>
                          <a:latin typeface="Open Sans"/>
                          <a:ea typeface="Open Sans"/>
                          <a:cs typeface="Open Sans"/>
                          <a:sym typeface="Open Sans"/>
                        </a:rPr>
                        <a:t>1.8%</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00B050"/>
                    </a:solidFill>
                  </a:tcPr>
                </a:tc>
                <a:tc>
                  <a:txBody>
                    <a:bodyPr/>
                    <a:lstStyle/>
                    <a:p>
                      <a:pPr algn="ctr">
                        <a:defRPr sz="1800"/>
                      </a:pPr>
                      <a:r>
                        <a:rPr sz="800">
                          <a:solidFill>
                            <a:srgbClr val="002060"/>
                          </a:solidFill>
                          <a:latin typeface="Open Sans"/>
                          <a:ea typeface="Open Sans"/>
                          <a:cs typeface="Open Sans"/>
                          <a:sym typeface="Open Sans"/>
                        </a:rPr>
                        <a:t>3.9%</a:t>
                      </a:r>
                    </a:p>
                  </a:txBody>
                  <a:tcPr marL="7620" marR="7620" marT="7620" marB="7620" anchor="ctr" anchorCtr="0" horzOverflow="overflow">
                    <a:lnL w="3175">
                      <a:solidFill>
                        <a:srgbClr val="002060"/>
                      </a:solidFill>
                      <a:prstDash val="lgDash"/>
                    </a:lnL>
                    <a:lnR w="12700">
                      <a:miter lim="400000"/>
                    </a:lnR>
                    <a:lnT w="3175">
                      <a:solidFill>
                        <a:srgbClr val="002060"/>
                      </a:solidFill>
                      <a:prstDash val="lgDash"/>
                    </a:lnT>
                    <a:lnB w="3175">
                      <a:solidFill>
                        <a:srgbClr val="002060"/>
                      </a:solidFill>
                      <a:prstDash val="lgDash"/>
                    </a:lnB>
                    <a:solidFill>
                      <a:srgbClr val="00B050"/>
                    </a:solidFill>
                  </a:tcPr>
                </a:tc>
              </a:tr>
              <a:tr h="165542">
                <a:tc>
                  <a:txBody>
                    <a:bodyPr/>
                    <a:lstStyle/>
                    <a:p>
                      <a:pPr algn="ctr">
                        <a:defRPr sz="1800"/>
                      </a:pPr>
                      <a:r>
                        <a:rPr b="1" sz="700">
                          <a:solidFill>
                            <a:srgbClr val="FFFFFF"/>
                          </a:solidFill>
                          <a:latin typeface="Open Sans"/>
                          <a:ea typeface="Open Sans"/>
                          <a:cs typeface="Open Sans"/>
                          <a:sym typeface="Open Sans"/>
                        </a:rPr>
                        <a:t>₹500+</a:t>
                      </a:r>
                    </a:p>
                  </a:txBody>
                  <a:tcPr marL="45720" marR="45720" marT="45720" marB="45720" anchor="ctr" anchorCtr="0" horzOverflow="overflow">
                    <a:lnL w="12700">
                      <a:miter lim="400000"/>
                    </a:lnL>
                    <a:lnR w="3175">
                      <a:solidFill>
                        <a:srgbClr val="002060"/>
                      </a:solidFill>
                      <a:prstDash val="lgDash"/>
                    </a:lnR>
                    <a:lnT w="3175">
                      <a:solidFill>
                        <a:srgbClr val="002060"/>
                      </a:solidFill>
                      <a:prstDash val="lgDash"/>
                    </a:lnT>
                    <a:lnB w="12700">
                      <a:miter lim="400000"/>
                    </a:lnB>
                    <a:solidFill>
                      <a:srgbClr val="002060"/>
                    </a:solidFill>
                  </a:tcPr>
                </a:tc>
                <a:tc>
                  <a:txBody>
                    <a:bodyPr/>
                    <a:lstStyle/>
                    <a:p>
                      <a:pPr algn="ctr">
                        <a:defRPr sz="1800"/>
                      </a:pPr>
                      <a:r>
                        <a:rPr sz="800">
                          <a:solidFill>
                            <a:srgbClr val="002060"/>
                          </a:solidFill>
                          <a:latin typeface="Open Sans"/>
                          <a:ea typeface="Open Sans"/>
                          <a:cs typeface="Open Sans"/>
                          <a:sym typeface="Open Sans"/>
                        </a:rPr>
                        <a:t>0.0%</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12700">
                      <a:miter lim="400000"/>
                    </a:lnB>
                    <a:solidFill>
                      <a:srgbClr val="92D050"/>
                    </a:solidFill>
                  </a:tcPr>
                </a:tc>
                <a:tc>
                  <a:txBody>
                    <a:bodyPr/>
                    <a:lstStyle/>
                    <a:p>
                      <a:pPr algn="ctr">
                        <a:defRPr sz="1800"/>
                      </a:pPr>
                      <a:r>
                        <a:rPr sz="800">
                          <a:solidFill>
                            <a:srgbClr val="002060"/>
                          </a:solidFill>
                          <a:latin typeface="Open Sans"/>
                          <a:ea typeface="Open Sans"/>
                          <a:cs typeface="Open Sans"/>
                          <a:sym typeface="Open Sans"/>
                        </a:rPr>
                        <a:t>0.0%</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12700">
                      <a:miter lim="400000"/>
                    </a:lnB>
                    <a:solidFill>
                      <a:srgbClr val="92D050"/>
                    </a:solidFill>
                  </a:tcPr>
                </a:tc>
                <a:tc>
                  <a:txBody>
                    <a:bodyPr/>
                    <a:lstStyle/>
                    <a:p>
                      <a:pPr algn="ctr">
                        <a:defRPr sz="1800"/>
                      </a:pPr>
                      <a:r>
                        <a:rPr sz="800">
                          <a:solidFill>
                            <a:srgbClr val="002060"/>
                          </a:solidFill>
                          <a:latin typeface="Open Sans"/>
                          <a:ea typeface="Open Sans"/>
                          <a:cs typeface="Open Sans"/>
                          <a:sym typeface="Open Sans"/>
                        </a:rPr>
                        <a:t>0.1%</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12700">
                      <a:miter lim="400000"/>
                    </a:lnB>
                    <a:solidFill>
                      <a:srgbClr val="92D050"/>
                    </a:solidFill>
                  </a:tcPr>
                </a:tc>
                <a:tc>
                  <a:txBody>
                    <a:bodyPr/>
                    <a:lstStyle/>
                    <a:p>
                      <a:pPr algn="ctr">
                        <a:defRPr sz="1800"/>
                      </a:pPr>
                      <a:r>
                        <a:rPr sz="800">
                          <a:solidFill>
                            <a:srgbClr val="002060"/>
                          </a:solidFill>
                          <a:latin typeface="Open Sans"/>
                          <a:ea typeface="Open Sans"/>
                          <a:cs typeface="Open Sans"/>
                          <a:sym typeface="Open Sans"/>
                        </a:rPr>
                        <a:t>0.2%</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12700">
                      <a:miter lim="400000"/>
                    </a:lnB>
                    <a:noFill/>
                  </a:tcPr>
                </a:tc>
                <a:tc>
                  <a:txBody>
                    <a:bodyPr/>
                    <a:lstStyle/>
                    <a:p>
                      <a:pPr algn="ctr">
                        <a:defRPr sz="1800"/>
                      </a:pPr>
                      <a:r>
                        <a:rPr sz="800">
                          <a:solidFill>
                            <a:srgbClr val="002060"/>
                          </a:solidFill>
                          <a:latin typeface="Open Sans"/>
                          <a:ea typeface="Open Sans"/>
                          <a:cs typeface="Open Sans"/>
                          <a:sym typeface="Open Sans"/>
                        </a:rPr>
                        <a:t>0.4%</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12700">
                      <a:miter lim="400000"/>
                    </a:lnB>
                    <a:solidFill>
                      <a:srgbClr val="00B050"/>
                    </a:solidFill>
                  </a:tcPr>
                </a:tc>
                <a:tc>
                  <a:txBody>
                    <a:bodyPr/>
                    <a:lstStyle/>
                    <a:p>
                      <a:pPr algn="ctr">
                        <a:defRPr sz="1800"/>
                      </a:pPr>
                      <a:r>
                        <a:rPr sz="800">
                          <a:solidFill>
                            <a:srgbClr val="002060"/>
                          </a:solidFill>
                          <a:latin typeface="Open Sans"/>
                          <a:ea typeface="Open Sans"/>
                          <a:cs typeface="Open Sans"/>
                          <a:sym typeface="Open Sans"/>
                        </a:rPr>
                        <a:t>1.4%</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12700">
                      <a:miter lim="400000"/>
                    </a:lnB>
                    <a:solidFill>
                      <a:srgbClr val="00B050"/>
                    </a:solidFill>
                  </a:tcPr>
                </a:tc>
                <a:tc>
                  <a:txBody>
                    <a:bodyPr/>
                    <a:lstStyle/>
                    <a:p>
                      <a:pPr algn="ctr">
                        <a:defRPr sz="1800"/>
                      </a:pPr>
                      <a:r>
                        <a:rPr sz="800">
                          <a:solidFill>
                            <a:srgbClr val="002060"/>
                          </a:solidFill>
                          <a:latin typeface="Open Sans"/>
                          <a:ea typeface="Open Sans"/>
                          <a:cs typeface="Open Sans"/>
                          <a:sym typeface="Open Sans"/>
                        </a:rPr>
                        <a:t>5.3%</a:t>
                      </a:r>
                    </a:p>
                  </a:txBody>
                  <a:tcPr marL="7620" marR="7620" marT="7620" marB="7620" anchor="ctr" anchorCtr="0" horzOverflow="overflow">
                    <a:lnL w="3175">
                      <a:solidFill>
                        <a:srgbClr val="002060"/>
                      </a:solidFill>
                      <a:prstDash val="lgDash"/>
                    </a:lnL>
                    <a:lnR w="12700">
                      <a:miter lim="400000"/>
                    </a:lnR>
                    <a:lnT w="3175">
                      <a:solidFill>
                        <a:srgbClr val="002060"/>
                      </a:solidFill>
                      <a:prstDash val="lgDash"/>
                    </a:lnT>
                    <a:lnB w="12700">
                      <a:miter lim="400000"/>
                    </a:lnB>
                    <a:solidFill>
                      <a:srgbClr val="00B050"/>
                    </a:solidFill>
                  </a:tcPr>
                </a:tc>
              </a:tr>
            </a:tbl>
          </a:graphicData>
        </a:graphic>
      </p:graphicFrame>
      <p:sp>
        <p:nvSpPr>
          <p:cNvPr id="523" name="TextBox 12"/>
          <p:cNvSpPr txBox="1"/>
          <p:nvPr/>
        </p:nvSpPr>
        <p:spPr>
          <a:xfrm>
            <a:off x="3621975" y="1752498"/>
            <a:ext cx="2783594"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1000">
                <a:solidFill>
                  <a:srgbClr val="00B0F0"/>
                </a:solidFill>
                <a:latin typeface="Open Sans"/>
                <a:ea typeface="Open Sans"/>
                <a:cs typeface="Open Sans"/>
                <a:sym typeface="Open Sans"/>
              </a:defRPr>
            </a:lvl1pPr>
          </a:lstStyle>
          <a:p>
            <a:pPr/>
            <a:r>
              <a:t>Retention Rate Band</a:t>
            </a:r>
          </a:p>
        </p:txBody>
      </p:sp>
      <p:sp>
        <p:nvSpPr>
          <p:cNvPr id="524" name="TextBox 13"/>
          <p:cNvSpPr txBox="1"/>
          <p:nvPr/>
        </p:nvSpPr>
        <p:spPr>
          <a:xfrm rot="16200000">
            <a:off x="-323483" y="2883664"/>
            <a:ext cx="1409197"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1000">
                <a:solidFill>
                  <a:srgbClr val="00B0F0"/>
                </a:solidFill>
                <a:latin typeface="Open Sans"/>
                <a:ea typeface="Open Sans"/>
                <a:cs typeface="Open Sans"/>
                <a:sym typeface="Open Sans"/>
              </a:defRPr>
            </a:lvl1pPr>
          </a:lstStyle>
          <a:p>
            <a:pPr/>
            <a:r>
              <a:t>Customer Value Band</a:t>
            </a:r>
          </a:p>
        </p:txBody>
      </p:sp>
      <p:sp>
        <p:nvSpPr>
          <p:cNvPr id="525" name="TextBox 16"/>
          <p:cNvSpPr txBox="1"/>
          <p:nvPr/>
        </p:nvSpPr>
        <p:spPr>
          <a:xfrm>
            <a:off x="1169114" y="3904689"/>
            <a:ext cx="3124957" cy="269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1200">
                <a:solidFill>
                  <a:srgbClr val="92D050"/>
                </a:solidFill>
                <a:latin typeface="Open Sans"/>
                <a:ea typeface="Open Sans"/>
                <a:cs typeface="Open Sans"/>
                <a:sym typeface="Open Sans"/>
              </a:defRPr>
            </a:lvl1pPr>
          </a:lstStyle>
          <a:p>
            <a:pPr/>
            <a:r>
              <a:t>High Value and Low Retention</a:t>
            </a:r>
          </a:p>
        </p:txBody>
      </p:sp>
      <p:sp>
        <p:nvSpPr>
          <p:cNvPr id="526" name="Down Arrow 15"/>
          <p:cNvSpPr/>
          <p:nvPr/>
        </p:nvSpPr>
        <p:spPr>
          <a:xfrm rot="10800000">
            <a:off x="7401787" y="1646714"/>
            <a:ext cx="487017" cy="7655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4730"/>
                </a:moveTo>
                <a:lnTo>
                  <a:pt x="5400" y="14730"/>
                </a:lnTo>
                <a:lnTo>
                  <a:pt x="5400" y="0"/>
                </a:lnTo>
                <a:lnTo>
                  <a:pt x="16200" y="0"/>
                </a:lnTo>
                <a:lnTo>
                  <a:pt x="16200" y="14730"/>
                </a:lnTo>
                <a:lnTo>
                  <a:pt x="21600" y="14730"/>
                </a:lnTo>
                <a:lnTo>
                  <a:pt x="10800" y="21600"/>
                </a:lnTo>
                <a:close/>
              </a:path>
            </a:pathLst>
          </a:custGeom>
          <a:solidFill>
            <a:srgbClr val="F7A76C"/>
          </a:solidFill>
          <a:ln w="12700">
            <a:miter lim="400000"/>
          </a:ln>
        </p:spPr>
        <p:txBody>
          <a:bodyPr lIns="45719" rIns="45719" anchor="ctr"/>
          <a:lstStyle/>
          <a:p>
            <a:pPr algn="ctr">
              <a:defRPr>
                <a:solidFill>
                  <a:srgbClr val="FFFFFF"/>
                </a:solidFill>
              </a:defRPr>
            </a:pPr>
          </a:p>
        </p:txBody>
      </p:sp>
      <p:sp>
        <p:nvSpPr>
          <p:cNvPr id="527" name="TextBox 2"/>
          <p:cNvSpPr txBox="1"/>
          <p:nvPr/>
        </p:nvSpPr>
        <p:spPr>
          <a:xfrm>
            <a:off x="5905386" y="1377523"/>
            <a:ext cx="3192895" cy="269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b="1" sz="1200">
                <a:solidFill>
                  <a:srgbClr val="F7A76C"/>
                </a:solidFill>
                <a:latin typeface="Open Sans"/>
                <a:ea typeface="Open Sans"/>
                <a:cs typeface="Open Sans"/>
                <a:sym typeface="Open Sans"/>
              </a:defRPr>
            </a:pPr>
            <a:r>
              <a:t>Low Value and High Retention</a:t>
            </a:r>
            <a:r>
              <a:rPr u="sng">
                <a:solidFill>
                  <a:srgbClr val="9454C3"/>
                </a:solidFill>
                <a:uFill>
                  <a:solidFill>
                    <a:srgbClr val="9454C3"/>
                  </a:solidFill>
                </a:uFill>
                <a:hlinkClick r:id="rId3" invalidUrl="" action="ppaction://hlinksldjump" tgtFrame="" tooltip="" history="1" highlightClick="0" endSnd="0"/>
              </a:rPr>
              <a:t> </a:t>
            </a:r>
          </a:p>
        </p:txBody>
      </p:sp>
      <p:sp>
        <p:nvSpPr>
          <p:cNvPr id="528" name="TextBox 4"/>
          <p:cNvSpPr txBox="1"/>
          <p:nvPr/>
        </p:nvSpPr>
        <p:spPr>
          <a:xfrm>
            <a:off x="6119048" y="3899987"/>
            <a:ext cx="3043721" cy="269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1200">
                <a:solidFill>
                  <a:srgbClr val="048F41"/>
                </a:solidFill>
                <a:latin typeface="Open Sans"/>
                <a:ea typeface="Open Sans"/>
                <a:cs typeface="Open Sans"/>
                <a:sym typeface="Open Sans"/>
              </a:defRPr>
            </a:lvl1pPr>
          </a:lstStyle>
          <a:p>
            <a:pPr/>
            <a:r>
              <a:t>High Value and High Retention</a:t>
            </a:r>
          </a:p>
        </p:txBody>
      </p:sp>
      <p:sp>
        <p:nvSpPr>
          <p:cNvPr id="529" name="TextBox 6"/>
          <p:cNvSpPr txBox="1"/>
          <p:nvPr/>
        </p:nvSpPr>
        <p:spPr>
          <a:xfrm>
            <a:off x="6762086" y="620620"/>
            <a:ext cx="1757641" cy="701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171450" indent="-171450">
              <a:lnSpc>
                <a:spcPct val="150000"/>
              </a:lnSpc>
              <a:buClr>
                <a:srgbClr val="00B0F0"/>
              </a:buClr>
              <a:buSzPct val="100000"/>
              <a:buFont typeface="Helvetica"/>
              <a:buChar char="⁃"/>
              <a:defRPr b="1" sz="1000">
                <a:solidFill>
                  <a:srgbClr val="002060"/>
                </a:solidFill>
                <a:latin typeface="Open Sans"/>
                <a:ea typeface="Open Sans"/>
                <a:cs typeface="Open Sans"/>
                <a:sym typeface="Open Sans"/>
              </a:defRPr>
            </a:pPr>
            <a:r>
              <a:t>2.5Cr</a:t>
            </a:r>
            <a:r>
              <a:rPr b="0"/>
              <a:t> Customers</a:t>
            </a:r>
            <a:endParaRPr b="0"/>
          </a:p>
          <a:p>
            <a:pPr marL="171450" indent="-171450">
              <a:lnSpc>
                <a:spcPct val="150000"/>
              </a:lnSpc>
              <a:buClr>
                <a:srgbClr val="00B0F0"/>
              </a:buClr>
              <a:buSzPct val="100000"/>
              <a:buFont typeface="Helvetica"/>
              <a:buChar char="⁃"/>
              <a:defRPr sz="1000">
                <a:solidFill>
                  <a:srgbClr val="002060"/>
                </a:solidFill>
                <a:latin typeface="Open Sans"/>
                <a:ea typeface="Open Sans"/>
                <a:cs typeface="Open Sans"/>
                <a:sym typeface="Open Sans"/>
              </a:defRPr>
            </a:pPr>
            <a:r>
              <a:t>Avg. Value </a:t>
            </a:r>
            <a:r>
              <a:rPr b="1"/>
              <a:t>₹24</a:t>
            </a:r>
            <a:endParaRPr b="1"/>
          </a:p>
          <a:p>
            <a:pPr marL="171450" indent="-171450">
              <a:lnSpc>
                <a:spcPct val="150000"/>
              </a:lnSpc>
              <a:buClr>
                <a:srgbClr val="00B0F0"/>
              </a:buClr>
              <a:buSzPct val="100000"/>
              <a:buFont typeface="Helvetica"/>
              <a:buChar char="⁃"/>
              <a:defRPr sz="1000">
                <a:solidFill>
                  <a:srgbClr val="002060"/>
                </a:solidFill>
                <a:latin typeface="Open Sans"/>
                <a:ea typeface="Open Sans"/>
                <a:cs typeface="Open Sans"/>
                <a:sym typeface="Open Sans"/>
              </a:defRPr>
            </a:pPr>
            <a:r>
              <a:t>Avg. Retention Rate </a:t>
            </a:r>
            <a:r>
              <a:rPr b="1"/>
              <a:t>90%</a:t>
            </a:r>
          </a:p>
        </p:txBody>
      </p:sp>
      <p:sp>
        <p:nvSpPr>
          <p:cNvPr id="530" name="TextBox 10"/>
          <p:cNvSpPr txBox="1"/>
          <p:nvPr/>
        </p:nvSpPr>
        <p:spPr>
          <a:xfrm>
            <a:off x="1225971" y="1375661"/>
            <a:ext cx="3011241" cy="269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1200">
                <a:solidFill>
                  <a:srgbClr val="FF6464"/>
                </a:solidFill>
                <a:latin typeface="Open Sans"/>
                <a:ea typeface="Open Sans"/>
                <a:cs typeface="Open Sans"/>
                <a:sym typeface="Open Sans"/>
              </a:defRPr>
            </a:lvl1pPr>
          </a:lstStyle>
          <a:p>
            <a:pPr/>
            <a:r>
              <a:t>Low Value and Low Retention</a:t>
            </a:r>
          </a:p>
        </p:txBody>
      </p:sp>
      <p:sp>
        <p:nvSpPr>
          <p:cNvPr id="531" name="Down Arrow 15"/>
          <p:cNvSpPr/>
          <p:nvPr/>
        </p:nvSpPr>
        <p:spPr>
          <a:xfrm>
            <a:off x="2429596" y="3190387"/>
            <a:ext cx="487017" cy="7655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4730"/>
                </a:moveTo>
                <a:lnTo>
                  <a:pt x="5400" y="14730"/>
                </a:lnTo>
                <a:lnTo>
                  <a:pt x="5400" y="0"/>
                </a:lnTo>
                <a:lnTo>
                  <a:pt x="16200" y="0"/>
                </a:lnTo>
                <a:lnTo>
                  <a:pt x="16200" y="14730"/>
                </a:lnTo>
                <a:lnTo>
                  <a:pt x="21600" y="14730"/>
                </a:lnTo>
                <a:lnTo>
                  <a:pt x="10800" y="21600"/>
                </a:lnTo>
                <a:close/>
              </a:path>
            </a:pathLst>
          </a:custGeom>
          <a:solidFill>
            <a:srgbClr val="92D050"/>
          </a:solidFill>
          <a:ln w="12700">
            <a:miter lim="400000"/>
          </a:ln>
        </p:spPr>
        <p:txBody>
          <a:bodyPr lIns="45719" rIns="45719" anchor="ctr"/>
          <a:lstStyle/>
          <a:p>
            <a:pPr algn="ctr">
              <a:defRPr>
                <a:solidFill>
                  <a:srgbClr val="FFFFFF"/>
                </a:solidFill>
              </a:defRPr>
            </a:pPr>
          </a:p>
        </p:txBody>
      </p:sp>
      <p:sp>
        <p:nvSpPr>
          <p:cNvPr id="532" name="TextBox 17"/>
          <p:cNvSpPr txBox="1"/>
          <p:nvPr/>
        </p:nvSpPr>
        <p:spPr>
          <a:xfrm>
            <a:off x="6735623" y="4109720"/>
            <a:ext cx="1750486" cy="701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171450" indent="-171450">
              <a:lnSpc>
                <a:spcPct val="150000"/>
              </a:lnSpc>
              <a:buClr>
                <a:srgbClr val="00B0F0"/>
              </a:buClr>
              <a:buSzPct val="100000"/>
              <a:buFont typeface="Helvetica"/>
              <a:buChar char="⁃"/>
              <a:defRPr b="1" sz="1000">
                <a:solidFill>
                  <a:srgbClr val="002060"/>
                </a:solidFill>
                <a:latin typeface="Open Sans"/>
                <a:ea typeface="Open Sans"/>
                <a:cs typeface="Open Sans"/>
                <a:sym typeface="Open Sans"/>
              </a:defRPr>
            </a:pPr>
            <a:r>
              <a:t>2cr</a:t>
            </a:r>
            <a:r>
              <a:rPr b="0"/>
              <a:t> Customers</a:t>
            </a:r>
            <a:endParaRPr b="0"/>
          </a:p>
          <a:p>
            <a:pPr marL="171450" indent="-171450">
              <a:lnSpc>
                <a:spcPct val="150000"/>
              </a:lnSpc>
              <a:buClr>
                <a:srgbClr val="00B0F0"/>
              </a:buClr>
              <a:buSzPct val="100000"/>
              <a:buFont typeface="Helvetica"/>
              <a:buChar char="⁃"/>
              <a:defRPr sz="1000">
                <a:solidFill>
                  <a:srgbClr val="002060"/>
                </a:solidFill>
                <a:latin typeface="Open Sans"/>
                <a:ea typeface="Open Sans"/>
                <a:cs typeface="Open Sans"/>
                <a:sym typeface="Open Sans"/>
              </a:defRPr>
            </a:pPr>
            <a:r>
              <a:t>Avg. Value </a:t>
            </a:r>
            <a:r>
              <a:rPr b="1"/>
              <a:t>₹1,042</a:t>
            </a:r>
            <a:endParaRPr b="1"/>
          </a:p>
          <a:p>
            <a:pPr marL="171450" indent="-171450">
              <a:lnSpc>
                <a:spcPct val="150000"/>
              </a:lnSpc>
              <a:buClr>
                <a:srgbClr val="00B0F0"/>
              </a:buClr>
              <a:buSzPct val="100000"/>
              <a:buFont typeface="Helvetica"/>
              <a:buChar char="⁃"/>
              <a:defRPr sz="1000">
                <a:solidFill>
                  <a:srgbClr val="002060"/>
                </a:solidFill>
                <a:latin typeface="Open Sans"/>
                <a:ea typeface="Open Sans"/>
                <a:cs typeface="Open Sans"/>
                <a:sym typeface="Open Sans"/>
              </a:defRPr>
            </a:pPr>
            <a:r>
              <a:t>Avg. Retention Rate </a:t>
            </a:r>
            <a:r>
              <a:rPr b="1"/>
              <a:t>98%</a:t>
            </a:r>
          </a:p>
        </p:txBody>
      </p:sp>
      <p:sp>
        <p:nvSpPr>
          <p:cNvPr id="533" name="Down Arrow 15"/>
          <p:cNvSpPr/>
          <p:nvPr/>
        </p:nvSpPr>
        <p:spPr>
          <a:xfrm>
            <a:off x="7407448" y="3207130"/>
            <a:ext cx="487017" cy="7655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4730"/>
                </a:moveTo>
                <a:lnTo>
                  <a:pt x="5400" y="14730"/>
                </a:lnTo>
                <a:lnTo>
                  <a:pt x="5400" y="0"/>
                </a:lnTo>
                <a:lnTo>
                  <a:pt x="16200" y="0"/>
                </a:lnTo>
                <a:lnTo>
                  <a:pt x="16200" y="14730"/>
                </a:lnTo>
                <a:lnTo>
                  <a:pt x="21600" y="14730"/>
                </a:lnTo>
                <a:lnTo>
                  <a:pt x="10800" y="21600"/>
                </a:lnTo>
                <a:close/>
              </a:path>
            </a:pathLst>
          </a:custGeom>
          <a:solidFill>
            <a:srgbClr val="00B050"/>
          </a:solidFill>
          <a:ln w="12700">
            <a:miter lim="400000"/>
          </a:ln>
        </p:spPr>
        <p:txBody>
          <a:bodyPr lIns="45719" rIns="45719" anchor="ctr"/>
          <a:lstStyle/>
          <a:p>
            <a:pPr algn="ctr">
              <a:defRPr>
                <a:solidFill>
                  <a:srgbClr val="FFFFFF"/>
                </a:solidFill>
              </a:defRPr>
            </a:pPr>
          </a:p>
        </p:txBody>
      </p:sp>
      <p:sp>
        <p:nvSpPr>
          <p:cNvPr id="534" name="TextBox 21"/>
          <p:cNvSpPr txBox="1"/>
          <p:nvPr/>
        </p:nvSpPr>
        <p:spPr>
          <a:xfrm>
            <a:off x="1946655" y="4109720"/>
            <a:ext cx="1750486" cy="701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171450" indent="-171450">
              <a:lnSpc>
                <a:spcPct val="150000"/>
              </a:lnSpc>
              <a:buClr>
                <a:srgbClr val="00B0F0"/>
              </a:buClr>
              <a:buSzPct val="100000"/>
              <a:buFont typeface="Helvetica"/>
              <a:buChar char="⁃"/>
              <a:defRPr b="1" sz="1000">
                <a:solidFill>
                  <a:srgbClr val="002060"/>
                </a:solidFill>
                <a:latin typeface="Open Sans"/>
                <a:ea typeface="Open Sans"/>
                <a:cs typeface="Open Sans"/>
                <a:sym typeface="Open Sans"/>
              </a:defRPr>
            </a:pPr>
            <a:r>
              <a:t>5L</a:t>
            </a:r>
            <a:r>
              <a:rPr b="0"/>
              <a:t> Customers</a:t>
            </a:r>
            <a:endParaRPr b="0"/>
          </a:p>
          <a:p>
            <a:pPr marL="171450" indent="-171450">
              <a:lnSpc>
                <a:spcPct val="150000"/>
              </a:lnSpc>
              <a:buClr>
                <a:srgbClr val="00B0F0"/>
              </a:buClr>
              <a:buSzPct val="100000"/>
              <a:buFont typeface="Helvetica"/>
              <a:buChar char="⁃"/>
              <a:defRPr sz="1000">
                <a:solidFill>
                  <a:srgbClr val="002060"/>
                </a:solidFill>
                <a:latin typeface="Open Sans"/>
                <a:ea typeface="Open Sans"/>
                <a:cs typeface="Open Sans"/>
                <a:sym typeface="Open Sans"/>
              </a:defRPr>
            </a:pPr>
            <a:r>
              <a:t>Avg. Value </a:t>
            </a:r>
            <a:r>
              <a:rPr b="1"/>
              <a:t>₹337</a:t>
            </a:r>
            <a:endParaRPr b="1"/>
          </a:p>
          <a:p>
            <a:pPr marL="171450" indent="-171450">
              <a:lnSpc>
                <a:spcPct val="150000"/>
              </a:lnSpc>
              <a:buClr>
                <a:srgbClr val="00B0F0"/>
              </a:buClr>
              <a:buSzPct val="100000"/>
              <a:buFont typeface="Helvetica"/>
              <a:buChar char="⁃"/>
              <a:defRPr sz="1000">
                <a:solidFill>
                  <a:srgbClr val="002060"/>
                </a:solidFill>
                <a:latin typeface="Open Sans"/>
                <a:ea typeface="Open Sans"/>
                <a:cs typeface="Open Sans"/>
                <a:sym typeface="Open Sans"/>
              </a:defRPr>
            </a:pPr>
            <a:r>
              <a:t>Avg. Retention Rate </a:t>
            </a:r>
            <a:r>
              <a:rPr b="1"/>
              <a:t>37%</a:t>
            </a:r>
          </a:p>
        </p:txBody>
      </p:sp>
      <p:sp>
        <p:nvSpPr>
          <p:cNvPr id="535" name="Down Arrow 15"/>
          <p:cNvSpPr/>
          <p:nvPr/>
        </p:nvSpPr>
        <p:spPr>
          <a:xfrm rot="10800000">
            <a:off x="2409832" y="1650775"/>
            <a:ext cx="487017" cy="7655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4730"/>
                </a:moveTo>
                <a:lnTo>
                  <a:pt x="5400" y="14730"/>
                </a:lnTo>
                <a:lnTo>
                  <a:pt x="5400" y="0"/>
                </a:lnTo>
                <a:lnTo>
                  <a:pt x="16200" y="0"/>
                </a:lnTo>
                <a:lnTo>
                  <a:pt x="16200" y="14730"/>
                </a:lnTo>
                <a:lnTo>
                  <a:pt x="21600" y="14730"/>
                </a:lnTo>
                <a:lnTo>
                  <a:pt x="10800" y="21600"/>
                </a:lnTo>
                <a:close/>
              </a:path>
            </a:pathLst>
          </a:custGeom>
          <a:solidFill>
            <a:srgbClr val="FF6464"/>
          </a:solidFill>
          <a:ln w="12700">
            <a:miter lim="400000"/>
          </a:ln>
        </p:spPr>
        <p:txBody>
          <a:bodyPr lIns="45719" rIns="45719" anchor="ctr"/>
          <a:lstStyle/>
          <a:p>
            <a:pPr algn="ctr">
              <a:defRPr>
                <a:solidFill>
                  <a:srgbClr val="FFFFFF"/>
                </a:solidFill>
              </a:defRPr>
            </a:pPr>
          </a:p>
        </p:txBody>
      </p:sp>
      <p:sp>
        <p:nvSpPr>
          <p:cNvPr id="536" name="TextBox 24"/>
          <p:cNvSpPr txBox="1"/>
          <p:nvPr/>
        </p:nvSpPr>
        <p:spPr>
          <a:xfrm>
            <a:off x="1946655" y="614137"/>
            <a:ext cx="2546382" cy="701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171450" indent="-171450">
              <a:lnSpc>
                <a:spcPct val="150000"/>
              </a:lnSpc>
              <a:buClr>
                <a:srgbClr val="00B0F0"/>
              </a:buClr>
              <a:buSzPct val="100000"/>
              <a:buFont typeface="Helvetica"/>
              <a:buChar char="⁃"/>
              <a:defRPr b="1" sz="1000">
                <a:solidFill>
                  <a:srgbClr val="002060"/>
                </a:solidFill>
                <a:latin typeface="Open Sans"/>
                <a:ea typeface="Open Sans"/>
                <a:cs typeface="Open Sans"/>
                <a:sym typeface="Open Sans"/>
              </a:defRPr>
            </a:pPr>
            <a:r>
              <a:t>4Cr</a:t>
            </a:r>
            <a:r>
              <a:rPr b="0"/>
              <a:t> Customers </a:t>
            </a:r>
            <a:endParaRPr b="0"/>
          </a:p>
          <a:p>
            <a:pPr marL="171450" indent="-171450">
              <a:lnSpc>
                <a:spcPct val="150000"/>
              </a:lnSpc>
              <a:buClr>
                <a:srgbClr val="00B0F0"/>
              </a:buClr>
              <a:buSzPct val="100000"/>
              <a:buFont typeface="Helvetica"/>
              <a:buChar char="⁃"/>
              <a:defRPr sz="1000">
                <a:solidFill>
                  <a:srgbClr val="002060"/>
                </a:solidFill>
                <a:latin typeface="Open Sans"/>
                <a:ea typeface="Open Sans"/>
                <a:cs typeface="Open Sans"/>
                <a:sym typeface="Open Sans"/>
              </a:defRPr>
            </a:pPr>
            <a:r>
              <a:t>Avg. Value </a:t>
            </a:r>
            <a:r>
              <a:rPr b="1"/>
              <a:t>₹3</a:t>
            </a:r>
            <a:endParaRPr b="1"/>
          </a:p>
          <a:p>
            <a:pPr marL="171450" indent="-171450">
              <a:lnSpc>
                <a:spcPct val="150000"/>
              </a:lnSpc>
              <a:buClr>
                <a:srgbClr val="00B0F0"/>
              </a:buClr>
              <a:buSzPct val="100000"/>
              <a:buFont typeface="Helvetica"/>
              <a:buChar char="⁃"/>
              <a:defRPr sz="1000">
                <a:solidFill>
                  <a:srgbClr val="002060"/>
                </a:solidFill>
                <a:latin typeface="Open Sans"/>
                <a:ea typeface="Open Sans"/>
                <a:cs typeface="Open Sans"/>
                <a:sym typeface="Open Sans"/>
              </a:defRPr>
            </a:pPr>
            <a:r>
              <a:t>Avg Retention Rate </a:t>
            </a:r>
            <a:r>
              <a:rPr b="1"/>
              <a:t>21% </a:t>
            </a:r>
          </a:p>
        </p:txBody>
      </p:sp>
      <p:sp>
        <p:nvSpPr>
          <p:cNvPr id="537" name="TextBox 3"/>
          <p:cNvSpPr txBox="1"/>
          <p:nvPr/>
        </p:nvSpPr>
        <p:spPr>
          <a:xfrm>
            <a:off x="55257" y="4556188"/>
            <a:ext cx="1079276" cy="3073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i="1" sz="800">
                <a:solidFill>
                  <a:srgbClr val="002060"/>
                </a:solidFill>
                <a:latin typeface="Open Sans"/>
                <a:ea typeface="Open Sans"/>
                <a:cs typeface="Open Sans"/>
                <a:sym typeface="Open Sans"/>
              </a:defRPr>
            </a:lvl1pPr>
          </a:lstStyle>
          <a:p>
            <a:pPr/>
            <a:r>
              <a:t>*12.3 Cr Customers</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41" name="Title 1"/>
          <p:cNvSpPr txBox="1"/>
          <p:nvPr/>
        </p:nvSpPr>
        <p:spPr>
          <a:xfrm>
            <a:off x="9539" y="119189"/>
            <a:ext cx="8245941" cy="5511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ctr">
            <a:spAutoFit/>
          </a:bodyPr>
          <a:lstStyle/>
          <a:p>
            <a:pPr>
              <a:defRPr b="1" i="1" sz="2400">
                <a:solidFill>
                  <a:srgbClr val="002060"/>
                </a:solidFill>
                <a:latin typeface="Open Sans"/>
                <a:ea typeface="Open Sans"/>
                <a:cs typeface="Open Sans"/>
                <a:sym typeface="Open Sans"/>
              </a:defRPr>
            </a:pPr>
            <a:r>
              <a:t>Use </a:t>
            </a:r>
            <a:r>
              <a:rPr>
                <a:solidFill>
                  <a:srgbClr val="00B0F0"/>
                </a:solidFill>
              </a:rPr>
              <a:t>Cases ~ </a:t>
            </a:r>
            <a:r>
              <a:t>Customer</a:t>
            </a:r>
            <a:r>
              <a:rPr>
                <a:solidFill>
                  <a:srgbClr val="00B0F0"/>
                </a:solidFill>
              </a:rPr>
              <a:t> Cohorts</a:t>
            </a:r>
          </a:p>
        </p:txBody>
      </p:sp>
      <p:sp>
        <p:nvSpPr>
          <p:cNvPr id="542" name="Straight Connector 3"/>
          <p:cNvSpPr/>
          <p:nvPr/>
        </p:nvSpPr>
        <p:spPr>
          <a:xfrm>
            <a:off x="-12300" y="618293"/>
            <a:ext cx="9180002" cy="13502"/>
          </a:xfrm>
          <a:prstGeom prst="line">
            <a:avLst/>
          </a:prstGeom>
          <a:ln w="38100">
            <a:solidFill>
              <a:srgbClr val="072C62"/>
            </a:solidFill>
          </a:ln>
        </p:spPr>
        <p:txBody>
          <a:bodyPr lIns="45719" rIns="45719"/>
          <a:lstStyle/>
          <a:p>
            <a:pPr/>
          </a:p>
        </p:txBody>
      </p:sp>
      <p:graphicFrame>
        <p:nvGraphicFramePr>
          <p:cNvPr id="543" name="Table 4"/>
          <p:cNvGraphicFramePr/>
          <p:nvPr/>
        </p:nvGraphicFramePr>
        <p:xfrm>
          <a:off x="189004" y="2445690"/>
          <a:ext cx="8772319" cy="316742"/>
        </p:xfrm>
        <a:graphic xmlns:a="http://schemas.openxmlformats.org/drawingml/2006/main">
          <a:graphicData uri="http://schemas.openxmlformats.org/drawingml/2006/table">
            <a:tbl>
              <a:tblPr firstCol="0" firstRow="0" lastCol="0" lastRow="0" bandCol="0" bandRow="1" rtl="0">
                <a:tableStyleId>{4C3C2611-4C71-4FC5-86AE-919BDF0F9419}</a:tableStyleId>
              </a:tblPr>
              <a:tblGrid>
                <a:gridCol w="1569458"/>
                <a:gridCol w="1800715"/>
                <a:gridCol w="1800715"/>
                <a:gridCol w="1800715"/>
                <a:gridCol w="1800715"/>
              </a:tblGrid>
              <a:tr h="316741">
                <a:tc>
                  <a:txBody>
                    <a:bodyPr/>
                    <a:lstStyle/>
                    <a:p>
                      <a:pPr algn="ctr">
                        <a:defRPr sz="1800"/>
                      </a:pPr>
                      <a:r>
                        <a:rPr b="1" sz="1000">
                          <a:solidFill>
                            <a:srgbClr val="002060"/>
                          </a:solidFill>
                          <a:latin typeface="Open Sans"/>
                          <a:ea typeface="Open Sans"/>
                          <a:cs typeface="Open Sans"/>
                          <a:sym typeface="Open Sans"/>
                        </a:rPr>
                        <a:t>Action Items</a:t>
                      </a:r>
                    </a:p>
                  </a:txBody>
                  <a:tcPr marL="34290" marR="34290" marT="34290" marB="34290" anchor="ctr" anchorCtr="0" horzOverflow="overflow">
                    <a:lnL w="12700">
                      <a:miter lim="400000"/>
                    </a:lnL>
                    <a:lnR w="12700">
                      <a:miter lim="400000"/>
                    </a:lnR>
                    <a:lnT w="12700">
                      <a:miter lim="400000"/>
                    </a:lnT>
                    <a:lnB w="12700">
                      <a:miter lim="400000"/>
                    </a:lnB>
                    <a:noFill/>
                  </a:tcPr>
                </a:tc>
                <a:tc>
                  <a:txBody>
                    <a:bodyPr/>
                    <a:lstStyle/>
                    <a:p>
                      <a:pPr algn="ctr">
                        <a:defRPr sz="1800"/>
                      </a:pPr>
                      <a:r>
                        <a:rPr b="1" sz="900">
                          <a:solidFill>
                            <a:srgbClr val="00B050"/>
                          </a:solidFill>
                          <a:latin typeface="Open Sans"/>
                          <a:ea typeface="Open Sans"/>
                          <a:cs typeface="Open Sans"/>
                          <a:sym typeface="Open Sans"/>
                        </a:rPr>
                        <a:t>Rewards and Loyalty</a:t>
                      </a:r>
                    </a:p>
                  </a:txBody>
                  <a:tcPr marL="34290" marR="34290" marT="34290" marB="34290" anchor="ctr" anchorCtr="0" horzOverflow="overflow">
                    <a:lnL w="12700">
                      <a:miter lim="400000"/>
                    </a:lnL>
                    <a:lnR w="12700">
                      <a:miter lim="400000"/>
                    </a:lnR>
                    <a:lnT w="12700">
                      <a:miter lim="400000"/>
                    </a:lnT>
                    <a:lnB w="12700">
                      <a:miter lim="400000"/>
                    </a:lnB>
                    <a:noFill/>
                  </a:tcPr>
                </a:tc>
                <a:tc>
                  <a:txBody>
                    <a:bodyPr/>
                    <a:lstStyle/>
                    <a:p>
                      <a:pPr algn="ctr">
                        <a:defRPr sz="1800"/>
                      </a:pPr>
                      <a:r>
                        <a:rPr b="1" sz="900">
                          <a:solidFill>
                            <a:srgbClr val="92D050"/>
                          </a:solidFill>
                          <a:latin typeface="Open Sans"/>
                          <a:ea typeface="Open Sans"/>
                          <a:cs typeface="Open Sans"/>
                          <a:sym typeface="Open Sans"/>
                        </a:rPr>
                        <a:t>Customer Service and Treatment</a:t>
                      </a:r>
                    </a:p>
                  </a:txBody>
                  <a:tcPr marL="34290" marR="34290" marT="34290" marB="34290" anchor="ctr" anchorCtr="0" horzOverflow="overflow">
                    <a:lnL w="12700">
                      <a:miter lim="400000"/>
                    </a:lnL>
                    <a:lnR w="12700">
                      <a:miter lim="400000"/>
                    </a:lnR>
                    <a:lnT w="12700">
                      <a:miter lim="400000"/>
                    </a:lnT>
                    <a:lnB w="12700">
                      <a:miter lim="400000"/>
                    </a:lnB>
                    <a:noFill/>
                  </a:tcPr>
                </a:tc>
                <a:tc>
                  <a:txBody>
                    <a:bodyPr/>
                    <a:lstStyle/>
                    <a:p>
                      <a:pPr algn="ctr">
                        <a:defRPr sz="1800"/>
                      </a:pPr>
                      <a:r>
                        <a:rPr b="1" sz="900">
                          <a:solidFill>
                            <a:srgbClr val="F7A76C"/>
                          </a:solidFill>
                          <a:latin typeface="Open Sans"/>
                          <a:ea typeface="Open Sans"/>
                          <a:cs typeface="Open Sans"/>
                          <a:sym typeface="Open Sans"/>
                        </a:rPr>
                        <a:t>Increase Engagement</a:t>
                      </a:r>
                    </a:p>
                  </a:txBody>
                  <a:tcPr marL="34290" marR="34290" marT="34290" marB="34290" anchor="ctr" anchorCtr="0" horzOverflow="overflow">
                    <a:lnL w="12700">
                      <a:miter lim="400000"/>
                    </a:lnL>
                    <a:lnR w="12700">
                      <a:miter lim="400000"/>
                    </a:lnR>
                    <a:lnT w="12700">
                      <a:miter lim="400000"/>
                    </a:lnT>
                    <a:lnB w="12700">
                      <a:miter lim="400000"/>
                    </a:lnB>
                    <a:noFill/>
                  </a:tcPr>
                </a:tc>
                <a:tc>
                  <a:txBody>
                    <a:bodyPr/>
                    <a:lstStyle/>
                    <a:p>
                      <a:pPr algn="ctr">
                        <a:defRPr sz="1800"/>
                      </a:pPr>
                      <a:r>
                        <a:rPr b="1" sz="900">
                          <a:solidFill>
                            <a:srgbClr val="FF6464"/>
                          </a:solidFill>
                          <a:latin typeface="Open Sans"/>
                          <a:ea typeface="Open Sans"/>
                          <a:cs typeface="Open Sans"/>
                          <a:sym typeface="Open Sans"/>
                        </a:rPr>
                        <a:t>Stop Cash Burn</a:t>
                      </a:r>
                    </a:p>
                  </a:txBody>
                  <a:tcPr marL="34290" marR="34290" marT="34290" marB="34290" anchor="ctr" anchorCtr="0" horzOverflow="overflow">
                    <a:lnL w="12700">
                      <a:miter lim="400000"/>
                    </a:lnL>
                    <a:lnR w="12700">
                      <a:miter lim="400000"/>
                    </a:lnR>
                    <a:lnT w="12700">
                      <a:miter lim="400000"/>
                    </a:lnT>
                    <a:lnB w="12700">
                      <a:miter lim="400000"/>
                    </a:lnB>
                    <a:noFill/>
                  </a:tcPr>
                </a:tc>
              </a:tr>
            </a:tbl>
          </a:graphicData>
        </a:graphic>
      </p:graphicFrame>
      <p:graphicFrame>
        <p:nvGraphicFramePr>
          <p:cNvPr id="544" name="Table 17"/>
          <p:cNvGraphicFramePr/>
          <p:nvPr/>
        </p:nvGraphicFramePr>
        <p:xfrm>
          <a:off x="121717" y="680925"/>
          <a:ext cx="8876273" cy="1763323"/>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581667"/>
                <a:gridCol w="1055077"/>
                <a:gridCol w="1809882"/>
                <a:gridCol w="1809882"/>
                <a:gridCol w="1809882"/>
                <a:gridCol w="1809882"/>
              </a:tblGrid>
              <a:tr h="299692">
                <a:tc gridSpan="2">
                  <a:txBody>
                    <a:bodyPr/>
                    <a:lstStyle/>
                    <a:p>
                      <a:pPr algn="ctr">
                        <a:defRPr b="0" sz="1800">
                          <a:solidFill>
                            <a:srgbClr val="000000"/>
                          </a:solidFill>
                        </a:defRPr>
                      </a:pPr>
                      <a:r>
                        <a:rPr sz="800">
                          <a:latin typeface="Open Sans"/>
                          <a:ea typeface="Open Sans"/>
                          <a:cs typeface="Open Sans"/>
                          <a:sym typeface="Open Sans"/>
                        </a:rPr>
                        <a:t> </a:t>
                      </a:r>
                    </a:p>
                  </a:txBody>
                  <a:tcPr marL="7271" marR="7271" marT="7271" marB="7271" anchor="ctr" anchorCtr="0" horzOverflow="overflow">
                    <a:lnL w="12700">
                      <a:miter lim="400000"/>
                    </a:lnL>
                    <a:lnT w="12700">
                      <a:miter lim="400000"/>
                    </a:lnT>
                    <a:lnB w="12700">
                      <a:solidFill>
                        <a:srgbClr val="FFFFFF"/>
                      </a:solidFill>
                    </a:lnB>
                    <a:noFill/>
                  </a:tcPr>
                </a:tc>
                <a:tc hMerge="1">
                  <a:tcPr/>
                </a:tc>
                <a:tc>
                  <a:txBody>
                    <a:bodyPr/>
                    <a:lstStyle/>
                    <a:p>
                      <a:pPr algn="ctr">
                        <a:defRPr b="0" sz="1800">
                          <a:solidFill>
                            <a:srgbClr val="000000"/>
                          </a:solidFill>
                        </a:defRPr>
                      </a:pPr>
                      <a:r>
                        <a:rPr b="1" sz="900">
                          <a:solidFill>
                            <a:srgbClr val="FFFFFF"/>
                          </a:solidFill>
                          <a:latin typeface="Open Sans"/>
                          <a:ea typeface="Open Sans"/>
                          <a:cs typeface="Open Sans"/>
                          <a:sym typeface="Open Sans"/>
                        </a:rPr>
                        <a:t>High Value &amp; High Retention</a:t>
                      </a:r>
                    </a:p>
                  </a:txBody>
                  <a:tcPr marL="7271" marR="7271" marT="7271" marB="7271" anchor="ctr" anchorCtr="0" horzOverflow="overflow">
                    <a:lnT w="12700">
                      <a:miter lim="400000"/>
                    </a:lnT>
                    <a:lnB w="12700">
                      <a:solidFill>
                        <a:srgbClr val="FFFFFF"/>
                      </a:solidFill>
                    </a:lnB>
                    <a:solidFill>
                      <a:srgbClr val="00B050"/>
                    </a:solidFill>
                  </a:tcPr>
                </a:tc>
                <a:tc>
                  <a:txBody>
                    <a:bodyPr/>
                    <a:lstStyle/>
                    <a:p>
                      <a:pPr algn="ctr">
                        <a:defRPr b="0" sz="1800">
                          <a:solidFill>
                            <a:srgbClr val="000000"/>
                          </a:solidFill>
                        </a:defRPr>
                      </a:pPr>
                      <a:r>
                        <a:rPr b="1" sz="900">
                          <a:solidFill>
                            <a:srgbClr val="FFFFFF"/>
                          </a:solidFill>
                          <a:latin typeface="Open Sans"/>
                          <a:ea typeface="Open Sans"/>
                          <a:cs typeface="Open Sans"/>
                          <a:sym typeface="Open Sans"/>
                        </a:rPr>
                        <a:t>High Value &amp; Low Retention</a:t>
                      </a:r>
                    </a:p>
                  </a:txBody>
                  <a:tcPr marL="7271" marR="7271" marT="7271" marB="7271" anchor="ctr" anchorCtr="0" horzOverflow="overflow">
                    <a:lnT w="12700">
                      <a:miter lim="400000"/>
                    </a:lnT>
                    <a:lnB w="12700">
                      <a:solidFill>
                        <a:srgbClr val="FFFFFF"/>
                      </a:solidFill>
                    </a:lnB>
                    <a:solidFill>
                      <a:srgbClr val="92D050"/>
                    </a:solidFill>
                  </a:tcPr>
                </a:tc>
                <a:tc>
                  <a:txBody>
                    <a:bodyPr/>
                    <a:lstStyle/>
                    <a:p>
                      <a:pPr algn="ctr">
                        <a:defRPr b="0" sz="1800">
                          <a:solidFill>
                            <a:srgbClr val="000000"/>
                          </a:solidFill>
                        </a:defRPr>
                      </a:pPr>
                      <a:r>
                        <a:rPr b="1" sz="900">
                          <a:solidFill>
                            <a:srgbClr val="FFFFFF"/>
                          </a:solidFill>
                          <a:latin typeface="Open Sans"/>
                          <a:ea typeface="Open Sans"/>
                          <a:cs typeface="Open Sans"/>
                          <a:sym typeface="Open Sans"/>
                        </a:rPr>
                        <a:t>Low Value &amp; High Retention</a:t>
                      </a:r>
                    </a:p>
                  </a:txBody>
                  <a:tcPr marL="7271" marR="7271" marT="7271" marB="7271" anchor="ctr" anchorCtr="0" horzOverflow="overflow">
                    <a:lnT w="12700">
                      <a:miter lim="400000"/>
                    </a:lnT>
                    <a:lnB w="12700">
                      <a:solidFill>
                        <a:srgbClr val="FFFFFF"/>
                      </a:solidFill>
                    </a:lnB>
                    <a:solidFill>
                      <a:srgbClr val="F7A76C"/>
                    </a:solidFill>
                  </a:tcPr>
                </a:tc>
                <a:tc>
                  <a:txBody>
                    <a:bodyPr/>
                    <a:lstStyle/>
                    <a:p>
                      <a:pPr algn="ctr">
                        <a:defRPr b="0" sz="1800">
                          <a:solidFill>
                            <a:srgbClr val="000000"/>
                          </a:solidFill>
                        </a:defRPr>
                      </a:pPr>
                      <a:r>
                        <a:rPr b="1" sz="900">
                          <a:solidFill>
                            <a:srgbClr val="FFFFFF"/>
                          </a:solidFill>
                          <a:latin typeface="Open Sans"/>
                          <a:ea typeface="Open Sans"/>
                          <a:cs typeface="Open Sans"/>
                          <a:sym typeface="Open Sans"/>
                        </a:rPr>
                        <a:t>Low Value &amp; Low Retention</a:t>
                      </a:r>
                    </a:p>
                  </a:txBody>
                  <a:tcPr marL="7271" marR="7271" marT="7271" marB="7271" anchor="ctr" anchorCtr="0" horzOverflow="overflow">
                    <a:lnR w="12700">
                      <a:miter lim="400000"/>
                    </a:lnR>
                    <a:lnT w="12700">
                      <a:miter lim="400000"/>
                    </a:lnT>
                    <a:lnB w="12700">
                      <a:solidFill>
                        <a:srgbClr val="FFFFFF"/>
                      </a:solidFill>
                    </a:lnB>
                    <a:solidFill>
                      <a:srgbClr val="FF6464"/>
                    </a:solidFill>
                  </a:tcPr>
                </a:tc>
              </a:tr>
              <a:tr h="167081">
                <a:tc rowSpan="3">
                  <a:txBody>
                    <a:bodyPr/>
                    <a:lstStyle/>
                    <a:p>
                      <a:pPr algn="ctr">
                        <a:defRPr sz="1800"/>
                      </a:pPr>
                      <a:r>
                        <a:rPr sz="700">
                          <a:solidFill>
                            <a:srgbClr val="002060"/>
                          </a:solidFill>
                          <a:latin typeface="Open Sans"/>
                          <a:ea typeface="Open Sans"/>
                          <a:cs typeface="Open Sans"/>
                          <a:sym typeface="Open Sans"/>
                        </a:rPr>
                        <a:t>Cohort</a:t>
                      </a:r>
                    </a:p>
                  </a:txBody>
                  <a:tcPr marL="7271" marR="7271" marT="7271" marB="7271" anchor="ctr" anchorCtr="0" horzOverflow="overflow">
                    <a:lnR w="3175">
                      <a:solidFill>
                        <a:srgbClr val="002060"/>
                      </a:solidFill>
                      <a:prstDash val="lgDash"/>
                    </a:lnR>
                    <a:lnT w="12700">
                      <a:solidFill>
                        <a:srgbClr val="FFFFFF"/>
                      </a:solidFill>
                    </a:lnT>
                    <a:lnB w="3175">
                      <a:solidFill>
                        <a:srgbClr val="002060"/>
                      </a:solidFill>
                      <a:prstDash val="lgDash"/>
                    </a:lnB>
                    <a:noFill/>
                  </a:tcPr>
                </a:tc>
                <a:tc>
                  <a:txBody>
                    <a:bodyPr/>
                    <a:lstStyle/>
                    <a:p>
                      <a:pPr algn="ctr">
                        <a:defRPr sz="1800"/>
                      </a:pPr>
                      <a:r>
                        <a:rPr sz="700">
                          <a:solidFill>
                            <a:srgbClr val="002060"/>
                          </a:solidFill>
                          <a:latin typeface="Open Sans"/>
                          <a:ea typeface="Open Sans"/>
                          <a:cs typeface="Open Sans"/>
                          <a:sym typeface="Open Sans"/>
                        </a:rPr>
                        <a:t>Population</a:t>
                      </a:r>
                    </a:p>
                  </a:txBody>
                  <a:tcPr marL="7271" marR="7271" marT="7271" marB="7271" anchor="ctr" anchorCtr="0" horzOverflow="overflow">
                    <a:lnL w="3175">
                      <a:solidFill>
                        <a:srgbClr val="002060"/>
                      </a:solidFill>
                      <a:prstDash val="lgDash"/>
                    </a:lnL>
                    <a:lnR w="3175">
                      <a:solidFill>
                        <a:srgbClr val="002060"/>
                      </a:solidFill>
                      <a:prstDash val="lgDash"/>
                    </a:lnR>
                    <a:lnT w="12700">
                      <a:solidFill>
                        <a:srgbClr val="FFFFFF"/>
                      </a:solidFill>
                    </a:lnT>
                    <a:lnB w="3175">
                      <a:solidFill>
                        <a:srgbClr val="002060"/>
                      </a:solidFill>
                      <a:prstDash val="lgDash"/>
                    </a:lnB>
                    <a:noFill/>
                  </a:tcPr>
                </a:tc>
                <a:tc>
                  <a:txBody>
                    <a:bodyPr/>
                    <a:lstStyle/>
                    <a:p>
                      <a:pPr algn="ctr">
                        <a:defRPr sz="1800"/>
                      </a:pPr>
                      <a:r>
                        <a:rPr b="1" sz="700">
                          <a:solidFill>
                            <a:srgbClr val="002060"/>
                          </a:solidFill>
                          <a:latin typeface="Open Sans"/>
                          <a:ea typeface="Open Sans"/>
                          <a:cs typeface="Open Sans"/>
                          <a:sym typeface="Open Sans"/>
                        </a:rPr>
                        <a:t>~2 crore</a:t>
                      </a:r>
                    </a:p>
                  </a:txBody>
                  <a:tcPr marL="7271" marR="7271" marT="7271" marB="7271" anchor="ctr" anchorCtr="0" horzOverflow="overflow">
                    <a:lnL w="3175">
                      <a:solidFill>
                        <a:srgbClr val="002060"/>
                      </a:solidFill>
                      <a:prstDash val="lgDash"/>
                    </a:lnL>
                    <a:lnR w="3175">
                      <a:solidFill>
                        <a:srgbClr val="002060"/>
                      </a:solidFill>
                      <a:prstDash val="lgDash"/>
                    </a:lnR>
                    <a:lnT w="12700">
                      <a:solidFill>
                        <a:srgbClr val="FFFFFF"/>
                      </a:solidFill>
                    </a:lnT>
                    <a:lnB w="3175">
                      <a:solidFill>
                        <a:srgbClr val="002060"/>
                      </a:solidFill>
                      <a:prstDash val="lgDash"/>
                    </a:lnB>
                    <a:noFill/>
                  </a:tcPr>
                </a:tc>
                <a:tc>
                  <a:txBody>
                    <a:bodyPr/>
                    <a:lstStyle/>
                    <a:p>
                      <a:pPr algn="ctr">
                        <a:defRPr sz="1800"/>
                      </a:pPr>
                      <a:r>
                        <a:rPr b="1" sz="700">
                          <a:solidFill>
                            <a:srgbClr val="002060"/>
                          </a:solidFill>
                          <a:latin typeface="Open Sans"/>
                          <a:ea typeface="Open Sans"/>
                          <a:cs typeface="Open Sans"/>
                          <a:sym typeface="Open Sans"/>
                        </a:rPr>
                        <a:t>~ 5 Lakhs</a:t>
                      </a:r>
                    </a:p>
                  </a:txBody>
                  <a:tcPr marL="7271" marR="7271" marT="7271" marB="7271" anchor="ctr" anchorCtr="0" horzOverflow="overflow">
                    <a:lnL w="3175">
                      <a:solidFill>
                        <a:srgbClr val="002060"/>
                      </a:solidFill>
                      <a:prstDash val="lgDash"/>
                    </a:lnL>
                    <a:lnR w="3175">
                      <a:solidFill>
                        <a:srgbClr val="002060"/>
                      </a:solidFill>
                      <a:prstDash val="lgDash"/>
                    </a:lnR>
                    <a:lnT w="12700">
                      <a:solidFill>
                        <a:srgbClr val="FFFFFF"/>
                      </a:solidFill>
                    </a:lnT>
                    <a:lnB w="3175">
                      <a:solidFill>
                        <a:srgbClr val="002060"/>
                      </a:solidFill>
                      <a:prstDash val="lgDash"/>
                    </a:lnB>
                    <a:noFill/>
                  </a:tcPr>
                </a:tc>
                <a:tc>
                  <a:txBody>
                    <a:bodyPr/>
                    <a:lstStyle/>
                    <a:p>
                      <a:pPr algn="ctr">
                        <a:defRPr sz="1800"/>
                      </a:pPr>
                      <a:r>
                        <a:rPr b="1" sz="700">
                          <a:solidFill>
                            <a:srgbClr val="002060"/>
                          </a:solidFill>
                          <a:latin typeface="Open Sans"/>
                          <a:ea typeface="Open Sans"/>
                          <a:cs typeface="Open Sans"/>
                          <a:sym typeface="Open Sans"/>
                        </a:rPr>
                        <a:t>~ 2.5 crore</a:t>
                      </a:r>
                    </a:p>
                  </a:txBody>
                  <a:tcPr marL="7271" marR="7271" marT="7271" marB="7271" anchor="ctr" anchorCtr="0" horzOverflow="overflow">
                    <a:lnL w="3175">
                      <a:solidFill>
                        <a:srgbClr val="002060"/>
                      </a:solidFill>
                      <a:prstDash val="lgDash"/>
                    </a:lnL>
                    <a:lnR w="3175">
                      <a:solidFill>
                        <a:srgbClr val="002060"/>
                      </a:solidFill>
                      <a:prstDash val="lgDash"/>
                    </a:lnR>
                    <a:lnT w="12700">
                      <a:solidFill>
                        <a:srgbClr val="FFFFFF"/>
                      </a:solidFill>
                    </a:lnT>
                    <a:lnB w="3175">
                      <a:solidFill>
                        <a:srgbClr val="002060"/>
                      </a:solidFill>
                      <a:prstDash val="lgDash"/>
                    </a:lnB>
                    <a:noFill/>
                  </a:tcPr>
                </a:tc>
                <a:tc>
                  <a:txBody>
                    <a:bodyPr/>
                    <a:lstStyle/>
                    <a:p>
                      <a:pPr algn="ctr">
                        <a:defRPr sz="1800"/>
                      </a:pPr>
                      <a:r>
                        <a:rPr b="1" sz="700">
                          <a:solidFill>
                            <a:srgbClr val="002060"/>
                          </a:solidFill>
                          <a:latin typeface="Open Sans"/>
                          <a:ea typeface="Open Sans"/>
                          <a:cs typeface="Open Sans"/>
                          <a:sym typeface="Open Sans"/>
                        </a:rPr>
                        <a:t>~ 4 crore</a:t>
                      </a:r>
                    </a:p>
                  </a:txBody>
                  <a:tcPr marL="7271" marR="7271" marT="7271" marB="7271" anchor="ctr" anchorCtr="0" horzOverflow="overflow">
                    <a:lnL w="3175">
                      <a:solidFill>
                        <a:srgbClr val="002060"/>
                      </a:solidFill>
                      <a:prstDash val="lgDash"/>
                    </a:lnL>
                    <a:lnR w="12700">
                      <a:miter lim="400000"/>
                    </a:lnR>
                    <a:lnT w="12700">
                      <a:solidFill>
                        <a:srgbClr val="FFFFFF"/>
                      </a:solidFill>
                    </a:lnT>
                    <a:lnB w="3175">
                      <a:solidFill>
                        <a:srgbClr val="002060"/>
                      </a:solidFill>
                      <a:prstDash val="lgDash"/>
                    </a:lnB>
                    <a:noFill/>
                  </a:tcPr>
                </a:tc>
              </a:tr>
              <a:tr h="160398">
                <a:tc vMerge="1">
                  <a:tcPr/>
                </a:tc>
                <a:tc>
                  <a:txBody>
                    <a:bodyPr/>
                    <a:lstStyle/>
                    <a:p>
                      <a:pPr algn="ctr">
                        <a:defRPr sz="1800"/>
                      </a:pPr>
                      <a:r>
                        <a:rPr sz="700">
                          <a:solidFill>
                            <a:srgbClr val="002060"/>
                          </a:solidFill>
                          <a:latin typeface="Open Sans"/>
                          <a:ea typeface="Open Sans"/>
                          <a:cs typeface="Open Sans"/>
                          <a:sym typeface="Open Sans"/>
                        </a:rPr>
                        <a:t>Avg. Value</a:t>
                      </a:r>
                    </a:p>
                  </a:txBody>
                  <a:tcPr marL="7271" marR="7271" marT="7271" marB="7271"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b="1" sz="700">
                          <a:solidFill>
                            <a:srgbClr val="002060"/>
                          </a:solidFill>
                          <a:latin typeface="Open Sans"/>
                          <a:ea typeface="Open Sans"/>
                          <a:cs typeface="Open Sans"/>
                          <a:sym typeface="Open Sans"/>
                        </a:rPr>
                        <a:t>₹1,042</a:t>
                      </a:r>
                    </a:p>
                  </a:txBody>
                  <a:tcPr marL="7271" marR="7271" marT="7271" marB="7271"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b="1" sz="700">
                          <a:solidFill>
                            <a:srgbClr val="002060"/>
                          </a:solidFill>
                          <a:latin typeface="Open Sans"/>
                          <a:ea typeface="Open Sans"/>
                          <a:cs typeface="Open Sans"/>
                          <a:sym typeface="Open Sans"/>
                        </a:rPr>
                        <a:t>₹337</a:t>
                      </a:r>
                    </a:p>
                  </a:txBody>
                  <a:tcPr marL="7271" marR="7271" marT="7271" marB="7271"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b="1" sz="700">
                          <a:solidFill>
                            <a:srgbClr val="002060"/>
                          </a:solidFill>
                          <a:latin typeface="Open Sans"/>
                          <a:ea typeface="Open Sans"/>
                          <a:cs typeface="Open Sans"/>
                          <a:sym typeface="Open Sans"/>
                        </a:rPr>
                        <a:t>₹24</a:t>
                      </a:r>
                    </a:p>
                  </a:txBody>
                  <a:tcPr marL="7271" marR="7271" marT="7271" marB="7271"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b="1" sz="700">
                          <a:solidFill>
                            <a:srgbClr val="002060"/>
                          </a:solidFill>
                          <a:latin typeface="Open Sans"/>
                          <a:ea typeface="Open Sans"/>
                          <a:cs typeface="Open Sans"/>
                          <a:sym typeface="Open Sans"/>
                        </a:rPr>
                        <a:t>₹3</a:t>
                      </a:r>
                    </a:p>
                  </a:txBody>
                  <a:tcPr marL="7271" marR="7271" marT="7271" marB="7271" anchor="ctr" anchorCtr="0" horzOverflow="overflow">
                    <a:lnL w="3175">
                      <a:solidFill>
                        <a:srgbClr val="002060"/>
                      </a:solidFill>
                      <a:prstDash val="lgDash"/>
                    </a:lnL>
                    <a:lnR w="12700">
                      <a:miter lim="400000"/>
                    </a:lnR>
                    <a:lnT w="3175">
                      <a:solidFill>
                        <a:srgbClr val="002060"/>
                      </a:solidFill>
                      <a:prstDash val="lgDash"/>
                    </a:lnT>
                    <a:lnB w="3175">
                      <a:solidFill>
                        <a:srgbClr val="002060"/>
                      </a:solidFill>
                      <a:prstDash val="lgDash"/>
                    </a:lnB>
                    <a:noFill/>
                  </a:tcPr>
                </a:tc>
              </a:tr>
              <a:tr h="167081">
                <a:tc vMerge="1">
                  <a:tcPr/>
                </a:tc>
                <a:tc>
                  <a:txBody>
                    <a:bodyPr/>
                    <a:lstStyle/>
                    <a:p>
                      <a:pPr algn="ctr">
                        <a:defRPr sz="1800"/>
                      </a:pPr>
                      <a:r>
                        <a:rPr sz="700">
                          <a:solidFill>
                            <a:srgbClr val="002060"/>
                          </a:solidFill>
                          <a:latin typeface="Open Sans"/>
                          <a:ea typeface="Open Sans"/>
                          <a:cs typeface="Open Sans"/>
                          <a:sym typeface="Open Sans"/>
                        </a:rPr>
                        <a:t>% Retention</a:t>
                      </a:r>
                    </a:p>
                  </a:txBody>
                  <a:tcPr marL="7271" marR="7271" marT="7271" marB="7271"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b="1" sz="700">
                          <a:solidFill>
                            <a:srgbClr val="002060"/>
                          </a:solidFill>
                          <a:latin typeface="Open Sans"/>
                          <a:ea typeface="Open Sans"/>
                          <a:cs typeface="Open Sans"/>
                          <a:sym typeface="Open Sans"/>
                        </a:rPr>
                        <a:t>98%</a:t>
                      </a:r>
                    </a:p>
                  </a:txBody>
                  <a:tcPr marL="7271" marR="7271" marT="7271" marB="7271"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b="1" sz="700">
                          <a:solidFill>
                            <a:srgbClr val="002060"/>
                          </a:solidFill>
                          <a:latin typeface="Open Sans"/>
                          <a:ea typeface="Open Sans"/>
                          <a:cs typeface="Open Sans"/>
                          <a:sym typeface="Open Sans"/>
                        </a:rPr>
                        <a:t>37%</a:t>
                      </a:r>
                    </a:p>
                  </a:txBody>
                  <a:tcPr marL="7271" marR="7271" marT="7271" marB="7271"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b="1" sz="700">
                          <a:solidFill>
                            <a:srgbClr val="002060"/>
                          </a:solidFill>
                          <a:latin typeface="Open Sans"/>
                          <a:ea typeface="Open Sans"/>
                          <a:cs typeface="Open Sans"/>
                          <a:sym typeface="Open Sans"/>
                        </a:rPr>
                        <a:t>90%</a:t>
                      </a:r>
                    </a:p>
                  </a:txBody>
                  <a:tcPr marL="7271" marR="7271" marT="7271" marB="7271"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b="1" sz="700">
                          <a:solidFill>
                            <a:srgbClr val="002060"/>
                          </a:solidFill>
                          <a:latin typeface="Open Sans"/>
                          <a:ea typeface="Open Sans"/>
                          <a:cs typeface="Open Sans"/>
                          <a:sym typeface="Open Sans"/>
                        </a:rPr>
                        <a:t>21%</a:t>
                      </a:r>
                    </a:p>
                  </a:txBody>
                  <a:tcPr marL="7271" marR="7271" marT="7271" marB="7271" anchor="ctr" anchorCtr="0" horzOverflow="overflow">
                    <a:lnL w="3175">
                      <a:solidFill>
                        <a:srgbClr val="002060"/>
                      </a:solidFill>
                      <a:prstDash val="lgDash"/>
                    </a:lnL>
                    <a:lnR w="12700">
                      <a:miter lim="400000"/>
                    </a:lnR>
                    <a:lnT w="3175">
                      <a:solidFill>
                        <a:srgbClr val="002060"/>
                      </a:solidFill>
                      <a:prstDash val="lgDash"/>
                    </a:lnT>
                    <a:lnB w="3175">
                      <a:solidFill>
                        <a:srgbClr val="002060"/>
                      </a:solidFill>
                      <a:prstDash val="lgDash"/>
                    </a:lnB>
                    <a:noFill/>
                  </a:tcPr>
                </a:tc>
              </a:tr>
              <a:tr h="167081">
                <a:tc rowSpan="6">
                  <a:txBody>
                    <a:bodyPr/>
                    <a:lstStyle/>
                    <a:p>
                      <a:pPr algn="ctr">
                        <a:defRPr sz="1800"/>
                      </a:pPr>
                      <a:r>
                        <a:rPr sz="700">
                          <a:solidFill>
                            <a:srgbClr val="002060"/>
                          </a:solidFill>
                          <a:latin typeface="Open Sans"/>
                          <a:ea typeface="Open Sans"/>
                          <a:cs typeface="Open Sans"/>
                          <a:sym typeface="Open Sans"/>
                        </a:rPr>
                        <a:t>Customer Persona</a:t>
                      </a:r>
                    </a:p>
                  </a:txBody>
                  <a:tcPr marL="7271" marR="7271" marT="7271" marB="7271" anchor="ctr" anchorCtr="0" horzOverflow="overflow">
                    <a:lnL w="12700">
                      <a:miter lim="400000"/>
                    </a:lnL>
                    <a:lnR w="3175">
                      <a:solidFill>
                        <a:srgbClr val="002060"/>
                      </a:solidFill>
                      <a:prstDash val="lgDash"/>
                    </a:lnR>
                    <a:lnT w="3175">
                      <a:solidFill>
                        <a:srgbClr val="002060"/>
                      </a:solidFill>
                      <a:prstDash val="lgDash"/>
                    </a:lnT>
                    <a:lnB w="12700">
                      <a:miter lim="400000"/>
                    </a:lnB>
                    <a:noFill/>
                  </a:tcPr>
                </a:tc>
                <a:tc>
                  <a:txBody>
                    <a:bodyPr/>
                    <a:lstStyle/>
                    <a:p>
                      <a:pPr algn="ctr">
                        <a:defRPr sz="1800"/>
                      </a:pPr>
                      <a:r>
                        <a:rPr sz="700">
                          <a:solidFill>
                            <a:srgbClr val="002060"/>
                          </a:solidFill>
                          <a:latin typeface="Open Sans"/>
                          <a:ea typeface="Open Sans"/>
                          <a:cs typeface="Open Sans"/>
                          <a:sym typeface="Open Sans"/>
                        </a:rPr>
                        <a:t>Average Spend L12M</a:t>
                      </a:r>
                    </a:p>
                  </a:txBody>
                  <a:tcPr marL="7271" marR="7271" marT="7271" marB="7271"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002060"/>
                          </a:solidFill>
                          <a:latin typeface="Open Sans"/>
                          <a:ea typeface="Open Sans"/>
                          <a:cs typeface="Open Sans"/>
                          <a:sym typeface="Open Sans"/>
                        </a:rPr>
                        <a:t>₹56K</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gradFill flip="none" rotWithShape="1">
                      <a:gsLst>
                        <a:gs pos="0">
                          <a:srgbClr val="D7F3AA"/>
                        </a:gs>
                        <a:gs pos="50000">
                          <a:srgbClr val="E5F7CA"/>
                        </a:gs>
                        <a:gs pos="100000">
                          <a:srgbClr val="F2FAE4"/>
                        </a:gs>
                      </a:gsLst>
                      <a:lin ang="0" scaled="0"/>
                    </a:gradFill>
                  </a:tcPr>
                </a:tc>
                <a:tc>
                  <a:txBody>
                    <a:bodyPr/>
                    <a:lstStyle/>
                    <a:p>
                      <a:pPr algn="ctr">
                        <a:defRPr sz="1800"/>
                      </a:pPr>
                      <a:r>
                        <a:rPr sz="700">
                          <a:solidFill>
                            <a:srgbClr val="002060"/>
                          </a:solidFill>
                          <a:latin typeface="Open Sans"/>
                          <a:ea typeface="Open Sans"/>
                          <a:cs typeface="Open Sans"/>
                          <a:sym typeface="Open Sans"/>
                        </a:rPr>
                        <a:t>₹81K</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gradFill flip="none" rotWithShape="1">
                      <a:gsLst>
                        <a:gs pos="0">
                          <a:srgbClr val="A0E4AE"/>
                        </a:gs>
                        <a:gs pos="50000">
                          <a:srgbClr val="C4ECCC"/>
                        </a:gs>
                        <a:gs pos="100000">
                          <a:srgbClr val="E2F5E6"/>
                        </a:gs>
                      </a:gsLst>
                      <a:lin ang="0" scaled="0"/>
                    </a:gradFill>
                  </a:tcPr>
                </a:tc>
                <a:tc>
                  <a:txBody>
                    <a:bodyPr/>
                    <a:lstStyle/>
                    <a:p>
                      <a:pPr algn="ctr">
                        <a:defRPr sz="1800"/>
                      </a:pPr>
                      <a:r>
                        <a:rPr sz="700">
                          <a:solidFill>
                            <a:srgbClr val="002060"/>
                          </a:solidFill>
                          <a:latin typeface="Open Sans"/>
                          <a:ea typeface="Open Sans"/>
                          <a:cs typeface="Open Sans"/>
                          <a:sym typeface="Open Sans"/>
                        </a:rPr>
                        <a:t>₹7K</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gradFill flip="none" rotWithShape="1">
                      <a:gsLst>
                        <a:gs pos="0">
                          <a:srgbClr val="FFADAD"/>
                        </a:gs>
                        <a:gs pos="50000">
                          <a:srgbClr val="FFCCCC"/>
                        </a:gs>
                        <a:gs pos="100000">
                          <a:srgbClr val="FFE6E6"/>
                        </a:gs>
                      </a:gsLst>
                      <a:lin ang="0" scaled="0"/>
                    </a:gradFill>
                  </a:tcPr>
                </a:tc>
                <a:tc>
                  <a:txBody>
                    <a:bodyPr/>
                    <a:lstStyle/>
                    <a:p>
                      <a:pPr algn="ctr">
                        <a:defRPr sz="1800"/>
                      </a:pPr>
                      <a:r>
                        <a:rPr sz="700">
                          <a:solidFill>
                            <a:srgbClr val="002060"/>
                          </a:solidFill>
                          <a:latin typeface="Open Sans"/>
                          <a:ea typeface="Open Sans"/>
                          <a:cs typeface="Open Sans"/>
                          <a:sym typeface="Open Sans"/>
                        </a:rPr>
                        <a:t>₹5K</a:t>
                      </a:r>
                    </a:p>
                  </a:txBody>
                  <a:tcPr marL="7620" marR="7620" marT="7620" marB="7620" anchor="ctr" anchorCtr="0" horzOverflow="overflow">
                    <a:lnL w="3175">
                      <a:solidFill>
                        <a:srgbClr val="002060"/>
                      </a:solidFill>
                      <a:prstDash val="lgDash"/>
                    </a:lnL>
                    <a:lnR w="12700">
                      <a:miter lim="400000"/>
                    </a:lnR>
                    <a:lnT w="3175">
                      <a:solidFill>
                        <a:srgbClr val="002060"/>
                      </a:solidFill>
                      <a:prstDash val="lgDash"/>
                    </a:lnT>
                    <a:lnB w="3175">
                      <a:solidFill>
                        <a:srgbClr val="002060"/>
                      </a:solidFill>
                      <a:prstDash val="lgDash"/>
                    </a:lnB>
                    <a:gradFill flip="none" rotWithShape="1">
                      <a:gsLst>
                        <a:gs pos="0">
                          <a:srgbClr val="FFAAAB"/>
                        </a:gs>
                        <a:gs pos="50000">
                          <a:srgbClr val="FFCACA"/>
                        </a:gs>
                        <a:gs pos="100000">
                          <a:srgbClr val="FFE5E5"/>
                        </a:gs>
                      </a:gsLst>
                      <a:lin ang="0" scaled="0"/>
                    </a:gradFill>
                  </a:tcPr>
                </a:tc>
              </a:tr>
              <a:tr h="160398">
                <a:tc vMerge="1">
                  <a:tcPr/>
                </a:tc>
                <a:tc>
                  <a:txBody>
                    <a:bodyPr/>
                    <a:lstStyle/>
                    <a:p>
                      <a:pPr algn="ctr">
                        <a:defRPr sz="1800"/>
                      </a:pPr>
                      <a:r>
                        <a:rPr sz="700">
                          <a:solidFill>
                            <a:srgbClr val="002060"/>
                          </a:solidFill>
                          <a:latin typeface="Open Sans"/>
                          <a:ea typeface="Open Sans"/>
                          <a:cs typeface="Open Sans"/>
                          <a:sym typeface="Open Sans"/>
                        </a:rPr>
                        <a:t>Travel</a:t>
                      </a:r>
                    </a:p>
                  </a:txBody>
                  <a:tcPr marL="7271" marR="7271" marT="7271" marB="7271"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002060"/>
                          </a:solidFill>
                          <a:latin typeface="Open Sans"/>
                          <a:ea typeface="Open Sans"/>
                          <a:cs typeface="Open Sans"/>
                          <a:sym typeface="Open Sans"/>
                        </a:rPr>
                        <a:t>23.35%</a:t>
                      </a:r>
                    </a:p>
                  </a:txBody>
                  <a:tcPr marL="7271" marR="7271" marT="7271" marB="7271"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gradFill flip="none" rotWithShape="1">
                      <a:gsLst>
                        <a:gs pos="0">
                          <a:srgbClr val="A0E4AE"/>
                        </a:gs>
                        <a:gs pos="50000">
                          <a:srgbClr val="C4ECCC"/>
                        </a:gs>
                        <a:gs pos="100000">
                          <a:srgbClr val="E2F5E6"/>
                        </a:gs>
                      </a:gsLst>
                      <a:lin ang="0" scaled="0"/>
                    </a:gradFill>
                  </a:tcPr>
                </a:tc>
                <a:tc>
                  <a:txBody>
                    <a:bodyPr/>
                    <a:lstStyle/>
                    <a:p>
                      <a:pPr algn="ctr">
                        <a:defRPr sz="1800"/>
                      </a:pPr>
                      <a:r>
                        <a:rPr sz="700">
                          <a:solidFill>
                            <a:srgbClr val="002060"/>
                          </a:solidFill>
                          <a:latin typeface="Open Sans"/>
                          <a:ea typeface="Open Sans"/>
                          <a:cs typeface="Open Sans"/>
                          <a:sym typeface="Open Sans"/>
                        </a:rPr>
                        <a:t>14.24%</a:t>
                      </a:r>
                    </a:p>
                  </a:txBody>
                  <a:tcPr marL="7271" marR="7271" marT="7271" marB="7271"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gradFill flip="none" rotWithShape="1">
                      <a:gsLst>
                        <a:gs pos="0">
                          <a:srgbClr val="DAF4AA"/>
                        </a:gs>
                        <a:gs pos="50000">
                          <a:srgbClr val="E6F7CA"/>
                        </a:gs>
                        <a:gs pos="100000">
                          <a:srgbClr val="F2FBE5"/>
                        </a:gs>
                      </a:gsLst>
                      <a:lin ang="0" scaled="0"/>
                    </a:gradFill>
                  </a:tcPr>
                </a:tc>
                <a:tc>
                  <a:txBody>
                    <a:bodyPr/>
                    <a:lstStyle/>
                    <a:p>
                      <a:pPr algn="ctr">
                        <a:defRPr sz="1800"/>
                      </a:pPr>
                      <a:r>
                        <a:rPr sz="700">
                          <a:solidFill>
                            <a:srgbClr val="002060"/>
                          </a:solidFill>
                          <a:latin typeface="Open Sans"/>
                          <a:ea typeface="Open Sans"/>
                          <a:cs typeface="Open Sans"/>
                          <a:sym typeface="Open Sans"/>
                        </a:rPr>
                        <a:t>0.27%</a:t>
                      </a:r>
                    </a:p>
                  </a:txBody>
                  <a:tcPr marL="7271" marR="7271" marT="7271" marB="7271"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gradFill flip="none" rotWithShape="1">
                      <a:gsLst>
                        <a:gs pos="0">
                          <a:srgbClr val="FFADAD"/>
                        </a:gs>
                        <a:gs pos="50000">
                          <a:srgbClr val="FFCCCC"/>
                        </a:gs>
                        <a:gs pos="100000">
                          <a:srgbClr val="FFE6E6"/>
                        </a:gs>
                      </a:gsLst>
                      <a:lin ang="0" scaled="0"/>
                    </a:gradFill>
                  </a:tcPr>
                </a:tc>
                <a:tc>
                  <a:txBody>
                    <a:bodyPr/>
                    <a:lstStyle/>
                    <a:p>
                      <a:pPr algn="ctr">
                        <a:defRPr sz="1800"/>
                      </a:pPr>
                      <a:r>
                        <a:rPr sz="700">
                          <a:solidFill>
                            <a:srgbClr val="002060"/>
                          </a:solidFill>
                          <a:latin typeface="Open Sans"/>
                          <a:ea typeface="Open Sans"/>
                          <a:cs typeface="Open Sans"/>
                          <a:sym typeface="Open Sans"/>
                        </a:rPr>
                        <a:t>0.50%</a:t>
                      </a:r>
                    </a:p>
                  </a:txBody>
                  <a:tcPr marL="7271" marR="7271" marT="7271" marB="7271" anchor="ctr" anchorCtr="0" horzOverflow="overflow">
                    <a:lnL w="3175">
                      <a:solidFill>
                        <a:srgbClr val="002060"/>
                      </a:solidFill>
                      <a:prstDash val="lgDash"/>
                    </a:lnL>
                    <a:lnR w="12700">
                      <a:miter lim="400000"/>
                    </a:lnR>
                    <a:lnT w="3175">
                      <a:solidFill>
                        <a:srgbClr val="002060"/>
                      </a:solidFill>
                      <a:prstDash val="lgDash"/>
                    </a:lnT>
                    <a:lnB w="3175">
                      <a:solidFill>
                        <a:srgbClr val="002060"/>
                      </a:solidFill>
                      <a:prstDash val="lgDash"/>
                    </a:lnB>
                    <a:gradFill flip="none" rotWithShape="1">
                      <a:gsLst>
                        <a:gs pos="0">
                          <a:srgbClr val="FFABAB"/>
                        </a:gs>
                        <a:gs pos="50000">
                          <a:srgbClr val="FFCBCA"/>
                        </a:gs>
                        <a:gs pos="100000">
                          <a:srgbClr val="FFE5E5"/>
                        </a:gs>
                      </a:gsLst>
                      <a:lin ang="0" scaled="0"/>
                    </a:gradFill>
                  </a:tcPr>
                </a:tc>
              </a:tr>
              <a:tr h="160398">
                <a:tc vMerge="1">
                  <a:tcPr/>
                </a:tc>
                <a:tc>
                  <a:txBody>
                    <a:bodyPr/>
                    <a:lstStyle/>
                    <a:p>
                      <a:pPr algn="ctr">
                        <a:defRPr sz="1800"/>
                      </a:pPr>
                      <a:r>
                        <a:rPr sz="700">
                          <a:solidFill>
                            <a:srgbClr val="002060"/>
                          </a:solidFill>
                          <a:latin typeface="Open Sans"/>
                          <a:ea typeface="Open Sans"/>
                          <a:cs typeface="Open Sans"/>
                          <a:sym typeface="Open Sans"/>
                        </a:rPr>
                        <a:t>Movie</a:t>
                      </a:r>
                    </a:p>
                  </a:txBody>
                  <a:tcPr marL="7271" marR="7271" marT="7271" marB="7271"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002060"/>
                          </a:solidFill>
                          <a:latin typeface="Open Sans"/>
                          <a:ea typeface="Open Sans"/>
                          <a:cs typeface="Open Sans"/>
                          <a:sym typeface="Open Sans"/>
                        </a:rPr>
                        <a:t>23.90%</a:t>
                      </a:r>
                    </a:p>
                  </a:txBody>
                  <a:tcPr marL="7271" marR="7271" marT="7271" marB="7271"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gradFill flip="none" rotWithShape="1">
                      <a:gsLst>
                        <a:gs pos="0">
                          <a:srgbClr val="D7F3AA"/>
                        </a:gs>
                        <a:gs pos="50000">
                          <a:srgbClr val="E5F7CA"/>
                        </a:gs>
                        <a:gs pos="100000">
                          <a:srgbClr val="F2FAE4"/>
                        </a:gs>
                      </a:gsLst>
                      <a:lin ang="0" scaled="0"/>
                    </a:gradFill>
                  </a:tcPr>
                </a:tc>
                <a:tc>
                  <a:txBody>
                    <a:bodyPr/>
                    <a:lstStyle/>
                    <a:p>
                      <a:pPr algn="ctr">
                        <a:defRPr sz="1800"/>
                      </a:pPr>
                      <a:r>
                        <a:rPr sz="700">
                          <a:solidFill>
                            <a:srgbClr val="002060"/>
                          </a:solidFill>
                          <a:latin typeface="Open Sans"/>
                          <a:ea typeface="Open Sans"/>
                          <a:cs typeface="Open Sans"/>
                          <a:sym typeface="Open Sans"/>
                        </a:rPr>
                        <a:t>38.09%</a:t>
                      </a:r>
                    </a:p>
                  </a:txBody>
                  <a:tcPr marL="7271" marR="7271" marT="7271" marB="7271"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gradFill flip="none" rotWithShape="1">
                      <a:gsLst>
                        <a:gs pos="0">
                          <a:srgbClr val="A0E4AE"/>
                        </a:gs>
                        <a:gs pos="50000">
                          <a:srgbClr val="C4ECCC"/>
                        </a:gs>
                        <a:gs pos="100000">
                          <a:srgbClr val="E2F5E6"/>
                        </a:gs>
                      </a:gsLst>
                      <a:lin ang="0" scaled="0"/>
                    </a:gradFill>
                  </a:tcPr>
                </a:tc>
                <a:tc>
                  <a:txBody>
                    <a:bodyPr/>
                    <a:lstStyle/>
                    <a:p>
                      <a:pPr algn="ctr">
                        <a:defRPr sz="1800"/>
                      </a:pPr>
                      <a:r>
                        <a:rPr sz="700">
                          <a:solidFill>
                            <a:srgbClr val="002060"/>
                          </a:solidFill>
                          <a:latin typeface="Open Sans"/>
                          <a:ea typeface="Open Sans"/>
                          <a:cs typeface="Open Sans"/>
                          <a:sym typeface="Open Sans"/>
                        </a:rPr>
                        <a:t>0.24%</a:t>
                      </a:r>
                    </a:p>
                  </a:txBody>
                  <a:tcPr marL="7271" marR="7271" marT="7271" marB="7271"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gradFill flip="none" rotWithShape="1">
                      <a:gsLst>
                        <a:gs pos="0">
                          <a:srgbClr val="FFADAD"/>
                        </a:gs>
                        <a:gs pos="50000">
                          <a:srgbClr val="FFCCCC"/>
                        </a:gs>
                        <a:gs pos="100000">
                          <a:srgbClr val="FFE6E6"/>
                        </a:gs>
                      </a:gsLst>
                      <a:lin ang="0" scaled="0"/>
                    </a:gradFill>
                  </a:tcPr>
                </a:tc>
                <a:tc>
                  <a:txBody>
                    <a:bodyPr/>
                    <a:lstStyle/>
                    <a:p>
                      <a:pPr algn="ctr">
                        <a:defRPr sz="1800"/>
                      </a:pPr>
                      <a:r>
                        <a:rPr sz="700">
                          <a:solidFill>
                            <a:srgbClr val="002060"/>
                          </a:solidFill>
                          <a:latin typeface="Open Sans"/>
                          <a:ea typeface="Open Sans"/>
                          <a:cs typeface="Open Sans"/>
                          <a:sym typeface="Open Sans"/>
                        </a:rPr>
                        <a:t>0.38%</a:t>
                      </a:r>
                    </a:p>
                  </a:txBody>
                  <a:tcPr marL="7271" marR="7271" marT="7271" marB="7271" anchor="ctr" anchorCtr="0" horzOverflow="overflow">
                    <a:lnL w="3175">
                      <a:solidFill>
                        <a:srgbClr val="002060"/>
                      </a:solidFill>
                      <a:prstDash val="lgDash"/>
                    </a:lnL>
                    <a:lnR w="12700">
                      <a:miter lim="400000"/>
                    </a:lnR>
                    <a:lnT w="3175">
                      <a:solidFill>
                        <a:srgbClr val="002060"/>
                      </a:solidFill>
                      <a:prstDash val="lgDash"/>
                    </a:lnT>
                    <a:lnB w="3175">
                      <a:solidFill>
                        <a:srgbClr val="002060"/>
                      </a:solidFill>
                      <a:prstDash val="lgDash"/>
                    </a:lnB>
                    <a:gradFill flip="none" rotWithShape="1">
                      <a:gsLst>
                        <a:gs pos="0">
                          <a:srgbClr val="FFAAAB"/>
                        </a:gs>
                        <a:gs pos="50000">
                          <a:srgbClr val="FFCACA"/>
                        </a:gs>
                        <a:gs pos="100000">
                          <a:srgbClr val="FFE5E5"/>
                        </a:gs>
                      </a:gsLst>
                      <a:lin ang="0" scaled="0"/>
                    </a:gradFill>
                  </a:tcPr>
                </a:tc>
              </a:tr>
              <a:tr h="160398">
                <a:tc vMerge="1">
                  <a:tcPr/>
                </a:tc>
                <a:tc>
                  <a:txBody>
                    <a:bodyPr/>
                    <a:lstStyle/>
                    <a:p>
                      <a:pPr algn="ctr">
                        <a:defRPr sz="1800"/>
                      </a:pPr>
                      <a:r>
                        <a:rPr sz="700">
                          <a:solidFill>
                            <a:srgbClr val="002060"/>
                          </a:solidFill>
                          <a:latin typeface="Open Sans"/>
                          <a:ea typeface="Open Sans"/>
                          <a:cs typeface="Open Sans"/>
                          <a:sym typeface="Open Sans"/>
                        </a:rPr>
                        <a:t>Utility</a:t>
                      </a:r>
                    </a:p>
                  </a:txBody>
                  <a:tcPr marL="7271" marR="7271" marT="7271" marB="7271"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002060"/>
                          </a:solidFill>
                          <a:latin typeface="Open Sans"/>
                          <a:ea typeface="Open Sans"/>
                          <a:cs typeface="Open Sans"/>
                          <a:sym typeface="Open Sans"/>
                        </a:rPr>
                        <a:t>56.73%</a:t>
                      </a:r>
                    </a:p>
                  </a:txBody>
                  <a:tcPr marL="7271" marR="7271" marT="7271" marB="7271"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gradFill flip="none" rotWithShape="1">
                      <a:gsLst>
                        <a:gs pos="0">
                          <a:srgbClr val="A0E4AE"/>
                        </a:gs>
                        <a:gs pos="50000">
                          <a:srgbClr val="C4ECCC"/>
                        </a:gs>
                        <a:gs pos="100000">
                          <a:srgbClr val="E2F5E6"/>
                        </a:gs>
                      </a:gsLst>
                      <a:lin ang="0" scaled="0"/>
                    </a:gradFill>
                  </a:tcPr>
                </a:tc>
                <a:tc>
                  <a:txBody>
                    <a:bodyPr/>
                    <a:lstStyle/>
                    <a:p>
                      <a:pPr algn="ctr">
                        <a:defRPr sz="1800"/>
                      </a:pPr>
                      <a:r>
                        <a:rPr sz="700">
                          <a:solidFill>
                            <a:srgbClr val="002060"/>
                          </a:solidFill>
                          <a:latin typeface="Open Sans"/>
                          <a:ea typeface="Open Sans"/>
                          <a:cs typeface="Open Sans"/>
                          <a:sym typeface="Open Sans"/>
                        </a:rPr>
                        <a:t>8.53%</a:t>
                      </a:r>
                    </a:p>
                  </a:txBody>
                  <a:tcPr marL="7271" marR="7271" marT="7271" marB="7271"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gradFill flip="none" rotWithShape="1">
                      <a:gsLst>
                        <a:gs pos="0">
                          <a:srgbClr val="FFBDAF"/>
                        </a:gs>
                        <a:gs pos="50000">
                          <a:srgbClr val="FFD5CD"/>
                        </a:gs>
                        <a:gs pos="100000">
                          <a:srgbClr val="FFEAE6"/>
                        </a:gs>
                      </a:gsLst>
                      <a:lin ang="0" scaled="0"/>
                    </a:gradFill>
                  </a:tcPr>
                </a:tc>
                <a:tc>
                  <a:txBody>
                    <a:bodyPr/>
                    <a:lstStyle/>
                    <a:p>
                      <a:pPr algn="ctr">
                        <a:defRPr sz="1800"/>
                      </a:pPr>
                      <a:r>
                        <a:rPr sz="700">
                          <a:solidFill>
                            <a:srgbClr val="002060"/>
                          </a:solidFill>
                          <a:latin typeface="Open Sans"/>
                          <a:ea typeface="Open Sans"/>
                          <a:cs typeface="Open Sans"/>
                          <a:sym typeface="Open Sans"/>
                        </a:rPr>
                        <a:t>23.20%</a:t>
                      </a:r>
                    </a:p>
                  </a:txBody>
                  <a:tcPr marL="7271" marR="7271" marT="7271" marB="7271"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gradFill flip="none" rotWithShape="1">
                      <a:gsLst>
                        <a:gs pos="0">
                          <a:srgbClr val="FDFDA9"/>
                        </a:gs>
                        <a:gs pos="50000">
                          <a:srgbClr val="FDFDC9"/>
                        </a:gs>
                        <a:gs pos="100000">
                          <a:srgbClr val="FEFEE4"/>
                        </a:gs>
                      </a:gsLst>
                      <a:lin ang="0" scaled="0"/>
                    </a:gradFill>
                  </a:tcPr>
                </a:tc>
                <a:tc>
                  <a:txBody>
                    <a:bodyPr/>
                    <a:lstStyle/>
                    <a:p>
                      <a:pPr algn="ctr">
                        <a:defRPr sz="1800"/>
                      </a:pPr>
                      <a:r>
                        <a:rPr sz="700">
                          <a:solidFill>
                            <a:srgbClr val="002060"/>
                          </a:solidFill>
                          <a:latin typeface="Open Sans"/>
                          <a:ea typeface="Open Sans"/>
                          <a:cs typeface="Open Sans"/>
                          <a:sym typeface="Open Sans"/>
                        </a:rPr>
                        <a:t>5.36%</a:t>
                      </a:r>
                    </a:p>
                  </a:txBody>
                  <a:tcPr marL="7271" marR="7271" marT="7271" marB="7271" anchor="ctr" anchorCtr="0" horzOverflow="overflow">
                    <a:lnL w="3175">
                      <a:solidFill>
                        <a:srgbClr val="002060"/>
                      </a:solidFill>
                      <a:prstDash val="lgDash"/>
                    </a:lnL>
                    <a:lnR w="12700">
                      <a:miter lim="400000"/>
                    </a:lnR>
                    <a:lnT w="3175">
                      <a:solidFill>
                        <a:srgbClr val="002060"/>
                      </a:solidFill>
                      <a:prstDash val="lgDash"/>
                    </a:lnT>
                    <a:lnB w="3175">
                      <a:solidFill>
                        <a:srgbClr val="002060"/>
                      </a:solidFill>
                      <a:prstDash val="lgDash"/>
                    </a:lnB>
                    <a:gradFill flip="none" rotWithShape="1">
                      <a:gsLst>
                        <a:gs pos="0">
                          <a:srgbClr val="FFAAAB"/>
                        </a:gs>
                        <a:gs pos="50000">
                          <a:srgbClr val="FFCACA"/>
                        </a:gs>
                        <a:gs pos="100000">
                          <a:srgbClr val="FFE5E5"/>
                        </a:gs>
                      </a:gsLst>
                      <a:lin ang="0" scaled="0"/>
                    </a:gradFill>
                  </a:tcPr>
                </a:tc>
              </a:tr>
              <a:tr h="160398">
                <a:tc vMerge="1">
                  <a:tcPr/>
                </a:tc>
                <a:tc>
                  <a:txBody>
                    <a:bodyPr/>
                    <a:lstStyle/>
                    <a:p>
                      <a:pPr algn="ctr">
                        <a:defRPr sz="1800"/>
                      </a:pPr>
                      <a:r>
                        <a:rPr sz="700">
                          <a:solidFill>
                            <a:srgbClr val="002060"/>
                          </a:solidFill>
                          <a:latin typeface="Open Sans"/>
                          <a:ea typeface="Open Sans"/>
                          <a:cs typeface="Open Sans"/>
                          <a:sym typeface="Open Sans"/>
                        </a:rPr>
                        <a:t>Rent Payment</a:t>
                      </a:r>
                    </a:p>
                  </a:txBody>
                  <a:tcPr marL="7271" marR="7271" marT="7271" marB="7271"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002060"/>
                          </a:solidFill>
                          <a:latin typeface="Open Sans"/>
                          <a:ea typeface="Open Sans"/>
                          <a:cs typeface="Open Sans"/>
                          <a:sym typeface="Open Sans"/>
                        </a:rPr>
                        <a:t>12.81%</a:t>
                      </a:r>
                    </a:p>
                  </a:txBody>
                  <a:tcPr marL="7271" marR="7271" marT="7271" marB="7271"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gradFill flip="none" rotWithShape="1">
                      <a:gsLst>
                        <a:gs pos="0">
                          <a:srgbClr val="BDF395"/>
                        </a:gs>
                        <a:gs pos="50000">
                          <a:srgbClr val="D5F6BE"/>
                        </a:gs>
                        <a:gs pos="100000">
                          <a:srgbClr val="EAFADF"/>
                        </a:gs>
                      </a:gsLst>
                      <a:lin ang="0" scaled="0"/>
                    </a:gradFill>
                  </a:tcPr>
                </a:tc>
                <a:tc>
                  <a:txBody>
                    <a:bodyPr/>
                    <a:lstStyle/>
                    <a:p>
                      <a:pPr algn="ctr">
                        <a:defRPr sz="1800"/>
                      </a:pPr>
                      <a:r>
                        <a:rPr sz="700">
                          <a:solidFill>
                            <a:srgbClr val="002060"/>
                          </a:solidFill>
                          <a:latin typeface="Open Sans"/>
                          <a:ea typeface="Open Sans"/>
                          <a:cs typeface="Open Sans"/>
                          <a:sym typeface="Open Sans"/>
                        </a:rPr>
                        <a:t>31.92%</a:t>
                      </a:r>
                    </a:p>
                  </a:txBody>
                  <a:tcPr marL="7271" marR="7271" marT="7271" marB="7271"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gradFill flip="none" rotWithShape="1">
                      <a:gsLst>
                        <a:gs pos="0">
                          <a:srgbClr val="A0E4AE"/>
                        </a:gs>
                        <a:gs pos="50000">
                          <a:srgbClr val="C4ECCC"/>
                        </a:gs>
                        <a:gs pos="100000">
                          <a:srgbClr val="E2F5E6"/>
                        </a:gs>
                      </a:gsLst>
                      <a:lin ang="0" scaled="0"/>
                    </a:gradFill>
                  </a:tcPr>
                </a:tc>
                <a:tc>
                  <a:txBody>
                    <a:bodyPr/>
                    <a:lstStyle/>
                    <a:p>
                      <a:pPr algn="ctr">
                        <a:defRPr sz="1800"/>
                      </a:pPr>
                      <a:r>
                        <a:rPr sz="700">
                          <a:solidFill>
                            <a:srgbClr val="002060"/>
                          </a:solidFill>
                          <a:latin typeface="Open Sans"/>
                          <a:ea typeface="Open Sans"/>
                          <a:cs typeface="Open Sans"/>
                          <a:sym typeface="Open Sans"/>
                        </a:rPr>
                        <a:t>1.28%</a:t>
                      </a:r>
                    </a:p>
                  </a:txBody>
                  <a:tcPr marL="7271" marR="7271" marT="7271" marB="7271"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gradFill flip="none" rotWithShape="1">
                      <a:gsLst>
                        <a:gs pos="0">
                          <a:srgbClr val="FFADAD"/>
                        </a:gs>
                        <a:gs pos="50000">
                          <a:srgbClr val="FFCCCC"/>
                        </a:gs>
                        <a:gs pos="100000">
                          <a:srgbClr val="FFE6E6"/>
                        </a:gs>
                      </a:gsLst>
                      <a:lin ang="0" scaled="0"/>
                    </a:gradFill>
                  </a:tcPr>
                </a:tc>
                <a:tc>
                  <a:txBody>
                    <a:bodyPr/>
                    <a:lstStyle/>
                    <a:p>
                      <a:pPr algn="ctr">
                        <a:defRPr sz="1800"/>
                      </a:pPr>
                      <a:r>
                        <a:rPr sz="700">
                          <a:solidFill>
                            <a:srgbClr val="002060"/>
                          </a:solidFill>
                          <a:latin typeface="Open Sans"/>
                          <a:ea typeface="Open Sans"/>
                          <a:cs typeface="Open Sans"/>
                          <a:sym typeface="Open Sans"/>
                        </a:rPr>
                        <a:t>0.64%</a:t>
                      </a:r>
                    </a:p>
                  </a:txBody>
                  <a:tcPr marL="7271" marR="7271" marT="7271" marB="7271" anchor="ctr" anchorCtr="0" horzOverflow="overflow">
                    <a:lnL w="3175">
                      <a:solidFill>
                        <a:srgbClr val="002060"/>
                      </a:solidFill>
                      <a:prstDash val="lgDash"/>
                    </a:lnL>
                    <a:lnR w="12700">
                      <a:miter lim="400000"/>
                    </a:lnR>
                    <a:lnT w="3175">
                      <a:solidFill>
                        <a:srgbClr val="002060"/>
                      </a:solidFill>
                      <a:prstDash val="lgDash"/>
                    </a:lnT>
                    <a:lnB w="3175">
                      <a:solidFill>
                        <a:srgbClr val="002060"/>
                      </a:solidFill>
                      <a:prstDash val="lgDash"/>
                    </a:lnB>
                    <a:gradFill flip="none" rotWithShape="1">
                      <a:gsLst>
                        <a:gs pos="0">
                          <a:srgbClr val="FFADAD"/>
                        </a:gs>
                        <a:gs pos="50000">
                          <a:srgbClr val="FFCCCC"/>
                        </a:gs>
                        <a:gs pos="100000">
                          <a:srgbClr val="FFE6E6"/>
                        </a:gs>
                      </a:gsLst>
                      <a:lin ang="0" scaled="0"/>
                    </a:gradFill>
                  </a:tcPr>
                </a:tc>
              </a:tr>
              <a:tr h="160398">
                <a:tc vMerge="1">
                  <a:tcPr/>
                </a:tc>
                <a:tc>
                  <a:txBody>
                    <a:bodyPr/>
                    <a:lstStyle/>
                    <a:p>
                      <a:pPr algn="ctr">
                        <a:defRPr sz="1800"/>
                      </a:pPr>
                      <a:r>
                        <a:rPr sz="700">
                          <a:solidFill>
                            <a:srgbClr val="002060"/>
                          </a:solidFill>
                          <a:latin typeface="Open Sans"/>
                          <a:ea typeface="Open Sans"/>
                          <a:cs typeface="Open Sans"/>
                          <a:sym typeface="Open Sans"/>
                        </a:rPr>
                        <a:t>CC Add Money</a:t>
                      </a:r>
                    </a:p>
                  </a:txBody>
                  <a:tcPr marL="7271" marR="7271" marT="7271" marB="7271"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12700">
                      <a:miter lim="400000"/>
                    </a:lnB>
                    <a:noFill/>
                  </a:tcPr>
                </a:tc>
                <a:tc>
                  <a:txBody>
                    <a:bodyPr/>
                    <a:lstStyle/>
                    <a:p>
                      <a:pPr algn="ctr">
                        <a:defRPr sz="1800"/>
                      </a:pPr>
                      <a:r>
                        <a:rPr sz="700">
                          <a:solidFill>
                            <a:srgbClr val="002060"/>
                          </a:solidFill>
                          <a:latin typeface="Open Sans"/>
                          <a:ea typeface="Open Sans"/>
                          <a:cs typeface="Open Sans"/>
                          <a:sym typeface="Open Sans"/>
                        </a:rPr>
                        <a:t>23.34%</a:t>
                      </a:r>
                    </a:p>
                  </a:txBody>
                  <a:tcPr marL="7271" marR="7271" marT="7271" marB="7271"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12700">
                      <a:miter lim="400000"/>
                    </a:lnB>
                    <a:gradFill flip="none" rotWithShape="1">
                      <a:gsLst>
                        <a:gs pos="0">
                          <a:srgbClr val="A0E4AE"/>
                        </a:gs>
                        <a:gs pos="50000">
                          <a:srgbClr val="C4ECCC"/>
                        </a:gs>
                        <a:gs pos="100000">
                          <a:srgbClr val="E2F5E6"/>
                        </a:gs>
                      </a:gsLst>
                      <a:lin ang="0" scaled="0"/>
                    </a:gradFill>
                  </a:tcPr>
                </a:tc>
                <a:tc>
                  <a:txBody>
                    <a:bodyPr/>
                    <a:lstStyle/>
                    <a:p>
                      <a:pPr algn="ctr">
                        <a:defRPr sz="1800"/>
                      </a:pPr>
                      <a:r>
                        <a:rPr sz="700">
                          <a:solidFill>
                            <a:srgbClr val="002060"/>
                          </a:solidFill>
                          <a:latin typeface="Open Sans"/>
                          <a:ea typeface="Open Sans"/>
                          <a:cs typeface="Open Sans"/>
                          <a:sym typeface="Open Sans"/>
                        </a:rPr>
                        <a:t>18.99%</a:t>
                      </a:r>
                    </a:p>
                  </a:txBody>
                  <a:tcPr marL="7271" marR="7271" marT="7271" marB="7271"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12700">
                      <a:miter lim="400000"/>
                    </a:lnB>
                    <a:gradFill flip="none" rotWithShape="1">
                      <a:gsLst>
                        <a:gs pos="0">
                          <a:srgbClr val="BBECAA"/>
                        </a:gs>
                        <a:gs pos="50000">
                          <a:srgbClr val="D4F2CA"/>
                        </a:gs>
                        <a:gs pos="100000">
                          <a:srgbClr val="E9F8E5"/>
                        </a:gs>
                      </a:gsLst>
                      <a:lin ang="0" scaled="0"/>
                    </a:gradFill>
                  </a:tcPr>
                </a:tc>
                <a:tc>
                  <a:txBody>
                    <a:bodyPr/>
                    <a:lstStyle/>
                    <a:p>
                      <a:pPr algn="ctr">
                        <a:defRPr sz="1800"/>
                      </a:pPr>
                      <a:r>
                        <a:rPr sz="700">
                          <a:solidFill>
                            <a:srgbClr val="002060"/>
                          </a:solidFill>
                          <a:latin typeface="Open Sans"/>
                          <a:ea typeface="Open Sans"/>
                          <a:cs typeface="Open Sans"/>
                          <a:sym typeface="Open Sans"/>
                        </a:rPr>
                        <a:t>0.26%</a:t>
                      </a:r>
                    </a:p>
                  </a:txBody>
                  <a:tcPr marL="7271" marR="7271" marT="7271" marB="7271"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12700">
                      <a:miter lim="400000"/>
                    </a:lnB>
                    <a:gradFill flip="none" rotWithShape="1">
                      <a:gsLst>
                        <a:gs pos="0">
                          <a:srgbClr val="FFADAD"/>
                        </a:gs>
                        <a:gs pos="50000">
                          <a:srgbClr val="FFCCCC"/>
                        </a:gs>
                        <a:gs pos="100000">
                          <a:srgbClr val="FFE6E6"/>
                        </a:gs>
                      </a:gsLst>
                      <a:lin ang="0" scaled="0"/>
                    </a:gradFill>
                  </a:tcPr>
                </a:tc>
                <a:tc>
                  <a:txBody>
                    <a:bodyPr/>
                    <a:lstStyle/>
                    <a:p>
                      <a:pPr algn="ctr">
                        <a:defRPr sz="1800"/>
                      </a:pPr>
                      <a:r>
                        <a:rPr sz="700">
                          <a:solidFill>
                            <a:srgbClr val="002060"/>
                          </a:solidFill>
                          <a:latin typeface="Open Sans"/>
                          <a:ea typeface="Open Sans"/>
                          <a:cs typeface="Open Sans"/>
                          <a:sym typeface="Open Sans"/>
                        </a:rPr>
                        <a:t>0.38%</a:t>
                      </a:r>
                    </a:p>
                  </a:txBody>
                  <a:tcPr marL="7271" marR="7271" marT="7271" marB="7271" anchor="ctr" anchorCtr="0" horzOverflow="overflow">
                    <a:lnL w="3175">
                      <a:solidFill>
                        <a:srgbClr val="002060"/>
                      </a:solidFill>
                      <a:prstDash val="lgDash"/>
                    </a:lnL>
                    <a:lnR w="12700">
                      <a:miter lim="400000"/>
                    </a:lnR>
                    <a:lnT w="3175">
                      <a:solidFill>
                        <a:srgbClr val="002060"/>
                      </a:solidFill>
                      <a:prstDash val="lgDash"/>
                    </a:lnT>
                    <a:lnB w="12700">
                      <a:miter lim="400000"/>
                    </a:lnB>
                    <a:gradFill flip="none" rotWithShape="1">
                      <a:gsLst>
                        <a:gs pos="0">
                          <a:srgbClr val="FFADAD"/>
                        </a:gs>
                        <a:gs pos="50000">
                          <a:srgbClr val="FFCCCC"/>
                        </a:gs>
                        <a:gs pos="100000">
                          <a:srgbClr val="FFE6E6"/>
                        </a:gs>
                      </a:gsLst>
                      <a:lin ang="0" scaled="0"/>
                    </a:gradFill>
                  </a:tcPr>
                </a:tc>
              </a:tr>
            </a:tbl>
          </a:graphicData>
        </a:graphic>
      </p:graphicFrame>
      <p:sp>
        <p:nvSpPr>
          <p:cNvPr id="545" name="TextBox 22"/>
          <p:cNvSpPr txBox="1"/>
          <p:nvPr/>
        </p:nvSpPr>
        <p:spPr>
          <a:xfrm>
            <a:off x="6558945" y="3876880"/>
            <a:ext cx="358266" cy="218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800">
                <a:solidFill>
                  <a:srgbClr val="FFFFFF"/>
                </a:solidFill>
                <a:latin typeface="Open Sans"/>
                <a:ea typeface="Open Sans"/>
                <a:cs typeface="Open Sans"/>
                <a:sym typeface="Open Sans"/>
              </a:defRPr>
            </a:lvl1pPr>
          </a:lstStyle>
          <a:p>
            <a:pPr/>
            <a:r>
              <a:t>Low</a:t>
            </a:r>
          </a:p>
        </p:txBody>
      </p:sp>
      <p:sp>
        <p:nvSpPr>
          <p:cNvPr id="546" name="TextBox 23"/>
          <p:cNvSpPr txBox="1"/>
          <p:nvPr/>
        </p:nvSpPr>
        <p:spPr>
          <a:xfrm>
            <a:off x="8301199" y="3874561"/>
            <a:ext cx="358266" cy="218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800">
                <a:solidFill>
                  <a:srgbClr val="FFFFFF"/>
                </a:solidFill>
                <a:latin typeface="Open Sans"/>
                <a:ea typeface="Open Sans"/>
                <a:cs typeface="Open Sans"/>
                <a:sym typeface="Open Sans"/>
              </a:defRPr>
            </a:lvl1pPr>
          </a:lstStyle>
          <a:p>
            <a:pPr/>
            <a:r>
              <a:t>High</a:t>
            </a:r>
          </a:p>
        </p:txBody>
      </p:sp>
      <p:grpSp>
        <p:nvGrpSpPr>
          <p:cNvPr id="549" name="Oval Callout 8"/>
          <p:cNvGrpSpPr/>
          <p:nvPr/>
        </p:nvGrpSpPr>
        <p:grpSpPr>
          <a:xfrm>
            <a:off x="100892" y="3584966"/>
            <a:ext cx="1468214" cy="397319"/>
            <a:chOff x="0" y="0"/>
            <a:chExt cx="1468213" cy="397317"/>
          </a:xfrm>
        </p:grpSpPr>
        <p:sp>
          <p:nvSpPr>
            <p:cNvPr id="547" name="Quote Bubble"/>
            <p:cNvSpPr/>
            <p:nvPr/>
          </p:nvSpPr>
          <p:spPr>
            <a:xfrm>
              <a:off x="0" y="0"/>
              <a:ext cx="1468214" cy="397318"/>
            </a:xfrm>
            <a:prstGeom prst="wedgeEllipseCallout">
              <a:avLst>
                <a:gd name="adj1" fmla="val -20833"/>
                <a:gd name="adj2" fmla="val 62500"/>
              </a:avLst>
            </a:prstGeom>
            <a:noFill/>
            <a:ln w="25400" cap="flat">
              <a:solidFill>
                <a:srgbClr val="487399"/>
              </a:solidFill>
              <a:prstDash val="solid"/>
              <a:round/>
            </a:ln>
            <a:effectLst/>
          </p:spPr>
          <p:txBody>
            <a:bodyPr wrap="square" lIns="45719" tIns="45719" rIns="45719" bIns="45719" numCol="1" anchor="ctr">
              <a:noAutofit/>
            </a:bodyPr>
            <a:lstStyle/>
            <a:p>
              <a:pPr algn="ctr">
                <a:defRPr b="1" sz="1000">
                  <a:solidFill>
                    <a:srgbClr val="002060"/>
                  </a:solidFill>
                  <a:latin typeface="Open Sans"/>
                  <a:ea typeface="Open Sans"/>
                  <a:cs typeface="Open Sans"/>
                  <a:sym typeface="Open Sans"/>
                </a:defRPr>
              </a:pPr>
            </a:p>
          </p:txBody>
        </p:sp>
        <p:sp>
          <p:nvSpPr>
            <p:cNvPr id="548" name="How can I help you?"/>
            <p:cNvSpPr txBox="1"/>
            <p:nvPr/>
          </p:nvSpPr>
          <p:spPr>
            <a:xfrm>
              <a:off x="273434" y="539"/>
              <a:ext cx="921346" cy="3962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1000">
                  <a:solidFill>
                    <a:srgbClr val="002060"/>
                  </a:solidFill>
                  <a:latin typeface="Open Sans"/>
                  <a:ea typeface="Open Sans"/>
                  <a:cs typeface="Open Sans"/>
                  <a:sym typeface="Open Sans"/>
                </a:defRPr>
              </a:lvl1pPr>
            </a:lstStyle>
            <a:p>
              <a:pPr/>
              <a:r>
                <a:t>How can I help you?</a:t>
              </a:r>
            </a:p>
          </p:txBody>
        </p:sp>
      </p:grpSp>
      <p:grpSp>
        <p:nvGrpSpPr>
          <p:cNvPr id="552" name="Group 10"/>
          <p:cNvGrpSpPr/>
          <p:nvPr/>
        </p:nvGrpSpPr>
        <p:grpSpPr>
          <a:xfrm>
            <a:off x="-76086" y="4044546"/>
            <a:ext cx="960614" cy="759316"/>
            <a:chOff x="0" y="0"/>
            <a:chExt cx="960613" cy="759314"/>
          </a:xfrm>
        </p:grpSpPr>
        <p:pic>
          <p:nvPicPr>
            <p:cNvPr id="550" name="Picture 7" descr="Picture 7"/>
            <p:cNvPicPr>
              <a:picLocks noChangeAspect="1"/>
            </p:cNvPicPr>
            <p:nvPr/>
          </p:nvPicPr>
          <p:blipFill>
            <a:blip r:embed="rId2">
              <a:extLst/>
            </a:blip>
            <a:stretch>
              <a:fillRect/>
            </a:stretch>
          </p:blipFill>
          <p:spPr>
            <a:xfrm>
              <a:off x="0" y="0"/>
              <a:ext cx="960614" cy="759315"/>
            </a:xfrm>
            <a:prstGeom prst="rect">
              <a:avLst/>
            </a:prstGeom>
            <a:ln w="12700" cap="flat">
              <a:noFill/>
              <a:miter lim="400000"/>
            </a:ln>
            <a:effectLst/>
          </p:spPr>
        </p:pic>
        <p:pic>
          <p:nvPicPr>
            <p:cNvPr id="551" name="Picture 9" descr="Picture 9"/>
            <p:cNvPicPr>
              <a:picLocks noChangeAspect="1"/>
            </p:cNvPicPr>
            <p:nvPr/>
          </p:nvPicPr>
          <p:blipFill>
            <a:blip r:embed="rId3">
              <a:extLst/>
            </a:blip>
            <a:stretch>
              <a:fillRect/>
            </a:stretch>
          </p:blipFill>
          <p:spPr>
            <a:xfrm>
              <a:off x="270867" y="310815"/>
              <a:ext cx="400961" cy="169034"/>
            </a:xfrm>
            <a:prstGeom prst="rect">
              <a:avLst/>
            </a:prstGeom>
            <a:ln w="12700" cap="flat">
              <a:noFill/>
              <a:miter lim="400000"/>
            </a:ln>
            <a:effectLst/>
          </p:spPr>
        </p:pic>
      </p:grpSp>
      <p:sp>
        <p:nvSpPr>
          <p:cNvPr id="553" name="TextBox 11"/>
          <p:cNvSpPr txBox="1"/>
          <p:nvPr/>
        </p:nvSpPr>
        <p:spPr>
          <a:xfrm>
            <a:off x="1801044" y="2788590"/>
            <a:ext cx="1737361" cy="955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171450" indent="-171450">
              <a:lnSpc>
                <a:spcPct val="150000"/>
              </a:lnSpc>
              <a:buClr>
                <a:srgbClr val="00B0F0"/>
              </a:buClr>
              <a:buSzPct val="100000"/>
              <a:buFont typeface="Helvetica"/>
              <a:buChar char="⁃"/>
              <a:defRPr sz="700">
                <a:solidFill>
                  <a:srgbClr val="002060"/>
                </a:solidFill>
                <a:latin typeface="Open Sans"/>
                <a:ea typeface="Open Sans"/>
                <a:cs typeface="Open Sans"/>
                <a:sym typeface="Open Sans"/>
              </a:defRPr>
            </a:pPr>
            <a:r>
              <a:t>I am a star customer having high engagement and high value</a:t>
            </a:r>
          </a:p>
          <a:p>
            <a:pPr marL="171450" indent="-171450">
              <a:lnSpc>
                <a:spcPct val="150000"/>
              </a:lnSpc>
              <a:buClr>
                <a:srgbClr val="00B0F0"/>
              </a:buClr>
              <a:buSzPct val="100000"/>
              <a:buFont typeface="Helvetica"/>
              <a:buChar char="⁃"/>
              <a:defRPr sz="700">
                <a:solidFill>
                  <a:srgbClr val="002060"/>
                </a:solidFill>
                <a:latin typeface="Open Sans"/>
                <a:ea typeface="Open Sans"/>
                <a:cs typeface="Open Sans"/>
                <a:sym typeface="Open Sans"/>
              </a:defRPr>
            </a:pPr>
            <a:r>
              <a:t>Please provide me</a:t>
            </a:r>
            <a:r>
              <a:rPr b="1" i="1"/>
              <a:t> high tiering in loyalty and rewards framework</a:t>
            </a:r>
            <a:endParaRPr b="1" i="1"/>
          </a:p>
          <a:p>
            <a:pPr marL="171450" indent="-171450">
              <a:lnSpc>
                <a:spcPct val="150000"/>
              </a:lnSpc>
              <a:buClr>
                <a:srgbClr val="00B0F0"/>
              </a:buClr>
              <a:buSzPct val="100000"/>
              <a:buFont typeface="Helvetica"/>
              <a:buChar char="⁃"/>
              <a:defRPr b="1" i="1" sz="700">
                <a:solidFill>
                  <a:srgbClr val="002060"/>
                </a:solidFill>
                <a:latin typeface="Open Sans"/>
                <a:ea typeface="Open Sans"/>
                <a:cs typeface="Open Sans"/>
                <a:sym typeface="Open Sans"/>
              </a:defRPr>
            </a:pPr>
            <a:r>
              <a:t>Can you also engage me in premium credit card offers?</a:t>
            </a:r>
          </a:p>
        </p:txBody>
      </p:sp>
      <p:sp>
        <p:nvSpPr>
          <p:cNvPr id="554" name="TextBox 13"/>
          <p:cNvSpPr txBox="1"/>
          <p:nvPr/>
        </p:nvSpPr>
        <p:spPr>
          <a:xfrm>
            <a:off x="3634792" y="2754198"/>
            <a:ext cx="1737361" cy="1107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171450" indent="-171450">
              <a:lnSpc>
                <a:spcPct val="150000"/>
              </a:lnSpc>
              <a:buClr>
                <a:srgbClr val="00B0F0"/>
              </a:buClr>
              <a:buSzPct val="100000"/>
              <a:buFont typeface="Helvetica"/>
              <a:buChar char="⁃"/>
              <a:defRPr sz="700">
                <a:solidFill>
                  <a:srgbClr val="002060"/>
                </a:solidFill>
                <a:latin typeface="Open Sans"/>
                <a:ea typeface="Open Sans"/>
                <a:cs typeface="Open Sans"/>
                <a:sym typeface="Open Sans"/>
              </a:defRPr>
            </a:pPr>
            <a:r>
              <a:t>I have decreased my spend from the last 3 months as compared to 12 months</a:t>
            </a:r>
          </a:p>
          <a:p>
            <a:pPr marL="171450" indent="-171450">
              <a:lnSpc>
                <a:spcPct val="150000"/>
              </a:lnSpc>
              <a:buClr>
                <a:srgbClr val="00B0F0"/>
              </a:buClr>
              <a:buSzPct val="100000"/>
              <a:buFont typeface="Helvetica"/>
              <a:buChar char="⁃"/>
              <a:defRPr b="1" sz="700">
                <a:solidFill>
                  <a:srgbClr val="002060"/>
                </a:solidFill>
                <a:latin typeface="Open Sans"/>
                <a:ea typeface="Open Sans"/>
                <a:cs typeface="Open Sans"/>
                <a:sym typeface="Open Sans"/>
              </a:defRPr>
            </a:pPr>
            <a:r>
              <a:t>I</a:t>
            </a:r>
            <a:r>
              <a:rPr b="0"/>
              <a:t> </a:t>
            </a:r>
            <a:r>
              <a:rPr i="1"/>
              <a:t>need more credit products </a:t>
            </a:r>
            <a:endParaRPr i="1"/>
          </a:p>
          <a:p>
            <a:pPr marL="171450" indent="-171450">
              <a:lnSpc>
                <a:spcPct val="150000"/>
              </a:lnSpc>
              <a:buClr>
                <a:srgbClr val="00B0F0"/>
              </a:buClr>
              <a:buSzPct val="100000"/>
              <a:buFont typeface="Helvetica"/>
              <a:buChar char="⁃"/>
              <a:defRPr b="1" i="1" sz="700">
                <a:solidFill>
                  <a:srgbClr val="002060"/>
                </a:solidFill>
                <a:latin typeface="Open Sans"/>
                <a:ea typeface="Open Sans"/>
                <a:cs typeface="Open Sans"/>
                <a:sym typeface="Open Sans"/>
              </a:defRPr>
            </a:pPr>
            <a:r>
              <a:t>Can you also try pushing me to spend on high likelihood categories? </a:t>
            </a:r>
          </a:p>
        </p:txBody>
      </p:sp>
      <p:sp>
        <p:nvSpPr>
          <p:cNvPr id="555" name="TextBox 15"/>
          <p:cNvSpPr txBox="1"/>
          <p:nvPr/>
        </p:nvSpPr>
        <p:spPr>
          <a:xfrm>
            <a:off x="5404043" y="2751738"/>
            <a:ext cx="1737361" cy="1259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171450" indent="-171450">
              <a:lnSpc>
                <a:spcPct val="150000"/>
              </a:lnSpc>
              <a:buClr>
                <a:srgbClr val="00B0F0"/>
              </a:buClr>
              <a:buSzPct val="100000"/>
              <a:buFont typeface="Helvetica"/>
              <a:buChar char="⁃"/>
              <a:defRPr sz="700">
                <a:solidFill>
                  <a:srgbClr val="002060"/>
                </a:solidFill>
                <a:latin typeface="Open Sans"/>
                <a:ea typeface="Open Sans"/>
                <a:cs typeface="Open Sans"/>
                <a:sym typeface="Open Sans"/>
              </a:defRPr>
            </a:pPr>
            <a:r>
              <a:t>I have high retention because I have started doing transactions recently or frequently</a:t>
            </a:r>
          </a:p>
          <a:p>
            <a:pPr marL="171450" indent="-171450">
              <a:lnSpc>
                <a:spcPct val="150000"/>
              </a:lnSpc>
              <a:buClr>
                <a:srgbClr val="00B0F0"/>
              </a:buClr>
              <a:buSzPct val="100000"/>
              <a:buFont typeface="Helvetica"/>
              <a:buChar char="⁃"/>
              <a:defRPr sz="700">
                <a:solidFill>
                  <a:srgbClr val="002060"/>
                </a:solidFill>
                <a:latin typeface="Open Sans"/>
                <a:ea typeface="Open Sans"/>
                <a:cs typeface="Open Sans"/>
                <a:sym typeface="Open Sans"/>
              </a:defRPr>
            </a:pPr>
            <a:r>
              <a:t>I have low value due to low ticket size transactions primarily on utility, UPI P2M </a:t>
            </a:r>
          </a:p>
          <a:p>
            <a:pPr marL="171450" indent="-171450">
              <a:lnSpc>
                <a:spcPct val="150000"/>
              </a:lnSpc>
              <a:buClr>
                <a:srgbClr val="00B0F0"/>
              </a:buClr>
              <a:buSzPct val="100000"/>
              <a:buFont typeface="Helvetica"/>
              <a:buChar char="⁃"/>
              <a:defRPr b="1" i="1" sz="700">
                <a:solidFill>
                  <a:srgbClr val="002060"/>
                </a:solidFill>
                <a:latin typeface="Open Sans"/>
                <a:ea typeface="Open Sans"/>
                <a:cs typeface="Open Sans"/>
                <a:sym typeface="Open Sans"/>
              </a:defRPr>
            </a:pPr>
            <a:r>
              <a:t>Can you please try engaging me in high value categories?</a:t>
            </a:r>
          </a:p>
        </p:txBody>
      </p:sp>
      <p:sp>
        <p:nvSpPr>
          <p:cNvPr id="556" name="TextBox 20"/>
          <p:cNvSpPr txBox="1"/>
          <p:nvPr/>
        </p:nvSpPr>
        <p:spPr>
          <a:xfrm>
            <a:off x="7232843" y="2754708"/>
            <a:ext cx="1768948" cy="650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171450" indent="-171450">
              <a:lnSpc>
                <a:spcPct val="150000"/>
              </a:lnSpc>
              <a:buClr>
                <a:srgbClr val="00B0F0"/>
              </a:buClr>
              <a:buSzPct val="100000"/>
              <a:buFont typeface="Helvetica"/>
              <a:buChar char="⁃"/>
              <a:defRPr sz="700">
                <a:solidFill>
                  <a:srgbClr val="002060"/>
                </a:solidFill>
                <a:latin typeface="Open Sans"/>
                <a:ea typeface="Open Sans"/>
                <a:cs typeface="Open Sans"/>
                <a:sym typeface="Open Sans"/>
              </a:defRPr>
            </a:pPr>
            <a:r>
              <a:t>I have low retention and low value</a:t>
            </a:r>
          </a:p>
          <a:p>
            <a:pPr marL="171450" indent="-171450">
              <a:lnSpc>
                <a:spcPct val="150000"/>
              </a:lnSpc>
              <a:buClr>
                <a:srgbClr val="00B0F0"/>
              </a:buClr>
              <a:buSzPct val="100000"/>
              <a:buFont typeface="Helvetica"/>
              <a:buChar char="⁃"/>
              <a:defRPr sz="700">
                <a:solidFill>
                  <a:srgbClr val="002060"/>
                </a:solidFill>
                <a:latin typeface="Open Sans"/>
                <a:ea typeface="Open Sans"/>
                <a:cs typeface="Open Sans"/>
                <a:sym typeface="Open Sans"/>
              </a:defRPr>
            </a:pPr>
            <a:r>
              <a:t>Please put </a:t>
            </a:r>
            <a:r>
              <a:rPr b="1" i="1"/>
              <a:t>retention efforts to engage me more </a:t>
            </a:r>
            <a:r>
              <a:t>but make sure you </a:t>
            </a:r>
            <a:r>
              <a:rPr b="1" i="1"/>
              <a:t>don’t spend too much on me</a:t>
            </a:r>
          </a:p>
        </p:txBody>
      </p:sp>
      <p:pic>
        <p:nvPicPr>
          <p:cNvPr id="557" name="Picture 24" descr="Picture 24"/>
          <p:cNvPicPr>
            <a:picLocks noChangeAspect="1"/>
          </p:cNvPicPr>
          <p:nvPr/>
        </p:nvPicPr>
        <p:blipFill>
          <a:blip r:embed="rId4">
            <a:extLst/>
          </a:blip>
          <a:stretch>
            <a:fillRect/>
          </a:stretch>
        </p:blipFill>
        <p:spPr>
          <a:xfrm>
            <a:off x="2462146" y="3945161"/>
            <a:ext cx="360001" cy="921685"/>
          </a:xfrm>
          <a:prstGeom prst="rect">
            <a:avLst/>
          </a:prstGeom>
          <a:ln w="12700">
            <a:miter lim="400000"/>
          </a:ln>
        </p:spPr>
      </p:pic>
      <p:pic>
        <p:nvPicPr>
          <p:cNvPr id="558" name="Picture 26" descr="Picture 26"/>
          <p:cNvPicPr>
            <a:picLocks noChangeAspect="1"/>
          </p:cNvPicPr>
          <p:nvPr/>
        </p:nvPicPr>
        <p:blipFill>
          <a:blip r:embed="rId5">
            <a:extLst/>
          </a:blip>
          <a:stretch>
            <a:fillRect/>
          </a:stretch>
        </p:blipFill>
        <p:spPr>
          <a:xfrm>
            <a:off x="6617113" y="3982284"/>
            <a:ext cx="345819" cy="893293"/>
          </a:xfrm>
          <a:prstGeom prst="rect">
            <a:avLst/>
          </a:prstGeom>
          <a:ln w="12700">
            <a:miter lim="400000"/>
          </a:ln>
        </p:spPr>
      </p:pic>
      <p:pic>
        <p:nvPicPr>
          <p:cNvPr id="559" name="Picture 27" descr="Picture 27"/>
          <p:cNvPicPr>
            <a:picLocks noChangeAspect="1"/>
          </p:cNvPicPr>
          <p:nvPr/>
        </p:nvPicPr>
        <p:blipFill>
          <a:blip r:embed="rId6">
            <a:extLst/>
          </a:blip>
          <a:stretch>
            <a:fillRect/>
          </a:stretch>
        </p:blipFill>
        <p:spPr>
          <a:xfrm>
            <a:off x="4572000" y="3943517"/>
            <a:ext cx="270113" cy="921684"/>
          </a:xfrm>
          <a:prstGeom prst="rect">
            <a:avLst/>
          </a:prstGeom>
          <a:ln w="12700">
            <a:miter lim="400000"/>
          </a:ln>
        </p:spPr>
      </p:pic>
      <p:pic>
        <p:nvPicPr>
          <p:cNvPr id="560" name="Picture 28" descr="Picture 28"/>
          <p:cNvPicPr>
            <a:picLocks noChangeAspect="1"/>
          </p:cNvPicPr>
          <p:nvPr/>
        </p:nvPicPr>
        <p:blipFill>
          <a:blip r:embed="rId7">
            <a:extLst/>
          </a:blip>
          <a:stretch>
            <a:fillRect/>
          </a:stretch>
        </p:blipFill>
        <p:spPr>
          <a:xfrm>
            <a:off x="8080163" y="3915838"/>
            <a:ext cx="360001" cy="925881"/>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62" name="Title 1"/>
          <p:cNvSpPr txBox="1"/>
          <p:nvPr/>
        </p:nvSpPr>
        <p:spPr>
          <a:xfrm>
            <a:off x="9539" y="119189"/>
            <a:ext cx="8245941" cy="5511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ctr">
            <a:spAutoFit/>
          </a:bodyPr>
          <a:lstStyle/>
          <a:p>
            <a:pPr>
              <a:defRPr b="1" i="1" sz="2400">
                <a:solidFill>
                  <a:srgbClr val="002060"/>
                </a:solidFill>
                <a:latin typeface="Open Sans"/>
                <a:ea typeface="Open Sans"/>
                <a:cs typeface="Open Sans"/>
                <a:sym typeface="Open Sans"/>
              </a:defRPr>
            </a:pPr>
            <a:r>
              <a:t>Use </a:t>
            </a:r>
            <a:r>
              <a:rPr>
                <a:solidFill>
                  <a:srgbClr val="00B0F0"/>
                </a:solidFill>
              </a:rPr>
              <a:t>Cases ~ </a:t>
            </a:r>
            <a:r>
              <a:t>Postpaid Conversion</a:t>
            </a:r>
          </a:p>
        </p:txBody>
      </p:sp>
      <p:sp>
        <p:nvSpPr>
          <p:cNvPr id="563" name="Straight Connector 3"/>
          <p:cNvSpPr/>
          <p:nvPr/>
        </p:nvSpPr>
        <p:spPr>
          <a:xfrm>
            <a:off x="-12300" y="618293"/>
            <a:ext cx="9180002" cy="13502"/>
          </a:xfrm>
          <a:prstGeom prst="line">
            <a:avLst/>
          </a:prstGeom>
          <a:ln w="38100">
            <a:solidFill>
              <a:srgbClr val="072C62"/>
            </a:solidFill>
          </a:ln>
        </p:spPr>
        <p:txBody>
          <a:bodyPr lIns="45719" rIns="45719"/>
          <a:lstStyle/>
          <a:p>
            <a:pPr/>
          </a:p>
        </p:txBody>
      </p:sp>
      <p:graphicFrame>
        <p:nvGraphicFramePr>
          <p:cNvPr id="564" name="Table 5"/>
          <p:cNvGraphicFramePr/>
          <p:nvPr/>
        </p:nvGraphicFramePr>
        <p:xfrm>
          <a:off x="527168" y="904454"/>
          <a:ext cx="4923791" cy="237389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102805"/>
                <a:gridCol w="931947"/>
                <a:gridCol w="963013"/>
                <a:gridCol w="963013"/>
                <a:gridCol w="963013"/>
              </a:tblGrid>
              <a:tr h="333097">
                <a:tc>
                  <a:txBody>
                    <a:bodyPr/>
                    <a:lstStyle/>
                    <a:p>
                      <a:pPr algn="ctr">
                        <a:defRPr sz="1800"/>
                      </a:pPr>
                      <a:r>
                        <a:rPr b="1" sz="800">
                          <a:solidFill>
                            <a:srgbClr val="FFFFFF"/>
                          </a:solidFill>
                          <a:latin typeface="Open Sans"/>
                          <a:ea typeface="Open Sans"/>
                          <a:cs typeface="Open Sans"/>
                          <a:sym typeface="Open Sans"/>
                        </a:rPr>
                        <a:t>Customer Value</a:t>
                      </a:r>
                    </a:p>
                  </a:txBody>
                  <a:tcPr marL="7620" marR="7620" marT="7620" marB="7620" anchor="ctr" anchorCtr="0" horzOverflow="overflow">
                    <a:lnL w="12700">
                      <a:miter lim="400000"/>
                    </a:lnL>
                    <a:lnR w="6350">
                      <a:solidFill>
                        <a:srgbClr val="002060"/>
                      </a:solidFill>
                      <a:prstDash val="lgDash"/>
                    </a:lnR>
                    <a:lnT w="12700">
                      <a:miter lim="400000"/>
                    </a:lnT>
                    <a:lnB w="6350">
                      <a:solidFill>
                        <a:srgbClr val="002060"/>
                      </a:solidFill>
                      <a:prstDash val="lgDash"/>
                    </a:lnB>
                    <a:solidFill>
                      <a:srgbClr val="0070C0"/>
                    </a:solidFill>
                  </a:tcPr>
                </a:tc>
                <a:tc>
                  <a:txBody>
                    <a:bodyPr/>
                    <a:lstStyle/>
                    <a:p>
                      <a:pPr algn="ctr">
                        <a:defRPr sz="1800"/>
                      </a:pPr>
                      <a:r>
                        <a:rPr b="1" sz="800">
                          <a:solidFill>
                            <a:srgbClr val="FFFFFF"/>
                          </a:solidFill>
                          <a:latin typeface="Open Sans"/>
                          <a:ea typeface="Open Sans"/>
                          <a:cs typeface="Open Sans"/>
                          <a:sym typeface="Open Sans"/>
                        </a:rPr>
                        <a:t>Offer Generated Rate</a:t>
                      </a:r>
                    </a:p>
                  </a:txBody>
                  <a:tcPr marL="7620" marR="7620" marT="7620" marB="7620" anchor="ctr" anchorCtr="0" horzOverflow="overflow">
                    <a:lnL w="6350">
                      <a:solidFill>
                        <a:srgbClr val="002060"/>
                      </a:solidFill>
                      <a:prstDash val="lgDash"/>
                    </a:lnL>
                    <a:lnR w="6350">
                      <a:solidFill>
                        <a:srgbClr val="002060"/>
                      </a:solidFill>
                      <a:prstDash val="lgDash"/>
                    </a:lnR>
                    <a:lnT w="12700">
                      <a:miter lim="400000"/>
                    </a:lnT>
                    <a:lnB w="6350">
                      <a:solidFill>
                        <a:srgbClr val="002060"/>
                      </a:solidFill>
                      <a:prstDash val="lgDash"/>
                    </a:lnB>
                    <a:solidFill>
                      <a:srgbClr val="0070C0"/>
                    </a:solidFill>
                  </a:tcPr>
                </a:tc>
                <a:tc>
                  <a:txBody>
                    <a:bodyPr/>
                    <a:lstStyle/>
                    <a:p>
                      <a:pPr algn="ctr">
                        <a:defRPr sz="1800"/>
                      </a:pPr>
                      <a:r>
                        <a:rPr b="1" sz="800">
                          <a:solidFill>
                            <a:srgbClr val="FFFFFF"/>
                          </a:solidFill>
                          <a:latin typeface="Open Sans"/>
                          <a:ea typeface="Open Sans"/>
                          <a:cs typeface="Open Sans"/>
                          <a:sym typeface="Open Sans"/>
                        </a:rPr>
                        <a:t>Signup Rate</a:t>
                      </a:r>
                    </a:p>
                  </a:txBody>
                  <a:tcPr marL="7620" marR="7620" marT="7620" marB="7620" anchor="ctr" anchorCtr="0" horzOverflow="overflow">
                    <a:lnL w="6350">
                      <a:solidFill>
                        <a:srgbClr val="002060"/>
                      </a:solidFill>
                      <a:prstDash val="lgDash"/>
                    </a:lnL>
                    <a:lnR w="6350">
                      <a:solidFill>
                        <a:srgbClr val="002060"/>
                      </a:solidFill>
                      <a:prstDash val="lgDash"/>
                    </a:lnR>
                    <a:lnT w="12700">
                      <a:miter lim="400000"/>
                    </a:lnT>
                    <a:lnB w="6350">
                      <a:solidFill>
                        <a:srgbClr val="002060"/>
                      </a:solidFill>
                      <a:prstDash val="lgDash"/>
                    </a:lnB>
                    <a:solidFill>
                      <a:srgbClr val="0070C0"/>
                    </a:solidFill>
                  </a:tcPr>
                </a:tc>
                <a:tc>
                  <a:txBody>
                    <a:bodyPr/>
                    <a:lstStyle/>
                    <a:p>
                      <a:pPr algn="ctr">
                        <a:defRPr sz="1800"/>
                      </a:pPr>
                      <a:r>
                        <a:rPr b="1" sz="800">
                          <a:solidFill>
                            <a:srgbClr val="FFFFFF"/>
                          </a:solidFill>
                          <a:latin typeface="Open Sans"/>
                          <a:ea typeface="Open Sans"/>
                          <a:cs typeface="Open Sans"/>
                          <a:sym typeface="Open Sans"/>
                        </a:rPr>
                        <a:t>Activation Rate</a:t>
                      </a:r>
                    </a:p>
                  </a:txBody>
                  <a:tcPr marL="7620" marR="7620" marT="7620" marB="7620" anchor="ctr" anchorCtr="0" horzOverflow="overflow">
                    <a:lnL w="6350">
                      <a:solidFill>
                        <a:srgbClr val="002060"/>
                      </a:solidFill>
                      <a:prstDash val="lgDash"/>
                    </a:lnL>
                    <a:lnR w="6350">
                      <a:solidFill>
                        <a:srgbClr val="002060"/>
                      </a:solidFill>
                      <a:prstDash val="lgDash"/>
                    </a:lnR>
                    <a:lnT w="12700">
                      <a:miter lim="400000"/>
                    </a:lnT>
                    <a:lnB w="6350">
                      <a:solidFill>
                        <a:srgbClr val="002060"/>
                      </a:solidFill>
                      <a:prstDash val="lgDash"/>
                    </a:lnB>
                    <a:solidFill>
                      <a:srgbClr val="0070C0"/>
                    </a:solidFill>
                  </a:tcPr>
                </a:tc>
                <a:tc>
                  <a:txBody>
                    <a:bodyPr/>
                    <a:lstStyle/>
                    <a:p>
                      <a:pPr algn="ctr">
                        <a:defRPr sz="1800"/>
                      </a:pPr>
                      <a:r>
                        <a:rPr b="1" sz="800">
                          <a:solidFill>
                            <a:srgbClr val="FFFFFF"/>
                          </a:solidFill>
                          <a:latin typeface="Open Sans"/>
                          <a:ea typeface="Open Sans"/>
                          <a:cs typeface="Open Sans"/>
                          <a:sym typeface="Open Sans"/>
                        </a:rPr>
                        <a:t>DPD Rate</a:t>
                      </a:r>
                    </a:p>
                  </a:txBody>
                  <a:tcPr marL="7620" marR="7620" marT="7620" marB="7620" anchor="ctr" anchorCtr="0" horzOverflow="overflow">
                    <a:lnL w="6350">
                      <a:solidFill>
                        <a:srgbClr val="002060"/>
                      </a:solidFill>
                      <a:prstDash val="lgDash"/>
                    </a:lnL>
                    <a:lnR w="12700">
                      <a:miter lim="400000"/>
                    </a:lnR>
                    <a:lnT w="12700">
                      <a:miter lim="400000"/>
                    </a:lnT>
                    <a:lnB w="6350">
                      <a:solidFill>
                        <a:srgbClr val="002060"/>
                      </a:solidFill>
                      <a:prstDash val="lgDash"/>
                    </a:lnB>
                    <a:solidFill>
                      <a:srgbClr val="0070C0"/>
                    </a:solidFill>
                  </a:tcPr>
                </a:tc>
              </a:tr>
              <a:tr h="233036">
                <a:tc>
                  <a:txBody>
                    <a:bodyPr/>
                    <a:lstStyle/>
                    <a:p>
                      <a:pPr algn="ctr">
                        <a:defRPr sz="1800"/>
                      </a:pPr>
                      <a:r>
                        <a:rPr b="1" sz="800">
                          <a:solidFill>
                            <a:srgbClr val="002060"/>
                          </a:solidFill>
                          <a:latin typeface="Open Sans"/>
                          <a:ea typeface="Open Sans"/>
                          <a:cs typeface="Open Sans"/>
                          <a:sym typeface="Open Sans"/>
                        </a:rPr>
                        <a:t>&lt;=₹5</a:t>
                      </a:r>
                    </a:p>
                  </a:txBody>
                  <a:tcPr marL="45720" marR="45720" marT="45720" marB="45720" anchor="ctr" anchorCtr="0" horzOverflow="overflow">
                    <a:lnL w="12700">
                      <a:miter lim="400000"/>
                    </a:lnL>
                    <a:lnR w="6350">
                      <a:solidFill>
                        <a:srgbClr val="002060"/>
                      </a:solidFill>
                      <a:prstDash val="lgDash"/>
                    </a:lnR>
                    <a:lnT w="6350">
                      <a:solidFill>
                        <a:srgbClr val="002060"/>
                      </a:solidFill>
                      <a:prstDash val="lgDash"/>
                    </a:lnT>
                    <a:lnB w="6350">
                      <a:solidFill>
                        <a:srgbClr val="002060"/>
                      </a:solidFill>
                      <a:prstDash val="lgDash"/>
                    </a:lnB>
                    <a:noFill/>
                  </a:tcPr>
                </a:tc>
                <a:tc>
                  <a:txBody>
                    <a:bodyPr/>
                    <a:lstStyle/>
                    <a:p>
                      <a:pPr algn="ctr">
                        <a:defRPr sz="1800"/>
                      </a:pPr>
                      <a:r>
                        <a:rPr sz="800">
                          <a:solidFill>
                            <a:srgbClr val="002060"/>
                          </a:solidFill>
                          <a:latin typeface="Open Sans"/>
                          <a:ea typeface="Open Sans"/>
                          <a:cs typeface="Open Sans"/>
                          <a:sym typeface="Open Sans"/>
                        </a:rPr>
                        <a:t>21.4%</a:t>
                      </a:r>
                    </a:p>
                  </a:txBody>
                  <a:tcPr marL="7620" marR="7620" marT="7620" marB="7620" anchor="ctr" anchorCtr="0" horzOverflow="overflow">
                    <a:lnL w="6350">
                      <a:solidFill>
                        <a:srgbClr val="002060"/>
                      </a:solidFill>
                      <a:prstDash val="lgDash"/>
                    </a:lnL>
                    <a:lnR w="6350">
                      <a:solidFill>
                        <a:srgbClr val="002060"/>
                      </a:solidFill>
                      <a:prstDash val="lgDash"/>
                    </a:lnR>
                    <a:lnT w="6350">
                      <a:solidFill>
                        <a:srgbClr val="002060"/>
                      </a:solidFill>
                      <a:prstDash val="lgDash"/>
                    </a:lnT>
                    <a:lnB w="6350">
                      <a:solidFill>
                        <a:srgbClr val="002060"/>
                      </a:solidFill>
                      <a:prstDash val="lgDash"/>
                    </a:lnB>
                    <a:solidFill>
                      <a:srgbClr val="FCFCFF"/>
                    </a:solidFill>
                  </a:tcPr>
                </a:tc>
                <a:tc>
                  <a:txBody>
                    <a:bodyPr/>
                    <a:lstStyle/>
                    <a:p>
                      <a:pPr algn="ctr">
                        <a:defRPr sz="1800"/>
                      </a:pPr>
                      <a:r>
                        <a:rPr sz="800">
                          <a:solidFill>
                            <a:srgbClr val="002060"/>
                          </a:solidFill>
                          <a:latin typeface="Open Sans"/>
                          <a:ea typeface="Open Sans"/>
                          <a:cs typeface="Open Sans"/>
                          <a:sym typeface="Open Sans"/>
                        </a:rPr>
                        <a:t>53.8%</a:t>
                      </a:r>
                    </a:p>
                  </a:txBody>
                  <a:tcPr marL="7620" marR="7620" marT="7620" marB="7620" anchor="ctr" anchorCtr="0" horzOverflow="overflow">
                    <a:lnL w="6350">
                      <a:solidFill>
                        <a:srgbClr val="002060"/>
                      </a:solidFill>
                      <a:prstDash val="lgDash"/>
                    </a:lnL>
                    <a:lnR w="6350">
                      <a:solidFill>
                        <a:srgbClr val="002060"/>
                      </a:solidFill>
                      <a:prstDash val="lgDash"/>
                    </a:lnR>
                    <a:lnT w="6350">
                      <a:solidFill>
                        <a:srgbClr val="002060"/>
                      </a:solidFill>
                      <a:prstDash val="lgDash"/>
                    </a:lnT>
                    <a:lnB w="6350">
                      <a:solidFill>
                        <a:srgbClr val="002060"/>
                      </a:solidFill>
                      <a:prstDash val="lgDash"/>
                    </a:lnB>
                    <a:solidFill>
                      <a:srgbClr val="63BE7B"/>
                    </a:solidFill>
                  </a:tcPr>
                </a:tc>
                <a:tc>
                  <a:txBody>
                    <a:bodyPr/>
                    <a:lstStyle/>
                    <a:p>
                      <a:pPr algn="ctr">
                        <a:defRPr sz="1800"/>
                      </a:pPr>
                      <a:r>
                        <a:rPr sz="800">
                          <a:solidFill>
                            <a:srgbClr val="002060"/>
                          </a:solidFill>
                          <a:latin typeface="Open Sans"/>
                          <a:ea typeface="Open Sans"/>
                          <a:cs typeface="Open Sans"/>
                          <a:sym typeface="Open Sans"/>
                        </a:rPr>
                        <a:t>58.9%</a:t>
                      </a:r>
                    </a:p>
                  </a:txBody>
                  <a:tcPr marL="7620" marR="7620" marT="7620" marB="7620" anchor="ctr" anchorCtr="0" horzOverflow="overflow">
                    <a:lnL w="6350">
                      <a:solidFill>
                        <a:srgbClr val="002060"/>
                      </a:solidFill>
                      <a:prstDash val="lgDash"/>
                    </a:lnL>
                    <a:lnR w="6350">
                      <a:solidFill>
                        <a:srgbClr val="002060"/>
                      </a:solidFill>
                      <a:prstDash val="lgDash"/>
                    </a:lnR>
                    <a:lnT w="6350">
                      <a:solidFill>
                        <a:srgbClr val="002060"/>
                      </a:solidFill>
                      <a:prstDash val="lgDash"/>
                    </a:lnT>
                    <a:lnB w="6350">
                      <a:solidFill>
                        <a:srgbClr val="002060"/>
                      </a:solidFill>
                      <a:prstDash val="lgDash"/>
                    </a:lnB>
                    <a:solidFill>
                      <a:srgbClr val="FCFCFF"/>
                    </a:solidFill>
                  </a:tcPr>
                </a:tc>
                <a:tc>
                  <a:txBody>
                    <a:bodyPr/>
                    <a:lstStyle/>
                    <a:p>
                      <a:pPr algn="ctr">
                        <a:defRPr sz="1800"/>
                      </a:pPr>
                      <a:r>
                        <a:rPr sz="800">
                          <a:solidFill>
                            <a:srgbClr val="002060"/>
                          </a:solidFill>
                          <a:latin typeface="Open Sans"/>
                          <a:ea typeface="Open Sans"/>
                          <a:cs typeface="Open Sans"/>
                          <a:sym typeface="Open Sans"/>
                        </a:rPr>
                        <a:t>28.9%</a:t>
                      </a:r>
                    </a:p>
                  </a:txBody>
                  <a:tcPr marL="7620" marR="7620" marT="7620" marB="7620" anchor="ctr" anchorCtr="0" horzOverflow="overflow">
                    <a:lnL w="6350">
                      <a:solidFill>
                        <a:srgbClr val="002060"/>
                      </a:solidFill>
                      <a:prstDash val="lgDash"/>
                    </a:lnL>
                    <a:lnR w="12700">
                      <a:miter lim="400000"/>
                    </a:lnR>
                    <a:lnT w="6350">
                      <a:solidFill>
                        <a:srgbClr val="002060"/>
                      </a:solidFill>
                      <a:prstDash val="lgDash"/>
                    </a:lnT>
                    <a:lnB w="6350">
                      <a:solidFill>
                        <a:srgbClr val="002060"/>
                      </a:solidFill>
                      <a:prstDash val="lgDash"/>
                    </a:lnB>
                    <a:solidFill>
                      <a:srgbClr val="F8696B"/>
                    </a:solidFill>
                  </a:tcPr>
                </a:tc>
              </a:tr>
              <a:tr h="233036">
                <a:tc>
                  <a:txBody>
                    <a:bodyPr/>
                    <a:lstStyle/>
                    <a:p>
                      <a:pPr algn="ctr">
                        <a:defRPr sz="1800"/>
                      </a:pPr>
                      <a:r>
                        <a:rPr b="1" sz="800">
                          <a:solidFill>
                            <a:srgbClr val="002060"/>
                          </a:solidFill>
                          <a:latin typeface="Open Sans"/>
                          <a:ea typeface="Open Sans"/>
                          <a:cs typeface="Open Sans"/>
                          <a:sym typeface="Open Sans"/>
                        </a:rPr>
                        <a:t>&lt;=₹25</a:t>
                      </a:r>
                    </a:p>
                  </a:txBody>
                  <a:tcPr marL="45720" marR="45720" marT="45720" marB="45720" anchor="ctr" anchorCtr="0" horzOverflow="overflow">
                    <a:lnL w="12700">
                      <a:miter lim="400000"/>
                    </a:lnL>
                    <a:lnR w="6350">
                      <a:solidFill>
                        <a:srgbClr val="002060"/>
                      </a:solidFill>
                      <a:prstDash val="lgDash"/>
                    </a:lnR>
                    <a:lnT w="6350">
                      <a:solidFill>
                        <a:srgbClr val="002060"/>
                      </a:solidFill>
                      <a:prstDash val="lgDash"/>
                    </a:lnT>
                    <a:lnB w="6350">
                      <a:solidFill>
                        <a:srgbClr val="002060"/>
                      </a:solidFill>
                      <a:prstDash val="lgDash"/>
                    </a:lnB>
                    <a:noFill/>
                  </a:tcPr>
                </a:tc>
                <a:tc>
                  <a:txBody>
                    <a:bodyPr/>
                    <a:lstStyle/>
                    <a:p>
                      <a:pPr algn="ctr">
                        <a:defRPr sz="1800"/>
                      </a:pPr>
                      <a:r>
                        <a:rPr sz="800">
                          <a:solidFill>
                            <a:srgbClr val="002060"/>
                          </a:solidFill>
                          <a:latin typeface="Open Sans"/>
                          <a:ea typeface="Open Sans"/>
                          <a:cs typeface="Open Sans"/>
                          <a:sym typeface="Open Sans"/>
                        </a:rPr>
                        <a:t>23.8%</a:t>
                      </a:r>
                    </a:p>
                  </a:txBody>
                  <a:tcPr marL="7620" marR="7620" marT="7620" marB="7620" anchor="ctr" anchorCtr="0" horzOverflow="overflow">
                    <a:lnL w="6350">
                      <a:solidFill>
                        <a:srgbClr val="002060"/>
                      </a:solidFill>
                      <a:prstDash val="lgDash"/>
                    </a:lnL>
                    <a:lnR w="6350">
                      <a:solidFill>
                        <a:srgbClr val="002060"/>
                      </a:solidFill>
                      <a:prstDash val="lgDash"/>
                    </a:lnR>
                    <a:lnT w="6350">
                      <a:solidFill>
                        <a:srgbClr val="002060"/>
                      </a:solidFill>
                      <a:prstDash val="lgDash"/>
                    </a:lnT>
                    <a:lnB w="6350">
                      <a:solidFill>
                        <a:srgbClr val="002060"/>
                      </a:solidFill>
                      <a:prstDash val="lgDash"/>
                    </a:lnB>
                    <a:solidFill>
                      <a:srgbClr val="F0F7F5"/>
                    </a:solidFill>
                  </a:tcPr>
                </a:tc>
                <a:tc>
                  <a:txBody>
                    <a:bodyPr/>
                    <a:lstStyle/>
                    <a:p>
                      <a:pPr algn="ctr">
                        <a:defRPr sz="1800"/>
                      </a:pPr>
                      <a:r>
                        <a:rPr sz="800">
                          <a:solidFill>
                            <a:srgbClr val="002060"/>
                          </a:solidFill>
                          <a:latin typeface="Open Sans"/>
                          <a:ea typeface="Open Sans"/>
                          <a:cs typeface="Open Sans"/>
                          <a:sym typeface="Open Sans"/>
                        </a:rPr>
                        <a:t>51.2%</a:t>
                      </a:r>
                    </a:p>
                  </a:txBody>
                  <a:tcPr marL="7620" marR="7620" marT="7620" marB="7620" anchor="ctr" anchorCtr="0" horzOverflow="overflow">
                    <a:lnL w="6350">
                      <a:solidFill>
                        <a:srgbClr val="002060"/>
                      </a:solidFill>
                      <a:prstDash val="lgDash"/>
                    </a:lnL>
                    <a:lnR w="6350">
                      <a:solidFill>
                        <a:srgbClr val="002060"/>
                      </a:solidFill>
                      <a:prstDash val="lgDash"/>
                    </a:lnR>
                    <a:lnT w="6350">
                      <a:solidFill>
                        <a:srgbClr val="002060"/>
                      </a:solidFill>
                      <a:prstDash val="lgDash"/>
                    </a:lnT>
                    <a:lnB w="6350">
                      <a:solidFill>
                        <a:srgbClr val="002060"/>
                      </a:solidFill>
                      <a:prstDash val="lgDash"/>
                    </a:lnB>
                    <a:solidFill>
                      <a:srgbClr val="95D2A6"/>
                    </a:solidFill>
                  </a:tcPr>
                </a:tc>
                <a:tc>
                  <a:txBody>
                    <a:bodyPr/>
                    <a:lstStyle/>
                    <a:p>
                      <a:pPr algn="ctr">
                        <a:defRPr sz="1800"/>
                      </a:pPr>
                      <a:r>
                        <a:rPr sz="800">
                          <a:solidFill>
                            <a:srgbClr val="002060"/>
                          </a:solidFill>
                          <a:latin typeface="Open Sans"/>
                          <a:ea typeface="Open Sans"/>
                          <a:cs typeface="Open Sans"/>
                          <a:sym typeface="Open Sans"/>
                        </a:rPr>
                        <a:t>60.3%</a:t>
                      </a:r>
                    </a:p>
                  </a:txBody>
                  <a:tcPr marL="7620" marR="7620" marT="7620" marB="7620" anchor="ctr" anchorCtr="0" horzOverflow="overflow">
                    <a:lnL w="6350">
                      <a:solidFill>
                        <a:srgbClr val="002060"/>
                      </a:solidFill>
                      <a:prstDash val="lgDash"/>
                    </a:lnL>
                    <a:lnR w="6350">
                      <a:solidFill>
                        <a:srgbClr val="002060"/>
                      </a:solidFill>
                      <a:prstDash val="lgDash"/>
                    </a:lnR>
                    <a:lnT w="6350">
                      <a:solidFill>
                        <a:srgbClr val="002060"/>
                      </a:solidFill>
                      <a:prstDash val="lgDash"/>
                    </a:lnT>
                    <a:lnB w="6350">
                      <a:solidFill>
                        <a:srgbClr val="002060"/>
                      </a:solidFill>
                      <a:prstDash val="lgDash"/>
                    </a:lnB>
                    <a:solidFill>
                      <a:srgbClr val="F4F9F8"/>
                    </a:solidFill>
                  </a:tcPr>
                </a:tc>
                <a:tc>
                  <a:txBody>
                    <a:bodyPr/>
                    <a:lstStyle/>
                    <a:p>
                      <a:pPr algn="ctr">
                        <a:defRPr sz="1800"/>
                      </a:pPr>
                      <a:r>
                        <a:rPr sz="800">
                          <a:solidFill>
                            <a:srgbClr val="002060"/>
                          </a:solidFill>
                          <a:latin typeface="Open Sans"/>
                          <a:ea typeface="Open Sans"/>
                          <a:cs typeface="Open Sans"/>
                          <a:sym typeface="Open Sans"/>
                        </a:rPr>
                        <a:t>28.1%</a:t>
                      </a:r>
                    </a:p>
                  </a:txBody>
                  <a:tcPr marL="7620" marR="7620" marT="7620" marB="7620" anchor="ctr" anchorCtr="0" horzOverflow="overflow">
                    <a:lnL w="6350">
                      <a:solidFill>
                        <a:srgbClr val="002060"/>
                      </a:solidFill>
                      <a:prstDash val="lgDash"/>
                    </a:lnL>
                    <a:lnR w="12700">
                      <a:miter lim="400000"/>
                    </a:lnR>
                    <a:lnT w="6350">
                      <a:solidFill>
                        <a:srgbClr val="002060"/>
                      </a:solidFill>
                      <a:prstDash val="lgDash"/>
                    </a:lnT>
                    <a:lnB w="6350">
                      <a:solidFill>
                        <a:srgbClr val="002060"/>
                      </a:solidFill>
                      <a:prstDash val="lgDash"/>
                    </a:lnB>
                    <a:solidFill>
                      <a:srgbClr val="F97476"/>
                    </a:solidFill>
                  </a:tcPr>
                </a:tc>
              </a:tr>
              <a:tr h="233036">
                <a:tc>
                  <a:txBody>
                    <a:bodyPr/>
                    <a:lstStyle/>
                    <a:p>
                      <a:pPr algn="ctr">
                        <a:defRPr sz="1800"/>
                      </a:pPr>
                      <a:r>
                        <a:rPr b="1" sz="800">
                          <a:solidFill>
                            <a:srgbClr val="002060"/>
                          </a:solidFill>
                          <a:latin typeface="Open Sans"/>
                          <a:ea typeface="Open Sans"/>
                          <a:cs typeface="Open Sans"/>
                          <a:sym typeface="Open Sans"/>
                        </a:rPr>
                        <a:t>&lt;=₹50</a:t>
                      </a:r>
                    </a:p>
                  </a:txBody>
                  <a:tcPr marL="45720" marR="45720" marT="45720" marB="45720" anchor="ctr" anchorCtr="0" horzOverflow="overflow">
                    <a:lnL w="12700">
                      <a:miter lim="400000"/>
                    </a:lnL>
                    <a:lnR w="6350">
                      <a:solidFill>
                        <a:srgbClr val="002060"/>
                      </a:solidFill>
                      <a:prstDash val="lgDash"/>
                    </a:lnR>
                    <a:lnT w="6350">
                      <a:solidFill>
                        <a:srgbClr val="002060"/>
                      </a:solidFill>
                      <a:prstDash val="lgDash"/>
                    </a:lnT>
                    <a:lnB w="6350">
                      <a:solidFill>
                        <a:srgbClr val="002060"/>
                      </a:solidFill>
                      <a:prstDash val="lgDash"/>
                    </a:lnB>
                    <a:noFill/>
                  </a:tcPr>
                </a:tc>
                <a:tc>
                  <a:txBody>
                    <a:bodyPr/>
                    <a:lstStyle/>
                    <a:p>
                      <a:pPr algn="ctr">
                        <a:defRPr sz="1800"/>
                      </a:pPr>
                      <a:r>
                        <a:rPr sz="800">
                          <a:solidFill>
                            <a:srgbClr val="002060"/>
                          </a:solidFill>
                          <a:latin typeface="Open Sans"/>
                          <a:ea typeface="Open Sans"/>
                          <a:cs typeface="Open Sans"/>
                          <a:sym typeface="Open Sans"/>
                        </a:rPr>
                        <a:t>26.9%</a:t>
                      </a:r>
                    </a:p>
                  </a:txBody>
                  <a:tcPr marL="7620" marR="7620" marT="7620" marB="7620" anchor="ctr" anchorCtr="0" horzOverflow="overflow">
                    <a:lnL w="6350">
                      <a:solidFill>
                        <a:srgbClr val="002060"/>
                      </a:solidFill>
                      <a:prstDash val="lgDash"/>
                    </a:lnL>
                    <a:lnR w="6350">
                      <a:solidFill>
                        <a:srgbClr val="002060"/>
                      </a:solidFill>
                      <a:prstDash val="lgDash"/>
                    </a:lnR>
                    <a:lnT w="6350">
                      <a:solidFill>
                        <a:srgbClr val="002060"/>
                      </a:solidFill>
                      <a:prstDash val="lgDash"/>
                    </a:lnT>
                    <a:lnB w="6350">
                      <a:solidFill>
                        <a:srgbClr val="002060"/>
                      </a:solidFill>
                      <a:prstDash val="lgDash"/>
                    </a:lnB>
                    <a:solidFill>
                      <a:srgbClr val="E0F1E7"/>
                    </a:solidFill>
                  </a:tcPr>
                </a:tc>
                <a:tc>
                  <a:txBody>
                    <a:bodyPr/>
                    <a:lstStyle/>
                    <a:p>
                      <a:pPr algn="ctr">
                        <a:defRPr sz="1800"/>
                      </a:pPr>
                      <a:r>
                        <a:rPr sz="800">
                          <a:solidFill>
                            <a:srgbClr val="002060"/>
                          </a:solidFill>
                          <a:latin typeface="Open Sans"/>
                          <a:ea typeface="Open Sans"/>
                          <a:cs typeface="Open Sans"/>
                          <a:sym typeface="Open Sans"/>
                        </a:rPr>
                        <a:t>50.5%</a:t>
                      </a:r>
                    </a:p>
                  </a:txBody>
                  <a:tcPr marL="7620" marR="7620" marT="7620" marB="7620" anchor="ctr" anchorCtr="0" horzOverflow="overflow">
                    <a:lnL w="6350">
                      <a:solidFill>
                        <a:srgbClr val="002060"/>
                      </a:solidFill>
                      <a:prstDash val="lgDash"/>
                    </a:lnL>
                    <a:lnR w="6350">
                      <a:solidFill>
                        <a:srgbClr val="002060"/>
                      </a:solidFill>
                      <a:prstDash val="lgDash"/>
                    </a:lnR>
                    <a:lnT w="6350">
                      <a:solidFill>
                        <a:srgbClr val="002060"/>
                      </a:solidFill>
                      <a:prstDash val="lgDash"/>
                    </a:lnT>
                    <a:lnB w="6350">
                      <a:solidFill>
                        <a:srgbClr val="002060"/>
                      </a:solidFill>
                      <a:prstDash val="lgDash"/>
                    </a:lnB>
                    <a:solidFill>
                      <a:srgbClr val="A2D8B2"/>
                    </a:solidFill>
                  </a:tcPr>
                </a:tc>
                <a:tc>
                  <a:txBody>
                    <a:bodyPr/>
                    <a:lstStyle/>
                    <a:p>
                      <a:pPr algn="ctr">
                        <a:defRPr sz="1800"/>
                      </a:pPr>
                      <a:r>
                        <a:rPr sz="800">
                          <a:solidFill>
                            <a:srgbClr val="002060"/>
                          </a:solidFill>
                          <a:latin typeface="Open Sans"/>
                          <a:ea typeface="Open Sans"/>
                          <a:cs typeface="Open Sans"/>
                          <a:sym typeface="Open Sans"/>
                        </a:rPr>
                        <a:t>64.7%</a:t>
                      </a:r>
                    </a:p>
                  </a:txBody>
                  <a:tcPr marL="7620" marR="7620" marT="7620" marB="7620" anchor="ctr" anchorCtr="0" horzOverflow="overflow">
                    <a:lnL w="6350">
                      <a:solidFill>
                        <a:srgbClr val="002060"/>
                      </a:solidFill>
                      <a:prstDash val="lgDash"/>
                    </a:lnL>
                    <a:lnR w="6350">
                      <a:solidFill>
                        <a:srgbClr val="002060"/>
                      </a:solidFill>
                      <a:prstDash val="lgDash"/>
                    </a:lnR>
                    <a:lnT w="6350">
                      <a:solidFill>
                        <a:srgbClr val="002060"/>
                      </a:solidFill>
                      <a:prstDash val="lgDash"/>
                    </a:lnT>
                    <a:lnB w="6350">
                      <a:solidFill>
                        <a:srgbClr val="002060"/>
                      </a:solidFill>
                      <a:prstDash val="lgDash"/>
                    </a:lnB>
                    <a:solidFill>
                      <a:srgbClr val="D7EDDF"/>
                    </a:solidFill>
                  </a:tcPr>
                </a:tc>
                <a:tc>
                  <a:txBody>
                    <a:bodyPr/>
                    <a:lstStyle/>
                    <a:p>
                      <a:pPr algn="ctr">
                        <a:defRPr sz="1800"/>
                      </a:pPr>
                      <a:r>
                        <a:rPr sz="800">
                          <a:solidFill>
                            <a:srgbClr val="002060"/>
                          </a:solidFill>
                          <a:latin typeface="Open Sans"/>
                          <a:ea typeface="Open Sans"/>
                          <a:cs typeface="Open Sans"/>
                          <a:sym typeface="Open Sans"/>
                        </a:rPr>
                        <a:t>25.3%</a:t>
                      </a:r>
                    </a:p>
                  </a:txBody>
                  <a:tcPr marL="7620" marR="7620" marT="7620" marB="7620" anchor="ctr" anchorCtr="0" horzOverflow="overflow">
                    <a:lnL w="6350">
                      <a:solidFill>
                        <a:srgbClr val="002060"/>
                      </a:solidFill>
                      <a:prstDash val="lgDash"/>
                    </a:lnL>
                    <a:lnR w="12700">
                      <a:miter lim="400000"/>
                    </a:lnR>
                    <a:lnT w="6350">
                      <a:solidFill>
                        <a:srgbClr val="002060"/>
                      </a:solidFill>
                      <a:prstDash val="lgDash"/>
                    </a:lnT>
                    <a:lnB w="6350">
                      <a:solidFill>
                        <a:srgbClr val="002060"/>
                      </a:solidFill>
                      <a:prstDash val="lgDash"/>
                    </a:lnB>
                    <a:solidFill>
                      <a:srgbClr val="FA979A"/>
                    </a:solidFill>
                  </a:tcPr>
                </a:tc>
              </a:tr>
              <a:tr h="233036">
                <a:tc>
                  <a:txBody>
                    <a:bodyPr/>
                    <a:lstStyle/>
                    <a:p>
                      <a:pPr algn="ctr">
                        <a:defRPr sz="1800"/>
                      </a:pPr>
                      <a:r>
                        <a:rPr b="1" sz="800">
                          <a:solidFill>
                            <a:srgbClr val="002060"/>
                          </a:solidFill>
                          <a:latin typeface="Open Sans"/>
                          <a:ea typeface="Open Sans"/>
                          <a:cs typeface="Open Sans"/>
                          <a:sym typeface="Open Sans"/>
                        </a:rPr>
                        <a:t>&lt;=₹100</a:t>
                      </a:r>
                    </a:p>
                  </a:txBody>
                  <a:tcPr marL="45720" marR="45720" marT="45720" marB="45720" anchor="ctr" anchorCtr="0" horzOverflow="overflow">
                    <a:lnL w="12700">
                      <a:miter lim="400000"/>
                    </a:lnL>
                    <a:lnR w="6350">
                      <a:solidFill>
                        <a:srgbClr val="002060"/>
                      </a:solidFill>
                      <a:prstDash val="lgDash"/>
                    </a:lnR>
                    <a:lnT w="6350">
                      <a:solidFill>
                        <a:srgbClr val="002060"/>
                      </a:solidFill>
                      <a:prstDash val="lgDash"/>
                    </a:lnT>
                    <a:lnB w="6350">
                      <a:solidFill>
                        <a:srgbClr val="002060"/>
                      </a:solidFill>
                      <a:prstDash val="lgDash"/>
                    </a:lnB>
                    <a:noFill/>
                  </a:tcPr>
                </a:tc>
                <a:tc>
                  <a:txBody>
                    <a:bodyPr/>
                    <a:lstStyle/>
                    <a:p>
                      <a:pPr algn="ctr">
                        <a:defRPr sz="1800"/>
                      </a:pPr>
                      <a:r>
                        <a:rPr sz="800">
                          <a:solidFill>
                            <a:srgbClr val="002060"/>
                          </a:solidFill>
                          <a:latin typeface="Open Sans"/>
                          <a:ea typeface="Open Sans"/>
                          <a:cs typeface="Open Sans"/>
                          <a:sym typeface="Open Sans"/>
                        </a:rPr>
                        <a:t>31.1%</a:t>
                      </a:r>
                    </a:p>
                  </a:txBody>
                  <a:tcPr marL="7620" marR="7620" marT="7620" marB="7620" anchor="ctr" anchorCtr="0" horzOverflow="overflow">
                    <a:lnL w="6350">
                      <a:solidFill>
                        <a:srgbClr val="002060"/>
                      </a:solidFill>
                      <a:prstDash val="lgDash"/>
                    </a:lnL>
                    <a:lnR w="6350">
                      <a:solidFill>
                        <a:srgbClr val="002060"/>
                      </a:solidFill>
                      <a:prstDash val="lgDash"/>
                    </a:lnR>
                    <a:lnT w="6350">
                      <a:solidFill>
                        <a:srgbClr val="002060"/>
                      </a:solidFill>
                      <a:prstDash val="lgDash"/>
                    </a:lnT>
                    <a:lnB w="6350">
                      <a:solidFill>
                        <a:srgbClr val="002060"/>
                      </a:solidFill>
                      <a:prstDash val="lgDash"/>
                    </a:lnB>
                    <a:solidFill>
                      <a:srgbClr val="CAE8D4"/>
                    </a:solidFill>
                  </a:tcPr>
                </a:tc>
                <a:tc>
                  <a:txBody>
                    <a:bodyPr/>
                    <a:lstStyle/>
                    <a:p>
                      <a:pPr algn="ctr">
                        <a:defRPr sz="1800"/>
                      </a:pPr>
                      <a:r>
                        <a:rPr sz="800">
                          <a:solidFill>
                            <a:srgbClr val="002060"/>
                          </a:solidFill>
                          <a:latin typeface="Open Sans"/>
                          <a:ea typeface="Open Sans"/>
                          <a:cs typeface="Open Sans"/>
                          <a:sym typeface="Open Sans"/>
                        </a:rPr>
                        <a:t>50.1%</a:t>
                      </a:r>
                    </a:p>
                  </a:txBody>
                  <a:tcPr marL="7620" marR="7620" marT="7620" marB="7620" anchor="ctr" anchorCtr="0" horzOverflow="overflow">
                    <a:lnL w="6350">
                      <a:solidFill>
                        <a:srgbClr val="002060"/>
                      </a:solidFill>
                      <a:prstDash val="lgDash"/>
                    </a:lnL>
                    <a:lnR w="6350">
                      <a:solidFill>
                        <a:srgbClr val="002060"/>
                      </a:solidFill>
                      <a:prstDash val="lgDash"/>
                    </a:lnR>
                    <a:lnT w="6350">
                      <a:solidFill>
                        <a:srgbClr val="002060"/>
                      </a:solidFill>
                      <a:prstDash val="lgDash"/>
                    </a:lnT>
                    <a:lnB w="6350">
                      <a:solidFill>
                        <a:srgbClr val="002060"/>
                      </a:solidFill>
                      <a:prstDash val="lgDash"/>
                    </a:lnB>
                    <a:solidFill>
                      <a:srgbClr val="A9DBB7"/>
                    </a:solidFill>
                  </a:tcPr>
                </a:tc>
                <a:tc>
                  <a:txBody>
                    <a:bodyPr/>
                    <a:lstStyle/>
                    <a:p>
                      <a:pPr algn="ctr">
                        <a:defRPr sz="1800"/>
                      </a:pPr>
                      <a:r>
                        <a:rPr sz="800">
                          <a:solidFill>
                            <a:srgbClr val="002060"/>
                          </a:solidFill>
                          <a:latin typeface="Open Sans"/>
                          <a:ea typeface="Open Sans"/>
                          <a:cs typeface="Open Sans"/>
                          <a:sym typeface="Open Sans"/>
                        </a:rPr>
                        <a:t>70.6%</a:t>
                      </a:r>
                    </a:p>
                  </a:txBody>
                  <a:tcPr marL="7620" marR="7620" marT="7620" marB="7620" anchor="ctr" anchorCtr="0" horzOverflow="overflow">
                    <a:lnL w="6350">
                      <a:solidFill>
                        <a:srgbClr val="002060"/>
                      </a:solidFill>
                      <a:prstDash val="lgDash"/>
                    </a:lnL>
                    <a:lnR w="6350">
                      <a:solidFill>
                        <a:srgbClr val="002060"/>
                      </a:solidFill>
                      <a:prstDash val="lgDash"/>
                    </a:lnR>
                    <a:lnT w="6350">
                      <a:solidFill>
                        <a:srgbClr val="002060"/>
                      </a:solidFill>
                      <a:prstDash val="lgDash"/>
                    </a:lnT>
                    <a:lnB w="6350">
                      <a:solidFill>
                        <a:srgbClr val="002060"/>
                      </a:solidFill>
                      <a:prstDash val="lgDash"/>
                    </a:lnB>
                    <a:solidFill>
                      <a:srgbClr val="B1DEBF"/>
                    </a:solidFill>
                  </a:tcPr>
                </a:tc>
                <a:tc>
                  <a:txBody>
                    <a:bodyPr/>
                    <a:lstStyle/>
                    <a:p>
                      <a:pPr algn="ctr">
                        <a:defRPr sz="1800"/>
                      </a:pPr>
                      <a:r>
                        <a:rPr sz="800">
                          <a:solidFill>
                            <a:srgbClr val="002060"/>
                          </a:solidFill>
                          <a:latin typeface="Open Sans"/>
                          <a:ea typeface="Open Sans"/>
                          <a:cs typeface="Open Sans"/>
                          <a:sym typeface="Open Sans"/>
                        </a:rPr>
                        <a:t>24.5%</a:t>
                      </a:r>
                    </a:p>
                  </a:txBody>
                  <a:tcPr marL="7620" marR="7620" marT="7620" marB="7620" anchor="ctr" anchorCtr="0" horzOverflow="overflow">
                    <a:lnL w="6350">
                      <a:solidFill>
                        <a:srgbClr val="002060"/>
                      </a:solidFill>
                      <a:prstDash val="lgDash"/>
                    </a:lnL>
                    <a:lnR w="12700">
                      <a:miter lim="400000"/>
                    </a:lnR>
                    <a:lnT w="6350">
                      <a:solidFill>
                        <a:srgbClr val="002060"/>
                      </a:solidFill>
                      <a:prstDash val="lgDash"/>
                    </a:lnT>
                    <a:lnB w="6350">
                      <a:solidFill>
                        <a:srgbClr val="002060"/>
                      </a:solidFill>
                      <a:prstDash val="lgDash"/>
                    </a:lnB>
                    <a:solidFill>
                      <a:srgbClr val="FAA1A4"/>
                    </a:solidFill>
                  </a:tcPr>
                </a:tc>
              </a:tr>
              <a:tr h="233036">
                <a:tc>
                  <a:txBody>
                    <a:bodyPr/>
                    <a:lstStyle/>
                    <a:p>
                      <a:pPr algn="ctr">
                        <a:defRPr sz="1800"/>
                      </a:pPr>
                      <a:r>
                        <a:rPr b="1" sz="800">
                          <a:solidFill>
                            <a:srgbClr val="002060"/>
                          </a:solidFill>
                          <a:latin typeface="Open Sans"/>
                          <a:ea typeface="Open Sans"/>
                          <a:cs typeface="Open Sans"/>
                          <a:sym typeface="Open Sans"/>
                        </a:rPr>
                        <a:t>&lt;=₹200</a:t>
                      </a:r>
                    </a:p>
                  </a:txBody>
                  <a:tcPr marL="45720" marR="45720" marT="45720" marB="45720" anchor="ctr" anchorCtr="0" horzOverflow="overflow">
                    <a:lnL w="12700">
                      <a:miter lim="400000"/>
                    </a:lnL>
                    <a:lnR w="6350">
                      <a:solidFill>
                        <a:srgbClr val="002060"/>
                      </a:solidFill>
                      <a:prstDash val="lgDash"/>
                    </a:lnR>
                    <a:lnT w="6350">
                      <a:solidFill>
                        <a:srgbClr val="002060"/>
                      </a:solidFill>
                      <a:prstDash val="lgDash"/>
                    </a:lnT>
                    <a:lnB w="6350">
                      <a:solidFill>
                        <a:srgbClr val="002060"/>
                      </a:solidFill>
                      <a:prstDash val="lgDash"/>
                    </a:lnB>
                    <a:noFill/>
                  </a:tcPr>
                </a:tc>
                <a:tc>
                  <a:txBody>
                    <a:bodyPr/>
                    <a:lstStyle/>
                    <a:p>
                      <a:pPr algn="ctr">
                        <a:defRPr sz="1800"/>
                      </a:pPr>
                      <a:r>
                        <a:rPr sz="800">
                          <a:solidFill>
                            <a:srgbClr val="002060"/>
                          </a:solidFill>
                          <a:latin typeface="Open Sans"/>
                          <a:ea typeface="Open Sans"/>
                          <a:cs typeface="Open Sans"/>
                          <a:sym typeface="Open Sans"/>
                        </a:rPr>
                        <a:t>37.5%</a:t>
                      </a:r>
                    </a:p>
                  </a:txBody>
                  <a:tcPr marL="7620" marR="7620" marT="7620" marB="7620" anchor="ctr" anchorCtr="0" horzOverflow="overflow">
                    <a:lnL w="6350">
                      <a:solidFill>
                        <a:srgbClr val="002060"/>
                      </a:solidFill>
                      <a:prstDash val="lgDash"/>
                    </a:lnL>
                    <a:lnR w="6350">
                      <a:solidFill>
                        <a:srgbClr val="002060"/>
                      </a:solidFill>
                      <a:prstDash val="lgDash"/>
                    </a:lnR>
                    <a:lnT w="6350">
                      <a:solidFill>
                        <a:srgbClr val="002060"/>
                      </a:solidFill>
                      <a:prstDash val="lgDash"/>
                    </a:lnT>
                    <a:lnB w="6350">
                      <a:solidFill>
                        <a:srgbClr val="002060"/>
                      </a:solidFill>
                      <a:prstDash val="lgDash"/>
                    </a:lnB>
                    <a:solidFill>
                      <a:srgbClr val="A9DBB8"/>
                    </a:solidFill>
                  </a:tcPr>
                </a:tc>
                <a:tc>
                  <a:txBody>
                    <a:bodyPr/>
                    <a:lstStyle/>
                    <a:p>
                      <a:pPr algn="ctr">
                        <a:defRPr sz="1800"/>
                      </a:pPr>
                      <a:r>
                        <a:rPr sz="800">
                          <a:solidFill>
                            <a:srgbClr val="002060"/>
                          </a:solidFill>
                          <a:latin typeface="Open Sans"/>
                          <a:ea typeface="Open Sans"/>
                          <a:cs typeface="Open Sans"/>
                          <a:sym typeface="Open Sans"/>
                        </a:rPr>
                        <a:t>50.2%</a:t>
                      </a:r>
                    </a:p>
                  </a:txBody>
                  <a:tcPr marL="7620" marR="7620" marT="7620" marB="7620" anchor="ctr" anchorCtr="0" horzOverflow="overflow">
                    <a:lnL w="6350">
                      <a:solidFill>
                        <a:srgbClr val="002060"/>
                      </a:solidFill>
                      <a:prstDash val="lgDash"/>
                    </a:lnL>
                    <a:lnR w="6350">
                      <a:solidFill>
                        <a:srgbClr val="002060"/>
                      </a:solidFill>
                      <a:prstDash val="lgDash"/>
                    </a:lnR>
                    <a:lnT w="6350">
                      <a:solidFill>
                        <a:srgbClr val="002060"/>
                      </a:solidFill>
                      <a:prstDash val="lgDash"/>
                    </a:lnT>
                    <a:lnB w="6350">
                      <a:solidFill>
                        <a:srgbClr val="002060"/>
                      </a:solidFill>
                      <a:prstDash val="lgDash"/>
                    </a:lnB>
                    <a:solidFill>
                      <a:srgbClr val="A8DAB7"/>
                    </a:solidFill>
                  </a:tcPr>
                </a:tc>
                <a:tc>
                  <a:txBody>
                    <a:bodyPr/>
                    <a:lstStyle/>
                    <a:p>
                      <a:pPr algn="ctr">
                        <a:defRPr sz="1800"/>
                      </a:pPr>
                      <a:r>
                        <a:rPr sz="800">
                          <a:solidFill>
                            <a:srgbClr val="002060"/>
                          </a:solidFill>
                          <a:latin typeface="Open Sans"/>
                          <a:ea typeface="Open Sans"/>
                          <a:cs typeface="Open Sans"/>
                          <a:sym typeface="Open Sans"/>
                        </a:rPr>
                        <a:t>76.4%</a:t>
                      </a:r>
                    </a:p>
                  </a:txBody>
                  <a:tcPr marL="7620" marR="7620" marT="7620" marB="7620" anchor="ctr" anchorCtr="0" horzOverflow="overflow">
                    <a:lnL w="6350">
                      <a:solidFill>
                        <a:srgbClr val="002060"/>
                      </a:solidFill>
                      <a:prstDash val="lgDash"/>
                    </a:lnL>
                    <a:lnR w="6350">
                      <a:solidFill>
                        <a:srgbClr val="002060"/>
                      </a:solidFill>
                      <a:prstDash val="lgDash"/>
                    </a:lnR>
                    <a:lnT w="6350">
                      <a:solidFill>
                        <a:srgbClr val="002060"/>
                      </a:solidFill>
                      <a:prstDash val="lgDash"/>
                    </a:lnT>
                    <a:lnB w="6350">
                      <a:solidFill>
                        <a:srgbClr val="002060"/>
                      </a:solidFill>
                      <a:prstDash val="lgDash"/>
                    </a:lnB>
                    <a:solidFill>
                      <a:srgbClr val="8DCF9F"/>
                    </a:solidFill>
                  </a:tcPr>
                </a:tc>
                <a:tc>
                  <a:txBody>
                    <a:bodyPr/>
                    <a:lstStyle/>
                    <a:p>
                      <a:pPr algn="ctr">
                        <a:defRPr sz="1800"/>
                      </a:pPr>
                      <a:r>
                        <a:rPr sz="800">
                          <a:solidFill>
                            <a:srgbClr val="002060"/>
                          </a:solidFill>
                          <a:latin typeface="Open Sans"/>
                          <a:ea typeface="Open Sans"/>
                          <a:cs typeface="Open Sans"/>
                          <a:sym typeface="Open Sans"/>
                        </a:rPr>
                        <a:t>21.9%</a:t>
                      </a:r>
                    </a:p>
                  </a:txBody>
                  <a:tcPr marL="7620" marR="7620" marT="7620" marB="7620" anchor="ctr" anchorCtr="0" horzOverflow="overflow">
                    <a:lnL w="6350">
                      <a:solidFill>
                        <a:srgbClr val="002060"/>
                      </a:solidFill>
                      <a:prstDash val="lgDash"/>
                    </a:lnL>
                    <a:lnR w="12700">
                      <a:miter lim="400000"/>
                    </a:lnR>
                    <a:lnT w="6350">
                      <a:solidFill>
                        <a:srgbClr val="002060"/>
                      </a:solidFill>
                      <a:prstDash val="lgDash"/>
                    </a:lnT>
                    <a:lnB w="6350">
                      <a:solidFill>
                        <a:srgbClr val="002060"/>
                      </a:solidFill>
                      <a:prstDash val="lgDash"/>
                    </a:lnB>
                    <a:solidFill>
                      <a:srgbClr val="FBC3C6"/>
                    </a:solidFill>
                  </a:tcPr>
                </a:tc>
              </a:tr>
              <a:tr h="233036">
                <a:tc>
                  <a:txBody>
                    <a:bodyPr/>
                    <a:lstStyle/>
                    <a:p>
                      <a:pPr algn="ctr">
                        <a:defRPr sz="1800"/>
                      </a:pPr>
                      <a:r>
                        <a:rPr b="1" sz="800">
                          <a:solidFill>
                            <a:srgbClr val="002060"/>
                          </a:solidFill>
                          <a:latin typeface="Open Sans"/>
                          <a:ea typeface="Open Sans"/>
                          <a:cs typeface="Open Sans"/>
                          <a:sym typeface="Open Sans"/>
                        </a:rPr>
                        <a:t>&lt;=₹500</a:t>
                      </a:r>
                    </a:p>
                  </a:txBody>
                  <a:tcPr marL="45720" marR="45720" marT="45720" marB="45720" anchor="ctr" anchorCtr="0" horzOverflow="overflow">
                    <a:lnL w="12700">
                      <a:miter lim="400000"/>
                    </a:lnL>
                    <a:lnR w="6350">
                      <a:solidFill>
                        <a:srgbClr val="002060"/>
                      </a:solidFill>
                      <a:prstDash val="lgDash"/>
                    </a:lnR>
                    <a:lnT w="6350">
                      <a:solidFill>
                        <a:srgbClr val="002060"/>
                      </a:solidFill>
                      <a:prstDash val="lgDash"/>
                    </a:lnT>
                    <a:lnB w="6350">
                      <a:solidFill>
                        <a:srgbClr val="002060"/>
                      </a:solidFill>
                      <a:prstDash val="lgDash"/>
                    </a:lnB>
                    <a:noFill/>
                  </a:tcPr>
                </a:tc>
                <a:tc>
                  <a:txBody>
                    <a:bodyPr/>
                    <a:lstStyle/>
                    <a:p>
                      <a:pPr algn="ctr">
                        <a:defRPr sz="1800"/>
                      </a:pPr>
                      <a:r>
                        <a:rPr sz="800">
                          <a:solidFill>
                            <a:srgbClr val="002060"/>
                          </a:solidFill>
                          <a:latin typeface="Open Sans"/>
                          <a:ea typeface="Open Sans"/>
                          <a:cs typeface="Open Sans"/>
                          <a:sym typeface="Open Sans"/>
                        </a:rPr>
                        <a:t>44.1%</a:t>
                      </a:r>
                    </a:p>
                  </a:txBody>
                  <a:tcPr marL="7620" marR="7620" marT="7620" marB="7620" anchor="ctr" anchorCtr="0" horzOverflow="overflow">
                    <a:lnL w="6350">
                      <a:solidFill>
                        <a:srgbClr val="002060"/>
                      </a:solidFill>
                      <a:prstDash val="lgDash"/>
                    </a:lnL>
                    <a:lnR w="6350">
                      <a:solidFill>
                        <a:srgbClr val="002060"/>
                      </a:solidFill>
                      <a:prstDash val="lgDash"/>
                    </a:lnR>
                    <a:lnT w="6350">
                      <a:solidFill>
                        <a:srgbClr val="002060"/>
                      </a:solidFill>
                      <a:prstDash val="lgDash"/>
                    </a:lnT>
                    <a:lnB w="6350">
                      <a:solidFill>
                        <a:srgbClr val="002060"/>
                      </a:solidFill>
                      <a:prstDash val="lgDash"/>
                    </a:lnB>
                    <a:solidFill>
                      <a:srgbClr val="87CD9B"/>
                    </a:solidFill>
                  </a:tcPr>
                </a:tc>
                <a:tc>
                  <a:txBody>
                    <a:bodyPr/>
                    <a:lstStyle/>
                    <a:p>
                      <a:pPr algn="ctr">
                        <a:defRPr sz="1800"/>
                      </a:pPr>
                      <a:r>
                        <a:rPr sz="800">
                          <a:solidFill>
                            <a:srgbClr val="002060"/>
                          </a:solidFill>
                          <a:latin typeface="Open Sans"/>
                          <a:ea typeface="Open Sans"/>
                          <a:cs typeface="Open Sans"/>
                          <a:sym typeface="Open Sans"/>
                        </a:rPr>
                        <a:t>49.2%</a:t>
                      </a:r>
                    </a:p>
                  </a:txBody>
                  <a:tcPr marL="7620" marR="7620" marT="7620" marB="7620" anchor="ctr" anchorCtr="0" horzOverflow="overflow">
                    <a:lnL w="6350">
                      <a:solidFill>
                        <a:srgbClr val="002060"/>
                      </a:solidFill>
                      <a:prstDash val="lgDash"/>
                    </a:lnL>
                    <a:lnR w="6350">
                      <a:solidFill>
                        <a:srgbClr val="002060"/>
                      </a:solidFill>
                      <a:prstDash val="lgDash"/>
                    </a:lnR>
                    <a:lnT w="6350">
                      <a:solidFill>
                        <a:srgbClr val="002060"/>
                      </a:solidFill>
                      <a:prstDash val="lgDash"/>
                    </a:lnT>
                    <a:lnB w="6350">
                      <a:solidFill>
                        <a:srgbClr val="002060"/>
                      </a:solidFill>
                      <a:prstDash val="lgDash"/>
                    </a:lnB>
                    <a:solidFill>
                      <a:srgbClr val="BBE2C7"/>
                    </a:solidFill>
                  </a:tcPr>
                </a:tc>
                <a:tc>
                  <a:txBody>
                    <a:bodyPr/>
                    <a:lstStyle/>
                    <a:p>
                      <a:pPr algn="ctr">
                        <a:defRPr sz="1800"/>
                      </a:pPr>
                      <a:r>
                        <a:rPr sz="800">
                          <a:solidFill>
                            <a:srgbClr val="002060"/>
                          </a:solidFill>
                          <a:latin typeface="Open Sans"/>
                          <a:ea typeface="Open Sans"/>
                          <a:cs typeface="Open Sans"/>
                          <a:sym typeface="Open Sans"/>
                        </a:rPr>
                        <a:t>80.8%</a:t>
                      </a:r>
                    </a:p>
                  </a:txBody>
                  <a:tcPr marL="7620" marR="7620" marT="7620" marB="7620" anchor="ctr" anchorCtr="0" horzOverflow="overflow">
                    <a:lnL w="6350">
                      <a:solidFill>
                        <a:srgbClr val="002060"/>
                      </a:solidFill>
                      <a:prstDash val="lgDash"/>
                    </a:lnL>
                    <a:lnR w="6350">
                      <a:solidFill>
                        <a:srgbClr val="002060"/>
                      </a:solidFill>
                      <a:prstDash val="lgDash"/>
                    </a:lnR>
                    <a:lnT w="6350">
                      <a:solidFill>
                        <a:srgbClr val="002060"/>
                      </a:solidFill>
                      <a:prstDash val="lgDash"/>
                    </a:lnT>
                    <a:lnB w="6350">
                      <a:solidFill>
                        <a:srgbClr val="002060"/>
                      </a:solidFill>
                      <a:prstDash val="lgDash"/>
                    </a:lnB>
                    <a:solidFill>
                      <a:srgbClr val="70C486"/>
                    </a:solidFill>
                  </a:tcPr>
                </a:tc>
                <a:tc>
                  <a:txBody>
                    <a:bodyPr/>
                    <a:lstStyle/>
                    <a:p>
                      <a:pPr algn="ctr">
                        <a:defRPr sz="1800"/>
                      </a:pPr>
                      <a:r>
                        <a:rPr sz="800">
                          <a:solidFill>
                            <a:srgbClr val="002060"/>
                          </a:solidFill>
                          <a:latin typeface="Open Sans"/>
                          <a:ea typeface="Open Sans"/>
                          <a:cs typeface="Open Sans"/>
                          <a:sym typeface="Open Sans"/>
                        </a:rPr>
                        <a:t>19.7%</a:t>
                      </a:r>
                    </a:p>
                  </a:txBody>
                  <a:tcPr marL="7620" marR="7620" marT="7620" marB="7620" anchor="ctr" anchorCtr="0" horzOverflow="overflow">
                    <a:lnL w="6350">
                      <a:solidFill>
                        <a:srgbClr val="002060"/>
                      </a:solidFill>
                      <a:prstDash val="lgDash"/>
                    </a:lnL>
                    <a:lnR w="12700">
                      <a:miter lim="400000"/>
                    </a:lnR>
                    <a:lnT w="6350">
                      <a:solidFill>
                        <a:srgbClr val="002060"/>
                      </a:solidFill>
                      <a:prstDash val="lgDash"/>
                    </a:lnT>
                    <a:lnB w="6350">
                      <a:solidFill>
                        <a:srgbClr val="002060"/>
                      </a:solidFill>
                      <a:prstDash val="lgDash"/>
                    </a:lnB>
                    <a:solidFill>
                      <a:srgbClr val="FCDFE2"/>
                    </a:solidFill>
                  </a:tcPr>
                </a:tc>
              </a:tr>
              <a:tr h="233036">
                <a:tc>
                  <a:txBody>
                    <a:bodyPr/>
                    <a:lstStyle/>
                    <a:p>
                      <a:pPr algn="ctr">
                        <a:defRPr sz="1800"/>
                      </a:pPr>
                      <a:r>
                        <a:rPr b="1" sz="800">
                          <a:solidFill>
                            <a:srgbClr val="002060"/>
                          </a:solidFill>
                          <a:latin typeface="Open Sans"/>
                          <a:ea typeface="Open Sans"/>
                          <a:cs typeface="Open Sans"/>
                          <a:sym typeface="Open Sans"/>
                        </a:rPr>
                        <a:t>₹500+</a:t>
                      </a:r>
                    </a:p>
                  </a:txBody>
                  <a:tcPr marL="45720" marR="45720" marT="45720" marB="45720" anchor="ctr" anchorCtr="0" horzOverflow="overflow">
                    <a:lnL w="12700">
                      <a:miter lim="400000"/>
                    </a:lnL>
                    <a:lnR w="6350">
                      <a:solidFill>
                        <a:srgbClr val="002060"/>
                      </a:solidFill>
                      <a:prstDash val="lgDash"/>
                    </a:lnR>
                    <a:lnT w="6350">
                      <a:solidFill>
                        <a:srgbClr val="002060"/>
                      </a:solidFill>
                      <a:prstDash val="lgDash"/>
                    </a:lnT>
                    <a:lnB w="6350">
                      <a:solidFill>
                        <a:srgbClr val="002060"/>
                      </a:solidFill>
                      <a:prstDash val="lgDash"/>
                    </a:lnB>
                    <a:noFill/>
                  </a:tcPr>
                </a:tc>
                <a:tc>
                  <a:txBody>
                    <a:bodyPr/>
                    <a:lstStyle/>
                    <a:p>
                      <a:pPr algn="ctr">
                        <a:defRPr sz="1800"/>
                      </a:pPr>
                      <a:r>
                        <a:rPr sz="800">
                          <a:solidFill>
                            <a:srgbClr val="002060"/>
                          </a:solidFill>
                          <a:latin typeface="Open Sans"/>
                          <a:ea typeface="Open Sans"/>
                          <a:cs typeface="Open Sans"/>
                          <a:sym typeface="Open Sans"/>
                        </a:rPr>
                        <a:t>51.1%</a:t>
                      </a:r>
                    </a:p>
                  </a:txBody>
                  <a:tcPr marL="7620" marR="7620" marT="7620" marB="7620" anchor="ctr" anchorCtr="0" horzOverflow="overflow">
                    <a:lnL w="6350">
                      <a:solidFill>
                        <a:srgbClr val="002060"/>
                      </a:solidFill>
                      <a:prstDash val="lgDash"/>
                    </a:lnL>
                    <a:lnR w="6350">
                      <a:solidFill>
                        <a:srgbClr val="002060"/>
                      </a:solidFill>
                      <a:prstDash val="lgDash"/>
                    </a:lnR>
                    <a:lnT w="6350">
                      <a:solidFill>
                        <a:srgbClr val="002060"/>
                      </a:solidFill>
                      <a:prstDash val="lgDash"/>
                    </a:lnT>
                    <a:lnB w="6350">
                      <a:solidFill>
                        <a:srgbClr val="002060"/>
                      </a:solidFill>
                      <a:prstDash val="lgDash"/>
                    </a:lnB>
                    <a:solidFill>
                      <a:srgbClr val="63BE7B"/>
                    </a:solidFill>
                  </a:tcPr>
                </a:tc>
                <a:tc>
                  <a:txBody>
                    <a:bodyPr/>
                    <a:lstStyle/>
                    <a:p>
                      <a:pPr algn="ctr">
                        <a:defRPr sz="1800"/>
                      </a:pPr>
                      <a:r>
                        <a:rPr sz="800">
                          <a:solidFill>
                            <a:srgbClr val="002060"/>
                          </a:solidFill>
                          <a:latin typeface="Open Sans"/>
                          <a:ea typeface="Open Sans"/>
                          <a:cs typeface="Open Sans"/>
                          <a:sym typeface="Open Sans"/>
                        </a:rPr>
                        <a:t>45.7%</a:t>
                      </a:r>
                    </a:p>
                  </a:txBody>
                  <a:tcPr marL="7620" marR="7620" marT="7620" marB="7620" anchor="ctr" anchorCtr="0" horzOverflow="overflow">
                    <a:lnL w="6350">
                      <a:solidFill>
                        <a:srgbClr val="002060"/>
                      </a:solidFill>
                      <a:prstDash val="lgDash"/>
                    </a:lnL>
                    <a:lnR w="6350">
                      <a:solidFill>
                        <a:srgbClr val="002060"/>
                      </a:solidFill>
                      <a:prstDash val="lgDash"/>
                    </a:lnR>
                    <a:lnT w="6350">
                      <a:solidFill>
                        <a:srgbClr val="002060"/>
                      </a:solidFill>
                      <a:prstDash val="lgDash"/>
                    </a:lnT>
                    <a:lnB w="6350">
                      <a:solidFill>
                        <a:srgbClr val="002060"/>
                      </a:solidFill>
                      <a:prstDash val="lgDash"/>
                    </a:lnB>
                    <a:solidFill>
                      <a:srgbClr val="FCFCFF"/>
                    </a:solidFill>
                  </a:tcPr>
                </a:tc>
                <a:tc>
                  <a:txBody>
                    <a:bodyPr/>
                    <a:lstStyle/>
                    <a:p>
                      <a:pPr algn="ctr">
                        <a:defRPr sz="1800"/>
                      </a:pPr>
                      <a:r>
                        <a:rPr sz="800">
                          <a:solidFill>
                            <a:srgbClr val="002060"/>
                          </a:solidFill>
                          <a:latin typeface="Open Sans"/>
                          <a:ea typeface="Open Sans"/>
                          <a:cs typeface="Open Sans"/>
                          <a:sym typeface="Open Sans"/>
                        </a:rPr>
                        <a:t>82.7%</a:t>
                      </a:r>
                    </a:p>
                  </a:txBody>
                  <a:tcPr marL="7620" marR="7620" marT="7620" marB="7620" anchor="ctr" anchorCtr="0" horzOverflow="overflow">
                    <a:lnL w="6350">
                      <a:solidFill>
                        <a:srgbClr val="002060"/>
                      </a:solidFill>
                      <a:prstDash val="lgDash"/>
                    </a:lnL>
                    <a:lnR w="6350">
                      <a:solidFill>
                        <a:srgbClr val="002060"/>
                      </a:solidFill>
                      <a:prstDash val="lgDash"/>
                    </a:lnR>
                    <a:lnT w="6350">
                      <a:solidFill>
                        <a:srgbClr val="002060"/>
                      </a:solidFill>
                      <a:prstDash val="lgDash"/>
                    </a:lnT>
                    <a:lnB w="6350">
                      <a:solidFill>
                        <a:srgbClr val="002060"/>
                      </a:solidFill>
                      <a:prstDash val="lgDash"/>
                    </a:lnB>
                    <a:solidFill>
                      <a:srgbClr val="63BE7B"/>
                    </a:solidFill>
                  </a:tcPr>
                </a:tc>
                <a:tc>
                  <a:txBody>
                    <a:bodyPr/>
                    <a:lstStyle/>
                    <a:p>
                      <a:pPr algn="ctr">
                        <a:defRPr sz="1800"/>
                      </a:pPr>
                      <a:r>
                        <a:rPr sz="800">
                          <a:solidFill>
                            <a:srgbClr val="002060"/>
                          </a:solidFill>
                          <a:latin typeface="Open Sans"/>
                          <a:ea typeface="Open Sans"/>
                          <a:cs typeface="Open Sans"/>
                          <a:sym typeface="Open Sans"/>
                        </a:rPr>
                        <a:t>17.4%</a:t>
                      </a:r>
                    </a:p>
                  </a:txBody>
                  <a:tcPr marL="7620" marR="7620" marT="7620" marB="7620" anchor="ctr" anchorCtr="0" horzOverflow="overflow">
                    <a:lnL w="6350">
                      <a:solidFill>
                        <a:srgbClr val="002060"/>
                      </a:solidFill>
                      <a:prstDash val="lgDash"/>
                    </a:lnL>
                    <a:lnR w="12700">
                      <a:miter lim="400000"/>
                    </a:lnR>
                    <a:lnT w="6350">
                      <a:solidFill>
                        <a:srgbClr val="002060"/>
                      </a:solidFill>
                      <a:prstDash val="lgDash"/>
                    </a:lnT>
                    <a:lnB w="6350">
                      <a:solidFill>
                        <a:srgbClr val="002060"/>
                      </a:solidFill>
                      <a:prstDash val="lgDash"/>
                    </a:lnB>
                    <a:solidFill>
                      <a:srgbClr val="FCFCFF"/>
                    </a:solidFill>
                  </a:tcPr>
                </a:tc>
              </a:tr>
              <a:tr h="242991">
                <a:tc>
                  <a:txBody>
                    <a:bodyPr/>
                    <a:lstStyle/>
                    <a:p>
                      <a:pPr algn="ctr">
                        <a:defRPr sz="1800"/>
                      </a:pPr>
                      <a:r>
                        <a:rPr sz="800">
                          <a:solidFill>
                            <a:srgbClr val="002060"/>
                          </a:solidFill>
                          <a:latin typeface="Open Sans"/>
                          <a:ea typeface="Open Sans"/>
                          <a:cs typeface="Open Sans"/>
                          <a:sym typeface="Open Sans"/>
                        </a:rPr>
                        <a:t>Missing</a:t>
                      </a:r>
                    </a:p>
                  </a:txBody>
                  <a:tcPr marL="7620" marR="7620" marT="7620" marB="7620" anchor="ctr" anchorCtr="0" horzOverflow="overflow">
                    <a:lnL w="12700">
                      <a:miter lim="400000"/>
                    </a:lnL>
                    <a:lnR w="6350">
                      <a:solidFill>
                        <a:srgbClr val="002060"/>
                      </a:solidFill>
                      <a:prstDash val="lgDash"/>
                    </a:lnR>
                    <a:lnT w="6350">
                      <a:solidFill>
                        <a:srgbClr val="002060"/>
                      </a:solidFill>
                      <a:prstDash val="lgDash"/>
                    </a:lnT>
                    <a:lnB w="6350">
                      <a:solidFill>
                        <a:srgbClr val="002060"/>
                      </a:solidFill>
                      <a:prstDash val="lgDash"/>
                    </a:lnB>
                    <a:noFill/>
                  </a:tcPr>
                </a:tc>
                <a:tc>
                  <a:txBody>
                    <a:bodyPr/>
                    <a:lstStyle/>
                    <a:p>
                      <a:pPr algn="ctr">
                        <a:defRPr sz="1800"/>
                      </a:pPr>
                      <a:r>
                        <a:rPr sz="800">
                          <a:solidFill>
                            <a:srgbClr val="002060"/>
                          </a:solidFill>
                          <a:latin typeface="Open Sans"/>
                          <a:ea typeface="Open Sans"/>
                          <a:cs typeface="Open Sans"/>
                          <a:sym typeface="Open Sans"/>
                        </a:rPr>
                        <a:t>13.0%</a:t>
                      </a:r>
                    </a:p>
                  </a:txBody>
                  <a:tcPr marL="7620" marR="7620" marT="7620" marB="7620" anchor="ctr" anchorCtr="0" horzOverflow="overflow">
                    <a:lnL w="6350">
                      <a:solidFill>
                        <a:srgbClr val="002060"/>
                      </a:solidFill>
                      <a:prstDash val="lgDash"/>
                    </a:lnL>
                    <a:lnR w="6350">
                      <a:solidFill>
                        <a:srgbClr val="002060"/>
                      </a:solidFill>
                      <a:prstDash val="lgDash"/>
                    </a:lnR>
                    <a:lnT w="6350">
                      <a:solidFill>
                        <a:srgbClr val="002060"/>
                      </a:solidFill>
                      <a:prstDash val="lgDash"/>
                    </a:lnT>
                    <a:lnB w="6350">
                      <a:solidFill>
                        <a:srgbClr val="002060"/>
                      </a:solidFill>
                      <a:prstDash val="lgDash"/>
                    </a:lnB>
                    <a:solidFill>
                      <a:srgbClr val="D0CECE"/>
                    </a:solidFill>
                  </a:tcPr>
                </a:tc>
                <a:tc>
                  <a:txBody>
                    <a:bodyPr/>
                    <a:lstStyle/>
                    <a:p>
                      <a:pPr algn="ctr">
                        <a:defRPr sz="1800"/>
                      </a:pPr>
                      <a:r>
                        <a:rPr sz="800">
                          <a:solidFill>
                            <a:srgbClr val="002060"/>
                          </a:solidFill>
                          <a:latin typeface="Open Sans"/>
                          <a:ea typeface="Open Sans"/>
                          <a:cs typeface="Open Sans"/>
                          <a:sym typeface="Open Sans"/>
                        </a:rPr>
                        <a:t>56.8%</a:t>
                      </a:r>
                    </a:p>
                  </a:txBody>
                  <a:tcPr marL="7620" marR="7620" marT="7620" marB="7620" anchor="ctr" anchorCtr="0" horzOverflow="overflow">
                    <a:lnL w="6350">
                      <a:solidFill>
                        <a:srgbClr val="002060"/>
                      </a:solidFill>
                      <a:prstDash val="lgDash"/>
                    </a:lnL>
                    <a:lnR w="6350">
                      <a:solidFill>
                        <a:srgbClr val="002060"/>
                      </a:solidFill>
                      <a:prstDash val="lgDash"/>
                    </a:lnR>
                    <a:lnT w="6350">
                      <a:solidFill>
                        <a:srgbClr val="002060"/>
                      </a:solidFill>
                      <a:prstDash val="lgDash"/>
                    </a:lnT>
                    <a:lnB w="6350">
                      <a:solidFill>
                        <a:srgbClr val="002060"/>
                      </a:solidFill>
                      <a:prstDash val="lgDash"/>
                    </a:lnB>
                    <a:solidFill>
                      <a:srgbClr val="D0CECE"/>
                    </a:solidFill>
                  </a:tcPr>
                </a:tc>
                <a:tc>
                  <a:txBody>
                    <a:bodyPr/>
                    <a:lstStyle/>
                    <a:p>
                      <a:pPr algn="ctr">
                        <a:defRPr sz="1800"/>
                      </a:pPr>
                      <a:r>
                        <a:rPr sz="800">
                          <a:solidFill>
                            <a:srgbClr val="002060"/>
                          </a:solidFill>
                          <a:latin typeface="Open Sans"/>
                          <a:ea typeface="Open Sans"/>
                          <a:cs typeface="Open Sans"/>
                          <a:sym typeface="Open Sans"/>
                        </a:rPr>
                        <a:t>60.6%</a:t>
                      </a:r>
                    </a:p>
                  </a:txBody>
                  <a:tcPr marL="7620" marR="7620" marT="7620" marB="7620" anchor="ctr" anchorCtr="0" horzOverflow="overflow">
                    <a:lnL w="6350">
                      <a:solidFill>
                        <a:srgbClr val="002060"/>
                      </a:solidFill>
                      <a:prstDash val="lgDash"/>
                    </a:lnL>
                    <a:lnR w="6350">
                      <a:solidFill>
                        <a:srgbClr val="002060"/>
                      </a:solidFill>
                      <a:prstDash val="lgDash"/>
                    </a:lnR>
                    <a:lnT w="6350">
                      <a:solidFill>
                        <a:srgbClr val="002060"/>
                      </a:solidFill>
                      <a:prstDash val="lgDash"/>
                    </a:lnT>
                    <a:lnB w="6350">
                      <a:solidFill>
                        <a:srgbClr val="002060"/>
                      </a:solidFill>
                      <a:prstDash val="lgDash"/>
                    </a:lnB>
                    <a:solidFill>
                      <a:srgbClr val="D0CECE"/>
                    </a:solidFill>
                  </a:tcPr>
                </a:tc>
                <a:tc>
                  <a:txBody>
                    <a:bodyPr/>
                    <a:lstStyle/>
                    <a:p>
                      <a:pPr algn="ctr">
                        <a:defRPr sz="1800"/>
                      </a:pPr>
                      <a:r>
                        <a:rPr sz="800">
                          <a:solidFill>
                            <a:srgbClr val="002060"/>
                          </a:solidFill>
                          <a:latin typeface="Open Sans"/>
                          <a:ea typeface="Open Sans"/>
                          <a:cs typeface="Open Sans"/>
                          <a:sym typeface="Open Sans"/>
                        </a:rPr>
                        <a:t>26.3%</a:t>
                      </a:r>
                    </a:p>
                  </a:txBody>
                  <a:tcPr marL="7620" marR="7620" marT="7620" marB="7620" anchor="ctr" anchorCtr="0" horzOverflow="overflow">
                    <a:lnL w="6350">
                      <a:solidFill>
                        <a:srgbClr val="002060"/>
                      </a:solidFill>
                      <a:prstDash val="lgDash"/>
                    </a:lnL>
                    <a:lnR w="12700">
                      <a:miter lim="400000"/>
                    </a:lnR>
                    <a:lnT w="6350">
                      <a:solidFill>
                        <a:srgbClr val="002060"/>
                      </a:solidFill>
                      <a:prstDash val="lgDash"/>
                    </a:lnT>
                    <a:lnB w="6350">
                      <a:solidFill>
                        <a:srgbClr val="002060"/>
                      </a:solidFill>
                      <a:prstDash val="lgDash"/>
                    </a:lnB>
                    <a:solidFill>
                      <a:srgbClr val="D0CECE"/>
                    </a:solidFill>
                  </a:tcPr>
                </a:tc>
              </a:tr>
              <a:tr h="166548">
                <a:tc>
                  <a:txBody>
                    <a:bodyPr/>
                    <a:lstStyle/>
                    <a:p>
                      <a:pPr algn="ctr">
                        <a:defRPr sz="1800"/>
                      </a:pPr>
                      <a:r>
                        <a:rPr b="1" sz="800">
                          <a:solidFill>
                            <a:srgbClr val="002060"/>
                          </a:solidFill>
                          <a:latin typeface="Open Sans"/>
                          <a:ea typeface="Open Sans"/>
                          <a:cs typeface="Open Sans"/>
                          <a:sym typeface="Open Sans"/>
                        </a:rPr>
                        <a:t>Overall</a:t>
                      </a:r>
                    </a:p>
                  </a:txBody>
                  <a:tcPr marL="7620" marR="7620" marT="7620" marB="7620" anchor="ctr" anchorCtr="0" horzOverflow="overflow">
                    <a:lnL w="12700">
                      <a:miter lim="400000"/>
                    </a:lnL>
                    <a:lnR w="6350">
                      <a:solidFill>
                        <a:srgbClr val="002060"/>
                      </a:solidFill>
                      <a:prstDash val="lgDash"/>
                    </a:lnR>
                    <a:lnT w="6350">
                      <a:solidFill>
                        <a:srgbClr val="002060"/>
                      </a:solidFill>
                      <a:prstDash val="lgDash"/>
                    </a:lnT>
                    <a:lnB w="12700">
                      <a:miter lim="400000"/>
                    </a:lnB>
                    <a:noFill/>
                  </a:tcPr>
                </a:tc>
                <a:tc>
                  <a:txBody>
                    <a:bodyPr/>
                    <a:lstStyle/>
                    <a:p>
                      <a:pPr algn="ctr">
                        <a:defRPr sz="1800"/>
                      </a:pPr>
                      <a:r>
                        <a:rPr b="1" sz="800">
                          <a:solidFill>
                            <a:srgbClr val="002060"/>
                          </a:solidFill>
                          <a:latin typeface="Open Sans"/>
                          <a:ea typeface="Open Sans"/>
                          <a:cs typeface="Open Sans"/>
                          <a:sym typeface="Open Sans"/>
                        </a:rPr>
                        <a:t>30.3%</a:t>
                      </a:r>
                    </a:p>
                  </a:txBody>
                  <a:tcPr marL="7620" marR="7620" marT="7620" marB="7620" anchor="ctr" anchorCtr="0" horzOverflow="overflow">
                    <a:lnL w="6350">
                      <a:solidFill>
                        <a:srgbClr val="002060"/>
                      </a:solidFill>
                      <a:prstDash val="lgDash"/>
                    </a:lnL>
                    <a:lnR w="6350">
                      <a:solidFill>
                        <a:srgbClr val="002060"/>
                      </a:solidFill>
                      <a:prstDash val="lgDash"/>
                    </a:lnR>
                    <a:lnT w="6350">
                      <a:solidFill>
                        <a:srgbClr val="002060"/>
                      </a:solidFill>
                      <a:prstDash val="lgDash"/>
                    </a:lnT>
                    <a:lnB w="12700">
                      <a:miter lim="400000"/>
                    </a:lnB>
                    <a:noFill/>
                  </a:tcPr>
                </a:tc>
                <a:tc>
                  <a:txBody>
                    <a:bodyPr/>
                    <a:lstStyle/>
                    <a:p>
                      <a:pPr algn="ctr">
                        <a:defRPr sz="1800"/>
                      </a:pPr>
                      <a:r>
                        <a:rPr b="1" sz="800">
                          <a:solidFill>
                            <a:srgbClr val="002060"/>
                          </a:solidFill>
                          <a:latin typeface="Open Sans"/>
                          <a:ea typeface="Open Sans"/>
                          <a:cs typeface="Open Sans"/>
                          <a:sym typeface="Open Sans"/>
                        </a:rPr>
                        <a:t>49.6%</a:t>
                      </a:r>
                    </a:p>
                  </a:txBody>
                  <a:tcPr marL="7620" marR="7620" marT="7620" marB="7620" anchor="ctr" anchorCtr="0" horzOverflow="overflow">
                    <a:lnL w="6350">
                      <a:solidFill>
                        <a:srgbClr val="002060"/>
                      </a:solidFill>
                      <a:prstDash val="lgDash"/>
                    </a:lnL>
                    <a:lnR w="6350">
                      <a:solidFill>
                        <a:srgbClr val="002060"/>
                      </a:solidFill>
                      <a:prstDash val="lgDash"/>
                    </a:lnR>
                    <a:lnT w="6350">
                      <a:solidFill>
                        <a:srgbClr val="002060"/>
                      </a:solidFill>
                      <a:prstDash val="lgDash"/>
                    </a:lnT>
                    <a:lnB w="12700">
                      <a:miter lim="400000"/>
                    </a:lnB>
                    <a:noFill/>
                  </a:tcPr>
                </a:tc>
                <a:tc>
                  <a:txBody>
                    <a:bodyPr/>
                    <a:lstStyle/>
                    <a:p>
                      <a:pPr algn="ctr">
                        <a:defRPr sz="1800"/>
                      </a:pPr>
                      <a:r>
                        <a:rPr b="1" sz="800">
                          <a:solidFill>
                            <a:srgbClr val="002060"/>
                          </a:solidFill>
                          <a:latin typeface="Open Sans"/>
                          <a:ea typeface="Open Sans"/>
                          <a:cs typeface="Open Sans"/>
                          <a:sym typeface="Open Sans"/>
                        </a:rPr>
                        <a:t>73.2%</a:t>
                      </a:r>
                    </a:p>
                  </a:txBody>
                  <a:tcPr marL="7620" marR="7620" marT="7620" marB="7620" anchor="ctr" anchorCtr="0" horzOverflow="overflow">
                    <a:lnL w="6350">
                      <a:solidFill>
                        <a:srgbClr val="002060"/>
                      </a:solidFill>
                      <a:prstDash val="lgDash"/>
                    </a:lnL>
                    <a:lnR w="6350">
                      <a:solidFill>
                        <a:srgbClr val="002060"/>
                      </a:solidFill>
                      <a:prstDash val="lgDash"/>
                    </a:lnR>
                    <a:lnT w="6350">
                      <a:solidFill>
                        <a:srgbClr val="002060"/>
                      </a:solidFill>
                      <a:prstDash val="lgDash"/>
                    </a:lnT>
                    <a:lnB w="12700">
                      <a:miter lim="400000"/>
                    </a:lnB>
                    <a:noFill/>
                  </a:tcPr>
                </a:tc>
                <a:tc>
                  <a:txBody>
                    <a:bodyPr/>
                    <a:lstStyle/>
                    <a:p>
                      <a:pPr algn="ctr">
                        <a:defRPr sz="1800"/>
                      </a:pPr>
                      <a:r>
                        <a:rPr b="1" sz="800">
                          <a:solidFill>
                            <a:srgbClr val="002060"/>
                          </a:solidFill>
                          <a:latin typeface="Open Sans"/>
                          <a:ea typeface="Open Sans"/>
                          <a:cs typeface="Open Sans"/>
                          <a:sym typeface="Open Sans"/>
                        </a:rPr>
                        <a:t>21.7%</a:t>
                      </a:r>
                    </a:p>
                  </a:txBody>
                  <a:tcPr marL="7620" marR="7620" marT="7620" marB="7620" anchor="ctr" anchorCtr="0" horzOverflow="overflow">
                    <a:lnL w="6350">
                      <a:solidFill>
                        <a:srgbClr val="002060"/>
                      </a:solidFill>
                      <a:prstDash val="lgDash"/>
                    </a:lnL>
                    <a:lnR w="12700">
                      <a:miter lim="400000"/>
                    </a:lnR>
                    <a:lnT w="6350">
                      <a:solidFill>
                        <a:srgbClr val="002060"/>
                      </a:solidFill>
                      <a:prstDash val="lgDash"/>
                    </a:lnT>
                    <a:lnB w="12700">
                      <a:miter lim="400000"/>
                    </a:lnB>
                    <a:noFill/>
                  </a:tcPr>
                </a:tc>
              </a:tr>
            </a:tbl>
          </a:graphicData>
        </a:graphic>
      </p:graphicFrame>
      <p:sp>
        <p:nvSpPr>
          <p:cNvPr id="565" name="TextBox 12"/>
          <p:cNvSpPr txBox="1"/>
          <p:nvPr/>
        </p:nvSpPr>
        <p:spPr>
          <a:xfrm>
            <a:off x="414315" y="3358757"/>
            <a:ext cx="4990924" cy="15138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000">
                <a:solidFill>
                  <a:srgbClr val="002060"/>
                </a:solidFill>
                <a:latin typeface="Open Sans"/>
                <a:ea typeface="Open Sans"/>
                <a:cs typeface="Open Sans"/>
                <a:sym typeface="Open Sans"/>
              </a:defRPr>
            </a:pPr>
            <a:r>
              <a:t>The above data is based on the Leads Generated for Paytm Postpaid in the month  and  having</a:t>
            </a:r>
            <a:r>
              <a:rPr b="1"/>
              <a:t>50L leads</a:t>
            </a:r>
            <a:r>
              <a:t> which lead to </a:t>
            </a:r>
            <a:r>
              <a:rPr b="1"/>
              <a:t>5.5L activations. </a:t>
            </a:r>
            <a:r>
              <a:t>The customer value predictions are based on data is as of .</a:t>
            </a:r>
          </a:p>
          <a:p>
            <a:pPr>
              <a:defRPr sz="1000">
                <a:solidFill>
                  <a:srgbClr val="002060"/>
                </a:solidFill>
                <a:latin typeface="Open Sans"/>
                <a:ea typeface="Open Sans"/>
                <a:cs typeface="Open Sans"/>
                <a:sym typeface="Open Sans"/>
              </a:defRPr>
            </a:pPr>
          </a:p>
          <a:p>
            <a:pPr>
              <a:defRPr sz="1000">
                <a:solidFill>
                  <a:srgbClr val="002060"/>
                </a:solidFill>
                <a:latin typeface="Open Sans"/>
                <a:ea typeface="Open Sans"/>
                <a:cs typeface="Open Sans"/>
                <a:sym typeface="Open Sans"/>
              </a:defRPr>
            </a:pPr>
          </a:p>
          <a:p>
            <a:pPr>
              <a:defRPr sz="1000">
                <a:solidFill>
                  <a:srgbClr val="002060"/>
                </a:solidFill>
                <a:latin typeface="Open Sans"/>
                <a:ea typeface="Open Sans"/>
                <a:cs typeface="Open Sans"/>
                <a:sym typeface="Open Sans"/>
              </a:defRPr>
            </a:pPr>
            <a:r>
              <a:t>**</a:t>
            </a:r>
          </a:p>
          <a:p>
            <a:pPr marL="171450" indent="-171450">
              <a:buClr>
                <a:srgbClr val="000000"/>
              </a:buClr>
              <a:buSzPct val="100000"/>
              <a:buFont typeface="Arial"/>
              <a:buChar char="•"/>
              <a:defRPr i="1" sz="800">
                <a:solidFill>
                  <a:srgbClr val="002060"/>
                </a:solidFill>
                <a:latin typeface="Open Sans"/>
                <a:ea typeface="Open Sans"/>
                <a:cs typeface="Open Sans"/>
                <a:sym typeface="Open Sans"/>
              </a:defRPr>
            </a:pPr>
            <a:r>
              <a:t>Offer Generated Rate: Total PP offer generated/ Total Lead generated </a:t>
            </a:r>
          </a:p>
          <a:p>
            <a:pPr marL="171450" indent="-171450">
              <a:buClr>
                <a:srgbClr val="000000"/>
              </a:buClr>
              <a:buSzPct val="100000"/>
              <a:buFont typeface="Arial"/>
              <a:buChar char="•"/>
              <a:defRPr i="1" sz="800">
                <a:solidFill>
                  <a:srgbClr val="002060"/>
                </a:solidFill>
                <a:latin typeface="Open Sans"/>
                <a:ea typeface="Open Sans"/>
                <a:cs typeface="Open Sans"/>
                <a:sym typeface="Open Sans"/>
              </a:defRPr>
            </a:pPr>
            <a:r>
              <a:t>Signup rate: Total PP Signup/ Total PP offer generated</a:t>
            </a:r>
          </a:p>
          <a:p>
            <a:pPr marL="171450" indent="-171450">
              <a:buClr>
                <a:srgbClr val="000000"/>
              </a:buClr>
              <a:buSzPct val="100000"/>
              <a:buFont typeface="Arial"/>
              <a:buChar char="•"/>
              <a:defRPr i="1" sz="800">
                <a:solidFill>
                  <a:srgbClr val="002060"/>
                </a:solidFill>
                <a:latin typeface="Open Sans"/>
                <a:ea typeface="Open Sans"/>
                <a:cs typeface="Open Sans"/>
                <a:sym typeface="Open Sans"/>
              </a:defRPr>
            </a:pPr>
            <a:r>
              <a:t>Activation rate: Total PP Activated/Total PP Signup</a:t>
            </a:r>
          </a:p>
          <a:p>
            <a:pPr marL="171450" indent="-171450">
              <a:buClr>
                <a:srgbClr val="000000"/>
              </a:buClr>
              <a:buSzPct val="100000"/>
              <a:buFont typeface="Arial"/>
              <a:buChar char="•"/>
              <a:defRPr i="1" sz="800">
                <a:solidFill>
                  <a:srgbClr val="002060"/>
                </a:solidFill>
                <a:latin typeface="Open Sans"/>
                <a:ea typeface="Open Sans"/>
                <a:cs typeface="Open Sans"/>
                <a:sym typeface="Open Sans"/>
              </a:defRPr>
            </a:pPr>
            <a:r>
              <a:t>DPD rate: Total PP DPD after first bill generated/ Total PP activated</a:t>
            </a:r>
          </a:p>
        </p:txBody>
      </p:sp>
      <p:sp>
        <p:nvSpPr>
          <p:cNvPr id="566" name="TextBox 14"/>
          <p:cNvSpPr txBox="1"/>
          <p:nvPr/>
        </p:nvSpPr>
        <p:spPr>
          <a:xfrm>
            <a:off x="5787301" y="1027814"/>
            <a:ext cx="2850236" cy="2250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a:solidFill>
                  <a:srgbClr val="002060"/>
                </a:solidFill>
                <a:latin typeface="Open Sans"/>
                <a:ea typeface="Open Sans"/>
                <a:cs typeface="Open Sans"/>
                <a:sym typeface="Open Sans"/>
              </a:defRPr>
            </a:pPr>
            <a:r>
              <a:t>Offer Generated Rate is</a:t>
            </a:r>
            <a:r>
              <a:rPr>
                <a:solidFill>
                  <a:srgbClr val="000000"/>
                </a:solidFill>
              </a:rPr>
              <a:t> </a:t>
            </a:r>
            <a:r>
              <a:rPr>
                <a:solidFill>
                  <a:srgbClr val="00B050"/>
                </a:solidFill>
              </a:rPr>
              <a:t>2.4x</a:t>
            </a:r>
            <a:r>
              <a:rPr>
                <a:solidFill>
                  <a:srgbClr val="000000"/>
                </a:solidFill>
              </a:rPr>
              <a:t> </a:t>
            </a:r>
            <a:endParaRPr>
              <a:solidFill>
                <a:srgbClr val="000000"/>
              </a:solidFill>
            </a:endParaRPr>
          </a:p>
          <a:p>
            <a:pPr>
              <a:defRPr b="1">
                <a:latin typeface="Open Sans"/>
                <a:ea typeface="Open Sans"/>
                <a:cs typeface="Open Sans"/>
                <a:sym typeface="Open Sans"/>
              </a:defRPr>
            </a:pPr>
          </a:p>
          <a:p>
            <a:pPr>
              <a:defRPr b="1">
                <a:solidFill>
                  <a:srgbClr val="002060"/>
                </a:solidFill>
                <a:latin typeface="Open Sans"/>
                <a:ea typeface="Open Sans"/>
                <a:cs typeface="Open Sans"/>
                <a:sym typeface="Open Sans"/>
              </a:defRPr>
            </a:pPr>
            <a:r>
              <a:t>Activation Rate is</a:t>
            </a:r>
            <a:r>
              <a:rPr>
                <a:solidFill>
                  <a:srgbClr val="000000"/>
                </a:solidFill>
              </a:rPr>
              <a:t> </a:t>
            </a:r>
            <a:r>
              <a:rPr>
                <a:solidFill>
                  <a:srgbClr val="00B050"/>
                </a:solidFill>
              </a:rPr>
              <a:t>1.4x</a:t>
            </a:r>
            <a:endParaRPr>
              <a:solidFill>
                <a:srgbClr val="00B050"/>
              </a:solidFill>
            </a:endParaRPr>
          </a:p>
          <a:p>
            <a:pPr>
              <a:defRPr b="1">
                <a:latin typeface="Open Sans"/>
                <a:ea typeface="Open Sans"/>
                <a:cs typeface="Open Sans"/>
                <a:sym typeface="Open Sans"/>
              </a:defRPr>
            </a:pPr>
          </a:p>
          <a:p>
            <a:pPr>
              <a:defRPr b="1">
                <a:solidFill>
                  <a:srgbClr val="002060"/>
                </a:solidFill>
                <a:latin typeface="Open Sans"/>
                <a:ea typeface="Open Sans"/>
                <a:cs typeface="Open Sans"/>
                <a:sym typeface="Open Sans"/>
              </a:defRPr>
            </a:pPr>
            <a:r>
              <a:t>Delinquency Rate is</a:t>
            </a:r>
            <a:r>
              <a:rPr>
                <a:solidFill>
                  <a:srgbClr val="000000"/>
                </a:solidFill>
              </a:rPr>
              <a:t> </a:t>
            </a:r>
            <a:r>
              <a:rPr>
                <a:solidFill>
                  <a:srgbClr val="00B050"/>
                </a:solidFill>
              </a:rPr>
              <a:t>0.6x</a:t>
            </a:r>
            <a:endParaRPr>
              <a:solidFill>
                <a:srgbClr val="00B050"/>
              </a:solidFill>
            </a:endParaRPr>
          </a:p>
          <a:p>
            <a:pPr>
              <a:defRPr b="1">
                <a:solidFill>
                  <a:srgbClr val="00B050"/>
                </a:solidFill>
                <a:latin typeface="Open Sans"/>
                <a:ea typeface="Open Sans"/>
                <a:cs typeface="Open Sans"/>
                <a:sym typeface="Open Sans"/>
              </a:defRPr>
            </a:pPr>
          </a:p>
          <a:p>
            <a:pPr>
              <a:defRPr i="1" sz="800">
                <a:solidFill>
                  <a:srgbClr val="002060"/>
                </a:solidFill>
                <a:latin typeface="Open Sans"/>
                <a:ea typeface="Open Sans"/>
                <a:cs typeface="Open Sans"/>
                <a:sym typeface="Open Sans"/>
              </a:defRPr>
            </a:pPr>
            <a:r>
              <a:t>* The above ratios are a comparison between highest and lowest CLTV bands.</a:t>
            </a:r>
          </a:p>
          <a:p>
            <a:pPr>
              <a:defRPr sz="1000">
                <a:solidFill>
                  <a:srgbClr val="002060"/>
                </a:solidFill>
                <a:latin typeface="Open Sans"/>
                <a:ea typeface="Open Sans"/>
                <a:cs typeface="Open Sans"/>
                <a:sym typeface="Open Sans"/>
              </a:defRPr>
            </a:pPr>
          </a:p>
          <a:p>
            <a:pPr>
              <a:defRPr sz="1000">
                <a:solidFill>
                  <a:srgbClr val="002060"/>
                </a:solidFill>
                <a:latin typeface="Open Sans"/>
                <a:ea typeface="Open Sans"/>
                <a:cs typeface="Open Sans"/>
                <a:sym typeface="Open Sans"/>
              </a:defRPr>
            </a:pPr>
          </a:p>
          <a:p>
            <a:pPr>
              <a:defRPr sz="1000">
                <a:solidFill>
                  <a:srgbClr val="002060"/>
                </a:solidFill>
                <a:latin typeface="Open Sans"/>
                <a:ea typeface="Open Sans"/>
                <a:cs typeface="Open Sans"/>
                <a:sym typeface="Open Sans"/>
              </a:defRPr>
            </a:pPr>
            <a:r>
              <a:t>We observe a slight decline in signup rate as CLTV increases</a:t>
            </a:r>
          </a:p>
        </p:txBody>
      </p:sp>
      <p:grpSp>
        <p:nvGrpSpPr>
          <p:cNvPr id="569" name="Rectangle: Rounded Corners 16"/>
          <p:cNvGrpSpPr/>
          <p:nvPr/>
        </p:nvGrpSpPr>
        <p:grpSpPr>
          <a:xfrm>
            <a:off x="5741580" y="3650803"/>
            <a:ext cx="2941677" cy="1084231"/>
            <a:chOff x="0" y="0"/>
            <a:chExt cx="2941675" cy="1084230"/>
          </a:xfrm>
        </p:grpSpPr>
        <p:sp>
          <p:nvSpPr>
            <p:cNvPr id="567" name="Rounded Rectangle"/>
            <p:cNvSpPr/>
            <p:nvPr/>
          </p:nvSpPr>
          <p:spPr>
            <a:xfrm>
              <a:off x="0" y="0"/>
              <a:ext cx="2941676" cy="1084231"/>
            </a:xfrm>
            <a:prstGeom prst="roundRect">
              <a:avLst>
                <a:gd name="adj" fmla="val 16667"/>
              </a:avLst>
            </a:prstGeom>
            <a:noFill/>
            <a:ln w="9525" cap="flat">
              <a:solidFill>
                <a:srgbClr val="487399"/>
              </a:solidFill>
              <a:prstDash val="lgDash"/>
              <a:round/>
            </a:ln>
            <a:effectLst/>
          </p:spPr>
          <p:txBody>
            <a:bodyPr wrap="square" lIns="45719" tIns="45719" rIns="45719" bIns="45719" numCol="1" anchor="ctr">
              <a:noAutofit/>
            </a:bodyPr>
            <a:lstStyle/>
            <a:p>
              <a:pPr>
                <a:defRPr b="1">
                  <a:solidFill>
                    <a:srgbClr val="002060"/>
                  </a:solidFill>
                  <a:latin typeface="Open Sans"/>
                  <a:ea typeface="Open Sans"/>
                  <a:cs typeface="Open Sans"/>
                  <a:sym typeface="Open Sans"/>
                </a:defRPr>
              </a:pPr>
            </a:p>
          </p:txBody>
        </p:sp>
        <p:sp>
          <p:nvSpPr>
            <p:cNvPr id="568" name="High value customers do less signup, but their activation is higher and deliqneuncy is lower."/>
            <p:cNvSpPr txBox="1"/>
            <p:nvPr/>
          </p:nvSpPr>
          <p:spPr>
            <a:xfrm>
              <a:off x="103410" y="64595"/>
              <a:ext cx="2734855" cy="9550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defRPr b="1">
                  <a:solidFill>
                    <a:srgbClr val="002060"/>
                  </a:solidFill>
                  <a:latin typeface="Open Sans"/>
                  <a:ea typeface="Open Sans"/>
                  <a:cs typeface="Open Sans"/>
                  <a:sym typeface="Open Sans"/>
                </a:defRPr>
              </a:lvl1pPr>
            </a:lstStyle>
            <a:p>
              <a:pPr/>
              <a:r>
                <a:t>High value customers do less signup, but their activation is higher and deliqneuncy is lower.</a:t>
              </a:r>
            </a:p>
          </p:txBody>
        </p:sp>
      </p:gr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71" name="Slide Number Placeholder 3"/>
          <p:cNvSpPr txBox="1"/>
          <p:nvPr>
            <p:ph type="sldNum" sz="quarter" idx="4294967295"/>
          </p:nvPr>
        </p:nvSpPr>
        <p:spPr>
          <a:xfrm>
            <a:off x="11754629" y="6202479"/>
            <a:ext cx="301908" cy="288824"/>
          </a:xfrm>
          <a:prstGeom prst="rect">
            <a:avLst/>
          </a:prstGeom>
          <a:extLst>
            <a:ext uri="{C572A759-6A51-4108-AA02-DFA0A04FC94B}">
              <ma14:wrappingTextBoxFlag xmlns:ma14="http://schemas.microsoft.com/office/mac/drawingml/2011/main" val="1"/>
            </a:ext>
          </a:extLst>
        </p:spPr>
        <p:txBody>
          <a:bodyPr lIns="45719" tIns="45719" rIns="45719" bIns="45719"/>
          <a:lstStyle>
            <a:lvl1pPr algn="r" defTabSz="548599">
              <a:defRPr sz="1400"/>
            </a:lvl1pPr>
          </a:lstStyle>
          <a:p>
            <a:pPr/>
            <a:fld id="{86CB4B4D-7CA3-9044-876B-883B54F8677D}" type="slidenum"/>
          </a:p>
        </p:txBody>
      </p:sp>
      <p:sp>
        <p:nvSpPr>
          <p:cNvPr id="572" name="Title 1"/>
          <p:cNvSpPr txBox="1"/>
          <p:nvPr/>
        </p:nvSpPr>
        <p:spPr>
          <a:xfrm>
            <a:off x="9539" y="63083"/>
            <a:ext cx="8245941" cy="5511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ctr">
            <a:spAutoFit/>
          </a:bodyPr>
          <a:lstStyle>
            <a:lvl1pPr defTabSz="914309">
              <a:defRPr b="1" i="1" spc="-150" sz="2400">
                <a:solidFill>
                  <a:srgbClr val="002060"/>
                </a:solidFill>
                <a:latin typeface="Open Sans"/>
                <a:ea typeface="Open Sans"/>
                <a:cs typeface="Open Sans"/>
                <a:sym typeface="Open Sans"/>
              </a:defRPr>
            </a:lvl1pPr>
          </a:lstStyle>
          <a:p>
            <a:pPr/>
            <a:r>
              <a:t>Model Monitoring ~ </a:t>
            </a:r>
          </a:p>
        </p:txBody>
      </p:sp>
      <p:sp>
        <p:nvSpPr>
          <p:cNvPr id="573" name="Straight Connector 8"/>
          <p:cNvSpPr/>
          <p:nvPr/>
        </p:nvSpPr>
        <p:spPr>
          <a:xfrm>
            <a:off x="-12300" y="618293"/>
            <a:ext cx="9156301" cy="1"/>
          </a:xfrm>
          <a:prstGeom prst="line">
            <a:avLst/>
          </a:prstGeom>
          <a:ln w="38100">
            <a:solidFill>
              <a:srgbClr val="072C62"/>
            </a:solidFill>
          </a:ln>
        </p:spPr>
        <p:txBody>
          <a:bodyPr lIns="45719" rIns="45719"/>
          <a:lstStyle/>
          <a:p>
            <a:pPr/>
          </a:p>
        </p:txBody>
      </p:sp>
      <p:graphicFrame>
        <p:nvGraphicFramePr>
          <p:cNvPr id="574" name="Table 18"/>
          <p:cNvGraphicFramePr/>
          <p:nvPr/>
        </p:nvGraphicFramePr>
        <p:xfrm>
          <a:off x="578851" y="861782"/>
          <a:ext cx="5424387" cy="1434160"/>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789626"/>
                <a:gridCol w="549305"/>
                <a:gridCol w="549305"/>
                <a:gridCol w="549305"/>
                <a:gridCol w="549305"/>
                <a:gridCol w="549305"/>
                <a:gridCol w="549305"/>
                <a:gridCol w="549305"/>
                <a:gridCol w="789626"/>
              </a:tblGrid>
              <a:tr h="168724">
                <a:tc>
                  <a:txBody>
                    <a:bodyPr/>
                    <a:lstStyle/>
                    <a:p>
                      <a:pPr>
                        <a:defRPr b="0" sz="1400">
                          <a:solidFill>
                            <a:srgbClr val="000000"/>
                          </a:solidFill>
                        </a:defRPr>
                      </a:pPr>
                    </a:p>
                  </a:txBody>
                  <a:tcPr marL="45720" marR="45720" marT="45720" marB="45720" anchor="t" anchorCtr="0" horzOverflow="overflow">
                    <a:lnL w="12700">
                      <a:miter lim="400000"/>
                    </a:lnL>
                    <a:lnR w="3175">
                      <a:solidFill>
                        <a:srgbClr val="002060"/>
                      </a:solidFill>
                      <a:prstDash val="lgDash"/>
                    </a:lnR>
                    <a:lnT w="12700">
                      <a:miter lim="400000"/>
                    </a:lnT>
                    <a:lnB w="3175">
                      <a:solidFill>
                        <a:srgbClr val="002060"/>
                      </a:solidFill>
                      <a:prstDash val="lgDash"/>
                    </a:lnB>
                    <a:noFill/>
                  </a:tcPr>
                </a:tc>
                <a:tc>
                  <a:txBody>
                    <a:bodyPr/>
                    <a:lstStyle/>
                    <a:p>
                      <a:pPr algn="ctr">
                        <a:defRPr b="0" sz="1800">
                          <a:solidFill>
                            <a:srgbClr val="000000"/>
                          </a:solidFill>
                        </a:defRPr>
                      </a:pPr>
                      <a:r>
                        <a:rPr b="1" sz="700">
                          <a:solidFill>
                            <a:srgbClr val="FFFFFF"/>
                          </a:solidFill>
                          <a:latin typeface="Open Sans"/>
                          <a:ea typeface="Open Sans"/>
                          <a:cs typeface="Open Sans"/>
                          <a:sym typeface="Open Sans"/>
                        </a:rPr>
                        <a:t>&lt;=₹5</a:t>
                      </a:r>
                    </a:p>
                  </a:txBody>
                  <a:tcPr marL="45720" marR="45720" marT="45720" marB="45720" anchor="ctr" anchorCtr="0" horzOverflow="overflow">
                    <a:lnL w="3175">
                      <a:solidFill>
                        <a:srgbClr val="002060"/>
                      </a:solidFill>
                      <a:prstDash val="lgDash"/>
                    </a:lnL>
                    <a:lnR w="3175">
                      <a:solidFill>
                        <a:srgbClr val="002060"/>
                      </a:solidFill>
                      <a:prstDash val="lgDash"/>
                    </a:lnR>
                    <a:lnT w="12700">
                      <a:miter lim="400000"/>
                    </a:lnT>
                    <a:lnB w="3175">
                      <a:solidFill>
                        <a:srgbClr val="002060"/>
                      </a:solidFill>
                      <a:prstDash val="lgDash"/>
                    </a:lnB>
                    <a:solidFill>
                      <a:srgbClr val="002060"/>
                    </a:solidFill>
                  </a:tcPr>
                </a:tc>
                <a:tc>
                  <a:txBody>
                    <a:bodyPr/>
                    <a:lstStyle/>
                    <a:p>
                      <a:pPr algn="ctr">
                        <a:defRPr b="0" sz="1800">
                          <a:solidFill>
                            <a:srgbClr val="000000"/>
                          </a:solidFill>
                        </a:defRPr>
                      </a:pPr>
                      <a:r>
                        <a:rPr b="1" sz="700">
                          <a:solidFill>
                            <a:srgbClr val="FFFFFF"/>
                          </a:solidFill>
                          <a:latin typeface="Open Sans"/>
                          <a:ea typeface="Open Sans"/>
                          <a:cs typeface="Open Sans"/>
                          <a:sym typeface="Open Sans"/>
                        </a:rPr>
                        <a:t>&lt;=₹25</a:t>
                      </a:r>
                    </a:p>
                  </a:txBody>
                  <a:tcPr marL="45720" marR="45720" marT="45720" marB="45720" anchor="ctr" anchorCtr="0" horzOverflow="overflow">
                    <a:lnL w="3175">
                      <a:solidFill>
                        <a:srgbClr val="002060"/>
                      </a:solidFill>
                      <a:prstDash val="lgDash"/>
                    </a:lnL>
                    <a:lnR w="3175">
                      <a:solidFill>
                        <a:srgbClr val="002060"/>
                      </a:solidFill>
                      <a:prstDash val="lgDash"/>
                    </a:lnR>
                    <a:lnT w="12700">
                      <a:miter lim="400000"/>
                    </a:lnT>
                    <a:lnB w="3175">
                      <a:solidFill>
                        <a:srgbClr val="002060"/>
                      </a:solidFill>
                      <a:prstDash val="lgDash"/>
                    </a:lnB>
                    <a:solidFill>
                      <a:srgbClr val="002060"/>
                    </a:solidFill>
                  </a:tcPr>
                </a:tc>
                <a:tc>
                  <a:txBody>
                    <a:bodyPr/>
                    <a:lstStyle/>
                    <a:p>
                      <a:pPr algn="ctr">
                        <a:defRPr b="0" sz="1800">
                          <a:solidFill>
                            <a:srgbClr val="000000"/>
                          </a:solidFill>
                        </a:defRPr>
                      </a:pPr>
                      <a:r>
                        <a:rPr b="1" sz="700">
                          <a:solidFill>
                            <a:srgbClr val="FFFFFF"/>
                          </a:solidFill>
                          <a:latin typeface="Open Sans"/>
                          <a:ea typeface="Open Sans"/>
                          <a:cs typeface="Open Sans"/>
                          <a:sym typeface="Open Sans"/>
                        </a:rPr>
                        <a:t>&lt;=₹50</a:t>
                      </a:r>
                    </a:p>
                  </a:txBody>
                  <a:tcPr marL="45720" marR="45720" marT="45720" marB="45720" anchor="ctr" anchorCtr="0" horzOverflow="overflow">
                    <a:lnL w="3175">
                      <a:solidFill>
                        <a:srgbClr val="002060"/>
                      </a:solidFill>
                      <a:prstDash val="lgDash"/>
                    </a:lnL>
                    <a:lnR w="3175">
                      <a:solidFill>
                        <a:srgbClr val="002060"/>
                      </a:solidFill>
                      <a:prstDash val="lgDash"/>
                    </a:lnR>
                    <a:lnT w="12700">
                      <a:miter lim="400000"/>
                    </a:lnT>
                    <a:lnB w="3175">
                      <a:solidFill>
                        <a:srgbClr val="002060"/>
                      </a:solidFill>
                      <a:prstDash val="lgDash"/>
                    </a:lnB>
                    <a:solidFill>
                      <a:srgbClr val="002060"/>
                    </a:solidFill>
                  </a:tcPr>
                </a:tc>
                <a:tc>
                  <a:txBody>
                    <a:bodyPr/>
                    <a:lstStyle/>
                    <a:p>
                      <a:pPr algn="ctr">
                        <a:defRPr b="0" sz="1800">
                          <a:solidFill>
                            <a:srgbClr val="000000"/>
                          </a:solidFill>
                        </a:defRPr>
                      </a:pPr>
                      <a:r>
                        <a:rPr b="1" sz="700">
                          <a:solidFill>
                            <a:srgbClr val="FFFFFF"/>
                          </a:solidFill>
                          <a:latin typeface="Open Sans"/>
                          <a:ea typeface="Open Sans"/>
                          <a:cs typeface="Open Sans"/>
                          <a:sym typeface="Open Sans"/>
                        </a:rPr>
                        <a:t>&lt;=₹100</a:t>
                      </a:r>
                    </a:p>
                  </a:txBody>
                  <a:tcPr marL="45720" marR="45720" marT="45720" marB="45720" anchor="ctr" anchorCtr="0" horzOverflow="overflow">
                    <a:lnL w="3175">
                      <a:solidFill>
                        <a:srgbClr val="002060"/>
                      </a:solidFill>
                      <a:prstDash val="lgDash"/>
                    </a:lnL>
                    <a:lnR w="3175">
                      <a:solidFill>
                        <a:srgbClr val="002060"/>
                      </a:solidFill>
                      <a:prstDash val="lgDash"/>
                    </a:lnR>
                    <a:lnT w="12700">
                      <a:miter lim="400000"/>
                    </a:lnT>
                    <a:lnB w="3175">
                      <a:solidFill>
                        <a:srgbClr val="002060"/>
                      </a:solidFill>
                      <a:prstDash val="lgDash"/>
                    </a:lnB>
                    <a:solidFill>
                      <a:srgbClr val="002060"/>
                    </a:solidFill>
                  </a:tcPr>
                </a:tc>
                <a:tc>
                  <a:txBody>
                    <a:bodyPr/>
                    <a:lstStyle/>
                    <a:p>
                      <a:pPr algn="ctr">
                        <a:defRPr b="0" sz="1800">
                          <a:solidFill>
                            <a:srgbClr val="000000"/>
                          </a:solidFill>
                        </a:defRPr>
                      </a:pPr>
                      <a:r>
                        <a:rPr b="1" sz="700">
                          <a:solidFill>
                            <a:srgbClr val="FFFFFF"/>
                          </a:solidFill>
                          <a:latin typeface="Open Sans"/>
                          <a:ea typeface="Open Sans"/>
                          <a:cs typeface="Open Sans"/>
                          <a:sym typeface="Open Sans"/>
                        </a:rPr>
                        <a:t>&lt;=₹200</a:t>
                      </a:r>
                    </a:p>
                  </a:txBody>
                  <a:tcPr marL="45720" marR="45720" marT="45720" marB="45720" anchor="ctr" anchorCtr="0" horzOverflow="overflow">
                    <a:lnL w="3175">
                      <a:solidFill>
                        <a:srgbClr val="002060"/>
                      </a:solidFill>
                      <a:prstDash val="lgDash"/>
                    </a:lnL>
                    <a:lnR w="3175">
                      <a:solidFill>
                        <a:srgbClr val="002060"/>
                      </a:solidFill>
                      <a:prstDash val="lgDash"/>
                    </a:lnR>
                    <a:lnT w="12700">
                      <a:miter lim="400000"/>
                    </a:lnT>
                    <a:lnB w="3175">
                      <a:solidFill>
                        <a:srgbClr val="002060"/>
                      </a:solidFill>
                      <a:prstDash val="lgDash"/>
                    </a:lnB>
                    <a:solidFill>
                      <a:srgbClr val="002060"/>
                    </a:solidFill>
                  </a:tcPr>
                </a:tc>
                <a:tc>
                  <a:txBody>
                    <a:bodyPr/>
                    <a:lstStyle/>
                    <a:p>
                      <a:pPr algn="ctr">
                        <a:defRPr b="0" sz="1800">
                          <a:solidFill>
                            <a:srgbClr val="000000"/>
                          </a:solidFill>
                        </a:defRPr>
                      </a:pPr>
                      <a:r>
                        <a:rPr b="1" sz="700">
                          <a:solidFill>
                            <a:srgbClr val="FFFFFF"/>
                          </a:solidFill>
                          <a:latin typeface="Open Sans"/>
                          <a:ea typeface="Open Sans"/>
                          <a:cs typeface="Open Sans"/>
                          <a:sym typeface="Open Sans"/>
                        </a:rPr>
                        <a:t> &lt;=₹500</a:t>
                      </a:r>
                    </a:p>
                  </a:txBody>
                  <a:tcPr marL="45720" marR="45720" marT="45720" marB="45720" anchor="ctr" anchorCtr="0" horzOverflow="overflow">
                    <a:lnL w="3175">
                      <a:solidFill>
                        <a:srgbClr val="002060"/>
                      </a:solidFill>
                      <a:prstDash val="lgDash"/>
                    </a:lnL>
                    <a:lnR w="3175">
                      <a:solidFill>
                        <a:srgbClr val="002060"/>
                      </a:solidFill>
                      <a:prstDash val="lgDash"/>
                    </a:lnR>
                    <a:lnT w="12700">
                      <a:miter lim="400000"/>
                    </a:lnT>
                    <a:lnB w="3175">
                      <a:solidFill>
                        <a:srgbClr val="002060"/>
                      </a:solidFill>
                      <a:prstDash val="lgDash"/>
                    </a:lnB>
                    <a:solidFill>
                      <a:srgbClr val="002060"/>
                    </a:solidFill>
                  </a:tcPr>
                </a:tc>
                <a:tc>
                  <a:txBody>
                    <a:bodyPr/>
                    <a:lstStyle/>
                    <a:p>
                      <a:pPr algn="ctr">
                        <a:defRPr b="0" sz="1800">
                          <a:solidFill>
                            <a:srgbClr val="000000"/>
                          </a:solidFill>
                        </a:defRPr>
                      </a:pPr>
                      <a:r>
                        <a:rPr b="1" sz="700">
                          <a:solidFill>
                            <a:srgbClr val="FFFFFF"/>
                          </a:solidFill>
                          <a:latin typeface="Open Sans"/>
                          <a:ea typeface="Open Sans"/>
                          <a:cs typeface="Open Sans"/>
                          <a:sym typeface="Open Sans"/>
                        </a:rPr>
                        <a:t>₹500+</a:t>
                      </a:r>
                    </a:p>
                  </a:txBody>
                  <a:tcPr marL="45720" marR="45720" marT="45720" marB="45720" anchor="ctr" anchorCtr="0" horzOverflow="overflow">
                    <a:lnL w="3175">
                      <a:solidFill>
                        <a:srgbClr val="002060"/>
                      </a:solidFill>
                      <a:prstDash val="lgDash"/>
                    </a:lnL>
                    <a:lnR w="3175">
                      <a:solidFill>
                        <a:srgbClr val="002060"/>
                      </a:solidFill>
                      <a:prstDash val="lgDash"/>
                    </a:lnR>
                    <a:lnT w="12700">
                      <a:miter lim="400000"/>
                    </a:lnT>
                    <a:lnB w="3175">
                      <a:solidFill>
                        <a:srgbClr val="002060"/>
                      </a:solidFill>
                      <a:prstDash val="lgDash"/>
                    </a:lnB>
                    <a:solidFill>
                      <a:srgbClr val="002060"/>
                    </a:solidFill>
                  </a:tcPr>
                </a:tc>
                <a:tc>
                  <a:txBody>
                    <a:bodyPr/>
                    <a:lstStyle/>
                    <a:p>
                      <a:pPr algn="ctr">
                        <a:defRPr b="0" sz="1800">
                          <a:solidFill>
                            <a:srgbClr val="000000"/>
                          </a:solidFill>
                        </a:defRPr>
                      </a:pPr>
                      <a:r>
                        <a:rPr b="1" sz="800">
                          <a:solidFill>
                            <a:srgbClr val="002060"/>
                          </a:solidFill>
                          <a:latin typeface="Open Sans"/>
                          <a:ea typeface="Open Sans"/>
                          <a:cs typeface="Open Sans"/>
                          <a:sym typeface="Open Sans"/>
                        </a:rPr>
                        <a:t>Customers</a:t>
                      </a:r>
                    </a:p>
                  </a:txBody>
                  <a:tcPr marL="45720" marR="45720" marT="45720" marB="45720" anchor="ctr" anchorCtr="0" horzOverflow="overflow">
                    <a:lnL w="3175">
                      <a:solidFill>
                        <a:srgbClr val="002060"/>
                      </a:solidFill>
                      <a:prstDash val="lgDash"/>
                    </a:lnL>
                    <a:lnR w="12700">
                      <a:miter lim="400000"/>
                    </a:lnR>
                    <a:lnT w="12700">
                      <a:miter lim="400000"/>
                    </a:lnT>
                    <a:lnB w="3175">
                      <a:solidFill>
                        <a:srgbClr val="002060"/>
                      </a:solidFill>
                      <a:prstDash val="lgDash"/>
                    </a:lnB>
                    <a:noFill/>
                  </a:tcPr>
                </a:tc>
              </a:tr>
              <a:tr h="156673">
                <a:tc>
                  <a:txBody>
                    <a:bodyPr/>
                    <a:lstStyle/>
                    <a:p>
                      <a:pPr algn="ctr">
                        <a:defRPr sz="1800"/>
                      </a:pPr>
                      <a:r>
                        <a:rPr b="1" sz="700">
                          <a:solidFill>
                            <a:srgbClr val="FFFFFF"/>
                          </a:solidFill>
                          <a:latin typeface="Open Sans"/>
                          <a:ea typeface="Open Sans"/>
                          <a:cs typeface="Open Sans"/>
                          <a:sym typeface="Open Sans"/>
                        </a:rPr>
                        <a:t>&lt;=₹5</a:t>
                      </a:r>
                    </a:p>
                  </a:txBody>
                  <a:tcPr marL="45720" marR="45720" marT="45720" marB="45720" anchor="ctr" anchorCtr="0" horzOverflow="overflow">
                    <a:lnL w="12700">
                      <a:miter lim="400000"/>
                    </a:lnL>
                    <a:lnR w="3175">
                      <a:solidFill>
                        <a:srgbClr val="002060"/>
                      </a:solidFill>
                      <a:prstDash val="lgDash"/>
                    </a:lnR>
                    <a:lnT w="3175">
                      <a:solidFill>
                        <a:srgbClr val="002060"/>
                      </a:solidFill>
                      <a:prstDash val="lgDash"/>
                    </a:lnT>
                    <a:lnB w="3175">
                      <a:solidFill>
                        <a:srgbClr val="002060"/>
                      </a:solidFill>
                      <a:prstDash val="lgDash"/>
                    </a:lnB>
                    <a:solidFill>
                      <a:srgbClr val="002060"/>
                    </a:solidFill>
                  </a:tcPr>
                </a:tc>
                <a:tc>
                  <a:txBody>
                    <a:bodyPr/>
                    <a:lstStyle/>
                    <a:p>
                      <a:pPr algn="ctr">
                        <a:defRPr sz="1800"/>
                      </a:pPr>
                      <a:r>
                        <a:rPr sz="700">
                          <a:solidFill>
                            <a:srgbClr val="002060"/>
                          </a:solidFill>
                          <a:latin typeface="Open Sans"/>
                          <a:ea typeface="Open Sans"/>
                          <a:cs typeface="Open Sans"/>
                          <a:sym typeface="Open Sans"/>
                        </a:rPr>
                        <a:t>55%</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002060"/>
                          </a:solidFill>
                          <a:latin typeface="Open Sans"/>
                          <a:ea typeface="Open Sans"/>
                          <a:cs typeface="Open Sans"/>
                          <a:sym typeface="Open Sans"/>
                        </a:rPr>
                        <a:t>31%</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A6A6A6"/>
                          </a:solidFill>
                          <a:latin typeface="Open Sans"/>
                          <a:ea typeface="Open Sans"/>
                          <a:cs typeface="Open Sans"/>
                          <a:sym typeface="Open Sans"/>
                        </a:rPr>
                        <a:t>7%</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4%</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2%</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1%</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1%</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b="1" sz="800">
                          <a:solidFill>
                            <a:srgbClr val="002060"/>
                          </a:solidFill>
                          <a:latin typeface="Open Sans"/>
                          <a:ea typeface="Open Sans"/>
                          <a:cs typeface="Open Sans"/>
                          <a:sym typeface="Open Sans"/>
                        </a:rPr>
                        <a:t>61%</a:t>
                      </a:r>
                    </a:p>
                  </a:txBody>
                  <a:tcPr marL="7620" marR="7620" marT="7620" marB="7620" anchor="ctr" anchorCtr="0" horzOverflow="overflow">
                    <a:lnL w="3175">
                      <a:solidFill>
                        <a:srgbClr val="002060"/>
                      </a:solidFill>
                      <a:prstDash val="lgDash"/>
                    </a:lnL>
                    <a:lnR w="12700">
                      <a:miter lim="400000"/>
                    </a:lnR>
                    <a:lnT w="3175">
                      <a:solidFill>
                        <a:srgbClr val="002060"/>
                      </a:solidFill>
                      <a:prstDash val="lgDash"/>
                    </a:lnT>
                    <a:lnB w="3175">
                      <a:solidFill>
                        <a:srgbClr val="002060"/>
                      </a:solidFill>
                      <a:prstDash val="lgDash"/>
                    </a:lnB>
                    <a:noFill/>
                  </a:tcPr>
                </a:tc>
              </a:tr>
              <a:tr h="156673">
                <a:tc>
                  <a:txBody>
                    <a:bodyPr/>
                    <a:lstStyle/>
                    <a:p>
                      <a:pPr algn="ctr">
                        <a:defRPr sz="1800"/>
                      </a:pPr>
                      <a:r>
                        <a:rPr b="1" sz="700">
                          <a:solidFill>
                            <a:srgbClr val="FFFFFF"/>
                          </a:solidFill>
                          <a:latin typeface="Open Sans"/>
                          <a:ea typeface="Open Sans"/>
                          <a:cs typeface="Open Sans"/>
                          <a:sym typeface="Open Sans"/>
                        </a:rPr>
                        <a:t>&lt;=₹25</a:t>
                      </a:r>
                    </a:p>
                  </a:txBody>
                  <a:tcPr marL="45720" marR="45720" marT="45720" marB="45720" anchor="ctr" anchorCtr="0" horzOverflow="overflow">
                    <a:lnL w="12700">
                      <a:miter lim="400000"/>
                    </a:lnL>
                    <a:lnR w="3175">
                      <a:solidFill>
                        <a:srgbClr val="002060"/>
                      </a:solidFill>
                      <a:prstDash val="lgDash"/>
                    </a:lnR>
                    <a:lnT w="3175">
                      <a:solidFill>
                        <a:srgbClr val="002060"/>
                      </a:solidFill>
                      <a:prstDash val="lgDash"/>
                    </a:lnT>
                    <a:lnB w="3175">
                      <a:solidFill>
                        <a:srgbClr val="002060"/>
                      </a:solidFill>
                      <a:prstDash val="lgDash"/>
                    </a:lnB>
                    <a:solidFill>
                      <a:srgbClr val="002060"/>
                    </a:solidFill>
                  </a:tcPr>
                </a:tc>
                <a:tc>
                  <a:txBody>
                    <a:bodyPr/>
                    <a:lstStyle/>
                    <a:p>
                      <a:pPr algn="ctr">
                        <a:defRPr sz="1800"/>
                      </a:pPr>
                      <a:r>
                        <a:rPr sz="700">
                          <a:solidFill>
                            <a:srgbClr val="002060"/>
                          </a:solidFill>
                          <a:latin typeface="Open Sans"/>
                          <a:ea typeface="Open Sans"/>
                          <a:cs typeface="Open Sans"/>
                          <a:sym typeface="Open Sans"/>
                        </a:rPr>
                        <a:t>11%</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002060"/>
                          </a:solidFill>
                          <a:latin typeface="Open Sans"/>
                          <a:ea typeface="Open Sans"/>
                          <a:cs typeface="Open Sans"/>
                          <a:sym typeface="Open Sans"/>
                        </a:rPr>
                        <a:t>36%</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002060"/>
                          </a:solidFill>
                          <a:latin typeface="Open Sans"/>
                          <a:ea typeface="Open Sans"/>
                          <a:cs typeface="Open Sans"/>
                          <a:sym typeface="Open Sans"/>
                        </a:rPr>
                        <a:t>21%</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A6A6A6"/>
                          </a:solidFill>
                          <a:latin typeface="Open Sans"/>
                          <a:ea typeface="Open Sans"/>
                          <a:cs typeface="Open Sans"/>
                          <a:sym typeface="Open Sans"/>
                        </a:rPr>
                        <a:t>16%</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9%</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5%</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2%</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b="1" sz="800">
                          <a:solidFill>
                            <a:srgbClr val="002060"/>
                          </a:solidFill>
                          <a:latin typeface="Open Sans"/>
                          <a:ea typeface="Open Sans"/>
                          <a:cs typeface="Open Sans"/>
                          <a:sym typeface="Open Sans"/>
                        </a:rPr>
                        <a:t>13%</a:t>
                      </a:r>
                    </a:p>
                  </a:txBody>
                  <a:tcPr marL="7620" marR="7620" marT="7620" marB="7620" anchor="ctr" anchorCtr="0" horzOverflow="overflow">
                    <a:lnL w="3175">
                      <a:solidFill>
                        <a:srgbClr val="002060"/>
                      </a:solidFill>
                      <a:prstDash val="lgDash"/>
                    </a:lnL>
                    <a:lnR w="12700">
                      <a:miter lim="400000"/>
                    </a:lnR>
                    <a:lnT w="3175">
                      <a:solidFill>
                        <a:srgbClr val="002060"/>
                      </a:solidFill>
                      <a:prstDash val="lgDash"/>
                    </a:lnT>
                    <a:lnB w="3175">
                      <a:solidFill>
                        <a:srgbClr val="002060"/>
                      </a:solidFill>
                      <a:prstDash val="lgDash"/>
                    </a:lnB>
                    <a:noFill/>
                  </a:tcPr>
                </a:tc>
              </a:tr>
              <a:tr h="156673">
                <a:tc>
                  <a:txBody>
                    <a:bodyPr/>
                    <a:lstStyle/>
                    <a:p>
                      <a:pPr algn="ctr">
                        <a:defRPr sz="1800"/>
                      </a:pPr>
                      <a:r>
                        <a:rPr b="1" sz="700">
                          <a:solidFill>
                            <a:srgbClr val="FFFFFF"/>
                          </a:solidFill>
                          <a:latin typeface="Open Sans"/>
                          <a:ea typeface="Open Sans"/>
                          <a:cs typeface="Open Sans"/>
                          <a:sym typeface="Open Sans"/>
                        </a:rPr>
                        <a:t>&lt;=₹50</a:t>
                      </a:r>
                    </a:p>
                  </a:txBody>
                  <a:tcPr marL="45720" marR="45720" marT="45720" marB="45720" anchor="ctr" anchorCtr="0" horzOverflow="overflow">
                    <a:lnL w="12700">
                      <a:miter lim="400000"/>
                    </a:lnL>
                    <a:lnR w="3175">
                      <a:solidFill>
                        <a:srgbClr val="002060"/>
                      </a:solidFill>
                      <a:prstDash val="lgDash"/>
                    </a:lnR>
                    <a:lnT w="3175">
                      <a:solidFill>
                        <a:srgbClr val="002060"/>
                      </a:solidFill>
                      <a:prstDash val="lgDash"/>
                    </a:lnT>
                    <a:lnB w="3175">
                      <a:solidFill>
                        <a:srgbClr val="002060"/>
                      </a:solidFill>
                      <a:prstDash val="lgDash"/>
                    </a:lnB>
                    <a:solidFill>
                      <a:srgbClr val="002060"/>
                    </a:solidFill>
                  </a:tcPr>
                </a:tc>
                <a:tc>
                  <a:txBody>
                    <a:bodyPr/>
                    <a:lstStyle/>
                    <a:p>
                      <a:pPr algn="ctr">
                        <a:defRPr sz="1800"/>
                      </a:pPr>
                      <a:r>
                        <a:rPr sz="700">
                          <a:solidFill>
                            <a:srgbClr val="A6A6A6"/>
                          </a:solidFill>
                          <a:latin typeface="Open Sans"/>
                          <a:ea typeface="Open Sans"/>
                          <a:cs typeface="Open Sans"/>
                          <a:sym typeface="Open Sans"/>
                        </a:rPr>
                        <a:t>6%</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002060"/>
                          </a:solidFill>
                          <a:latin typeface="Open Sans"/>
                          <a:ea typeface="Open Sans"/>
                          <a:cs typeface="Open Sans"/>
                          <a:sym typeface="Open Sans"/>
                        </a:rPr>
                        <a:t>23%</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002060"/>
                          </a:solidFill>
                          <a:latin typeface="Open Sans"/>
                          <a:ea typeface="Open Sans"/>
                          <a:cs typeface="Open Sans"/>
                          <a:sym typeface="Open Sans"/>
                        </a:rPr>
                        <a:t>19%</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002060"/>
                          </a:solidFill>
                          <a:latin typeface="Open Sans"/>
                          <a:ea typeface="Open Sans"/>
                          <a:cs typeface="Open Sans"/>
                          <a:sym typeface="Open Sans"/>
                        </a:rPr>
                        <a:t>21%</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A6A6A6"/>
                          </a:solidFill>
                          <a:latin typeface="Open Sans"/>
                          <a:ea typeface="Open Sans"/>
                          <a:cs typeface="Open Sans"/>
                          <a:sym typeface="Open Sans"/>
                        </a:rPr>
                        <a:t>16%</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11%</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4%</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b="1" sz="800">
                          <a:solidFill>
                            <a:srgbClr val="002060"/>
                          </a:solidFill>
                          <a:latin typeface="Open Sans"/>
                          <a:ea typeface="Open Sans"/>
                          <a:cs typeface="Open Sans"/>
                          <a:sym typeface="Open Sans"/>
                        </a:rPr>
                        <a:t>6%</a:t>
                      </a:r>
                    </a:p>
                  </a:txBody>
                  <a:tcPr marL="7620" marR="7620" marT="7620" marB="7620" anchor="ctr" anchorCtr="0" horzOverflow="overflow">
                    <a:lnL w="3175">
                      <a:solidFill>
                        <a:srgbClr val="002060"/>
                      </a:solidFill>
                      <a:prstDash val="lgDash"/>
                    </a:lnL>
                    <a:lnR w="12700">
                      <a:miter lim="400000"/>
                    </a:lnR>
                    <a:lnT w="3175">
                      <a:solidFill>
                        <a:srgbClr val="002060"/>
                      </a:solidFill>
                      <a:prstDash val="lgDash"/>
                    </a:lnT>
                    <a:lnB w="3175">
                      <a:solidFill>
                        <a:srgbClr val="002060"/>
                      </a:solidFill>
                      <a:prstDash val="lgDash"/>
                    </a:lnB>
                    <a:noFill/>
                  </a:tcPr>
                </a:tc>
              </a:tr>
              <a:tr h="156673">
                <a:tc>
                  <a:txBody>
                    <a:bodyPr/>
                    <a:lstStyle/>
                    <a:p>
                      <a:pPr algn="ctr">
                        <a:defRPr sz="1800"/>
                      </a:pPr>
                      <a:r>
                        <a:rPr b="1" sz="700">
                          <a:solidFill>
                            <a:srgbClr val="FFFFFF"/>
                          </a:solidFill>
                          <a:latin typeface="Open Sans"/>
                          <a:ea typeface="Open Sans"/>
                          <a:cs typeface="Open Sans"/>
                          <a:sym typeface="Open Sans"/>
                        </a:rPr>
                        <a:t>&lt;=₹100</a:t>
                      </a:r>
                    </a:p>
                  </a:txBody>
                  <a:tcPr marL="45720" marR="45720" marT="45720" marB="45720" anchor="ctr" anchorCtr="0" horzOverflow="overflow">
                    <a:lnL w="12700">
                      <a:miter lim="400000"/>
                    </a:lnL>
                    <a:lnR w="3175">
                      <a:solidFill>
                        <a:srgbClr val="002060"/>
                      </a:solidFill>
                      <a:prstDash val="lgDash"/>
                    </a:lnR>
                    <a:lnT w="3175">
                      <a:solidFill>
                        <a:srgbClr val="002060"/>
                      </a:solidFill>
                      <a:prstDash val="lgDash"/>
                    </a:lnT>
                    <a:lnB w="3175">
                      <a:solidFill>
                        <a:srgbClr val="002060"/>
                      </a:solidFill>
                      <a:prstDash val="lgDash"/>
                    </a:lnB>
                    <a:solidFill>
                      <a:srgbClr val="002060"/>
                    </a:solidFill>
                  </a:tcPr>
                </a:tc>
                <a:tc>
                  <a:txBody>
                    <a:bodyPr/>
                    <a:lstStyle/>
                    <a:p>
                      <a:pPr algn="ctr">
                        <a:defRPr sz="1800"/>
                      </a:pPr>
                      <a:r>
                        <a:rPr sz="700">
                          <a:solidFill>
                            <a:srgbClr val="A6A6A6"/>
                          </a:solidFill>
                          <a:latin typeface="Open Sans"/>
                          <a:ea typeface="Open Sans"/>
                          <a:cs typeface="Open Sans"/>
                          <a:sym typeface="Open Sans"/>
                        </a:rPr>
                        <a:t>4%</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16%</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002060"/>
                          </a:solidFill>
                          <a:latin typeface="Open Sans"/>
                          <a:ea typeface="Open Sans"/>
                          <a:cs typeface="Open Sans"/>
                          <a:sym typeface="Open Sans"/>
                        </a:rPr>
                        <a:t>15%</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002060"/>
                          </a:solidFill>
                          <a:latin typeface="Open Sans"/>
                          <a:ea typeface="Open Sans"/>
                          <a:cs typeface="Open Sans"/>
                          <a:sym typeface="Open Sans"/>
                        </a:rPr>
                        <a:t>20%</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002060"/>
                          </a:solidFill>
                          <a:latin typeface="Open Sans"/>
                          <a:ea typeface="Open Sans"/>
                          <a:cs typeface="Open Sans"/>
                          <a:sym typeface="Open Sans"/>
                        </a:rPr>
                        <a:t>20%</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A6A6A6"/>
                          </a:solidFill>
                          <a:latin typeface="Open Sans"/>
                          <a:ea typeface="Open Sans"/>
                          <a:cs typeface="Open Sans"/>
                          <a:sym typeface="Open Sans"/>
                        </a:rPr>
                        <a:t>18%</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8%</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b="1" sz="800">
                          <a:solidFill>
                            <a:srgbClr val="002060"/>
                          </a:solidFill>
                          <a:latin typeface="Open Sans"/>
                          <a:ea typeface="Open Sans"/>
                          <a:cs typeface="Open Sans"/>
                          <a:sym typeface="Open Sans"/>
                        </a:rPr>
                        <a:t>6%</a:t>
                      </a:r>
                    </a:p>
                  </a:txBody>
                  <a:tcPr marL="7620" marR="7620" marT="7620" marB="7620" anchor="ctr" anchorCtr="0" horzOverflow="overflow">
                    <a:lnL w="3175">
                      <a:solidFill>
                        <a:srgbClr val="002060"/>
                      </a:solidFill>
                      <a:prstDash val="lgDash"/>
                    </a:lnL>
                    <a:lnR w="12700">
                      <a:miter lim="400000"/>
                    </a:lnR>
                    <a:lnT w="3175">
                      <a:solidFill>
                        <a:srgbClr val="002060"/>
                      </a:solidFill>
                      <a:prstDash val="lgDash"/>
                    </a:lnT>
                    <a:lnB w="3175">
                      <a:solidFill>
                        <a:srgbClr val="002060"/>
                      </a:solidFill>
                      <a:prstDash val="lgDash"/>
                    </a:lnB>
                    <a:noFill/>
                  </a:tcPr>
                </a:tc>
              </a:tr>
              <a:tr h="156673">
                <a:tc>
                  <a:txBody>
                    <a:bodyPr/>
                    <a:lstStyle/>
                    <a:p>
                      <a:pPr algn="ctr">
                        <a:defRPr sz="1800"/>
                      </a:pPr>
                      <a:r>
                        <a:rPr b="1" sz="700">
                          <a:solidFill>
                            <a:srgbClr val="FFFFFF"/>
                          </a:solidFill>
                          <a:latin typeface="Open Sans"/>
                          <a:ea typeface="Open Sans"/>
                          <a:cs typeface="Open Sans"/>
                          <a:sym typeface="Open Sans"/>
                        </a:rPr>
                        <a:t>&lt;=₹200</a:t>
                      </a:r>
                    </a:p>
                  </a:txBody>
                  <a:tcPr marL="45720" marR="45720" marT="45720" marB="45720" anchor="ctr" anchorCtr="0" horzOverflow="overflow">
                    <a:lnL w="12700">
                      <a:miter lim="400000"/>
                    </a:lnL>
                    <a:lnR w="3175">
                      <a:solidFill>
                        <a:srgbClr val="002060"/>
                      </a:solidFill>
                      <a:prstDash val="lgDash"/>
                    </a:lnR>
                    <a:lnT w="3175">
                      <a:solidFill>
                        <a:srgbClr val="002060"/>
                      </a:solidFill>
                      <a:prstDash val="lgDash"/>
                    </a:lnT>
                    <a:lnB w="3175">
                      <a:solidFill>
                        <a:srgbClr val="002060"/>
                      </a:solidFill>
                      <a:prstDash val="lgDash"/>
                    </a:lnB>
                    <a:solidFill>
                      <a:srgbClr val="002060"/>
                    </a:solidFill>
                  </a:tcPr>
                </a:tc>
                <a:tc>
                  <a:txBody>
                    <a:bodyPr/>
                    <a:lstStyle/>
                    <a:p>
                      <a:pPr algn="ctr">
                        <a:defRPr sz="1800"/>
                      </a:pPr>
                      <a:r>
                        <a:rPr sz="700">
                          <a:solidFill>
                            <a:srgbClr val="A6A6A6"/>
                          </a:solidFill>
                          <a:latin typeface="Open Sans"/>
                          <a:ea typeface="Open Sans"/>
                          <a:cs typeface="Open Sans"/>
                          <a:sym typeface="Open Sans"/>
                        </a:rPr>
                        <a:t>3%</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10%</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10%</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002060"/>
                          </a:solidFill>
                          <a:latin typeface="Open Sans"/>
                          <a:ea typeface="Open Sans"/>
                          <a:cs typeface="Open Sans"/>
                          <a:sym typeface="Open Sans"/>
                        </a:rPr>
                        <a:t>16%</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002060"/>
                          </a:solidFill>
                          <a:latin typeface="Open Sans"/>
                          <a:ea typeface="Open Sans"/>
                          <a:cs typeface="Open Sans"/>
                          <a:sym typeface="Open Sans"/>
                        </a:rPr>
                        <a:t>20%</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002060"/>
                          </a:solidFill>
                          <a:latin typeface="Open Sans"/>
                          <a:ea typeface="Open Sans"/>
                          <a:cs typeface="Open Sans"/>
                          <a:sym typeface="Open Sans"/>
                        </a:rPr>
                        <a:t>26%</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A6A6A6"/>
                          </a:solidFill>
                          <a:latin typeface="Open Sans"/>
                          <a:ea typeface="Open Sans"/>
                          <a:cs typeface="Open Sans"/>
                          <a:sym typeface="Open Sans"/>
                        </a:rPr>
                        <a:t>15%</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b="1" sz="800">
                          <a:solidFill>
                            <a:srgbClr val="002060"/>
                          </a:solidFill>
                          <a:latin typeface="Open Sans"/>
                          <a:ea typeface="Open Sans"/>
                          <a:cs typeface="Open Sans"/>
                          <a:sym typeface="Open Sans"/>
                        </a:rPr>
                        <a:t>5%</a:t>
                      </a:r>
                    </a:p>
                  </a:txBody>
                  <a:tcPr marL="7620" marR="7620" marT="7620" marB="7620" anchor="ctr" anchorCtr="0" horzOverflow="overflow">
                    <a:lnL w="3175">
                      <a:solidFill>
                        <a:srgbClr val="002060"/>
                      </a:solidFill>
                      <a:prstDash val="lgDash"/>
                    </a:lnL>
                    <a:lnR w="12700">
                      <a:miter lim="400000"/>
                    </a:lnR>
                    <a:lnT w="3175">
                      <a:solidFill>
                        <a:srgbClr val="002060"/>
                      </a:solidFill>
                      <a:prstDash val="lgDash"/>
                    </a:lnT>
                    <a:lnB w="3175">
                      <a:solidFill>
                        <a:srgbClr val="002060"/>
                      </a:solidFill>
                      <a:prstDash val="lgDash"/>
                    </a:lnB>
                    <a:noFill/>
                  </a:tcPr>
                </a:tc>
              </a:tr>
              <a:tr h="156673">
                <a:tc>
                  <a:txBody>
                    <a:bodyPr/>
                    <a:lstStyle/>
                    <a:p>
                      <a:pPr algn="ctr">
                        <a:defRPr sz="1800"/>
                      </a:pPr>
                      <a:r>
                        <a:rPr b="1" sz="700">
                          <a:solidFill>
                            <a:srgbClr val="FFFFFF"/>
                          </a:solidFill>
                          <a:latin typeface="Open Sans"/>
                          <a:ea typeface="Open Sans"/>
                          <a:cs typeface="Open Sans"/>
                          <a:sym typeface="Open Sans"/>
                        </a:rPr>
                        <a:t>&lt;=₹500</a:t>
                      </a:r>
                    </a:p>
                  </a:txBody>
                  <a:tcPr marL="45720" marR="45720" marT="45720" marB="45720" anchor="ctr" anchorCtr="0" horzOverflow="overflow">
                    <a:lnL w="12700">
                      <a:miter lim="400000"/>
                    </a:lnL>
                    <a:lnR w="3175">
                      <a:solidFill>
                        <a:srgbClr val="002060"/>
                      </a:solidFill>
                      <a:prstDash val="lgDash"/>
                    </a:lnR>
                    <a:lnT w="3175">
                      <a:solidFill>
                        <a:srgbClr val="002060"/>
                      </a:solidFill>
                      <a:prstDash val="lgDash"/>
                    </a:lnT>
                    <a:lnB w="3175">
                      <a:solidFill>
                        <a:srgbClr val="002060"/>
                      </a:solidFill>
                      <a:prstDash val="lgDash"/>
                    </a:lnB>
                    <a:solidFill>
                      <a:srgbClr val="002060"/>
                    </a:solidFill>
                  </a:tcPr>
                </a:tc>
                <a:tc>
                  <a:txBody>
                    <a:bodyPr/>
                    <a:lstStyle/>
                    <a:p>
                      <a:pPr algn="ctr">
                        <a:defRPr sz="1800"/>
                      </a:pPr>
                      <a:r>
                        <a:rPr sz="700">
                          <a:solidFill>
                            <a:srgbClr val="A6A6A6"/>
                          </a:solidFill>
                          <a:latin typeface="Open Sans"/>
                          <a:ea typeface="Open Sans"/>
                          <a:cs typeface="Open Sans"/>
                          <a:sym typeface="Open Sans"/>
                        </a:rPr>
                        <a:t>2%</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6%</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6%</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10%</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002060"/>
                          </a:solidFill>
                          <a:latin typeface="Open Sans"/>
                          <a:ea typeface="Open Sans"/>
                          <a:cs typeface="Open Sans"/>
                          <a:sym typeface="Open Sans"/>
                        </a:rPr>
                        <a:t>15%</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002060"/>
                          </a:solidFill>
                          <a:latin typeface="Open Sans"/>
                          <a:ea typeface="Open Sans"/>
                          <a:cs typeface="Open Sans"/>
                          <a:sym typeface="Open Sans"/>
                        </a:rPr>
                        <a:t>30%</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002060"/>
                          </a:solidFill>
                          <a:latin typeface="Open Sans"/>
                          <a:ea typeface="Open Sans"/>
                          <a:cs typeface="Open Sans"/>
                          <a:sym typeface="Open Sans"/>
                        </a:rPr>
                        <a:t>31%</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b="1" sz="800">
                          <a:solidFill>
                            <a:srgbClr val="002060"/>
                          </a:solidFill>
                          <a:latin typeface="Open Sans"/>
                          <a:ea typeface="Open Sans"/>
                          <a:cs typeface="Open Sans"/>
                          <a:sym typeface="Open Sans"/>
                        </a:rPr>
                        <a:t>4%</a:t>
                      </a:r>
                    </a:p>
                  </a:txBody>
                  <a:tcPr marL="7620" marR="7620" marT="7620" marB="7620" anchor="ctr" anchorCtr="0" horzOverflow="overflow">
                    <a:lnL w="3175">
                      <a:solidFill>
                        <a:srgbClr val="002060"/>
                      </a:solidFill>
                      <a:prstDash val="lgDash"/>
                    </a:lnL>
                    <a:lnR w="12700">
                      <a:miter lim="400000"/>
                    </a:lnR>
                    <a:lnT w="3175">
                      <a:solidFill>
                        <a:srgbClr val="002060"/>
                      </a:solidFill>
                      <a:prstDash val="lgDash"/>
                    </a:lnT>
                    <a:lnB w="3175">
                      <a:solidFill>
                        <a:srgbClr val="002060"/>
                      </a:solidFill>
                      <a:prstDash val="lgDash"/>
                    </a:lnB>
                    <a:noFill/>
                  </a:tcPr>
                </a:tc>
              </a:tr>
              <a:tr h="156673">
                <a:tc>
                  <a:txBody>
                    <a:bodyPr/>
                    <a:lstStyle/>
                    <a:p>
                      <a:pPr algn="ctr">
                        <a:defRPr sz="1800"/>
                      </a:pPr>
                      <a:r>
                        <a:rPr b="1" sz="700">
                          <a:solidFill>
                            <a:srgbClr val="FFFFFF"/>
                          </a:solidFill>
                          <a:latin typeface="Open Sans"/>
                          <a:ea typeface="Open Sans"/>
                          <a:cs typeface="Open Sans"/>
                          <a:sym typeface="Open Sans"/>
                        </a:rPr>
                        <a:t>₹500+</a:t>
                      </a:r>
                    </a:p>
                  </a:txBody>
                  <a:tcPr marL="45720" marR="45720" marT="45720" marB="45720" anchor="ctr" anchorCtr="0" horzOverflow="overflow">
                    <a:lnL w="12700">
                      <a:miter lim="400000"/>
                    </a:lnL>
                    <a:lnR w="3175">
                      <a:solidFill>
                        <a:srgbClr val="002060"/>
                      </a:solidFill>
                      <a:prstDash val="lgDash"/>
                    </a:lnR>
                    <a:lnT w="3175">
                      <a:solidFill>
                        <a:srgbClr val="002060"/>
                      </a:solidFill>
                      <a:prstDash val="lgDash"/>
                    </a:lnT>
                    <a:lnB w="3175">
                      <a:solidFill>
                        <a:srgbClr val="002060"/>
                      </a:solidFill>
                      <a:prstDash val="lgDash"/>
                    </a:lnB>
                    <a:solidFill>
                      <a:srgbClr val="002060"/>
                    </a:solidFill>
                  </a:tcPr>
                </a:tc>
                <a:tc>
                  <a:txBody>
                    <a:bodyPr/>
                    <a:lstStyle/>
                    <a:p>
                      <a:pPr algn="ctr">
                        <a:defRPr sz="1800"/>
                      </a:pPr>
                      <a:r>
                        <a:rPr sz="700">
                          <a:solidFill>
                            <a:srgbClr val="A6A6A6"/>
                          </a:solidFill>
                          <a:latin typeface="Open Sans"/>
                          <a:ea typeface="Open Sans"/>
                          <a:cs typeface="Open Sans"/>
                          <a:sym typeface="Open Sans"/>
                        </a:rPr>
                        <a:t>1%</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3%</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3%</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4%</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6%</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002060"/>
                          </a:solidFill>
                          <a:latin typeface="Open Sans"/>
                          <a:ea typeface="Open Sans"/>
                          <a:cs typeface="Open Sans"/>
                          <a:sym typeface="Open Sans"/>
                        </a:rPr>
                        <a:t>15%</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002060"/>
                          </a:solidFill>
                          <a:latin typeface="Open Sans"/>
                          <a:ea typeface="Open Sans"/>
                          <a:cs typeface="Open Sans"/>
                          <a:sym typeface="Open Sans"/>
                        </a:rPr>
                        <a:t>68%</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b="1" sz="800">
                          <a:solidFill>
                            <a:srgbClr val="002060"/>
                          </a:solidFill>
                          <a:latin typeface="Open Sans"/>
                          <a:ea typeface="Open Sans"/>
                          <a:cs typeface="Open Sans"/>
                          <a:sym typeface="Open Sans"/>
                        </a:rPr>
                        <a:t>6%</a:t>
                      </a:r>
                    </a:p>
                  </a:txBody>
                  <a:tcPr marL="7620" marR="7620" marT="7620" marB="7620" anchor="ctr" anchorCtr="0" horzOverflow="overflow">
                    <a:lnL w="3175">
                      <a:solidFill>
                        <a:srgbClr val="002060"/>
                      </a:solidFill>
                      <a:prstDash val="lgDash"/>
                    </a:lnL>
                    <a:lnR w="12700">
                      <a:miter lim="400000"/>
                    </a:lnR>
                    <a:lnT w="3175">
                      <a:solidFill>
                        <a:srgbClr val="002060"/>
                      </a:solidFill>
                      <a:prstDash val="lgDash"/>
                    </a:lnT>
                    <a:lnB w="3175">
                      <a:solidFill>
                        <a:srgbClr val="002060"/>
                      </a:solidFill>
                      <a:prstDash val="lgDash"/>
                    </a:lnB>
                    <a:noFill/>
                  </a:tcPr>
                </a:tc>
              </a:tr>
              <a:tr h="168724">
                <a:tc>
                  <a:txBody>
                    <a:bodyPr/>
                    <a:lstStyle/>
                    <a:p>
                      <a:pPr algn="ctr">
                        <a:defRPr sz="1800"/>
                      </a:pPr>
                      <a:r>
                        <a:rPr b="1" sz="800">
                          <a:solidFill>
                            <a:srgbClr val="002060"/>
                          </a:solidFill>
                          <a:latin typeface="Open Sans"/>
                          <a:ea typeface="Open Sans"/>
                          <a:cs typeface="Open Sans"/>
                          <a:sym typeface="Open Sans"/>
                        </a:rPr>
                        <a:t>Customers</a:t>
                      </a:r>
                    </a:p>
                  </a:txBody>
                  <a:tcPr marL="45720" marR="45720" marT="45720" marB="45720" anchor="ctr" anchorCtr="0" horzOverflow="overflow">
                    <a:lnL w="12700">
                      <a:miter lim="400000"/>
                    </a:lnL>
                    <a:lnR w="3175">
                      <a:solidFill>
                        <a:srgbClr val="002060"/>
                      </a:solidFill>
                      <a:prstDash val="lgDash"/>
                    </a:lnR>
                    <a:lnT w="3175">
                      <a:solidFill>
                        <a:srgbClr val="002060"/>
                      </a:solidFill>
                      <a:prstDash val="lgDash"/>
                    </a:lnT>
                    <a:lnB w="12700">
                      <a:miter lim="400000"/>
                    </a:lnB>
                    <a:noFill/>
                  </a:tcPr>
                </a:tc>
                <a:tc>
                  <a:txBody>
                    <a:bodyPr/>
                    <a:lstStyle/>
                    <a:p>
                      <a:pPr algn="ctr">
                        <a:defRPr sz="1800"/>
                      </a:pPr>
                      <a:r>
                        <a:rPr b="1" sz="800">
                          <a:solidFill>
                            <a:srgbClr val="002060"/>
                          </a:solidFill>
                          <a:latin typeface="Open Sans"/>
                          <a:ea typeface="Open Sans"/>
                          <a:cs typeface="Open Sans"/>
                          <a:sym typeface="Open Sans"/>
                        </a:rPr>
                        <a:t>35%</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12700">
                      <a:miter lim="400000"/>
                    </a:lnB>
                    <a:noFill/>
                  </a:tcPr>
                </a:tc>
                <a:tc>
                  <a:txBody>
                    <a:bodyPr/>
                    <a:lstStyle/>
                    <a:p>
                      <a:pPr algn="ctr">
                        <a:defRPr sz="1800"/>
                      </a:pPr>
                      <a:r>
                        <a:rPr b="1" sz="800">
                          <a:solidFill>
                            <a:srgbClr val="002060"/>
                          </a:solidFill>
                          <a:latin typeface="Open Sans"/>
                          <a:ea typeface="Open Sans"/>
                          <a:cs typeface="Open Sans"/>
                          <a:sym typeface="Open Sans"/>
                        </a:rPr>
                        <a:t>26%</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12700">
                      <a:miter lim="400000"/>
                    </a:lnB>
                    <a:noFill/>
                  </a:tcPr>
                </a:tc>
                <a:tc>
                  <a:txBody>
                    <a:bodyPr/>
                    <a:lstStyle/>
                    <a:p>
                      <a:pPr algn="ctr">
                        <a:defRPr sz="1800"/>
                      </a:pPr>
                      <a:r>
                        <a:rPr b="1" sz="800">
                          <a:solidFill>
                            <a:srgbClr val="002060"/>
                          </a:solidFill>
                          <a:latin typeface="Open Sans"/>
                          <a:ea typeface="Open Sans"/>
                          <a:cs typeface="Open Sans"/>
                          <a:sym typeface="Open Sans"/>
                        </a:rPr>
                        <a:t>9%</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12700">
                      <a:miter lim="400000"/>
                    </a:lnB>
                    <a:noFill/>
                  </a:tcPr>
                </a:tc>
                <a:tc>
                  <a:txBody>
                    <a:bodyPr/>
                    <a:lstStyle/>
                    <a:p>
                      <a:pPr algn="ctr">
                        <a:defRPr sz="1800"/>
                      </a:pPr>
                      <a:r>
                        <a:rPr b="1" sz="800">
                          <a:solidFill>
                            <a:srgbClr val="002060"/>
                          </a:solidFill>
                          <a:latin typeface="Open Sans"/>
                          <a:ea typeface="Open Sans"/>
                          <a:cs typeface="Open Sans"/>
                          <a:sym typeface="Open Sans"/>
                        </a:rPr>
                        <a:t>8%</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12700">
                      <a:miter lim="400000"/>
                    </a:lnB>
                    <a:noFill/>
                  </a:tcPr>
                </a:tc>
                <a:tc>
                  <a:txBody>
                    <a:bodyPr/>
                    <a:lstStyle/>
                    <a:p>
                      <a:pPr algn="ctr">
                        <a:defRPr sz="1800"/>
                      </a:pPr>
                      <a:r>
                        <a:rPr b="1" sz="800">
                          <a:solidFill>
                            <a:srgbClr val="002060"/>
                          </a:solidFill>
                          <a:latin typeface="Open Sans"/>
                          <a:ea typeface="Open Sans"/>
                          <a:cs typeface="Open Sans"/>
                          <a:sym typeface="Open Sans"/>
                        </a:rPr>
                        <a:t>6%</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12700">
                      <a:miter lim="400000"/>
                    </a:lnB>
                    <a:noFill/>
                  </a:tcPr>
                </a:tc>
                <a:tc>
                  <a:txBody>
                    <a:bodyPr/>
                    <a:lstStyle/>
                    <a:p>
                      <a:pPr algn="ctr">
                        <a:defRPr sz="1800"/>
                      </a:pPr>
                      <a:r>
                        <a:rPr b="1" sz="800">
                          <a:solidFill>
                            <a:srgbClr val="002060"/>
                          </a:solidFill>
                          <a:latin typeface="Open Sans"/>
                          <a:ea typeface="Open Sans"/>
                          <a:cs typeface="Open Sans"/>
                          <a:sym typeface="Open Sans"/>
                        </a:rPr>
                        <a:t>7%</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12700">
                      <a:miter lim="400000"/>
                    </a:lnB>
                    <a:noFill/>
                  </a:tcPr>
                </a:tc>
                <a:tc>
                  <a:txBody>
                    <a:bodyPr/>
                    <a:lstStyle/>
                    <a:p>
                      <a:pPr algn="ctr">
                        <a:defRPr sz="1800"/>
                      </a:pPr>
                      <a:r>
                        <a:rPr b="1" sz="800">
                          <a:solidFill>
                            <a:srgbClr val="002060"/>
                          </a:solidFill>
                          <a:latin typeface="Open Sans"/>
                          <a:ea typeface="Open Sans"/>
                          <a:cs typeface="Open Sans"/>
                          <a:sym typeface="Open Sans"/>
                        </a:rPr>
                        <a:t>8%</a:t>
                      </a:r>
                    </a:p>
                  </a:txBody>
                  <a:tcPr marL="7620" marR="7620" marT="7620" marB="7620"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12700">
                      <a:miter lim="400000"/>
                    </a:lnB>
                    <a:noFill/>
                  </a:tcPr>
                </a:tc>
                <a:tc>
                  <a:txBody>
                    <a:bodyPr/>
                    <a:lstStyle/>
                    <a:p>
                      <a:pPr algn="ctr">
                        <a:defRPr sz="1800"/>
                      </a:pPr>
                      <a:r>
                        <a:rPr b="1" sz="800">
                          <a:solidFill>
                            <a:srgbClr val="002060"/>
                          </a:solidFill>
                          <a:latin typeface="Open Sans"/>
                          <a:ea typeface="Open Sans"/>
                          <a:cs typeface="Open Sans"/>
                          <a:sym typeface="Open Sans"/>
                        </a:rPr>
                        <a:t>13.02 Cr.</a:t>
                      </a:r>
                    </a:p>
                  </a:txBody>
                  <a:tcPr marL="9525" marR="9525" marT="9525" marB="9525" anchor="ctr" anchorCtr="0" horzOverflow="overflow">
                    <a:lnL w="3175">
                      <a:solidFill>
                        <a:srgbClr val="002060"/>
                      </a:solidFill>
                      <a:prstDash val="lgDash"/>
                    </a:lnL>
                    <a:lnR w="12700">
                      <a:miter lim="400000"/>
                    </a:lnR>
                    <a:lnT w="3175">
                      <a:solidFill>
                        <a:srgbClr val="002060"/>
                      </a:solidFill>
                      <a:prstDash val="lgDash"/>
                    </a:lnT>
                    <a:lnB w="12700">
                      <a:miter lim="400000"/>
                    </a:lnB>
                    <a:noFill/>
                  </a:tcPr>
                </a:tc>
              </a:tr>
            </a:tbl>
          </a:graphicData>
        </a:graphic>
      </p:graphicFrame>
      <p:sp>
        <p:nvSpPr>
          <p:cNvPr id="575" name="TextBox 19"/>
          <p:cNvSpPr txBox="1"/>
          <p:nvPr/>
        </p:nvSpPr>
        <p:spPr>
          <a:xfrm>
            <a:off x="1836326" y="602576"/>
            <a:ext cx="2783594" cy="269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1200">
                <a:solidFill>
                  <a:srgbClr val="0070C0"/>
                </a:solidFill>
                <a:latin typeface="Open Sans"/>
                <a:ea typeface="Open Sans"/>
                <a:cs typeface="Open Sans"/>
                <a:sym typeface="Open Sans"/>
              </a:defRPr>
            </a:lvl1pPr>
          </a:lstStyle>
          <a:p>
            <a:pPr/>
            <a:r>
              <a:t>Predicted Customer Value</a:t>
            </a:r>
          </a:p>
        </p:txBody>
      </p:sp>
      <p:sp>
        <p:nvSpPr>
          <p:cNvPr id="576" name="TextBox 20"/>
          <p:cNvSpPr txBox="1"/>
          <p:nvPr/>
        </p:nvSpPr>
        <p:spPr>
          <a:xfrm rot="16200000">
            <a:off x="-405045" y="1586231"/>
            <a:ext cx="1486026" cy="447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1200">
                <a:solidFill>
                  <a:srgbClr val="0070C0"/>
                </a:solidFill>
                <a:latin typeface="Open Sans"/>
                <a:ea typeface="Open Sans"/>
                <a:cs typeface="Open Sans"/>
                <a:sym typeface="Open Sans"/>
              </a:defRPr>
            </a:lvl1pPr>
          </a:lstStyle>
          <a:p>
            <a:pPr/>
            <a:r>
              <a:t>Observed Customer Value</a:t>
            </a:r>
          </a:p>
        </p:txBody>
      </p:sp>
      <p:sp>
        <p:nvSpPr>
          <p:cNvPr id="577" name="Rectangle 21"/>
          <p:cNvSpPr/>
          <p:nvPr/>
        </p:nvSpPr>
        <p:spPr>
          <a:xfrm rot="1110765">
            <a:off x="1418756" y="1489094"/>
            <a:ext cx="3744575" cy="572804"/>
          </a:xfrm>
          <a:prstGeom prst="rect">
            <a:avLst/>
          </a:prstGeom>
          <a:ln w="12700">
            <a:solidFill>
              <a:srgbClr val="0070C0"/>
            </a:solidFill>
            <a:prstDash val="lgDash"/>
          </a:ln>
        </p:spPr>
        <p:txBody>
          <a:bodyPr lIns="45719" rIns="45719" anchor="ctr"/>
          <a:lstStyle/>
          <a:p>
            <a:pPr algn="ctr">
              <a:defRPr sz="1200">
                <a:solidFill>
                  <a:srgbClr val="FFFFFF"/>
                </a:solidFill>
              </a:defRPr>
            </a:pPr>
          </a:p>
        </p:txBody>
      </p:sp>
      <p:sp>
        <p:nvSpPr>
          <p:cNvPr id="578" name="Rectangle 22"/>
          <p:cNvSpPr txBox="1"/>
          <p:nvPr/>
        </p:nvSpPr>
        <p:spPr>
          <a:xfrm>
            <a:off x="6142382" y="859152"/>
            <a:ext cx="2862471" cy="147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28600" indent="-228600">
              <a:spcBef>
                <a:spcPts val="900"/>
              </a:spcBef>
              <a:buClr>
                <a:srgbClr val="00B0F0"/>
              </a:buClr>
              <a:buSzPct val="100000"/>
              <a:buFont typeface="Helvetica"/>
              <a:buChar char="⁃"/>
              <a:defRPr sz="1200">
                <a:solidFill>
                  <a:srgbClr val="0070C0"/>
                </a:solidFill>
                <a:latin typeface="Open Sans"/>
                <a:ea typeface="Open Sans"/>
                <a:cs typeface="Open Sans"/>
                <a:sym typeface="Open Sans"/>
              </a:defRPr>
            </a:pPr>
            <a:r>
              <a:t>Monitoring is done on 13.02 Cr. L12M Active Customers in</a:t>
            </a:r>
          </a:p>
          <a:p>
            <a:pPr marL="228600" indent="-228600">
              <a:spcBef>
                <a:spcPts val="900"/>
              </a:spcBef>
              <a:buClr>
                <a:srgbClr val="00B0F0"/>
              </a:buClr>
              <a:buSzPct val="100000"/>
              <a:buFont typeface="Helvetica"/>
              <a:buChar char="⁃"/>
              <a:defRPr b="1" sz="1200">
                <a:solidFill>
                  <a:srgbClr val="0070C0"/>
                </a:solidFill>
                <a:latin typeface="Open Sans"/>
                <a:ea typeface="Open Sans"/>
                <a:cs typeface="Open Sans"/>
                <a:sym typeface="Open Sans"/>
              </a:defRPr>
            </a:pPr>
            <a:r>
              <a:t>Accuracy</a:t>
            </a:r>
            <a:r>
              <a:rPr b="0"/>
              <a:t> of the model remains </a:t>
            </a:r>
            <a:r>
              <a:t>78%</a:t>
            </a:r>
            <a:r>
              <a:rPr b="0"/>
              <a:t> as compared to </a:t>
            </a:r>
            <a:r>
              <a:t>77%</a:t>
            </a:r>
            <a:r>
              <a:rPr b="0"/>
              <a:t> on  data</a:t>
            </a:r>
            <a:endParaRPr b="0"/>
          </a:p>
          <a:p>
            <a:pPr marL="228600" indent="-228600">
              <a:spcBef>
                <a:spcPts val="900"/>
              </a:spcBef>
              <a:buClr>
                <a:srgbClr val="00B0F0"/>
              </a:buClr>
              <a:buSzPct val="100000"/>
              <a:buFont typeface="Helvetica"/>
              <a:buChar char="⁃"/>
              <a:defRPr sz="1200">
                <a:solidFill>
                  <a:srgbClr val="0070C0"/>
                </a:solidFill>
                <a:latin typeface="Open Sans"/>
                <a:ea typeface="Open Sans"/>
                <a:cs typeface="Open Sans"/>
                <a:sym typeface="Open Sans"/>
              </a:defRPr>
            </a:pPr>
            <a:r>
              <a:t>Distribution of the customers across CLTV bands remains similar to  results.</a:t>
            </a:r>
          </a:p>
        </p:txBody>
      </p:sp>
      <p:sp>
        <p:nvSpPr>
          <p:cNvPr id="579" name="Straight Connector 23"/>
          <p:cNvSpPr/>
          <p:nvPr/>
        </p:nvSpPr>
        <p:spPr>
          <a:xfrm>
            <a:off x="0" y="2815282"/>
            <a:ext cx="9144000" cy="1"/>
          </a:xfrm>
          <a:prstGeom prst="line">
            <a:avLst/>
          </a:prstGeom>
          <a:ln>
            <a:solidFill>
              <a:srgbClr val="002060"/>
            </a:solidFill>
            <a:prstDash val="lgDash"/>
          </a:ln>
        </p:spPr>
        <p:txBody>
          <a:bodyPr lIns="45719" rIns="45719"/>
          <a:lstStyle/>
          <a:p>
            <a:pPr/>
          </a:p>
        </p:txBody>
      </p:sp>
      <p:graphicFrame>
        <p:nvGraphicFramePr>
          <p:cNvPr id="580" name="Chart 27"/>
          <p:cNvGraphicFramePr/>
          <p:nvPr/>
        </p:nvGraphicFramePr>
        <p:xfrm>
          <a:off x="288629" y="3134965"/>
          <a:ext cx="5680955" cy="1603096"/>
        </p:xfrm>
        <a:graphic xmlns:a="http://schemas.openxmlformats.org/drawingml/2006/main">
          <a:graphicData uri="http://schemas.openxmlformats.org/drawingml/2006/chart">
            <c:chart xmlns:c="http://schemas.openxmlformats.org/drawingml/2006/chart" r:id="rId2"/>
          </a:graphicData>
        </a:graphic>
      </p:graphicFrame>
      <p:sp>
        <p:nvSpPr>
          <p:cNvPr id="581" name="TextBox 13"/>
          <p:cNvSpPr txBox="1"/>
          <p:nvPr/>
        </p:nvSpPr>
        <p:spPr>
          <a:xfrm>
            <a:off x="1062544" y="4639977"/>
            <a:ext cx="4590918" cy="269241"/>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45719" rIns="45719">
            <a:spAutoFit/>
          </a:bodyPr>
          <a:lstStyle>
            <a:lvl1pPr>
              <a:defRPr sz="600">
                <a:solidFill>
                  <a:srgbClr val="0070C0"/>
                </a:solidFill>
                <a:latin typeface="Open Sans"/>
                <a:ea typeface="Open Sans"/>
                <a:cs typeface="Open Sans"/>
                <a:sym typeface="Open Sans"/>
              </a:defRPr>
            </a:lvl1pPr>
          </a:lstStyle>
          <a:p>
            <a:pPr/>
            <a:r>
              <a:t> 1                      2                      3                     4                      5                    6                     7                       8                     9                     10</a:t>
            </a:r>
          </a:p>
        </p:txBody>
      </p:sp>
      <p:sp>
        <p:nvSpPr>
          <p:cNvPr id="582" name="TextBox 28"/>
          <p:cNvSpPr txBox="1"/>
          <p:nvPr/>
        </p:nvSpPr>
        <p:spPr>
          <a:xfrm>
            <a:off x="1754536" y="2924562"/>
            <a:ext cx="2783594" cy="269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b="1" sz="1200">
                <a:solidFill>
                  <a:srgbClr val="0070C0"/>
                </a:solidFill>
                <a:latin typeface="Open Sans"/>
                <a:ea typeface="Open Sans"/>
                <a:cs typeface="Open Sans"/>
                <a:sym typeface="Open Sans"/>
              </a:defRPr>
            </a:pPr>
            <a:r>
              <a:t>Churn</a:t>
            </a:r>
            <a:r>
              <a:rPr baseline="30000"/>
              <a:t>*</a:t>
            </a:r>
            <a:r>
              <a:t> Rate by Predicted Deciles</a:t>
            </a:r>
          </a:p>
        </p:txBody>
      </p:sp>
      <p:sp>
        <p:nvSpPr>
          <p:cNvPr id="583" name="TextBox 30"/>
          <p:cNvSpPr/>
          <p:nvPr/>
        </p:nvSpPr>
        <p:spPr>
          <a:xfrm rot="20036587">
            <a:off x="750893" y="3917905"/>
            <a:ext cx="1915849" cy="308040"/>
          </a:xfrm>
          <a:prstGeom prst="rect">
            <a:avLst/>
          </a:prstGeom>
          <a:solidFill>
            <a:srgbClr val="002060">
              <a:alpha val="15684"/>
            </a:srgbClr>
          </a:solidFill>
          <a:ln w="12700">
            <a:miter lim="400000"/>
          </a:ln>
        </p:spPr>
        <p:txBody>
          <a:bodyPr lIns="45719" rIns="45719"/>
          <a:lstStyle/>
          <a:p>
            <a:pPr>
              <a:defRPr sz="1000">
                <a:solidFill>
                  <a:srgbClr val="002060"/>
                </a:solidFill>
                <a:latin typeface="Open Sans"/>
                <a:ea typeface="Open Sans"/>
                <a:cs typeface="Open Sans"/>
                <a:sym typeface="Open Sans"/>
              </a:defRPr>
            </a:pPr>
          </a:p>
        </p:txBody>
      </p:sp>
      <p:sp>
        <p:nvSpPr>
          <p:cNvPr id="584" name="Straight Connector 31"/>
          <p:cNvSpPr/>
          <p:nvPr/>
        </p:nvSpPr>
        <p:spPr>
          <a:xfrm>
            <a:off x="2540173" y="3697475"/>
            <a:ext cx="1" cy="932163"/>
          </a:xfrm>
          <a:prstGeom prst="line">
            <a:avLst/>
          </a:prstGeom>
          <a:ln w="3175">
            <a:solidFill>
              <a:srgbClr val="048F41"/>
            </a:solidFill>
            <a:prstDash val="lgDash"/>
          </a:ln>
        </p:spPr>
        <p:txBody>
          <a:bodyPr lIns="45719" rIns="45719"/>
          <a:lstStyle/>
          <a:p>
            <a:pPr/>
          </a:p>
        </p:txBody>
      </p:sp>
      <p:sp>
        <p:nvSpPr>
          <p:cNvPr id="585" name="Straight Connector 33"/>
          <p:cNvSpPr/>
          <p:nvPr/>
        </p:nvSpPr>
        <p:spPr>
          <a:xfrm flipH="1">
            <a:off x="2540174" y="3697475"/>
            <a:ext cx="2771761" cy="1"/>
          </a:xfrm>
          <a:prstGeom prst="line">
            <a:avLst/>
          </a:prstGeom>
          <a:ln w="3175">
            <a:solidFill>
              <a:srgbClr val="048F41"/>
            </a:solidFill>
            <a:prstDash val="lgDash"/>
          </a:ln>
        </p:spPr>
        <p:txBody>
          <a:bodyPr lIns="45719" rIns="45719"/>
          <a:lstStyle/>
          <a:p>
            <a:pPr/>
          </a:p>
        </p:txBody>
      </p:sp>
      <p:sp>
        <p:nvSpPr>
          <p:cNvPr id="586" name="TextBox 39"/>
          <p:cNvSpPr txBox="1"/>
          <p:nvPr/>
        </p:nvSpPr>
        <p:spPr>
          <a:xfrm>
            <a:off x="876772" y="3533316"/>
            <a:ext cx="1150101" cy="421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700">
                <a:solidFill>
                  <a:srgbClr val="048F41"/>
                </a:solidFill>
                <a:latin typeface="Open Sans"/>
                <a:ea typeface="Open Sans"/>
                <a:cs typeface="Open Sans"/>
                <a:sym typeface="Open Sans"/>
              </a:defRPr>
            </a:pPr>
            <a:r>
              <a:t>75% of </a:t>
            </a:r>
            <a:r>
              <a:rPr b="1" i="1" sz="800"/>
              <a:t>Churn</a:t>
            </a:r>
            <a:r>
              <a:t> are intercepted by the model in the first  40% population</a:t>
            </a:r>
          </a:p>
        </p:txBody>
      </p:sp>
      <p:graphicFrame>
        <p:nvGraphicFramePr>
          <p:cNvPr id="587" name="Table 41"/>
          <p:cNvGraphicFramePr/>
          <p:nvPr/>
        </p:nvGraphicFramePr>
        <p:xfrm>
          <a:off x="6253272" y="3146921"/>
          <a:ext cx="2520001" cy="1260001"/>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840000"/>
                <a:gridCol w="840000"/>
                <a:gridCol w="840000"/>
              </a:tblGrid>
              <a:tr h="252000">
                <a:tc>
                  <a:txBody>
                    <a:bodyPr/>
                    <a:lstStyle/>
                    <a:p>
                      <a:pPr algn="ctr">
                        <a:defRPr b="0" sz="1800">
                          <a:solidFill>
                            <a:srgbClr val="000000"/>
                          </a:solidFill>
                        </a:defRPr>
                      </a:pPr>
                      <a:r>
                        <a:rPr b="1" sz="1200">
                          <a:solidFill>
                            <a:srgbClr val="FFFFFF"/>
                          </a:solidFill>
                          <a:latin typeface="Open Sans"/>
                          <a:ea typeface="Open Sans"/>
                          <a:cs typeface="Open Sans"/>
                          <a:sym typeface="Open Sans"/>
                        </a:rPr>
                        <a:t>KPI</a:t>
                      </a:r>
                    </a:p>
                  </a:txBody>
                  <a:tcPr marL="45720" marR="45720" marT="45720" marB="45720" anchor="ctr" anchorCtr="0" horzOverflow="overflow">
                    <a:lnL w="3175">
                      <a:solidFill>
                        <a:srgbClr val="002060"/>
                      </a:solidFill>
                      <a:prstDash val="lgDash"/>
                    </a:lnL>
                    <a:lnR w="3175">
                      <a:solidFill>
                        <a:srgbClr val="002060"/>
                      </a:solidFill>
                      <a:prstDash val="lgDash"/>
                    </a:lnR>
                    <a:lnT w="12700">
                      <a:miter lim="400000"/>
                    </a:lnT>
                    <a:lnB w="3175">
                      <a:solidFill>
                        <a:srgbClr val="002060"/>
                      </a:solidFill>
                      <a:prstDash val="lgDash"/>
                    </a:lnB>
                    <a:solidFill>
                      <a:srgbClr val="002060"/>
                    </a:solidFill>
                  </a:tcPr>
                </a:tc>
                <a:tc>
                  <a:txBody>
                    <a:bodyPr/>
                    <a:lstStyle/>
                    <a:p>
                      <a:pPr algn="ctr">
                        <a:defRPr b="0" sz="1800">
                          <a:solidFill>
                            <a:srgbClr val="000000"/>
                          </a:solidFill>
                        </a:defRPr>
                      </a:pPr>
                      <a:r>
                        <a:rPr b="1" sz="1200">
                          <a:solidFill>
                            <a:srgbClr val="FFFFFF"/>
                          </a:solidFill>
                          <a:latin typeface="Open Sans"/>
                          <a:ea typeface="Open Sans"/>
                          <a:cs typeface="Open Sans"/>
                          <a:sym typeface="Open Sans"/>
                        </a:rPr>
                        <a:t> Aug’22</a:t>
                      </a:r>
                    </a:p>
                  </a:txBody>
                  <a:tcPr marL="45720" marR="45720" marT="45720" marB="45720" anchor="ctr" anchorCtr="0" horzOverflow="overflow">
                    <a:lnL w="3175">
                      <a:solidFill>
                        <a:srgbClr val="002060"/>
                      </a:solidFill>
                      <a:prstDash val="lgDash"/>
                    </a:lnL>
                    <a:lnR w="3175">
                      <a:solidFill>
                        <a:srgbClr val="002060"/>
                      </a:solidFill>
                      <a:prstDash val="lgDash"/>
                    </a:lnR>
                    <a:lnT w="12700">
                      <a:miter lim="400000"/>
                    </a:lnT>
                    <a:lnB w="3175">
                      <a:solidFill>
                        <a:srgbClr val="002060"/>
                      </a:solidFill>
                      <a:prstDash val="lgDash"/>
                    </a:lnB>
                    <a:solidFill>
                      <a:srgbClr val="002060"/>
                    </a:solidFill>
                  </a:tcPr>
                </a:tc>
                <a:tc>
                  <a:txBody>
                    <a:bodyPr/>
                    <a:lstStyle/>
                    <a:p>
                      <a:pPr algn="ctr">
                        <a:defRPr b="0" sz="1800">
                          <a:solidFill>
                            <a:srgbClr val="000000"/>
                          </a:solidFill>
                        </a:defRPr>
                      </a:pPr>
                      <a:r>
                        <a:rPr b="1" sz="1200">
                          <a:solidFill>
                            <a:srgbClr val="FFFFFF"/>
                          </a:solidFill>
                          <a:latin typeface="Open Sans"/>
                          <a:ea typeface="Open Sans"/>
                          <a:cs typeface="Open Sans"/>
                          <a:sym typeface="Open Sans"/>
                        </a:rPr>
                        <a:t>Oct’22</a:t>
                      </a:r>
                    </a:p>
                  </a:txBody>
                  <a:tcPr marL="45720" marR="45720" marT="45720" marB="45720" anchor="ctr" anchorCtr="0" horzOverflow="overflow">
                    <a:lnL w="3175">
                      <a:solidFill>
                        <a:srgbClr val="002060"/>
                      </a:solidFill>
                      <a:prstDash val="lgDash"/>
                    </a:lnL>
                    <a:lnR w="3175">
                      <a:solidFill>
                        <a:srgbClr val="002060"/>
                      </a:solidFill>
                      <a:prstDash val="lgDash"/>
                    </a:lnR>
                    <a:lnT w="12700">
                      <a:miter lim="400000"/>
                    </a:lnT>
                    <a:lnB w="3175">
                      <a:solidFill>
                        <a:srgbClr val="002060"/>
                      </a:solidFill>
                      <a:prstDash val="lgDash"/>
                    </a:lnB>
                    <a:solidFill>
                      <a:srgbClr val="002060"/>
                    </a:solidFill>
                  </a:tcPr>
                </a:tc>
              </a:tr>
              <a:tr h="252000">
                <a:tc>
                  <a:txBody>
                    <a:bodyPr/>
                    <a:lstStyle/>
                    <a:p>
                      <a:pPr algn="ctr">
                        <a:defRPr sz="1800"/>
                      </a:pPr>
                      <a:r>
                        <a:rPr sz="1100">
                          <a:solidFill>
                            <a:srgbClr val="002060"/>
                          </a:solidFill>
                          <a:latin typeface="Open Sans"/>
                          <a:ea typeface="Open Sans"/>
                          <a:cs typeface="Open Sans"/>
                          <a:sym typeface="Open Sans"/>
                        </a:rPr>
                        <a:t>Gini</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1100">
                          <a:solidFill>
                            <a:srgbClr val="002060"/>
                          </a:solidFill>
                          <a:latin typeface="Open Sans"/>
                          <a:ea typeface="Open Sans"/>
                          <a:cs typeface="Open Sans"/>
                          <a:sym typeface="Open Sans"/>
                        </a:rPr>
                        <a:t>79.6%</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1100">
                          <a:solidFill>
                            <a:srgbClr val="002060"/>
                          </a:solidFill>
                          <a:latin typeface="Open Sans"/>
                          <a:ea typeface="Open Sans"/>
                          <a:cs typeface="Open Sans"/>
                          <a:sym typeface="Open Sans"/>
                        </a:rPr>
                        <a:t>75.4%</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r>
              <a:tr h="252000">
                <a:tc>
                  <a:txBody>
                    <a:bodyPr/>
                    <a:lstStyle/>
                    <a:p>
                      <a:pPr algn="ctr">
                        <a:defRPr sz="1800"/>
                      </a:pPr>
                      <a:r>
                        <a:rPr sz="1100">
                          <a:solidFill>
                            <a:srgbClr val="002060"/>
                          </a:solidFill>
                          <a:latin typeface="Open Sans"/>
                          <a:ea typeface="Open Sans"/>
                          <a:cs typeface="Open Sans"/>
                          <a:sym typeface="Open Sans"/>
                        </a:rPr>
                        <a:t>AUC</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1100">
                          <a:solidFill>
                            <a:srgbClr val="002060"/>
                          </a:solidFill>
                          <a:latin typeface="Open Sans"/>
                          <a:ea typeface="Open Sans"/>
                          <a:cs typeface="Open Sans"/>
                          <a:sym typeface="Open Sans"/>
                        </a:rPr>
                        <a:t>89.8%</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1100">
                          <a:solidFill>
                            <a:srgbClr val="002060"/>
                          </a:solidFill>
                          <a:latin typeface="Open Sans"/>
                          <a:ea typeface="Open Sans"/>
                          <a:cs typeface="Open Sans"/>
                          <a:sym typeface="Open Sans"/>
                        </a:rPr>
                        <a:t>87.7%</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r>
              <a:tr h="252000">
                <a:tc>
                  <a:txBody>
                    <a:bodyPr/>
                    <a:lstStyle/>
                    <a:p>
                      <a:pPr algn="ctr">
                        <a:defRPr sz="1800"/>
                      </a:pPr>
                      <a:r>
                        <a:rPr sz="1100">
                          <a:solidFill>
                            <a:srgbClr val="002060"/>
                          </a:solidFill>
                          <a:latin typeface="Open Sans"/>
                          <a:ea typeface="Open Sans"/>
                          <a:cs typeface="Open Sans"/>
                          <a:sym typeface="Open Sans"/>
                        </a:rPr>
                        <a:t>KS</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1100">
                          <a:solidFill>
                            <a:srgbClr val="002060"/>
                          </a:solidFill>
                          <a:latin typeface="Open Sans"/>
                          <a:ea typeface="Open Sans"/>
                          <a:cs typeface="Open Sans"/>
                          <a:sym typeface="Open Sans"/>
                        </a:rPr>
                        <a:t>65%</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1100">
                          <a:solidFill>
                            <a:srgbClr val="002060"/>
                          </a:solidFill>
                          <a:latin typeface="Open Sans"/>
                          <a:ea typeface="Open Sans"/>
                          <a:cs typeface="Open Sans"/>
                          <a:sym typeface="Open Sans"/>
                        </a:rPr>
                        <a:t>60%</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r>
              <a:tr h="252000">
                <a:tc>
                  <a:txBody>
                    <a:bodyPr/>
                    <a:lstStyle/>
                    <a:p>
                      <a:pPr algn="ctr">
                        <a:defRPr sz="1800"/>
                      </a:pPr>
                      <a:r>
                        <a:rPr sz="1100">
                          <a:solidFill>
                            <a:srgbClr val="002060"/>
                          </a:solidFill>
                          <a:latin typeface="Open Sans"/>
                          <a:ea typeface="Open Sans"/>
                          <a:cs typeface="Open Sans"/>
                          <a:sym typeface="Open Sans"/>
                        </a:rPr>
                        <a:t>PSI</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1100">
                          <a:solidFill>
                            <a:srgbClr val="002060"/>
                          </a:solidFill>
                          <a:latin typeface="Open Sans"/>
                          <a:ea typeface="Open Sans"/>
                          <a:cs typeface="Open Sans"/>
                          <a:sym typeface="Open Sans"/>
                        </a:rPr>
                        <a:t>0.19%</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1100">
                          <a:solidFill>
                            <a:srgbClr val="002060"/>
                          </a:solidFill>
                          <a:latin typeface="Open Sans"/>
                          <a:ea typeface="Open Sans"/>
                          <a:cs typeface="Open Sans"/>
                          <a:sym typeface="Open Sans"/>
                        </a:rPr>
                        <a:t>0.54%</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r>
            </a:tbl>
          </a:graphicData>
        </a:graphic>
      </p:graphicFrame>
      <p:sp>
        <p:nvSpPr>
          <p:cNvPr id="588" name="TextBox 42"/>
          <p:cNvSpPr txBox="1"/>
          <p:nvPr/>
        </p:nvSpPr>
        <p:spPr>
          <a:xfrm>
            <a:off x="6168106" y="2869921"/>
            <a:ext cx="2783594" cy="269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1200">
                <a:solidFill>
                  <a:srgbClr val="0070C0"/>
                </a:solidFill>
                <a:latin typeface="Open Sans"/>
                <a:ea typeface="Open Sans"/>
                <a:cs typeface="Open Sans"/>
                <a:sym typeface="Open Sans"/>
              </a:defRPr>
            </a:lvl1pPr>
          </a:lstStyle>
          <a:p>
            <a:pPr/>
            <a:r>
              <a:t>Model Performance Metrics</a:t>
            </a:r>
          </a:p>
        </p:txBody>
      </p:sp>
      <p:sp>
        <p:nvSpPr>
          <p:cNvPr id="589" name="Rectangle 43"/>
          <p:cNvSpPr txBox="1"/>
          <p:nvPr/>
        </p:nvSpPr>
        <p:spPr>
          <a:xfrm>
            <a:off x="6298993" y="4572444"/>
            <a:ext cx="2428561" cy="396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baseline="30000" i="1" sz="1000">
                <a:solidFill>
                  <a:srgbClr val="0070C0"/>
                </a:solidFill>
                <a:latin typeface="Open Sans"/>
                <a:ea typeface="Open Sans"/>
                <a:cs typeface="Open Sans"/>
                <a:sym typeface="Open Sans"/>
              </a:defRPr>
            </a:pPr>
            <a:r>
              <a:t>*</a:t>
            </a:r>
            <a:r>
              <a:rPr baseline="0"/>
              <a:t>Retention Rate = 1 - Churn</a:t>
            </a:r>
            <a:endParaRPr>
              <a:solidFill>
                <a:srgbClr val="FFFFFF"/>
              </a:solidFill>
            </a:endParaRP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91" name="Google Shape;279;p6"/>
          <p:cNvSpPr txBox="1"/>
          <p:nvPr/>
        </p:nvSpPr>
        <p:spPr>
          <a:xfrm>
            <a:off x="528573" y="1946543"/>
            <a:ext cx="2588712" cy="546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3600">
                <a:latin typeface="Open Sans Extrabold"/>
                <a:ea typeface="Open Sans Extrabold"/>
                <a:cs typeface="Open Sans Extrabold"/>
                <a:sym typeface="Open Sans Extrabold"/>
              </a:defRPr>
            </a:pPr>
            <a:r>
              <a:t>Thank</a:t>
            </a:r>
            <a:r>
              <a:rPr>
                <a:solidFill>
                  <a:srgbClr val="00B0F0"/>
                </a:solidFill>
              </a:rPr>
              <a:t>You</a:t>
            </a:r>
            <a:r>
              <a:rPr>
                <a:solidFill>
                  <a:srgbClr val="002060"/>
                </a:solidFill>
              </a:rPr>
              <a:t>!</a:t>
            </a:r>
          </a:p>
        </p:txBody>
      </p:sp>
      <p:sp>
        <p:nvSpPr>
          <p:cNvPr id="592" name="Straight Arrow Connector 5"/>
          <p:cNvSpPr/>
          <p:nvPr/>
        </p:nvSpPr>
        <p:spPr>
          <a:xfrm>
            <a:off x="3838707" y="3990111"/>
            <a:ext cx="1962810" cy="1"/>
          </a:xfrm>
          <a:prstGeom prst="line">
            <a:avLst/>
          </a:prstGeom>
          <a:ln w="6350">
            <a:solidFill>
              <a:srgbClr val="FFC000"/>
            </a:solidFill>
            <a:prstDash val="sysDot"/>
            <a:tailEnd type="diamond"/>
          </a:ln>
        </p:spPr>
        <p:txBody>
          <a:bodyPr lIns="45719" rIns="45719"/>
          <a:lstStyle/>
          <a:p>
            <a:pP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94" name="Google Shape;360;p5"/>
          <p:cNvSpPr txBox="1"/>
          <p:nvPr/>
        </p:nvSpPr>
        <p:spPr>
          <a:xfrm>
            <a:off x="0" y="63049"/>
            <a:ext cx="8245941" cy="5511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ctr">
            <a:spAutoFit/>
          </a:bodyPr>
          <a:lstStyle/>
          <a:p>
            <a:pPr>
              <a:defRPr b="1" i="1" sz="2400">
                <a:solidFill>
                  <a:srgbClr val="002060"/>
                </a:solidFill>
                <a:latin typeface="Open Sans"/>
                <a:ea typeface="Open Sans"/>
                <a:cs typeface="Open Sans"/>
                <a:sym typeface="Open Sans"/>
              </a:defRPr>
            </a:pPr>
            <a:r>
              <a:t>1. Data </a:t>
            </a:r>
            <a:r>
              <a:rPr>
                <a:solidFill>
                  <a:srgbClr val="00B0F0"/>
                </a:solidFill>
              </a:rPr>
              <a:t>Intel</a:t>
            </a:r>
          </a:p>
        </p:txBody>
      </p:sp>
      <p:sp>
        <p:nvSpPr>
          <p:cNvPr id="595" name="Google Shape;361;p5"/>
          <p:cNvSpPr/>
          <p:nvPr/>
        </p:nvSpPr>
        <p:spPr>
          <a:xfrm>
            <a:off x="-12300" y="618293"/>
            <a:ext cx="9180002" cy="13502"/>
          </a:xfrm>
          <a:prstGeom prst="line">
            <a:avLst/>
          </a:prstGeom>
          <a:ln w="38100">
            <a:solidFill>
              <a:srgbClr val="072B62"/>
            </a:solidFill>
          </a:ln>
        </p:spPr>
        <p:txBody>
          <a:bodyPr lIns="45719" rIns="45719"/>
          <a:lstStyle/>
          <a:p>
            <a:pPr/>
          </a:p>
        </p:txBody>
      </p:sp>
      <p:sp>
        <p:nvSpPr>
          <p:cNvPr id="596" name="TextBox 45"/>
          <p:cNvSpPr txBox="1"/>
          <p:nvPr/>
        </p:nvSpPr>
        <p:spPr>
          <a:xfrm>
            <a:off x="350358" y="658178"/>
            <a:ext cx="8454685" cy="1432942"/>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14313" indent="-214313">
              <a:lnSpc>
                <a:spcPct val="300000"/>
              </a:lnSpc>
              <a:buClr>
                <a:srgbClr val="00B0F0"/>
              </a:buClr>
              <a:buSzPct val="100000"/>
              <a:buFont typeface="Helvetica"/>
              <a:buChar char="⁃"/>
              <a:defRPr b="1" sz="1100">
                <a:solidFill>
                  <a:srgbClr val="002060"/>
                </a:solidFill>
                <a:latin typeface="Open Sans"/>
                <a:ea typeface="Open Sans"/>
                <a:cs typeface="Open Sans"/>
                <a:sym typeface="Open Sans"/>
              </a:defRPr>
            </a:pPr>
            <a:r>
              <a:t>Snapshot (T</a:t>
            </a:r>
            <a:r>
              <a:rPr baseline="-25000"/>
              <a:t>0</a:t>
            </a:r>
            <a:r>
              <a:t>): </a:t>
            </a:r>
            <a:r>
              <a:rPr b="0"/>
              <a:t>Two Snap shots; and</a:t>
            </a:r>
            <a:endParaRPr b="0"/>
          </a:p>
          <a:p>
            <a:pPr marL="214313" indent="-214313" defTabSz="269999">
              <a:lnSpc>
                <a:spcPct val="300000"/>
              </a:lnSpc>
              <a:buClr>
                <a:srgbClr val="00B0F0"/>
              </a:buClr>
              <a:buSzPct val="100000"/>
              <a:buFont typeface="Helvetica"/>
              <a:buChar char="⁃"/>
              <a:defRPr b="1" sz="1100">
                <a:solidFill>
                  <a:srgbClr val="002060"/>
                </a:solidFill>
                <a:latin typeface="Open Sans"/>
                <a:ea typeface="Open Sans"/>
                <a:cs typeface="Open Sans"/>
                <a:sym typeface="Open Sans"/>
              </a:defRPr>
            </a:pPr>
            <a:r>
              <a:t>Observation Window (T</a:t>
            </a:r>
            <a:r>
              <a:rPr baseline="-25000"/>
              <a:t>0-X</a:t>
            </a:r>
            <a:r>
              <a:t>): </a:t>
            </a:r>
            <a:r>
              <a:rPr b="0"/>
              <a:t>Last 12 Months from snapshot to get historical RFM behavior of the Customers</a:t>
            </a:r>
            <a:endParaRPr b="0"/>
          </a:p>
          <a:p>
            <a:pPr marL="214313" indent="-214313" defTabSz="269999">
              <a:lnSpc>
                <a:spcPct val="300000"/>
              </a:lnSpc>
              <a:buClr>
                <a:srgbClr val="00B0F0"/>
              </a:buClr>
              <a:buSzPct val="100000"/>
              <a:buFont typeface="Helvetica"/>
              <a:buChar char="⁃"/>
              <a:defRPr b="1" sz="1100">
                <a:solidFill>
                  <a:srgbClr val="002060"/>
                </a:solidFill>
                <a:latin typeface="Open Sans"/>
                <a:ea typeface="Open Sans"/>
                <a:cs typeface="Open Sans"/>
                <a:sym typeface="Open Sans"/>
              </a:defRPr>
            </a:pPr>
            <a:r>
              <a:t>Performance Window (T</a:t>
            </a:r>
            <a:r>
              <a:rPr baseline="-25000"/>
              <a:t>0+Y </a:t>
            </a:r>
            <a:r>
              <a:t>or T</a:t>
            </a:r>
            <a:r>
              <a:rPr baseline="-25000"/>
              <a:t>1</a:t>
            </a:r>
            <a:r>
              <a:t>)</a:t>
            </a:r>
            <a:r>
              <a:rPr b="0"/>
              <a:t>: 6 Months from snapshot to compute customer value and churn</a:t>
            </a:r>
          </a:p>
        </p:txBody>
      </p:sp>
      <p:graphicFrame>
        <p:nvGraphicFramePr>
          <p:cNvPr id="597" name="Chart 54"/>
          <p:cNvGraphicFramePr/>
          <p:nvPr/>
        </p:nvGraphicFramePr>
        <p:xfrm>
          <a:off x="169587" y="2522316"/>
          <a:ext cx="8627043" cy="2052345"/>
        </p:xfrm>
        <a:graphic xmlns:a="http://schemas.openxmlformats.org/drawingml/2006/main">
          <a:graphicData uri="http://schemas.openxmlformats.org/drawingml/2006/chart">
            <c:chart xmlns:c="http://schemas.openxmlformats.org/drawingml/2006/chart" r:id="rId2"/>
          </a:graphicData>
        </a:graphic>
      </p:graphicFrame>
      <p:sp>
        <p:nvSpPr>
          <p:cNvPr id="598" name="TextBox 60"/>
          <p:cNvSpPr txBox="1"/>
          <p:nvPr/>
        </p:nvSpPr>
        <p:spPr>
          <a:xfrm>
            <a:off x="7038366" y="3943189"/>
            <a:ext cx="1452242" cy="193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nSpc>
                <a:spcPct val="107000"/>
              </a:lnSpc>
              <a:spcBef>
                <a:spcPts val="800"/>
              </a:spcBef>
              <a:defRPr b="1" sz="700">
                <a:solidFill>
                  <a:srgbClr val="FFFFFF"/>
                </a:solidFill>
                <a:latin typeface="Open Sans"/>
                <a:ea typeface="Open Sans"/>
                <a:cs typeface="Open Sans"/>
                <a:sym typeface="Open Sans"/>
              </a:defRPr>
            </a:lvl1pPr>
          </a:lstStyle>
          <a:p>
            <a:pPr/>
            <a:r>
              <a:t>Performance Window</a:t>
            </a:r>
          </a:p>
        </p:txBody>
      </p:sp>
      <p:sp>
        <p:nvSpPr>
          <p:cNvPr id="599" name="TextBox 61"/>
          <p:cNvSpPr txBox="1"/>
          <p:nvPr/>
        </p:nvSpPr>
        <p:spPr>
          <a:xfrm>
            <a:off x="3681803" y="3704768"/>
            <a:ext cx="1633222" cy="193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nSpc>
                <a:spcPct val="107000"/>
              </a:lnSpc>
              <a:spcBef>
                <a:spcPts val="800"/>
              </a:spcBef>
              <a:defRPr b="1" sz="700">
                <a:solidFill>
                  <a:srgbClr val="FFFFFF"/>
                </a:solidFill>
                <a:latin typeface="Open Sans"/>
                <a:ea typeface="Open Sans"/>
                <a:cs typeface="Open Sans"/>
                <a:sym typeface="Open Sans"/>
              </a:defRPr>
            </a:lvl1pPr>
          </a:lstStyle>
          <a:p>
            <a:pPr/>
            <a:r>
              <a:t>Observation Window</a:t>
            </a:r>
          </a:p>
        </p:txBody>
      </p:sp>
      <p:sp>
        <p:nvSpPr>
          <p:cNvPr id="600" name="Straight Arrow Connector 58"/>
          <p:cNvSpPr/>
          <p:nvPr/>
        </p:nvSpPr>
        <p:spPr>
          <a:xfrm>
            <a:off x="2734970" y="3933731"/>
            <a:ext cx="6012001" cy="1"/>
          </a:xfrm>
          <a:prstGeom prst="line">
            <a:avLst/>
          </a:prstGeom>
          <a:ln w="25400">
            <a:solidFill>
              <a:srgbClr val="FFC000"/>
            </a:solidFill>
            <a:headEnd type="triangle"/>
            <a:tailEnd type="triangle"/>
          </a:ln>
        </p:spPr>
        <p:txBody>
          <a:bodyPr lIns="45719" rIns="45719"/>
          <a:lstStyle/>
          <a:p>
            <a:pPr/>
          </a:p>
        </p:txBody>
      </p:sp>
      <p:sp>
        <p:nvSpPr>
          <p:cNvPr id="601" name="TextBox 49"/>
          <p:cNvSpPr txBox="1"/>
          <p:nvPr/>
        </p:nvSpPr>
        <p:spPr>
          <a:xfrm>
            <a:off x="2623092" y="3656824"/>
            <a:ext cx="327661" cy="2377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lnSpc>
                <a:spcPct val="107000"/>
              </a:lnSpc>
              <a:spcBef>
                <a:spcPts val="800"/>
              </a:spcBef>
              <a:defRPr sz="800">
                <a:solidFill>
                  <a:srgbClr val="FFFFFF"/>
                </a:solidFill>
                <a:latin typeface="Open Sans"/>
                <a:ea typeface="Open Sans"/>
                <a:cs typeface="Open Sans"/>
                <a:sym typeface="Open Sans"/>
              </a:defRPr>
            </a:pPr>
            <a:r>
              <a:t>T</a:t>
            </a:r>
            <a:r>
              <a:rPr baseline="-25000"/>
              <a:t>-11</a:t>
            </a:r>
            <a:r>
              <a:t> </a:t>
            </a:r>
          </a:p>
        </p:txBody>
      </p:sp>
      <p:sp>
        <p:nvSpPr>
          <p:cNvPr id="602" name="TextBox 82"/>
          <p:cNvSpPr txBox="1"/>
          <p:nvPr/>
        </p:nvSpPr>
        <p:spPr>
          <a:xfrm>
            <a:off x="8293739" y="3647368"/>
            <a:ext cx="509271" cy="2377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lnSpc>
                <a:spcPct val="107000"/>
              </a:lnSpc>
              <a:spcBef>
                <a:spcPts val="800"/>
              </a:spcBef>
              <a:defRPr sz="800">
                <a:solidFill>
                  <a:srgbClr val="FFFFFF"/>
                </a:solidFill>
                <a:latin typeface="Open Sans"/>
                <a:ea typeface="Open Sans"/>
                <a:cs typeface="Open Sans"/>
                <a:sym typeface="Open Sans"/>
              </a:defRPr>
            </a:pPr>
            <a:r>
              <a:t>T</a:t>
            </a:r>
            <a:r>
              <a:rPr baseline="-25000"/>
              <a:t>6 </a:t>
            </a:r>
            <a:r>
              <a:t>(T</a:t>
            </a:r>
            <a:r>
              <a:rPr baseline="-25000"/>
              <a:t>1</a:t>
            </a:r>
            <a:r>
              <a:t>)</a:t>
            </a:r>
            <a:r>
              <a:rPr baseline="-25000"/>
              <a:t> </a:t>
            </a:r>
          </a:p>
        </p:txBody>
      </p:sp>
      <p:sp>
        <p:nvSpPr>
          <p:cNvPr id="603" name="TextBox 46"/>
          <p:cNvSpPr txBox="1"/>
          <p:nvPr/>
        </p:nvSpPr>
        <p:spPr>
          <a:xfrm>
            <a:off x="6350792" y="3634359"/>
            <a:ext cx="448311" cy="2377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lnSpc>
                <a:spcPct val="107000"/>
              </a:lnSpc>
              <a:spcBef>
                <a:spcPts val="800"/>
              </a:spcBef>
              <a:defRPr sz="800">
                <a:solidFill>
                  <a:srgbClr val="FFFFFF"/>
                </a:solidFill>
                <a:latin typeface="Open Sans"/>
                <a:ea typeface="Open Sans"/>
                <a:cs typeface="Open Sans"/>
                <a:sym typeface="Open Sans"/>
              </a:defRPr>
            </a:pPr>
            <a:r>
              <a:t>T</a:t>
            </a:r>
            <a:r>
              <a:rPr baseline="-25000"/>
              <a:t>0</a:t>
            </a:r>
          </a:p>
        </p:txBody>
      </p:sp>
      <p:sp>
        <p:nvSpPr>
          <p:cNvPr id="604" name="Rectangle 62"/>
          <p:cNvSpPr/>
          <p:nvPr/>
        </p:nvSpPr>
        <p:spPr>
          <a:xfrm>
            <a:off x="6526623" y="3875947"/>
            <a:ext cx="124461" cy="113030"/>
          </a:xfrm>
          <a:prstGeom prst="rect">
            <a:avLst/>
          </a:prstGeom>
          <a:solidFill>
            <a:srgbClr val="FFC000"/>
          </a:solidFill>
          <a:ln>
            <a:solidFill>
              <a:srgbClr val="FFC000"/>
            </a:solidFill>
          </a:ln>
        </p:spPr>
        <p:txBody>
          <a:bodyPr lIns="45719" rIns="45719" anchor="ctr"/>
          <a:lstStyle/>
          <a:p>
            <a:pPr>
              <a:defRPr>
                <a:solidFill>
                  <a:srgbClr val="FFFFFF"/>
                </a:solidFill>
              </a:defRPr>
            </a:pPr>
          </a:p>
        </p:txBody>
      </p:sp>
      <p:sp>
        <p:nvSpPr>
          <p:cNvPr id="605" name="TextBox 60"/>
          <p:cNvSpPr txBox="1"/>
          <p:nvPr/>
        </p:nvSpPr>
        <p:spPr>
          <a:xfrm>
            <a:off x="4954471" y="3340217"/>
            <a:ext cx="1452242" cy="193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nSpc>
                <a:spcPct val="107000"/>
              </a:lnSpc>
              <a:spcBef>
                <a:spcPts val="800"/>
              </a:spcBef>
              <a:defRPr b="1" sz="700">
                <a:solidFill>
                  <a:srgbClr val="FFFFFF"/>
                </a:solidFill>
                <a:latin typeface="Open Sans"/>
                <a:ea typeface="Open Sans"/>
                <a:cs typeface="Open Sans"/>
                <a:sym typeface="Open Sans"/>
              </a:defRPr>
            </a:lvl1pPr>
          </a:lstStyle>
          <a:p>
            <a:pPr/>
            <a:r>
              <a:t>Performance Window</a:t>
            </a:r>
          </a:p>
        </p:txBody>
      </p:sp>
      <p:sp>
        <p:nvSpPr>
          <p:cNvPr id="606" name="TextBox 61"/>
          <p:cNvSpPr txBox="1"/>
          <p:nvPr/>
        </p:nvSpPr>
        <p:spPr>
          <a:xfrm>
            <a:off x="1597907" y="3101795"/>
            <a:ext cx="1633222" cy="193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lnSpc>
                <a:spcPct val="107000"/>
              </a:lnSpc>
              <a:spcBef>
                <a:spcPts val="800"/>
              </a:spcBef>
              <a:defRPr b="1" sz="700">
                <a:solidFill>
                  <a:srgbClr val="FFFFFF"/>
                </a:solidFill>
                <a:latin typeface="Open Sans"/>
                <a:ea typeface="Open Sans"/>
                <a:cs typeface="Open Sans"/>
                <a:sym typeface="Open Sans"/>
              </a:defRPr>
            </a:lvl1pPr>
          </a:lstStyle>
          <a:p>
            <a:pPr/>
            <a:r>
              <a:t>Observation Window</a:t>
            </a:r>
          </a:p>
        </p:txBody>
      </p:sp>
      <p:sp>
        <p:nvSpPr>
          <p:cNvPr id="607" name="Straight Arrow Connector 321"/>
          <p:cNvSpPr/>
          <p:nvPr/>
        </p:nvSpPr>
        <p:spPr>
          <a:xfrm>
            <a:off x="651073" y="3330760"/>
            <a:ext cx="6012002" cy="1"/>
          </a:xfrm>
          <a:prstGeom prst="line">
            <a:avLst/>
          </a:prstGeom>
          <a:ln w="25400">
            <a:solidFill>
              <a:srgbClr val="FFC000"/>
            </a:solidFill>
            <a:headEnd type="triangle"/>
            <a:tailEnd type="triangle"/>
          </a:ln>
        </p:spPr>
        <p:txBody>
          <a:bodyPr lIns="45719" rIns="45719"/>
          <a:lstStyle/>
          <a:p>
            <a:pPr/>
          </a:p>
        </p:txBody>
      </p:sp>
      <p:sp>
        <p:nvSpPr>
          <p:cNvPr id="608" name="TextBox 49"/>
          <p:cNvSpPr txBox="1"/>
          <p:nvPr/>
        </p:nvSpPr>
        <p:spPr>
          <a:xfrm>
            <a:off x="539195" y="3053852"/>
            <a:ext cx="327661" cy="2377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lnSpc>
                <a:spcPct val="107000"/>
              </a:lnSpc>
              <a:spcBef>
                <a:spcPts val="800"/>
              </a:spcBef>
              <a:defRPr sz="800">
                <a:solidFill>
                  <a:srgbClr val="FFFFFF"/>
                </a:solidFill>
                <a:latin typeface="Open Sans"/>
                <a:ea typeface="Open Sans"/>
                <a:cs typeface="Open Sans"/>
                <a:sym typeface="Open Sans"/>
              </a:defRPr>
            </a:pPr>
            <a:r>
              <a:t>T</a:t>
            </a:r>
            <a:r>
              <a:rPr baseline="-25000"/>
              <a:t>-11</a:t>
            </a:r>
            <a:r>
              <a:t> </a:t>
            </a:r>
          </a:p>
        </p:txBody>
      </p:sp>
      <p:sp>
        <p:nvSpPr>
          <p:cNvPr id="609" name="TextBox 82"/>
          <p:cNvSpPr txBox="1"/>
          <p:nvPr/>
        </p:nvSpPr>
        <p:spPr>
          <a:xfrm>
            <a:off x="6209844" y="3064274"/>
            <a:ext cx="509271" cy="2377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lnSpc>
                <a:spcPct val="107000"/>
              </a:lnSpc>
              <a:spcBef>
                <a:spcPts val="800"/>
              </a:spcBef>
              <a:defRPr sz="800">
                <a:solidFill>
                  <a:srgbClr val="FFFFFF"/>
                </a:solidFill>
                <a:latin typeface="Open Sans"/>
                <a:ea typeface="Open Sans"/>
                <a:cs typeface="Open Sans"/>
                <a:sym typeface="Open Sans"/>
              </a:defRPr>
            </a:pPr>
            <a:r>
              <a:t>T</a:t>
            </a:r>
            <a:r>
              <a:rPr baseline="-25000"/>
              <a:t>6 </a:t>
            </a:r>
            <a:r>
              <a:t>(T</a:t>
            </a:r>
            <a:r>
              <a:rPr baseline="-25000"/>
              <a:t>1</a:t>
            </a:r>
            <a:r>
              <a:t>)</a:t>
            </a:r>
            <a:r>
              <a:rPr baseline="-25000"/>
              <a:t> </a:t>
            </a:r>
          </a:p>
        </p:txBody>
      </p:sp>
      <p:sp>
        <p:nvSpPr>
          <p:cNvPr id="610" name="TextBox 46"/>
          <p:cNvSpPr txBox="1"/>
          <p:nvPr/>
        </p:nvSpPr>
        <p:spPr>
          <a:xfrm>
            <a:off x="4285669" y="3358558"/>
            <a:ext cx="448311" cy="237745"/>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lnSpc>
                <a:spcPct val="107000"/>
              </a:lnSpc>
              <a:spcBef>
                <a:spcPts val="800"/>
              </a:spcBef>
              <a:defRPr sz="800">
                <a:solidFill>
                  <a:srgbClr val="FFFFFF"/>
                </a:solidFill>
                <a:latin typeface="Open Sans"/>
                <a:ea typeface="Open Sans"/>
                <a:cs typeface="Open Sans"/>
                <a:sym typeface="Open Sans"/>
              </a:defRPr>
            </a:pPr>
            <a:r>
              <a:t>T</a:t>
            </a:r>
            <a:r>
              <a:rPr baseline="-25000"/>
              <a:t>0</a:t>
            </a:r>
          </a:p>
        </p:txBody>
      </p:sp>
      <p:sp>
        <p:nvSpPr>
          <p:cNvPr id="611" name="Rectangle 325"/>
          <p:cNvSpPr/>
          <p:nvPr/>
        </p:nvSpPr>
        <p:spPr>
          <a:xfrm>
            <a:off x="4442726" y="3272975"/>
            <a:ext cx="124461" cy="113030"/>
          </a:xfrm>
          <a:prstGeom prst="rect">
            <a:avLst/>
          </a:prstGeom>
          <a:solidFill>
            <a:srgbClr val="FFC000"/>
          </a:solidFill>
          <a:ln>
            <a:solidFill>
              <a:srgbClr val="FFC000"/>
            </a:solidFill>
          </a:ln>
        </p:spPr>
        <p:txBody>
          <a:bodyPr lIns="45719" rIns="45719" anchor="ctr"/>
          <a:lstStyle/>
          <a:p>
            <a:pPr>
              <a:defRPr>
                <a:solidFill>
                  <a:srgbClr val="FFFFFF"/>
                </a:solidFill>
              </a:defRPr>
            </a:pPr>
          </a:p>
        </p:txBody>
      </p:sp>
      <p:sp>
        <p:nvSpPr>
          <p:cNvPr id="612" name="TextBox 326"/>
          <p:cNvSpPr txBox="1"/>
          <p:nvPr/>
        </p:nvSpPr>
        <p:spPr>
          <a:xfrm>
            <a:off x="3681572" y="2828705"/>
            <a:ext cx="1633453" cy="193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700">
                <a:solidFill>
                  <a:srgbClr val="FFFFFF"/>
                </a:solidFill>
                <a:latin typeface="Open Sans"/>
                <a:ea typeface="Open Sans"/>
                <a:cs typeface="Open Sans"/>
                <a:sym typeface="Open Sans"/>
              </a:defRPr>
            </a:lvl1pPr>
          </a:lstStyle>
          <a:p>
            <a:pPr/>
            <a:r>
              <a:t>Snapshot</a:t>
            </a:r>
          </a:p>
        </p:txBody>
      </p:sp>
      <p:sp>
        <p:nvSpPr>
          <p:cNvPr id="613" name="Straight Arrow Connector 327"/>
          <p:cNvSpPr/>
          <p:nvPr/>
        </p:nvSpPr>
        <p:spPr>
          <a:xfrm>
            <a:off x="4493994" y="3031900"/>
            <a:ext cx="261" cy="216001"/>
          </a:xfrm>
          <a:prstGeom prst="line">
            <a:avLst/>
          </a:prstGeom>
          <a:ln w="12700">
            <a:solidFill>
              <a:srgbClr val="FFC000"/>
            </a:solidFill>
            <a:prstDash val="sysDash"/>
            <a:tailEnd type="triangle"/>
          </a:ln>
          <a:effectLst>
            <a:outerShdw sx="100000" sy="100000" kx="0" ky="0" algn="b" rotWithShape="0" blurRad="38100" dist="20000" dir="5400000">
              <a:srgbClr val="000000">
                <a:alpha val="38000"/>
              </a:srgbClr>
            </a:outerShdw>
          </a:effectLst>
        </p:spPr>
        <p:txBody>
          <a:bodyPr lIns="45719" rIns="45719"/>
          <a:lstStyle/>
          <a:p>
            <a:pPr/>
          </a:p>
        </p:txBody>
      </p:sp>
      <p:sp>
        <p:nvSpPr>
          <p:cNvPr id="614" name="TextBox 328"/>
          <p:cNvSpPr txBox="1"/>
          <p:nvPr/>
        </p:nvSpPr>
        <p:spPr>
          <a:xfrm>
            <a:off x="5758221" y="3981219"/>
            <a:ext cx="1633452" cy="193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700">
                <a:solidFill>
                  <a:srgbClr val="FFFFFF"/>
                </a:solidFill>
                <a:latin typeface="Open Sans"/>
                <a:ea typeface="Open Sans"/>
                <a:cs typeface="Open Sans"/>
                <a:sym typeface="Open Sans"/>
              </a:defRPr>
            </a:lvl1pPr>
          </a:lstStyle>
          <a:p>
            <a:pPr/>
            <a:r>
              <a:t>Snapshot</a:t>
            </a:r>
          </a:p>
        </p:txBody>
      </p:sp>
      <p:sp>
        <p:nvSpPr>
          <p:cNvPr id="615" name="TextBox 1"/>
          <p:cNvSpPr txBox="1"/>
          <p:nvPr/>
        </p:nvSpPr>
        <p:spPr>
          <a:xfrm>
            <a:off x="8267324" y="454589"/>
            <a:ext cx="575638" cy="574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200">
                <a:solidFill>
                  <a:srgbClr val="002060"/>
                </a:solidFill>
                <a:latin typeface="Open Sans"/>
                <a:ea typeface="Open Sans"/>
                <a:cs typeface="Open Sans"/>
                <a:sym typeface="Open Sans"/>
              </a:defRPr>
            </a:lvl1pPr>
          </a:lstStyle>
          <a:p>
            <a:pPr/>
            <a:r>
              <a:t>1/</a:t>
            </a:r>
          </a:p>
        </p:txBody>
      </p:sp>
      <p:sp>
        <p:nvSpPr>
          <p:cNvPr id="616" name="TextBox 2"/>
          <p:cNvSpPr txBox="1"/>
          <p:nvPr/>
        </p:nvSpPr>
        <p:spPr>
          <a:xfrm>
            <a:off x="8656935" y="221492"/>
            <a:ext cx="505833" cy="916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5400">
                <a:solidFill>
                  <a:srgbClr val="002060"/>
                </a:solidFill>
                <a:latin typeface="Open Sans"/>
                <a:ea typeface="Open Sans"/>
                <a:cs typeface="Open Sans"/>
                <a:sym typeface="Open Sans"/>
              </a:defRPr>
            </a:lvl1pPr>
          </a:lstStyle>
          <a:p>
            <a:pPr/>
            <a:r>
              <a:t>2</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18" name="Google Shape;360;p5"/>
          <p:cNvSpPr txBox="1"/>
          <p:nvPr/>
        </p:nvSpPr>
        <p:spPr>
          <a:xfrm>
            <a:off x="0" y="63049"/>
            <a:ext cx="8245941" cy="5511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ctr">
            <a:spAutoFit/>
          </a:bodyPr>
          <a:lstStyle/>
          <a:p>
            <a:pPr>
              <a:defRPr b="1" i="1" sz="2400">
                <a:solidFill>
                  <a:srgbClr val="002060"/>
                </a:solidFill>
                <a:latin typeface="Open Sans"/>
                <a:ea typeface="Open Sans"/>
                <a:cs typeface="Open Sans"/>
                <a:sym typeface="Open Sans"/>
              </a:defRPr>
            </a:pPr>
            <a:r>
              <a:t>1. Data </a:t>
            </a:r>
            <a:r>
              <a:rPr>
                <a:solidFill>
                  <a:srgbClr val="00B0F0"/>
                </a:solidFill>
              </a:rPr>
              <a:t>Intel</a:t>
            </a:r>
          </a:p>
        </p:txBody>
      </p:sp>
      <p:sp>
        <p:nvSpPr>
          <p:cNvPr id="619" name="Google Shape;361;p5"/>
          <p:cNvSpPr/>
          <p:nvPr/>
        </p:nvSpPr>
        <p:spPr>
          <a:xfrm>
            <a:off x="-12300" y="618293"/>
            <a:ext cx="9180002" cy="13502"/>
          </a:xfrm>
          <a:prstGeom prst="line">
            <a:avLst/>
          </a:prstGeom>
          <a:ln w="38100">
            <a:solidFill>
              <a:srgbClr val="072B62"/>
            </a:solidFill>
          </a:ln>
        </p:spPr>
        <p:txBody>
          <a:bodyPr lIns="45719" rIns="45719"/>
          <a:lstStyle/>
          <a:p>
            <a:pPr/>
          </a:p>
        </p:txBody>
      </p:sp>
      <p:sp>
        <p:nvSpPr>
          <p:cNvPr id="620" name="Text Placeholder 1"/>
          <p:cNvSpPr txBox="1"/>
          <p:nvPr/>
        </p:nvSpPr>
        <p:spPr>
          <a:xfrm>
            <a:off x="203459" y="664123"/>
            <a:ext cx="3418514" cy="2946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lvl1pPr>
              <a:spcBef>
                <a:spcPts val="400"/>
              </a:spcBef>
              <a:defRPr sz="1300">
                <a:solidFill>
                  <a:srgbClr val="002060"/>
                </a:solidFill>
                <a:latin typeface="Open Sans Light"/>
                <a:ea typeface="Open Sans Light"/>
                <a:cs typeface="Open Sans Light"/>
                <a:sym typeface="Open Sans Light"/>
              </a:defRPr>
            </a:lvl1pPr>
          </a:lstStyle>
          <a:p>
            <a:pPr/>
            <a:r>
              <a:t>Observation Window</a:t>
            </a:r>
          </a:p>
        </p:txBody>
      </p:sp>
      <p:sp>
        <p:nvSpPr>
          <p:cNvPr id="621" name="TextBox 358"/>
          <p:cNvSpPr txBox="1"/>
          <p:nvPr/>
        </p:nvSpPr>
        <p:spPr>
          <a:xfrm>
            <a:off x="474411" y="1074064"/>
            <a:ext cx="8015115" cy="586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171450" indent="-171450">
              <a:lnSpc>
                <a:spcPct val="150000"/>
              </a:lnSpc>
              <a:spcBef>
                <a:spcPts val="900"/>
              </a:spcBef>
              <a:buClr>
                <a:srgbClr val="00B0F0"/>
              </a:buClr>
              <a:buSzPct val="100000"/>
              <a:buFont typeface="Helvetica"/>
              <a:buChar char="⁃"/>
              <a:defRPr sz="1000">
                <a:solidFill>
                  <a:srgbClr val="002060"/>
                </a:solidFill>
                <a:latin typeface="Open Sans"/>
                <a:ea typeface="Open Sans"/>
                <a:cs typeface="Open Sans"/>
                <a:sym typeface="Open Sans"/>
              </a:defRPr>
            </a:pPr>
            <a:r>
              <a:t>Mycroft data as of 2 snapshots snapshots:  and</a:t>
            </a:r>
          </a:p>
          <a:p>
            <a:pPr marL="171450" indent="-171450">
              <a:lnSpc>
                <a:spcPct val="150000"/>
              </a:lnSpc>
              <a:spcBef>
                <a:spcPts val="900"/>
              </a:spcBef>
              <a:buClr>
                <a:srgbClr val="00B0F0"/>
              </a:buClr>
              <a:buSzPct val="100000"/>
              <a:buFont typeface="Helvetica"/>
              <a:buChar char="⁃"/>
              <a:defRPr sz="1000">
                <a:solidFill>
                  <a:srgbClr val="002060"/>
                </a:solidFill>
                <a:latin typeface="Open Sans"/>
                <a:ea typeface="Open Sans"/>
                <a:cs typeface="Open Sans"/>
                <a:sym typeface="Open Sans"/>
              </a:defRPr>
            </a:pPr>
            <a:r>
              <a:t>List of variables covering RFM behavior of customers are considered</a:t>
            </a:r>
          </a:p>
        </p:txBody>
      </p:sp>
      <p:sp>
        <p:nvSpPr>
          <p:cNvPr id="622" name="TextBox 361"/>
          <p:cNvSpPr txBox="1"/>
          <p:nvPr/>
        </p:nvSpPr>
        <p:spPr>
          <a:xfrm>
            <a:off x="474411" y="2424957"/>
            <a:ext cx="3382071" cy="650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14313" indent="-214313">
              <a:buClr>
                <a:srgbClr val="00B0F0"/>
              </a:buClr>
              <a:buSzPct val="100000"/>
              <a:buFont typeface="Helvetica"/>
              <a:buChar char="⁃"/>
              <a:defRPr sz="900">
                <a:solidFill>
                  <a:srgbClr val="002060"/>
                </a:solidFill>
                <a:latin typeface="Open Sans"/>
                <a:ea typeface="Open Sans"/>
                <a:cs typeface="Open Sans"/>
                <a:sym typeface="Open Sans"/>
              </a:defRPr>
            </a:pPr>
            <a:r>
              <a:t>How often a customer makes a transactions</a:t>
            </a:r>
          </a:p>
          <a:p>
            <a:pPr marL="214313" indent="-214313">
              <a:buClr>
                <a:srgbClr val="00B0F0"/>
              </a:buClr>
              <a:buSzPct val="100000"/>
              <a:buFont typeface="Helvetica"/>
              <a:buChar char="⁃"/>
              <a:defRPr sz="900">
                <a:solidFill>
                  <a:srgbClr val="002060"/>
                </a:solidFill>
                <a:latin typeface="Open Sans"/>
                <a:ea typeface="Open Sans"/>
                <a:cs typeface="Open Sans"/>
                <a:sym typeface="Open Sans"/>
              </a:defRPr>
            </a:pPr>
            <a:r>
              <a:t>E.g. affluent_cnt_6m, cc_add_money_txn_cnt_12m, credit_card_txn_cnt_12m, electricity_cnt_3m, train_cnt_3m</a:t>
            </a:r>
          </a:p>
        </p:txBody>
      </p:sp>
      <p:sp>
        <p:nvSpPr>
          <p:cNvPr id="623" name="TextBox 362"/>
          <p:cNvSpPr txBox="1"/>
          <p:nvPr/>
        </p:nvSpPr>
        <p:spPr>
          <a:xfrm>
            <a:off x="474412" y="2165859"/>
            <a:ext cx="3067105"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000">
                <a:solidFill>
                  <a:srgbClr val="002060"/>
                </a:solidFill>
                <a:latin typeface="Open Sans"/>
                <a:ea typeface="Open Sans"/>
                <a:cs typeface="Open Sans"/>
                <a:sym typeface="Open Sans"/>
              </a:defRPr>
            </a:lvl1pPr>
          </a:lstStyle>
          <a:p>
            <a:pPr/>
            <a:r>
              <a:t>Frequency </a:t>
            </a:r>
          </a:p>
        </p:txBody>
      </p:sp>
      <p:sp>
        <p:nvSpPr>
          <p:cNvPr id="624" name="TextBox 363"/>
          <p:cNvSpPr txBox="1"/>
          <p:nvPr/>
        </p:nvSpPr>
        <p:spPr>
          <a:xfrm>
            <a:off x="5361276" y="2161500"/>
            <a:ext cx="3067104"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000">
                <a:solidFill>
                  <a:srgbClr val="002060"/>
                </a:solidFill>
                <a:latin typeface="Open Sans"/>
                <a:ea typeface="Open Sans"/>
                <a:cs typeface="Open Sans"/>
                <a:sym typeface="Open Sans"/>
              </a:defRPr>
            </a:lvl1pPr>
          </a:lstStyle>
          <a:p>
            <a:pPr/>
            <a:r>
              <a:t>Recency</a:t>
            </a:r>
          </a:p>
        </p:txBody>
      </p:sp>
      <p:sp>
        <p:nvSpPr>
          <p:cNvPr id="625" name="TextBox 364"/>
          <p:cNvSpPr txBox="1"/>
          <p:nvPr/>
        </p:nvSpPr>
        <p:spPr>
          <a:xfrm>
            <a:off x="4988336" y="2424957"/>
            <a:ext cx="3250409" cy="650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14313" indent="-214313">
              <a:buClr>
                <a:srgbClr val="00B0F0"/>
              </a:buClr>
              <a:buSzPct val="100000"/>
              <a:buFont typeface="Helvetica"/>
              <a:buChar char="⁃"/>
              <a:defRPr sz="900">
                <a:solidFill>
                  <a:srgbClr val="002060"/>
                </a:solidFill>
                <a:latin typeface="Open Sans"/>
                <a:ea typeface="Open Sans"/>
                <a:cs typeface="Open Sans"/>
                <a:sym typeface="Open Sans"/>
              </a:defRPr>
            </a:pPr>
            <a:r>
              <a:t>How recently a customer has made a transactions</a:t>
            </a:r>
          </a:p>
          <a:p>
            <a:pPr marL="214313" indent="-214313">
              <a:buClr>
                <a:srgbClr val="00B0F0"/>
              </a:buClr>
              <a:buSzPct val="100000"/>
              <a:buFont typeface="Helvetica"/>
              <a:buChar char="⁃"/>
              <a:defRPr sz="900">
                <a:solidFill>
                  <a:srgbClr val="002060"/>
                </a:solidFill>
                <a:latin typeface="Open Sans"/>
                <a:ea typeface="Open Sans"/>
                <a:cs typeface="Open Sans"/>
                <a:sym typeface="Open Sans"/>
              </a:defRPr>
            </a:pPr>
            <a:r>
              <a:t>E.g. last_cc_txn_cnt_12m, last_cc_txn_cnt_3m, last_dc_txn_cnt_3m, days_since_last_cc_txn, last_dc_txn_amt_3m</a:t>
            </a:r>
          </a:p>
        </p:txBody>
      </p:sp>
      <p:sp>
        <p:nvSpPr>
          <p:cNvPr id="626" name="TextBox 365"/>
          <p:cNvSpPr txBox="1"/>
          <p:nvPr/>
        </p:nvSpPr>
        <p:spPr>
          <a:xfrm>
            <a:off x="490852" y="3644014"/>
            <a:ext cx="2294372"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000">
                <a:solidFill>
                  <a:srgbClr val="002060"/>
                </a:solidFill>
                <a:latin typeface="Open Sans"/>
                <a:ea typeface="Open Sans"/>
                <a:cs typeface="Open Sans"/>
                <a:sym typeface="Open Sans"/>
              </a:defRPr>
            </a:lvl1pPr>
          </a:lstStyle>
          <a:p>
            <a:pPr/>
            <a:r>
              <a:t>Monitory</a:t>
            </a:r>
          </a:p>
        </p:txBody>
      </p:sp>
      <p:sp>
        <p:nvSpPr>
          <p:cNvPr id="627" name="TextBox 366"/>
          <p:cNvSpPr txBox="1"/>
          <p:nvPr/>
        </p:nvSpPr>
        <p:spPr>
          <a:xfrm>
            <a:off x="474412" y="3903112"/>
            <a:ext cx="3354808" cy="5105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14313" indent="-214313">
              <a:buClr>
                <a:srgbClr val="00B0F0"/>
              </a:buClr>
              <a:buSzPct val="100000"/>
              <a:buFont typeface="Helvetica"/>
              <a:buChar char="⁃"/>
              <a:defRPr sz="900">
                <a:solidFill>
                  <a:srgbClr val="002060"/>
                </a:solidFill>
                <a:latin typeface="Open Sans"/>
                <a:ea typeface="Open Sans"/>
                <a:cs typeface="Open Sans"/>
                <a:sym typeface="Open Sans"/>
              </a:defRPr>
            </a:pPr>
            <a:r>
              <a:t>How much money a customer spends on transactions</a:t>
            </a:r>
          </a:p>
          <a:p>
            <a:pPr marL="214313" indent="-214313">
              <a:buClr>
                <a:srgbClr val="00B0F0"/>
              </a:buClr>
              <a:buSzPct val="100000"/>
              <a:buFont typeface="Helvetica"/>
              <a:buChar char="⁃"/>
              <a:defRPr sz="900">
                <a:solidFill>
                  <a:srgbClr val="002060"/>
                </a:solidFill>
                <a:latin typeface="Open Sans"/>
                <a:ea typeface="Open Sans"/>
                <a:cs typeface="Open Sans"/>
                <a:sym typeface="Open Sans"/>
              </a:defRPr>
            </a:pPr>
            <a:r>
              <a:t>E.g. pg_txn_amt_3m, loan_max_txn_amt_12m, ppbl_add_money_avg_amt_6m, postpaid_txn_amt_12m</a:t>
            </a:r>
          </a:p>
        </p:txBody>
      </p:sp>
      <p:sp>
        <p:nvSpPr>
          <p:cNvPr id="628" name="TextBox 367"/>
          <p:cNvSpPr txBox="1"/>
          <p:nvPr/>
        </p:nvSpPr>
        <p:spPr>
          <a:xfrm>
            <a:off x="5361276" y="3644014"/>
            <a:ext cx="2294372"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1000">
                <a:solidFill>
                  <a:srgbClr val="002060"/>
                </a:solidFill>
                <a:latin typeface="Open Sans"/>
                <a:ea typeface="Open Sans"/>
                <a:cs typeface="Open Sans"/>
                <a:sym typeface="Open Sans"/>
              </a:defRPr>
            </a:lvl1pPr>
          </a:lstStyle>
          <a:p>
            <a:pPr/>
            <a:r>
              <a:t>Customer Demography</a:t>
            </a:r>
          </a:p>
        </p:txBody>
      </p:sp>
      <p:sp>
        <p:nvSpPr>
          <p:cNvPr id="629" name="TextBox 368"/>
          <p:cNvSpPr txBox="1"/>
          <p:nvPr/>
        </p:nvSpPr>
        <p:spPr>
          <a:xfrm>
            <a:off x="4967887" y="3903112"/>
            <a:ext cx="3081148" cy="650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214313" indent="-214313">
              <a:buClr>
                <a:srgbClr val="00B0F0"/>
              </a:buClr>
              <a:buSzPct val="100000"/>
              <a:buFont typeface="Helvetica"/>
              <a:buChar char="⁃"/>
              <a:defRPr sz="900">
                <a:solidFill>
                  <a:srgbClr val="002060"/>
                </a:solidFill>
                <a:latin typeface="Open Sans"/>
                <a:ea typeface="Open Sans"/>
                <a:cs typeface="Open Sans"/>
                <a:sym typeface="Open Sans"/>
              </a:defRPr>
            </a:pPr>
            <a:r>
              <a:t>Other variables which give more details about the customer behavior or characteristics. </a:t>
            </a:r>
          </a:p>
          <a:p>
            <a:pPr marL="214313" indent="-214313">
              <a:buClr>
                <a:srgbClr val="00B0F0"/>
              </a:buClr>
              <a:buSzPct val="100000"/>
              <a:buFont typeface="Helvetica"/>
              <a:buChar char="⁃"/>
              <a:defRPr sz="900">
                <a:solidFill>
                  <a:srgbClr val="002060"/>
                </a:solidFill>
                <a:latin typeface="Open Sans"/>
                <a:ea typeface="Open Sans"/>
                <a:cs typeface="Open Sans"/>
                <a:sym typeface="Open Sans"/>
              </a:defRPr>
            </a:pPr>
            <a:r>
              <a:t>E.g. age, email_flag, ppbl_flag, travel_score, utility_score</a:t>
            </a:r>
          </a:p>
        </p:txBody>
      </p:sp>
      <p:sp>
        <p:nvSpPr>
          <p:cNvPr id="630" name="TextBox 369"/>
          <p:cNvSpPr txBox="1"/>
          <p:nvPr/>
        </p:nvSpPr>
        <p:spPr>
          <a:xfrm>
            <a:off x="8267324" y="454589"/>
            <a:ext cx="575638" cy="574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200">
                <a:solidFill>
                  <a:srgbClr val="002060"/>
                </a:solidFill>
                <a:latin typeface="Open Sans"/>
                <a:ea typeface="Open Sans"/>
                <a:cs typeface="Open Sans"/>
                <a:sym typeface="Open Sans"/>
              </a:defRPr>
            </a:lvl1pPr>
          </a:lstStyle>
          <a:p>
            <a:pPr/>
            <a:r>
              <a:t>2/</a:t>
            </a:r>
          </a:p>
        </p:txBody>
      </p:sp>
      <p:sp>
        <p:nvSpPr>
          <p:cNvPr id="631" name="TextBox 370"/>
          <p:cNvSpPr txBox="1"/>
          <p:nvPr/>
        </p:nvSpPr>
        <p:spPr>
          <a:xfrm>
            <a:off x="8656935" y="221492"/>
            <a:ext cx="505833" cy="916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5400">
                <a:solidFill>
                  <a:srgbClr val="002060"/>
                </a:solidFill>
                <a:latin typeface="Open Sans"/>
                <a:ea typeface="Open Sans"/>
                <a:cs typeface="Open Sans"/>
                <a:sym typeface="Open Sans"/>
              </a:defRPr>
            </a:lvl1pPr>
          </a:lstStyle>
          <a:p>
            <a:pPr/>
            <a:r>
              <a:t>2</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33" name="Google Shape;360;p5"/>
          <p:cNvSpPr txBox="1"/>
          <p:nvPr/>
        </p:nvSpPr>
        <p:spPr>
          <a:xfrm>
            <a:off x="0" y="63049"/>
            <a:ext cx="8245941" cy="5511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ctr">
            <a:spAutoFit/>
          </a:bodyPr>
          <a:lstStyle/>
          <a:p>
            <a:pPr>
              <a:defRPr b="1" i="1" sz="2400">
                <a:solidFill>
                  <a:srgbClr val="002060"/>
                </a:solidFill>
                <a:latin typeface="Open Sans"/>
                <a:ea typeface="Open Sans"/>
                <a:cs typeface="Open Sans"/>
                <a:sym typeface="Open Sans"/>
              </a:defRPr>
            </a:pPr>
            <a:r>
              <a:t>2. Experiment </a:t>
            </a:r>
            <a:r>
              <a:rPr>
                <a:solidFill>
                  <a:srgbClr val="00B0F0"/>
                </a:solidFill>
              </a:rPr>
              <a:t>Design</a:t>
            </a:r>
          </a:p>
        </p:txBody>
      </p:sp>
      <p:sp>
        <p:nvSpPr>
          <p:cNvPr id="634" name="Google Shape;361;p5"/>
          <p:cNvSpPr/>
          <p:nvPr/>
        </p:nvSpPr>
        <p:spPr>
          <a:xfrm>
            <a:off x="-12300" y="618293"/>
            <a:ext cx="9180002" cy="13502"/>
          </a:xfrm>
          <a:prstGeom prst="line">
            <a:avLst/>
          </a:prstGeom>
          <a:ln w="38100">
            <a:solidFill>
              <a:srgbClr val="072B62"/>
            </a:solidFill>
          </a:ln>
        </p:spPr>
        <p:txBody>
          <a:bodyPr lIns="45719" rIns="45719"/>
          <a:lstStyle/>
          <a:p>
            <a:pPr/>
          </a:p>
        </p:txBody>
      </p:sp>
      <p:sp>
        <p:nvSpPr>
          <p:cNvPr id="635" name="Text Placeholder 1"/>
          <p:cNvSpPr txBox="1"/>
          <p:nvPr/>
        </p:nvSpPr>
        <p:spPr>
          <a:xfrm>
            <a:off x="203459" y="664123"/>
            <a:ext cx="3418514" cy="2946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lvl1pPr>
              <a:spcBef>
                <a:spcPts val="400"/>
              </a:spcBef>
              <a:defRPr sz="1300">
                <a:solidFill>
                  <a:srgbClr val="002060"/>
                </a:solidFill>
                <a:latin typeface="Open Sans Light"/>
                <a:ea typeface="Open Sans Light"/>
                <a:cs typeface="Open Sans Light"/>
                <a:sym typeface="Open Sans Light"/>
              </a:defRPr>
            </a:lvl1pPr>
          </a:lstStyle>
          <a:p>
            <a:pPr/>
            <a:r>
              <a:t>Performance Window</a:t>
            </a:r>
          </a:p>
        </p:txBody>
      </p:sp>
      <p:sp>
        <p:nvSpPr>
          <p:cNvPr id="636" name="Straight Arrow Connector 1"/>
          <p:cNvSpPr/>
          <p:nvPr/>
        </p:nvSpPr>
        <p:spPr>
          <a:xfrm>
            <a:off x="2540155" y="1290584"/>
            <a:ext cx="3234903" cy="9351"/>
          </a:xfrm>
          <a:prstGeom prst="line">
            <a:avLst/>
          </a:prstGeom>
          <a:ln w="25400">
            <a:solidFill>
              <a:srgbClr val="FFC000"/>
            </a:solidFill>
            <a:headEnd type="triangle"/>
            <a:tailEnd type="triangle"/>
          </a:ln>
        </p:spPr>
        <p:txBody>
          <a:bodyPr lIns="45719" rIns="45719"/>
          <a:lstStyle/>
          <a:p>
            <a:pPr/>
          </a:p>
        </p:txBody>
      </p:sp>
      <p:sp>
        <p:nvSpPr>
          <p:cNvPr id="637" name="TextBox 2"/>
          <p:cNvSpPr txBox="1"/>
          <p:nvPr/>
        </p:nvSpPr>
        <p:spPr>
          <a:xfrm>
            <a:off x="3414662" y="906509"/>
            <a:ext cx="1486896"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1000">
                <a:solidFill>
                  <a:srgbClr val="002060"/>
                </a:solidFill>
                <a:latin typeface="Open Sans"/>
                <a:ea typeface="Open Sans"/>
                <a:cs typeface="Open Sans"/>
                <a:sym typeface="Open Sans"/>
              </a:defRPr>
            </a:lvl1pPr>
          </a:lstStyle>
          <a:p>
            <a:pPr/>
            <a:r>
              <a:t>Performance Window</a:t>
            </a:r>
          </a:p>
        </p:txBody>
      </p:sp>
      <p:sp>
        <p:nvSpPr>
          <p:cNvPr id="638" name="TextBox 3"/>
          <p:cNvSpPr txBox="1"/>
          <p:nvPr/>
        </p:nvSpPr>
        <p:spPr>
          <a:xfrm>
            <a:off x="5566829" y="1018510"/>
            <a:ext cx="851537" cy="2679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000">
                <a:solidFill>
                  <a:srgbClr val="002060"/>
                </a:solidFill>
                <a:latin typeface="Open Sans"/>
                <a:ea typeface="Open Sans"/>
                <a:cs typeface="Open Sans"/>
                <a:sym typeface="Open Sans"/>
              </a:defRPr>
            </a:pPr>
            <a:r>
              <a:t>T</a:t>
            </a:r>
            <a:r>
              <a:rPr baseline="-25000"/>
              <a:t>0+6</a:t>
            </a:r>
            <a:r>
              <a:t> (T</a:t>
            </a:r>
            <a:r>
              <a:rPr baseline="-25000"/>
              <a:t>1</a:t>
            </a:r>
            <a:r>
              <a:t>)</a:t>
            </a:r>
          </a:p>
        </p:txBody>
      </p:sp>
      <p:sp>
        <p:nvSpPr>
          <p:cNvPr id="639" name="Rectangle 4"/>
          <p:cNvSpPr/>
          <p:nvPr/>
        </p:nvSpPr>
        <p:spPr>
          <a:xfrm>
            <a:off x="2540155" y="1248046"/>
            <a:ext cx="93520" cy="85078"/>
          </a:xfrm>
          <a:prstGeom prst="rect">
            <a:avLst/>
          </a:prstGeom>
          <a:solidFill>
            <a:srgbClr val="FFC000"/>
          </a:solidFill>
          <a:ln>
            <a:solidFill>
              <a:srgbClr val="FFC000"/>
            </a:solidFill>
          </a:ln>
        </p:spPr>
        <p:txBody>
          <a:bodyPr lIns="45719" rIns="45719" anchor="ctr"/>
          <a:lstStyle/>
          <a:p>
            <a:pPr algn="ctr">
              <a:defRPr sz="1000">
                <a:solidFill>
                  <a:srgbClr val="002060"/>
                </a:solidFill>
                <a:latin typeface="Open Sans"/>
                <a:ea typeface="Open Sans"/>
                <a:cs typeface="Open Sans"/>
                <a:sym typeface="Open Sans"/>
              </a:defRPr>
            </a:pPr>
          </a:p>
        </p:txBody>
      </p:sp>
      <p:sp>
        <p:nvSpPr>
          <p:cNvPr id="640" name="TextBox 5"/>
          <p:cNvSpPr txBox="1"/>
          <p:nvPr/>
        </p:nvSpPr>
        <p:spPr>
          <a:xfrm>
            <a:off x="3118892" y="1299932"/>
            <a:ext cx="2065789"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1000">
                <a:solidFill>
                  <a:srgbClr val="002060"/>
                </a:solidFill>
                <a:latin typeface="Open Sans"/>
                <a:ea typeface="Open Sans"/>
                <a:cs typeface="Open Sans"/>
                <a:sym typeface="Open Sans"/>
              </a:defRPr>
            </a:lvl1pPr>
          </a:lstStyle>
          <a:p>
            <a:pPr/>
            <a:r>
              <a:t>Performance Definition</a:t>
            </a:r>
          </a:p>
        </p:txBody>
      </p:sp>
      <p:sp>
        <p:nvSpPr>
          <p:cNvPr id="641" name="TextBox 6"/>
          <p:cNvSpPr txBox="1"/>
          <p:nvPr/>
        </p:nvSpPr>
        <p:spPr>
          <a:xfrm>
            <a:off x="2494370" y="1028285"/>
            <a:ext cx="851537" cy="26797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1000">
                <a:solidFill>
                  <a:srgbClr val="002060"/>
                </a:solidFill>
                <a:latin typeface="Open Sans"/>
                <a:ea typeface="Open Sans"/>
                <a:cs typeface="Open Sans"/>
                <a:sym typeface="Open Sans"/>
              </a:defRPr>
            </a:pPr>
            <a:r>
              <a:t>T</a:t>
            </a:r>
            <a:r>
              <a:rPr baseline="-25000"/>
              <a:t>0</a:t>
            </a:r>
            <a:r>
              <a:t> </a:t>
            </a:r>
          </a:p>
        </p:txBody>
      </p:sp>
      <p:sp>
        <p:nvSpPr>
          <p:cNvPr id="642" name="Straight Connector 7"/>
          <p:cNvSpPr/>
          <p:nvPr/>
        </p:nvSpPr>
        <p:spPr>
          <a:xfrm flipH="1">
            <a:off x="5775057" y="1204503"/>
            <a:ext cx="846" cy="161298"/>
          </a:xfrm>
          <a:prstGeom prst="line">
            <a:avLst/>
          </a:prstGeom>
          <a:ln w="25400">
            <a:solidFill>
              <a:srgbClr val="FFC000"/>
            </a:solidFill>
          </a:ln>
          <a:effectLst>
            <a:outerShdw sx="100000" sy="100000" kx="0" ky="0" algn="b" rotWithShape="0" blurRad="38100" dist="20000" dir="5400000">
              <a:srgbClr val="000000">
                <a:alpha val="38000"/>
              </a:srgbClr>
            </a:outerShdw>
          </a:effectLst>
        </p:spPr>
        <p:txBody>
          <a:bodyPr lIns="45719" rIns="45719"/>
          <a:lstStyle/>
          <a:p>
            <a:pPr/>
          </a:p>
        </p:txBody>
      </p:sp>
      <p:sp>
        <p:nvSpPr>
          <p:cNvPr id="643" name="Straight Arrow Connector 8"/>
          <p:cNvSpPr/>
          <p:nvPr/>
        </p:nvSpPr>
        <p:spPr>
          <a:xfrm flipH="1">
            <a:off x="3846784" y="1887543"/>
            <a:ext cx="207667" cy="181007"/>
          </a:xfrm>
          <a:prstGeom prst="line">
            <a:avLst/>
          </a:prstGeom>
          <a:ln w="12700">
            <a:solidFill>
              <a:srgbClr val="FFC000"/>
            </a:solidFill>
            <a:prstDash val="sysDash"/>
            <a:tailEnd type="triangle"/>
          </a:ln>
          <a:effectLst>
            <a:outerShdw sx="100000" sy="100000" kx="0" ky="0" algn="b" rotWithShape="0" blurRad="38100" dist="20000" dir="5400000">
              <a:srgbClr val="000000">
                <a:alpha val="38000"/>
              </a:srgbClr>
            </a:outerShdw>
          </a:effectLst>
        </p:spPr>
        <p:txBody>
          <a:bodyPr lIns="45719" rIns="45719"/>
          <a:lstStyle/>
          <a:p>
            <a:pPr/>
          </a:p>
        </p:txBody>
      </p:sp>
      <p:sp>
        <p:nvSpPr>
          <p:cNvPr id="644" name="TextBox 9"/>
          <p:cNvSpPr txBox="1"/>
          <p:nvPr/>
        </p:nvSpPr>
        <p:spPr>
          <a:xfrm>
            <a:off x="3039586" y="2091514"/>
            <a:ext cx="1134357"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1000">
                <a:solidFill>
                  <a:srgbClr val="002060"/>
                </a:solidFill>
                <a:latin typeface="Open Sans"/>
                <a:ea typeface="Open Sans"/>
                <a:cs typeface="Open Sans"/>
                <a:sym typeface="Open Sans"/>
              </a:defRPr>
            </a:lvl1pPr>
          </a:lstStyle>
          <a:p>
            <a:pPr/>
            <a:r>
              <a:t>Churn</a:t>
            </a:r>
          </a:p>
        </p:txBody>
      </p:sp>
      <p:sp>
        <p:nvSpPr>
          <p:cNvPr id="645" name="TextBox 10"/>
          <p:cNvSpPr txBox="1"/>
          <p:nvPr/>
        </p:nvSpPr>
        <p:spPr>
          <a:xfrm>
            <a:off x="4060695" y="2079103"/>
            <a:ext cx="1584241"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1000">
                <a:solidFill>
                  <a:srgbClr val="002060"/>
                </a:solidFill>
                <a:latin typeface="Open Sans"/>
                <a:ea typeface="Open Sans"/>
                <a:cs typeface="Open Sans"/>
                <a:sym typeface="Open Sans"/>
              </a:defRPr>
            </a:lvl1pPr>
          </a:lstStyle>
          <a:p>
            <a:pPr/>
            <a:r>
              <a:t>Customer Value</a:t>
            </a:r>
          </a:p>
        </p:txBody>
      </p:sp>
      <p:sp>
        <p:nvSpPr>
          <p:cNvPr id="646" name="Straight Arrow Connector 11"/>
          <p:cNvSpPr/>
          <p:nvPr/>
        </p:nvSpPr>
        <p:spPr>
          <a:xfrm>
            <a:off x="4181376" y="1887848"/>
            <a:ext cx="222774" cy="195080"/>
          </a:xfrm>
          <a:prstGeom prst="line">
            <a:avLst/>
          </a:prstGeom>
          <a:ln w="12700">
            <a:solidFill>
              <a:srgbClr val="FFC000"/>
            </a:solidFill>
            <a:prstDash val="sysDash"/>
            <a:tailEnd type="triangle"/>
          </a:ln>
          <a:effectLst>
            <a:outerShdw sx="100000" sy="100000" kx="0" ky="0" algn="b" rotWithShape="0" blurRad="38100" dist="20000" dir="5400000">
              <a:srgbClr val="000000">
                <a:alpha val="38000"/>
              </a:srgbClr>
            </a:outerShdw>
          </a:effectLst>
        </p:spPr>
        <p:txBody>
          <a:bodyPr lIns="45719" rIns="45719"/>
          <a:lstStyle/>
          <a:p>
            <a:pPr/>
          </a:p>
        </p:txBody>
      </p:sp>
      <p:sp>
        <p:nvSpPr>
          <p:cNvPr id="647" name="Straight Arrow Connector 23"/>
          <p:cNvSpPr/>
          <p:nvPr/>
        </p:nvSpPr>
        <p:spPr>
          <a:xfrm>
            <a:off x="4085683" y="1495671"/>
            <a:ext cx="1" cy="211052"/>
          </a:xfrm>
          <a:prstGeom prst="line">
            <a:avLst/>
          </a:prstGeom>
          <a:ln w="12700">
            <a:solidFill>
              <a:srgbClr val="FFC000"/>
            </a:solidFill>
            <a:prstDash val="sysDash"/>
            <a:tailEnd type="triangle"/>
          </a:ln>
          <a:effectLst>
            <a:outerShdw sx="100000" sy="100000" kx="0" ky="0" algn="b" rotWithShape="0" blurRad="38100" dist="20000" dir="5400000">
              <a:srgbClr val="000000">
                <a:alpha val="38000"/>
              </a:srgbClr>
            </a:outerShdw>
          </a:effectLst>
        </p:spPr>
        <p:txBody>
          <a:bodyPr lIns="45719" rIns="45719"/>
          <a:lstStyle/>
          <a:p>
            <a:pPr/>
          </a:p>
        </p:txBody>
      </p:sp>
      <p:sp>
        <p:nvSpPr>
          <p:cNvPr id="648" name="TextBox 25"/>
          <p:cNvSpPr txBox="1"/>
          <p:nvPr/>
        </p:nvSpPr>
        <p:spPr>
          <a:xfrm>
            <a:off x="3528153" y="1660662"/>
            <a:ext cx="1134356"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sz="1000">
                <a:solidFill>
                  <a:srgbClr val="002060"/>
                </a:solidFill>
                <a:latin typeface="Open Sans"/>
                <a:ea typeface="Open Sans"/>
                <a:cs typeface="Open Sans"/>
                <a:sym typeface="Open Sans"/>
              </a:defRPr>
            </a:lvl1pPr>
          </a:lstStyle>
          <a:p>
            <a:pPr/>
            <a:r>
              <a:t>Monetary Value</a:t>
            </a:r>
          </a:p>
        </p:txBody>
      </p:sp>
      <p:sp>
        <p:nvSpPr>
          <p:cNvPr id="649" name="TextBox 26"/>
          <p:cNvSpPr txBox="1"/>
          <p:nvPr/>
        </p:nvSpPr>
        <p:spPr>
          <a:xfrm>
            <a:off x="244387" y="2996688"/>
            <a:ext cx="4778573" cy="1336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150000"/>
              </a:lnSpc>
              <a:defRPr sz="1200">
                <a:solidFill>
                  <a:srgbClr val="002060"/>
                </a:solidFill>
                <a:latin typeface="Open Sans"/>
                <a:ea typeface="Open Sans"/>
                <a:cs typeface="Open Sans"/>
                <a:sym typeface="Open Sans"/>
              </a:defRPr>
            </a:pPr>
            <a:r>
              <a:t>Monetary Value generated from a customer in 6M through:</a:t>
            </a:r>
          </a:p>
          <a:p>
            <a:pPr marL="214313" indent="-214313">
              <a:lnSpc>
                <a:spcPct val="150000"/>
              </a:lnSpc>
              <a:buClr>
                <a:srgbClr val="00B0F0"/>
              </a:buClr>
              <a:buSzPct val="100000"/>
              <a:buFont typeface="Helvetica"/>
              <a:buChar char="⁃"/>
              <a:defRPr sz="1200">
                <a:solidFill>
                  <a:srgbClr val="002060"/>
                </a:solidFill>
                <a:latin typeface="Open Sans"/>
                <a:ea typeface="Open Sans"/>
                <a:cs typeface="Open Sans"/>
                <a:sym typeface="Open Sans"/>
              </a:defRPr>
            </a:pPr>
            <a:r>
              <a:t>Category Margins and Commissions</a:t>
            </a:r>
          </a:p>
          <a:p>
            <a:pPr marL="214313" indent="-214313">
              <a:lnSpc>
                <a:spcPct val="150000"/>
              </a:lnSpc>
              <a:buClr>
                <a:srgbClr val="00B0F0"/>
              </a:buClr>
              <a:buSzPct val="100000"/>
              <a:buFont typeface="Helvetica"/>
              <a:buChar char="⁃"/>
              <a:defRPr sz="1200">
                <a:solidFill>
                  <a:srgbClr val="002060"/>
                </a:solidFill>
                <a:latin typeface="Open Sans"/>
                <a:ea typeface="Open Sans"/>
                <a:cs typeface="Open Sans"/>
                <a:sym typeface="Open Sans"/>
              </a:defRPr>
            </a:pPr>
            <a:r>
              <a:t>Through Lending</a:t>
            </a:r>
          </a:p>
          <a:p>
            <a:pPr marL="214313" indent="-214313">
              <a:lnSpc>
                <a:spcPct val="150000"/>
              </a:lnSpc>
              <a:buClr>
                <a:srgbClr val="00B0F0"/>
              </a:buClr>
              <a:buSzPct val="100000"/>
              <a:buFont typeface="Helvetica"/>
              <a:buChar char="⁃"/>
              <a:defRPr sz="1200">
                <a:solidFill>
                  <a:srgbClr val="002060"/>
                </a:solidFill>
                <a:latin typeface="Open Sans"/>
                <a:ea typeface="Open Sans"/>
                <a:cs typeface="Open Sans"/>
                <a:sym typeface="Open Sans"/>
              </a:defRPr>
            </a:pPr>
            <a:r>
              <a:t>Payment Instruments Margins</a:t>
            </a:r>
          </a:p>
        </p:txBody>
      </p:sp>
      <p:sp>
        <p:nvSpPr>
          <p:cNvPr id="650" name="TextBox 27"/>
          <p:cNvSpPr txBox="1"/>
          <p:nvPr/>
        </p:nvSpPr>
        <p:spPr>
          <a:xfrm>
            <a:off x="5186773" y="3221526"/>
            <a:ext cx="2805594" cy="546736"/>
          </a:xfrm>
          <a:prstGeom prst="rect">
            <a:avLst/>
          </a:prstGeom>
          <a:ln w="12700">
            <a:miter lim="400000"/>
          </a:ln>
        </p:spPr>
        <p:txBody>
          <a:bodyPr wrap="none" lIns="0" tIns="0" rIns="0" bIns="0">
            <a:spAutoFit/>
          </a:bodyPr>
          <a:lstStyle/>
          <a:p>
            <a:pPr latinLnBrk="1">
              <a:defRPr sz="1800"/>
            </a:pPr>
            <a14:m>
              <m:oMathPara>
                <m:oMathParaPr>
                  <m:jc m:val="centerGroup"/>
                </m:oMathParaPr>
                <m:oMath>
                  <m:d>
                    <m:dPr>
                      <m:ctrlPr>
                        <a:rPr xmlns:a="http://schemas.openxmlformats.org/drawingml/2006/main" sz="1400" i="1">
                          <a:solidFill>
                            <a:srgbClr val="002060"/>
                          </a:solidFill>
                          <a:latin typeface="Cambria Math" panose="02040503050406030204" pitchFamily="18" charset="0"/>
                        </a:rPr>
                      </m:ctrlPr>
                      <m:begChr m:val="{"/>
                      <m:endChr m:val=""/>
                    </m:dPr>
                    <m:e>
                      <m:eqArr>
                        <m:eqArrPr>
                          <m:ctrlPr>
                            <a:rPr xmlns:a="http://schemas.openxmlformats.org/drawingml/2006/main" sz="1400" i="1">
                              <a:solidFill>
                                <a:srgbClr val="002060"/>
                              </a:solidFill>
                              <a:latin typeface="Cambria Math" panose="02040503050406030204" pitchFamily="18" charset="0"/>
                            </a:rPr>
                          </m:ctrlPr>
                        </m:eqArrPr>
                        <m:e>
                          <m:r>
                            <m:t/>
                          </m:r>
                          <m:eqArr>
                            <m:eqArrPr>
                              <m:ctrlPr>
                                <a:rPr xmlns:a="http://schemas.openxmlformats.org/drawingml/2006/main" sz="1400" i="1">
                                  <a:solidFill>
                                    <a:srgbClr val="002060"/>
                                  </a:solidFill>
                                  <a:latin typeface="Cambria Math" panose="02040503050406030204" pitchFamily="18" charset="0"/>
                                </a:rPr>
                              </m:ctrlPr>
                            </m:eqArrPr>
                            <m:e>
                              <m:r>
                                <a:rPr xmlns:a="http://schemas.openxmlformats.org/drawingml/2006/main" sz="1400" i="1">
                                  <a:solidFill>
                                    <a:srgbClr val="002060"/>
                                  </a:solidFill>
                                  <a:latin typeface="Cambria Math" panose="02040503050406030204" pitchFamily="18" charset="0"/>
                                </a:rPr>
                                <m:t>𝐼</m:t>
                              </m:r>
                              <m:r>
                                <a:rPr xmlns:a="http://schemas.openxmlformats.org/drawingml/2006/main" sz="1400" i="1">
                                  <a:solidFill>
                                    <a:srgbClr val="002060"/>
                                  </a:solidFill>
                                  <a:latin typeface="Cambria Math" panose="02040503050406030204" pitchFamily="18" charset="0"/>
                                </a:rPr>
                                <m:t>𝑓</m:t>
                              </m:r>
                              <m:r>
                                <a:rPr xmlns:a="http://schemas.openxmlformats.org/drawingml/2006/main" sz="1400" i="1">
                                  <a:solidFill>
                                    <a:srgbClr val="002060"/>
                                  </a:solidFill>
                                  <a:latin typeface="Cambria Math" panose="02040503050406030204" pitchFamily="18" charset="0"/>
                                </a:rPr>
                                <m:t/>
                              </m:r>
                              <m:r>
                                <a:rPr xmlns:a="http://schemas.openxmlformats.org/drawingml/2006/main" sz="1400" i="1">
                                  <a:solidFill>
                                    <a:srgbClr val="002060"/>
                                  </a:solidFill>
                                  <a:latin typeface="Cambria Math" panose="02040503050406030204" pitchFamily="18" charset="0"/>
                                </a:rPr>
                                <m:t>𝑉</m:t>
                              </m:r>
                              <m:r>
                                <a:rPr xmlns:a="http://schemas.openxmlformats.org/drawingml/2006/main" sz="1400" i="1">
                                  <a:solidFill>
                                    <a:srgbClr val="002060"/>
                                  </a:solidFill>
                                  <a:latin typeface="Cambria Math" panose="02040503050406030204" pitchFamily="18" charset="0"/>
                                </a:rPr>
                                <m:t>𝑎</m:t>
                              </m:r>
                              <m:r>
                                <a:rPr xmlns:a="http://schemas.openxmlformats.org/drawingml/2006/main" sz="1400" i="1">
                                  <a:solidFill>
                                    <a:srgbClr val="002060"/>
                                  </a:solidFill>
                                  <a:latin typeface="Cambria Math" panose="02040503050406030204" pitchFamily="18" charset="0"/>
                                </a:rPr>
                                <m:t>𝑙</m:t>
                              </m:r>
                              <m:r>
                                <a:rPr xmlns:a="http://schemas.openxmlformats.org/drawingml/2006/main" sz="1400" i="1">
                                  <a:solidFill>
                                    <a:srgbClr val="002060"/>
                                  </a:solidFill>
                                  <a:latin typeface="Cambria Math" panose="02040503050406030204" pitchFamily="18" charset="0"/>
                                </a:rPr>
                                <m:t>𝑢</m:t>
                              </m:r>
                              <m:r>
                                <a:rPr xmlns:a="http://schemas.openxmlformats.org/drawingml/2006/main" sz="1400" i="1">
                                  <a:solidFill>
                                    <a:srgbClr val="002060"/>
                                  </a:solidFill>
                                  <a:latin typeface="Cambria Math" panose="02040503050406030204" pitchFamily="18" charset="0"/>
                                </a:rPr>
                                <m:t>𝑒</m:t>
                              </m:r>
                              <m:r>
                                <a:rPr xmlns:a="http://schemas.openxmlformats.org/drawingml/2006/main" sz="1400" i="1">
                                  <a:solidFill>
                                    <a:srgbClr val="002060"/>
                                  </a:solidFill>
                                  <a:latin typeface="Cambria Math" panose="02040503050406030204" pitchFamily="18" charset="0"/>
                                </a:rPr>
                                <m:t>&gt;</m:t>
                              </m:r>
                              <m:r>
                                <a:rPr xmlns:a="http://schemas.openxmlformats.org/drawingml/2006/main" sz="1400" i="1">
                                  <a:solidFill>
                                    <a:srgbClr val="002060"/>
                                  </a:solidFill>
                                  <a:latin typeface="Cambria Math" panose="02040503050406030204" pitchFamily="18" charset="0"/>
                                </a:rPr>
                                <m:t>0</m:t>
                              </m:r>
                              <m:r>
                                <a:rPr xmlns:a="http://schemas.openxmlformats.org/drawingml/2006/main" sz="1400" i="1">
                                  <a:solidFill>
                                    <a:srgbClr val="002060"/>
                                  </a:solidFill>
                                  <a:latin typeface="Cambria Math" panose="02040503050406030204" pitchFamily="18" charset="0"/>
                                </a:rPr>
                                <m:t/>
                              </m:r>
                              <m:r>
                                <a:rPr xmlns:a="http://schemas.openxmlformats.org/drawingml/2006/main" sz="1400" i="1">
                                  <a:solidFill>
                                    <a:srgbClr val="002060"/>
                                  </a:solidFill>
                                  <a:latin typeface="Cambria Math" panose="02040503050406030204" pitchFamily="18" charset="0"/>
                                </a:rPr>
                                <m:t>𝑡</m:t>
                              </m:r>
                              <m:r>
                                <a:rPr xmlns:a="http://schemas.openxmlformats.org/drawingml/2006/main" sz="1400" i="1">
                                  <a:solidFill>
                                    <a:srgbClr val="002060"/>
                                  </a:solidFill>
                                  <a:latin typeface="Cambria Math" panose="02040503050406030204" pitchFamily="18" charset="0"/>
                                </a:rPr>
                                <m:t>h</m:t>
                              </m:r>
                              <m:r>
                                <a:rPr xmlns:a="http://schemas.openxmlformats.org/drawingml/2006/main" sz="1400" i="1">
                                  <a:solidFill>
                                    <a:srgbClr val="002060"/>
                                  </a:solidFill>
                                  <a:latin typeface="Cambria Math" panose="02040503050406030204" pitchFamily="18" charset="0"/>
                                </a:rPr>
                                <m:t>𝑒</m:t>
                              </m:r>
                              <m:r>
                                <a:rPr xmlns:a="http://schemas.openxmlformats.org/drawingml/2006/main" sz="1400" i="1">
                                  <a:solidFill>
                                    <a:srgbClr val="002060"/>
                                  </a:solidFill>
                                  <a:latin typeface="Cambria Math" panose="02040503050406030204" pitchFamily="18" charset="0"/>
                                </a:rPr>
                                <m:t>𝑛</m:t>
                              </m:r>
                              <m:r>
                                <a:rPr xmlns:a="http://schemas.openxmlformats.org/drawingml/2006/main" sz="1400" i="1">
                                  <a:solidFill>
                                    <a:srgbClr val="002060"/>
                                  </a:solidFill>
                                  <a:latin typeface="Cambria Math" panose="02040503050406030204" pitchFamily="18" charset="0"/>
                                </a:rPr>
                                <m:t/>
                              </m:r>
                              <m:r>
                                <a:rPr xmlns:a="http://schemas.openxmlformats.org/drawingml/2006/main" sz="1400" i="1">
                                  <a:solidFill>
                                    <a:srgbClr val="002060"/>
                                  </a:solidFill>
                                  <a:latin typeface="Cambria Math" panose="02040503050406030204" pitchFamily="18" charset="0"/>
                                </a:rPr>
                                <m:t>𝐶</m:t>
                              </m:r>
                              <m:r>
                                <a:rPr xmlns:a="http://schemas.openxmlformats.org/drawingml/2006/main" sz="1400" i="1">
                                  <a:solidFill>
                                    <a:srgbClr val="002060"/>
                                  </a:solidFill>
                                  <a:latin typeface="Cambria Math" panose="02040503050406030204" pitchFamily="18" charset="0"/>
                                </a:rPr>
                                <m:t>𝑢</m:t>
                              </m:r>
                              <m:r>
                                <a:rPr xmlns:a="http://schemas.openxmlformats.org/drawingml/2006/main" sz="1400" i="1">
                                  <a:solidFill>
                                    <a:srgbClr val="002060"/>
                                  </a:solidFill>
                                  <a:latin typeface="Cambria Math" panose="02040503050406030204" pitchFamily="18" charset="0"/>
                                </a:rPr>
                                <m:t>𝑠</m:t>
                              </m:r>
                              <m:r>
                                <a:rPr xmlns:a="http://schemas.openxmlformats.org/drawingml/2006/main" sz="1400" i="1">
                                  <a:solidFill>
                                    <a:srgbClr val="002060"/>
                                  </a:solidFill>
                                  <a:latin typeface="Cambria Math" panose="02040503050406030204" pitchFamily="18" charset="0"/>
                                </a:rPr>
                                <m:t>𝑡</m:t>
                              </m:r>
                              <m:r>
                                <a:rPr xmlns:a="http://schemas.openxmlformats.org/drawingml/2006/main" sz="1400" i="1">
                                  <a:solidFill>
                                    <a:srgbClr val="002060"/>
                                  </a:solidFill>
                                  <a:latin typeface="Cambria Math" panose="02040503050406030204" pitchFamily="18" charset="0"/>
                                </a:rPr>
                                <m:t>𝑜</m:t>
                              </m:r>
                              <m:r>
                                <a:rPr xmlns:a="http://schemas.openxmlformats.org/drawingml/2006/main" sz="1400" i="1">
                                  <a:solidFill>
                                    <a:srgbClr val="002060"/>
                                  </a:solidFill>
                                  <a:latin typeface="Cambria Math" panose="02040503050406030204" pitchFamily="18" charset="0"/>
                                </a:rPr>
                                <m:t>𝑚</m:t>
                              </m:r>
                              <m:r>
                                <a:rPr xmlns:a="http://schemas.openxmlformats.org/drawingml/2006/main" sz="1400" i="1">
                                  <a:solidFill>
                                    <a:srgbClr val="002060"/>
                                  </a:solidFill>
                                  <a:latin typeface="Cambria Math" panose="02040503050406030204" pitchFamily="18" charset="0"/>
                                </a:rPr>
                                <m:t>𝑒</m:t>
                              </m:r>
                              <m:r>
                                <a:rPr xmlns:a="http://schemas.openxmlformats.org/drawingml/2006/main" sz="1400" i="1">
                                  <a:solidFill>
                                    <a:srgbClr val="002060"/>
                                  </a:solidFill>
                                  <a:latin typeface="Cambria Math" panose="02040503050406030204" pitchFamily="18" charset="0"/>
                                </a:rPr>
                                <m:t>𝑟</m:t>
                              </m:r>
                              <m:r>
                                <a:rPr xmlns:a="http://schemas.openxmlformats.org/drawingml/2006/main" sz="1400" i="1">
                                  <a:solidFill>
                                    <a:srgbClr val="002060"/>
                                  </a:solidFill>
                                  <a:latin typeface="Cambria Math" panose="02040503050406030204" pitchFamily="18" charset="0"/>
                                </a:rPr>
                                <m:t/>
                              </m:r>
                              <m:r>
                                <a:rPr xmlns:a="http://schemas.openxmlformats.org/drawingml/2006/main" sz="1400" i="1">
                                  <a:solidFill>
                                    <a:srgbClr val="002060"/>
                                  </a:solidFill>
                                  <a:latin typeface="Cambria Math" panose="02040503050406030204" pitchFamily="18" charset="0"/>
                                </a:rPr>
                                <m:t>𝑉</m:t>
                              </m:r>
                              <m:r>
                                <a:rPr xmlns:a="http://schemas.openxmlformats.org/drawingml/2006/main" sz="1400" i="1">
                                  <a:solidFill>
                                    <a:srgbClr val="002060"/>
                                  </a:solidFill>
                                  <a:latin typeface="Cambria Math" panose="02040503050406030204" pitchFamily="18" charset="0"/>
                                </a:rPr>
                                <m:t>𝑎</m:t>
                              </m:r>
                              <m:r>
                                <a:rPr xmlns:a="http://schemas.openxmlformats.org/drawingml/2006/main" sz="1400" i="1">
                                  <a:solidFill>
                                    <a:srgbClr val="002060"/>
                                  </a:solidFill>
                                  <a:latin typeface="Cambria Math" panose="02040503050406030204" pitchFamily="18" charset="0"/>
                                </a:rPr>
                                <m:t>𝑙</m:t>
                              </m:r>
                              <m:r>
                                <a:rPr xmlns:a="http://schemas.openxmlformats.org/drawingml/2006/main" sz="1400" i="1">
                                  <a:solidFill>
                                    <a:srgbClr val="002060"/>
                                  </a:solidFill>
                                  <a:latin typeface="Cambria Math" panose="02040503050406030204" pitchFamily="18" charset="0"/>
                                </a:rPr>
                                <m:t>𝑢</m:t>
                              </m:r>
                              <m:r>
                                <a:rPr xmlns:a="http://schemas.openxmlformats.org/drawingml/2006/main" sz="1400" i="1">
                                  <a:solidFill>
                                    <a:srgbClr val="002060"/>
                                  </a:solidFill>
                                  <a:latin typeface="Cambria Math" panose="02040503050406030204" pitchFamily="18" charset="0"/>
                                </a:rPr>
                                <m:t>𝑒</m:t>
                              </m:r>
                            </m:e>
                            <m:e/>
                            <m:e/>
                          </m:eqArr>
                        </m:e>
                        <m:e>
                          <m:r>
                            <a:rPr xmlns:a="http://schemas.openxmlformats.org/drawingml/2006/main" sz="1400" i="1">
                              <a:solidFill>
                                <a:srgbClr val="002060"/>
                              </a:solidFill>
                              <a:latin typeface="Cambria Math" panose="02040503050406030204" pitchFamily="18" charset="0"/>
                            </a:rPr>
                            <m:t>𝐼</m:t>
                          </m:r>
                          <m:r>
                            <a:rPr xmlns:a="http://schemas.openxmlformats.org/drawingml/2006/main" sz="1400" i="1">
                              <a:solidFill>
                                <a:srgbClr val="002060"/>
                              </a:solidFill>
                              <a:latin typeface="Cambria Math" panose="02040503050406030204" pitchFamily="18" charset="0"/>
                            </a:rPr>
                            <m:t>𝑓</m:t>
                          </m:r>
                          <m:r>
                            <a:rPr xmlns:a="http://schemas.openxmlformats.org/drawingml/2006/main" sz="1400" i="1">
                              <a:solidFill>
                                <a:srgbClr val="002060"/>
                              </a:solidFill>
                              <a:latin typeface="Cambria Math" panose="02040503050406030204" pitchFamily="18" charset="0"/>
                            </a:rPr>
                            <m:t/>
                          </m:r>
                          <m:r>
                            <a:rPr xmlns:a="http://schemas.openxmlformats.org/drawingml/2006/main" sz="1400" i="1">
                              <a:solidFill>
                                <a:srgbClr val="002060"/>
                              </a:solidFill>
                              <a:latin typeface="Cambria Math" panose="02040503050406030204" pitchFamily="18" charset="0"/>
                            </a:rPr>
                            <m:t>𝑉</m:t>
                          </m:r>
                          <m:r>
                            <a:rPr xmlns:a="http://schemas.openxmlformats.org/drawingml/2006/main" sz="1400" i="1">
                              <a:solidFill>
                                <a:srgbClr val="002060"/>
                              </a:solidFill>
                              <a:latin typeface="Cambria Math" panose="02040503050406030204" pitchFamily="18" charset="0"/>
                            </a:rPr>
                            <m:t>𝑎</m:t>
                          </m:r>
                          <m:r>
                            <a:rPr xmlns:a="http://schemas.openxmlformats.org/drawingml/2006/main" sz="1400" i="1">
                              <a:solidFill>
                                <a:srgbClr val="002060"/>
                              </a:solidFill>
                              <a:latin typeface="Cambria Math" panose="02040503050406030204" pitchFamily="18" charset="0"/>
                            </a:rPr>
                            <m:t>𝑙</m:t>
                          </m:r>
                          <m:r>
                            <a:rPr xmlns:a="http://schemas.openxmlformats.org/drawingml/2006/main" sz="1400" i="1">
                              <a:solidFill>
                                <a:srgbClr val="002060"/>
                              </a:solidFill>
                              <a:latin typeface="Cambria Math" panose="02040503050406030204" pitchFamily="18" charset="0"/>
                            </a:rPr>
                            <m:t>𝑢</m:t>
                          </m:r>
                          <m:r>
                            <a:rPr xmlns:a="http://schemas.openxmlformats.org/drawingml/2006/main" sz="1400" i="1">
                              <a:solidFill>
                                <a:srgbClr val="002060"/>
                              </a:solidFill>
                              <a:latin typeface="Cambria Math" panose="02040503050406030204" pitchFamily="18" charset="0"/>
                            </a:rPr>
                            <m:t>𝑒</m:t>
                          </m:r>
                          <m:r>
                            <a:rPr xmlns:a="http://schemas.openxmlformats.org/drawingml/2006/main" sz="1400" i="1">
                              <a:solidFill>
                                <a:srgbClr val="002060"/>
                              </a:solidFill>
                              <a:latin typeface="Cambria Math" panose="02040503050406030204" pitchFamily="18" charset="0"/>
                            </a:rPr>
                            <m:t>=</m:t>
                          </m:r>
                          <m:r>
                            <a:rPr xmlns:a="http://schemas.openxmlformats.org/drawingml/2006/main" sz="1400" i="1">
                              <a:solidFill>
                                <a:srgbClr val="002060"/>
                              </a:solidFill>
                              <a:latin typeface="Cambria Math" panose="02040503050406030204" pitchFamily="18" charset="0"/>
                            </a:rPr>
                            <m:t>0</m:t>
                          </m:r>
                          <m:r>
                            <a:rPr xmlns:a="http://schemas.openxmlformats.org/drawingml/2006/main" sz="1400" i="1">
                              <a:solidFill>
                                <a:srgbClr val="002060"/>
                              </a:solidFill>
                              <a:latin typeface="Cambria Math" panose="02040503050406030204" pitchFamily="18" charset="0"/>
                            </a:rPr>
                            <m:t/>
                          </m:r>
                          <m:r>
                            <a:rPr xmlns:a="http://schemas.openxmlformats.org/drawingml/2006/main" sz="1400" i="1">
                              <a:solidFill>
                                <a:srgbClr val="002060"/>
                              </a:solidFill>
                              <a:latin typeface="Cambria Math" panose="02040503050406030204" pitchFamily="18" charset="0"/>
                            </a:rPr>
                            <m:t>𝑡</m:t>
                          </m:r>
                          <m:r>
                            <a:rPr xmlns:a="http://schemas.openxmlformats.org/drawingml/2006/main" sz="1400" i="1">
                              <a:solidFill>
                                <a:srgbClr val="002060"/>
                              </a:solidFill>
                              <a:latin typeface="Cambria Math" panose="02040503050406030204" pitchFamily="18" charset="0"/>
                            </a:rPr>
                            <m:t>h</m:t>
                          </m:r>
                          <m:r>
                            <a:rPr xmlns:a="http://schemas.openxmlformats.org/drawingml/2006/main" sz="1400" i="1">
                              <a:solidFill>
                                <a:srgbClr val="002060"/>
                              </a:solidFill>
                              <a:latin typeface="Cambria Math" panose="02040503050406030204" pitchFamily="18" charset="0"/>
                            </a:rPr>
                            <m:t>𝑒</m:t>
                          </m:r>
                          <m:r>
                            <a:rPr xmlns:a="http://schemas.openxmlformats.org/drawingml/2006/main" sz="1400" i="1">
                              <a:solidFill>
                                <a:srgbClr val="002060"/>
                              </a:solidFill>
                              <a:latin typeface="Cambria Math" panose="02040503050406030204" pitchFamily="18" charset="0"/>
                            </a:rPr>
                            <m:t>𝑛</m:t>
                          </m:r>
                          <m:r>
                            <a:rPr xmlns:a="http://schemas.openxmlformats.org/drawingml/2006/main" sz="1400" i="1">
                              <a:solidFill>
                                <a:srgbClr val="002060"/>
                              </a:solidFill>
                              <a:latin typeface="Cambria Math" panose="02040503050406030204" pitchFamily="18" charset="0"/>
                            </a:rPr>
                            <m:t/>
                          </m:r>
                          <m:r>
                            <a:rPr xmlns:a="http://schemas.openxmlformats.org/drawingml/2006/main" sz="1400" i="1">
                              <a:solidFill>
                                <a:srgbClr val="002060"/>
                              </a:solidFill>
                              <a:latin typeface="Cambria Math" panose="02040503050406030204" pitchFamily="18" charset="0"/>
                            </a:rPr>
                            <m:t>𝐶</m:t>
                          </m:r>
                          <m:r>
                            <a:rPr xmlns:a="http://schemas.openxmlformats.org/drawingml/2006/main" sz="1400" i="1">
                              <a:solidFill>
                                <a:srgbClr val="002060"/>
                              </a:solidFill>
                              <a:latin typeface="Cambria Math" panose="02040503050406030204" pitchFamily="18" charset="0"/>
                            </a:rPr>
                            <m:t>h</m:t>
                          </m:r>
                          <m:r>
                            <a:rPr xmlns:a="http://schemas.openxmlformats.org/drawingml/2006/main" sz="1400" i="1">
                              <a:solidFill>
                                <a:srgbClr val="002060"/>
                              </a:solidFill>
                              <a:latin typeface="Cambria Math" panose="02040503050406030204" pitchFamily="18" charset="0"/>
                            </a:rPr>
                            <m:t>𝑢</m:t>
                          </m:r>
                          <m:r>
                            <a:rPr xmlns:a="http://schemas.openxmlformats.org/drawingml/2006/main" sz="1400" i="1">
                              <a:solidFill>
                                <a:srgbClr val="002060"/>
                              </a:solidFill>
                              <a:latin typeface="Cambria Math" panose="02040503050406030204" pitchFamily="18" charset="0"/>
                            </a:rPr>
                            <m:t>𝑟</m:t>
                          </m:r>
                          <m:r>
                            <a:rPr xmlns:a="http://schemas.openxmlformats.org/drawingml/2006/main" sz="1400" i="1">
                              <a:solidFill>
                                <a:srgbClr val="002060"/>
                              </a:solidFill>
                              <a:latin typeface="Cambria Math" panose="02040503050406030204" pitchFamily="18" charset="0"/>
                            </a:rPr>
                            <m:t>𝑛</m:t>
                          </m:r>
                        </m:e>
                      </m:eqArr>
                    </m:e>
                  </m:d>
                </m:oMath>
              </m:oMathPara>
            </a14:m>
            <a:endParaRPr sz="1400">
              <a:solidFill>
                <a:srgbClr val="002060"/>
              </a:solidFill>
            </a:endParaRP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52" name="Google Shape;360;p5"/>
          <p:cNvSpPr txBox="1"/>
          <p:nvPr/>
        </p:nvSpPr>
        <p:spPr>
          <a:xfrm>
            <a:off x="0" y="63049"/>
            <a:ext cx="8245941" cy="5511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ctr">
            <a:spAutoFit/>
          </a:bodyPr>
          <a:lstStyle/>
          <a:p>
            <a:pPr>
              <a:defRPr b="1" i="1" sz="2400">
                <a:solidFill>
                  <a:srgbClr val="002060"/>
                </a:solidFill>
                <a:latin typeface="Open Sans"/>
                <a:ea typeface="Open Sans"/>
                <a:cs typeface="Open Sans"/>
                <a:sym typeface="Open Sans"/>
              </a:defRPr>
            </a:pPr>
            <a:r>
              <a:t>3. Deep </a:t>
            </a:r>
            <a:r>
              <a:rPr>
                <a:solidFill>
                  <a:srgbClr val="00B0F0"/>
                </a:solidFill>
              </a:rPr>
              <a:t>Learning</a:t>
            </a:r>
          </a:p>
        </p:txBody>
      </p:sp>
      <p:sp>
        <p:nvSpPr>
          <p:cNvPr id="653" name="Google Shape;361;p5"/>
          <p:cNvSpPr/>
          <p:nvPr/>
        </p:nvSpPr>
        <p:spPr>
          <a:xfrm>
            <a:off x="-12300" y="618293"/>
            <a:ext cx="9180002" cy="13502"/>
          </a:xfrm>
          <a:prstGeom prst="line">
            <a:avLst/>
          </a:prstGeom>
          <a:ln w="38100">
            <a:solidFill>
              <a:srgbClr val="072B62"/>
            </a:solidFill>
          </a:ln>
        </p:spPr>
        <p:txBody>
          <a:bodyPr lIns="45719" rIns="45719"/>
          <a:lstStyle/>
          <a:p>
            <a:pPr/>
          </a:p>
        </p:txBody>
      </p:sp>
      <p:pic>
        <p:nvPicPr>
          <p:cNvPr id="654" name="Picture 12" descr="Picture 12"/>
          <p:cNvPicPr>
            <a:picLocks noChangeAspect="1"/>
          </p:cNvPicPr>
          <p:nvPr/>
        </p:nvPicPr>
        <p:blipFill>
          <a:blip r:embed="rId2">
            <a:extLst/>
          </a:blip>
          <a:stretch>
            <a:fillRect/>
          </a:stretch>
        </p:blipFill>
        <p:spPr>
          <a:xfrm>
            <a:off x="471947" y="759316"/>
            <a:ext cx="8065480" cy="2873158"/>
          </a:xfrm>
          <a:prstGeom prst="rect">
            <a:avLst/>
          </a:prstGeom>
          <a:ln w="12700">
            <a:miter lim="400000"/>
          </a:ln>
        </p:spPr>
      </p:pic>
      <p:pic>
        <p:nvPicPr>
          <p:cNvPr id="655" name="Picture 13" descr="Picture 13"/>
          <p:cNvPicPr>
            <a:picLocks noChangeAspect="1"/>
          </p:cNvPicPr>
          <p:nvPr/>
        </p:nvPicPr>
        <p:blipFill>
          <a:blip r:embed="rId3">
            <a:extLst/>
          </a:blip>
          <a:stretch>
            <a:fillRect/>
          </a:stretch>
        </p:blipFill>
        <p:spPr>
          <a:xfrm>
            <a:off x="1662725" y="3645973"/>
            <a:ext cx="5857876" cy="335735"/>
          </a:xfrm>
          <a:prstGeom prst="rect">
            <a:avLst/>
          </a:prstGeom>
          <a:ln w="12700">
            <a:miter lim="400000"/>
          </a:ln>
        </p:spPr>
      </p:pic>
      <p:sp>
        <p:nvSpPr>
          <p:cNvPr id="656" name="TextBox 14"/>
          <p:cNvSpPr txBox="1"/>
          <p:nvPr/>
        </p:nvSpPr>
        <p:spPr>
          <a:xfrm>
            <a:off x="517667" y="3995208"/>
            <a:ext cx="8147993" cy="853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171450" indent="-171450" algn="just">
              <a:buClr>
                <a:srgbClr val="00B0F0"/>
              </a:buClr>
              <a:buSzPct val="100000"/>
              <a:buFont typeface="Helvetica"/>
              <a:buChar char="⁃"/>
              <a:defRPr sz="1000">
                <a:solidFill>
                  <a:srgbClr val="002060"/>
                </a:solidFill>
                <a:latin typeface="Open Sans"/>
                <a:ea typeface="Open Sans"/>
                <a:cs typeface="Open Sans"/>
                <a:sym typeface="Open Sans"/>
              </a:defRPr>
            </a:pPr>
            <a:r>
              <a:t>Unlike most regression problems here we are replacing the popular MSE loss function with ZLIN loss which can be represented as the equation shown above</a:t>
            </a:r>
          </a:p>
          <a:p>
            <a:pPr marL="171450" indent="-171450" algn="just">
              <a:buClr>
                <a:srgbClr val="00B0F0"/>
              </a:buClr>
              <a:buSzPct val="100000"/>
              <a:buFont typeface="Helvetica"/>
              <a:buChar char="⁃"/>
              <a:defRPr sz="1000">
                <a:solidFill>
                  <a:srgbClr val="002060"/>
                </a:solidFill>
                <a:latin typeface="Open Sans"/>
                <a:ea typeface="Open Sans"/>
                <a:cs typeface="Open Sans"/>
                <a:sym typeface="Open Sans"/>
              </a:defRPr>
            </a:pPr>
            <a:r>
              <a:t>In the first part of the equation, we calculate the cross-entropy loss for Churn prediction we get from the first output of our model. In the second part we calculate the regression loss based on the lognormal distribution we get from the mu and sigma parameters that we get from our model</a:t>
            </a:r>
          </a:p>
        </p:txBody>
      </p:sp>
      <p:sp>
        <p:nvSpPr>
          <p:cNvPr id="657" name="Text Placeholder 1"/>
          <p:cNvSpPr txBox="1"/>
          <p:nvPr/>
        </p:nvSpPr>
        <p:spPr>
          <a:xfrm>
            <a:off x="203459" y="664123"/>
            <a:ext cx="3418514" cy="2946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lvl1pPr>
              <a:spcBef>
                <a:spcPts val="400"/>
              </a:spcBef>
              <a:defRPr sz="1300">
                <a:solidFill>
                  <a:srgbClr val="002060"/>
                </a:solidFill>
                <a:latin typeface="Open Sans Light"/>
                <a:ea typeface="Open Sans Light"/>
                <a:cs typeface="Open Sans Light"/>
                <a:sym typeface="Open Sans Light"/>
              </a:defRPr>
            </a:lvl1pPr>
          </a:lstStyle>
          <a:p>
            <a:pPr/>
            <a:r>
              <a:t>Model Architecture</a:t>
            </a:r>
          </a:p>
        </p:txBody>
      </p:sp>
      <p:sp>
        <p:nvSpPr>
          <p:cNvPr id="658" name="TextBox 16"/>
          <p:cNvSpPr txBox="1"/>
          <p:nvPr/>
        </p:nvSpPr>
        <p:spPr>
          <a:xfrm>
            <a:off x="8267324" y="454589"/>
            <a:ext cx="575638" cy="574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200">
                <a:solidFill>
                  <a:srgbClr val="002060"/>
                </a:solidFill>
                <a:latin typeface="Open Sans"/>
                <a:ea typeface="Open Sans"/>
                <a:cs typeface="Open Sans"/>
                <a:sym typeface="Open Sans"/>
              </a:defRPr>
            </a:lvl1pPr>
          </a:lstStyle>
          <a:p>
            <a:pPr/>
            <a:r>
              <a:t>1/</a:t>
            </a:r>
          </a:p>
        </p:txBody>
      </p:sp>
      <p:sp>
        <p:nvSpPr>
          <p:cNvPr id="659" name="TextBox 17"/>
          <p:cNvSpPr txBox="1"/>
          <p:nvPr/>
        </p:nvSpPr>
        <p:spPr>
          <a:xfrm>
            <a:off x="8656935" y="221492"/>
            <a:ext cx="505833" cy="916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5400">
                <a:solidFill>
                  <a:srgbClr val="002060"/>
                </a:solidFill>
                <a:latin typeface="Open Sans"/>
                <a:ea typeface="Open Sans"/>
                <a:cs typeface="Open Sans"/>
                <a:sym typeface="Open Sans"/>
              </a:defRPr>
            </a:lvl1pPr>
          </a:lstStyle>
          <a:p>
            <a:pPr/>
            <a:r>
              <a:t>2</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61" name="Google Shape;360;p5"/>
          <p:cNvSpPr txBox="1"/>
          <p:nvPr/>
        </p:nvSpPr>
        <p:spPr>
          <a:xfrm>
            <a:off x="0" y="63049"/>
            <a:ext cx="8245941" cy="5511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ctr">
            <a:spAutoFit/>
          </a:bodyPr>
          <a:lstStyle/>
          <a:p>
            <a:pPr>
              <a:defRPr b="1" i="1" sz="2400">
                <a:solidFill>
                  <a:srgbClr val="002060"/>
                </a:solidFill>
                <a:latin typeface="Open Sans"/>
                <a:ea typeface="Open Sans"/>
                <a:cs typeface="Open Sans"/>
                <a:sym typeface="Open Sans"/>
              </a:defRPr>
            </a:pPr>
            <a:r>
              <a:t>3. Deep </a:t>
            </a:r>
            <a:r>
              <a:rPr>
                <a:solidFill>
                  <a:srgbClr val="00B0F0"/>
                </a:solidFill>
              </a:rPr>
              <a:t>Learning</a:t>
            </a:r>
          </a:p>
        </p:txBody>
      </p:sp>
      <p:sp>
        <p:nvSpPr>
          <p:cNvPr id="662" name="Google Shape;361;p5"/>
          <p:cNvSpPr/>
          <p:nvPr/>
        </p:nvSpPr>
        <p:spPr>
          <a:xfrm>
            <a:off x="-12300" y="618293"/>
            <a:ext cx="9180002" cy="13502"/>
          </a:xfrm>
          <a:prstGeom prst="line">
            <a:avLst/>
          </a:prstGeom>
          <a:ln w="38100">
            <a:solidFill>
              <a:srgbClr val="072B62"/>
            </a:solidFill>
          </a:ln>
        </p:spPr>
        <p:txBody>
          <a:bodyPr lIns="45719" rIns="45719"/>
          <a:lstStyle/>
          <a:p>
            <a:pPr/>
          </a:p>
        </p:txBody>
      </p:sp>
      <p:sp>
        <p:nvSpPr>
          <p:cNvPr id="663" name="Text Placeholder 1"/>
          <p:cNvSpPr txBox="1"/>
          <p:nvPr/>
        </p:nvSpPr>
        <p:spPr>
          <a:xfrm>
            <a:off x="203459" y="664123"/>
            <a:ext cx="3418514" cy="294601"/>
          </a:xfrm>
          <a:prstGeom prst="rect">
            <a:avLst/>
          </a:prstGeom>
          <a:ln w="12700">
            <a:miter lim="400000"/>
          </a:ln>
          <a:extLst>
            <a:ext uri="{C572A759-6A51-4108-AA02-DFA0A04FC94B}">
              <ma14:wrappingTextBoxFlag xmlns:ma14="http://schemas.microsoft.com/office/mac/drawingml/2011/main" val="1"/>
            </a:ext>
          </a:extLst>
        </p:spPr>
        <p:txBody>
          <a:bodyPr lIns="45699" tIns="45699" rIns="45699" bIns="45699">
            <a:spAutoFit/>
          </a:bodyPr>
          <a:lstStyle>
            <a:lvl1pPr>
              <a:spcBef>
                <a:spcPts val="400"/>
              </a:spcBef>
              <a:defRPr sz="1300">
                <a:solidFill>
                  <a:srgbClr val="002060"/>
                </a:solidFill>
                <a:latin typeface="Open Sans Light"/>
                <a:ea typeface="Open Sans Light"/>
                <a:cs typeface="Open Sans Light"/>
                <a:sym typeface="Open Sans Light"/>
              </a:defRPr>
            </a:lvl1pPr>
          </a:lstStyle>
          <a:p>
            <a:pPr/>
            <a:r>
              <a:t>Model Tuning and Development</a:t>
            </a:r>
          </a:p>
        </p:txBody>
      </p:sp>
      <p:sp>
        <p:nvSpPr>
          <p:cNvPr id="664" name="TextBox 16"/>
          <p:cNvSpPr txBox="1"/>
          <p:nvPr/>
        </p:nvSpPr>
        <p:spPr>
          <a:xfrm>
            <a:off x="8267324" y="454589"/>
            <a:ext cx="575638" cy="574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200">
                <a:solidFill>
                  <a:srgbClr val="002060"/>
                </a:solidFill>
                <a:latin typeface="Open Sans"/>
                <a:ea typeface="Open Sans"/>
                <a:cs typeface="Open Sans"/>
                <a:sym typeface="Open Sans"/>
              </a:defRPr>
            </a:lvl1pPr>
          </a:lstStyle>
          <a:p>
            <a:pPr/>
            <a:r>
              <a:t>2/</a:t>
            </a:r>
          </a:p>
        </p:txBody>
      </p:sp>
      <p:sp>
        <p:nvSpPr>
          <p:cNvPr id="665" name="TextBox 17"/>
          <p:cNvSpPr txBox="1"/>
          <p:nvPr/>
        </p:nvSpPr>
        <p:spPr>
          <a:xfrm>
            <a:off x="8656935" y="221492"/>
            <a:ext cx="505833" cy="916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5400">
                <a:solidFill>
                  <a:srgbClr val="002060"/>
                </a:solidFill>
                <a:latin typeface="Open Sans"/>
                <a:ea typeface="Open Sans"/>
                <a:cs typeface="Open Sans"/>
                <a:sym typeface="Open Sans"/>
              </a:defRPr>
            </a:lvl1pPr>
          </a:lstStyle>
          <a:p>
            <a:pPr/>
            <a:r>
              <a:t>2</a:t>
            </a:r>
          </a:p>
        </p:txBody>
      </p:sp>
      <p:sp>
        <p:nvSpPr>
          <p:cNvPr id="666" name="Connettore 2 55"/>
          <p:cNvSpPr/>
          <p:nvPr/>
        </p:nvSpPr>
        <p:spPr>
          <a:xfrm>
            <a:off x="2703298" y="2498255"/>
            <a:ext cx="54" cy="270001"/>
          </a:xfrm>
          <a:prstGeom prst="line">
            <a:avLst/>
          </a:prstGeom>
          <a:ln w="22225">
            <a:solidFill>
              <a:srgbClr val="0070C0"/>
            </a:solidFill>
            <a:tailEnd type="triangle"/>
          </a:ln>
        </p:spPr>
        <p:txBody>
          <a:bodyPr lIns="45719" rIns="45719"/>
          <a:lstStyle/>
          <a:p>
            <a:pPr/>
          </a:p>
        </p:txBody>
      </p:sp>
      <p:grpSp>
        <p:nvGrpSpPr>
          <p:cNvPr id="669" name="Rectangle 4"/>
          <p:cNvGrpSpPr/>
          <p:nvPr/>
        </p:nvGrpSpPr>
        <p:grpSpPr>
          <a:xfrm>
            <a:off x="2163190" y="1177382"/>
            <a:ext cx="1080121" cy="264011"/>
            <a:chOff x="0" y="0"/>
            <a:chExt cx="1080120" cy="264009"/>
          </a:xfrm>
        </p:grpSpPr>
        <p:sp>
          <p:nvSpPr>
            <p:cNvPr id="667" name="Rectangle"/>
            <p:cNvSpPr/>
            <p:nvPr/>
          </p:nvSpPr>
          <p:spPr>
            <a:xfrm>
              <a:off x="-1" y="0"/>
              <a:ext cx="1080122" cy="264010"/>
            </a:xfrm>
            <a:prstGeom prst="rect">
              <a:avLst/>
            </a:prstGeom>
            <a:solidFill>
              <a:srgbClr val="0070C0"/>
            </a:solidFill>
            <a:ln w="12700" cap="flat">
              <a:noFill/>
              <a:miter lim="400000"/>
            </a:ln>
            <a:effectLst/>
          </p:spPr>
          <p:txBody>
            <a:bodyPr wrap="square" lIns="45719" tIns="45719" rIns="45719" bIns="45719" numCol="1" anchor="ctr">
              <a:noAutofit/>
            </a:bodyPr>
            <a:lstStyle/>
            <a:p>
              <a:pPr algn="ctr"/>
            </a:p>
          </p:txBody>
        </p:sp>
        <p:sp>
          <p:nvSpPr>
            <p:cNvPr id="668" name="AVAILABLE VARIABLES"/>
            <p:cNvSpPr txBox="1"/>
            <p:nvPr/>
          </p:nvSpPr>
          <p:spPr>
            <a:xfrm>
              <a:off x="53999" y="30405"/>
              <a:ext cx="972122"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700">
                  <a:solidFill>
                    <a:srgbClr val="FFFFFF"/>
                  </a:solidFill>
                  <a:latin typeface="Open Sans"/>
                  <a:ea typeface="Open Sans"/>
                  <a:cs typeface="Open Sans"/>
                  <a:sym typeface="Open Sans"/>
                </a:defRPr>
              </a:lvl1pPr>
            </a:lstStyle>
            <a:p>
              <a:pPr/>
              <a:r>
                <a:t>AVAILABLE VARIABLES</a:t>
              </a:r>
            </a:p>
          </p:txBody>
        </p:sp>
      </p:grpSp>
      <p:grpSp>
        <p:nvGrpSpPr>
          <p:cNvPr id="672" name="AutoShape 60"/>
          <p:cNvGrpSpPr/>
          <p:nvPr/>
        </p:nvGrpSpPr>
        <p:grpSpPr>
          <a:xfrm>
            <a:off x="418498" y="1517179"/>
            <a:ext cx="937699" cy="378043"/>
            <a:chOff x="0" y="0"/>
            <a:chExt cx="937697" cy="378042"/>
          </a:xfrm>
        </p:grpSpPr>
        <p:sp>
          <p:nvSpPr>
            <p:cNvPr id="670" name="Shape"/>
            <p:cNvSpPr/>
            <p:nvPr/>
          </p:nvSpPr>
          <p:spPr>
            <a:xfrm>
              <a:off x="0" y="-1"/>
              <a:ext cx="937698" cy="37804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0185" y="0"/>
                  </a:lnTo>
                  <a:lnTo>
                    <a:pt x="21600" y="10800"/>
                  </a:lnTo>
                  <a:lnTo>
                    <a:pt x="20185" y="21600"/>
                  </a:lnTo>
                  <a:lnTo>
                    <a:pt x="0" y="21600"/>
                  </a:lnTo>
                  <a:close/>
                </a:path>
              </a:pathLst>
            </a:custGeom>
            <a:solidFill>
              <a:srgbClr val="002060"/>
            </a:solidFill>
            <a:ln w="25400" cap="flat">
              <a:solidFill>
                <a:srgbClr val="040408"/>
              </a:solidFill>
              <a:prstDash val="solid"/>
              <a:round/>
            </a:ln>
            <a:effectLst/>
          </p:spPr>
          <p:txBody>
            <a:bodyPr wrap="square" lIns="45719" tIns="45719" rIns="45719" bIns="45719" numCol="1" anchor="ctr">
              <a:noAutofit/>
            </a:bodyPr>
            <a:lstStyle/>
            <a:p>
              <a:pPr algn="ctr">
                <a:spcBef>
                  <a:spcPts val="300"/>
                </a:spcBef>
                <a:defRPr>
                  <a:solidFill>
                    <a:srgbClr val="FFFFFF"/>
                  </a:solidFill>
                </a:defRPr>
              </a:pPr>
            </a:p>
          </p:txBody>
        </p:sp>
        <p:sp>
          <p:nvSpPr>
            <p:cNvPr id="671" name="Data quality"/>
            <p:cNvSpPr txBox="1"/>
            <p:nvPr/>
          </p:nvSpPr>
          <p:spPr>
            <a:xfrm>
              <a:off x="45099" y="84070"/>
              <a:ext cx="816793" cy="209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5100" tIns="35100" rIns="35100" bIns="35100" numCol="1" anchor="ctr">
              <a:spAutoFit/>
            </a:bodyPr>
            <a:lstStyle>
              <a:lvl1pPr algn="ctr">
                <a:spcBef>
                  <a:spcPts val="200"/>
                </a:spcBef>
                <a:defRPr b="1" sz="900">
                  <a:solidFill>
                    <a:srgbClr val="FFFFFF"/>
                  </a:solidFill>
                  <a:latin typeface="Open Sans"/>
                  <a:ea typeface="Open Sans"/>
                  <a:cs typeface="Open Sans"/>
                  <a:sym typeface="Open Sans"/>
                </a:defRPr>
              </a:lvl1pPr>
            </a:lstStyle>
            <a:p>
              <a:pPr/>
              <a:r>
                <a:t>Data quality</a:t>
              </a:r>
            </a:p>
          </p:txBody>
        </p:sp>
      </p:grpSp>
      <p:grpSp>
        <p:nvGrpSpPr>
          <p:cNvPr id="675" name="AutoShape 60"/>
          <p:cNvGrpSpPr/>
          <p:nvPr/>
        </p:nvGrpSpPr>
        <p:grpSpPr>
          <a:xfrm>
            <a:off x="418498" y="2166027"/>
            <a:ext cx="937699" cy="384242"/>
            <a:chOff x="0" y="0"/>
            <a:chExt cx="937697" cy="384241"/>
          </a:xfrm>
        </p:grpSpPr>
        <p:sp>
          <p:nvSpPr>
            <p:cNvPr id="673" name="Shape"/>
            <p:cNvSpPr/>
            <p:nvPr/>
          </p:nvSpPr>
          <p:spPr>
            <a:xfrm>
              <a:off x="0" y="-1"/>
              <a:ext cx="937698" cy="38424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0162" y="0"/>
                  </a:lnTo>
                  <a:lnTo>
                    <a:pt x="21600" y="10800"/>
                  </a:lnTo>
                  <a:lnTo>
                    <a:pt x="20162" y="21600"/>
                  </a:lnTo>
                  <a:lnTo>
                    <a:pt x="0" y="21600"/>
                  </a:lnTo>
                  <a:close/>
                </a:path>
              </a:pathLst>
            </a:custGeom>
            <a:solidFill>
              <a:srgbClr val="002060"/>
            </a:solidFill>
            <a:ln w="25400" cap="flat">
              <a:solidFill>
                <a:srgbClr val="040408"/>
              </a:solidFill>
              <a:prstDash val="solid"/>
              <a:round/>
            </a:ln>
            <a:effectLst/>
          </p:spPr>
          <p:txBody>
            <a:bodyPr wrap="square" lIns="45719" tIns="45719" rIns="45719" bIns="45719" numCol="1" anchor="ctr">
              <a:noAutofit/>
            </a:bodyPr>
            <a:lstStyle/>
            <a:p>
              <a:pPr algn="ctr">
                <a:spcBef>
                  <a:spcPts val="300"/>
                </a:spcBef>
                <a:defRPr>
                  <a:solidFill>
                    <a:srgbClr val="FFFFFF"/>
                  </a:solidFill>
                </a:defRPr>
              </a:pPr>
            </a:p>
          </p:txBody>
        </p:sp>
        <p:sp>
          <p:nvSpPr>
            <p:cNvPr id="674" name="Data Analysis/ IV"/>
            <p:cNvSpPr txBox="1"/>
            <p:nvPr/>
          </p:nvSpPr>
          <p:spPr>
            <a:xfrm>
              <a:off x="45100" y="17320"/>
              <a:ext cx="816288" cy="349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5100" tIns="35100" rIns="35100" bIns="35100" numCol="1" anchor="ctr">
              <a:spAutoFit/>
            </a:bodyPr>
            <a:lstStyle>
              <a:lvl1pPr algn="ctr">
                <a:spcBef>
                  <a:spcPts val="200"/>
                </a:spcBef>
                <a:defRPr b="1" sz="900">
                  <a:solidFill>
                    <a:srgbClr val="FFFFFF"/>
                  </a:solidFill>
                  <a:latin typeface="Open Sans"/>
                  <a:ea typeface="Open Sans"/>
                  <a:cs typeface="Open Sans"/>
                  <a:sym typeface="Open Sans"/>
                </a:defRPr>
              </a:lvl1pPr>
            </a:lstStyle>
            <a:p>
              <a:pPr/>
              <a:r>
                <a:t>Data Analysis/ IV</a:t>
              </a:r>
            </a:p>
          </p:txBody>
        </p:sp>
      </p:grpSp>
      <p:grpSp>
        <p:nvGrpSpPr>
          <p:cNvPr id="678" name="AutoShape 60"/>
          <p:cNvGrpSpPr/>
          <p:nvPr/>
        </p:nvGrpSpPr>
        <p:grpSpPr>
          <a:xfrm>
            <a:off x="421473" y="2682413"/>
            <a:ext cx="937699" cy="438707"/>
            <a:chOff x="0" y="0"/>
            <a:chExt cx="937697" cy="438706"/>
          </a:xfrm>
        </p:grpSpPr>
        <p:sp>
          <p:nvSpPr>
            <p:cNvPr id="676" name="Shape"/>
            <p:cNvSpPr/>
            <p:nvPr/>
          </p:nvSpPr>
          <p:spPr>
            <a:xfrm>
              <a:off x="0" y="-1"/>
              <a:ext cx="937698" cy="43870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9958" y="0"/>
                  </a:lnTo>
                  <a:lnTo>
                    <a:pt x="21600" y="10800"/>
                  </a:lnTo>
                  <a:lnTo>
                    <a:pt x="19958" y="21600"/>
                  </a:lnTo>
                  <a:lnTo>
                    <a:pt x="0" y="21600"/>
                  </a:lnTo>
                  <a:close/>
                </a:path>
              </a:pathLst>
            </a:custGeom>
            <a:solidFill>
              <a:srgbClr val="002060"/>
            </a:solidFill>
            <a:ln w="25400" cap="flat">
              <a:solidFill>
                <a:srgbClr val="040408"/>
              </a:solidFill>
              <a:prstDash val="solid"/>
              <a:round/>
            </a:ln>
            <a:effectLst/>
          </p:spPr>
          <p:txBody>
            <a:bodyPr wrap="square" lIns="45719" tIns="45719" rIns="45719" bIns="45719" numCol="1" anchor="ctr">
              <a:noAutofit/>
            </a:bodyPr>
            <a:lstStyle/>
            <a:p>
              <a:pPr algn="ctr">
                <a:spcBef>
                  <a:spcPts val="300"/>
                </a:spcBef>
                <a:defRPr>
                  <a:solidFill>
                    <a:srgbClr val="FFFFFF"/>
                  </a:solidFill>
                </a:defRPr>
              </a:pPr>
            </a:p>
          </p:txBody>
        </p:sp>
        <p:sp>
          <p:nvSpPr>
            <p:cNvPr id="677" name="Feature…"/>
            <p:cNvSpPr txBox="1"/>
            <p:nvPr/>
          </p:nvSpPr>
          <p:spPr>
            <a:xfrm>
              <a:off x="45099" y="30837"/>
              <a:ext cx="811865" cy="3770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5100" tIns="35100" rIns="35100" bIns="35100" numCol="1" anchor="ctr">
              <a:spAutoFit/>
            </a:bodyPr>
            <a:lstStyle/>
            <a:p>
              <a:pPr algn="ctr">
                <a:spcBef>
                  <a:spcPts val="200"/>
                </a:spcBef>
                <a:defRPr b="1" sz="900">
                  <a:solidFill>
                    <a:srgbClr val="FFFFFF"/>
                  </a:solidFill>
                  <a:latin typeface="Open Sans"/>
                  <a:ea typeface="Open Sans"/>
                  <a:cs typeface="Open Sans"/>
                  <a:sym typeface="Open Sans"/>
                </a:defRPr>
              </a:pPr>
              <a:r>
                <a:t>Feature</a:t>
              </a:r>
            </a:p>
            <a:p>
              <a:pPr algn="ctr">
                <a:spcBef>
                  <a:spcPts val="200"/>
                </a:spcBef>
                <a:defRPr b="1" sz="900">
                  <a:solidFill>
                    <a:srgbClr val="FFFFFF"/>
                  </a:solidFill>
                  <a:latin typeface="Open Sans"/>
                  <a:ea typeface="Open Sans"/>
                  <a:cs typeface="Open Sans"/>
                  <a:sym typeface="Open Sans"/>
                </a:defRPr>
              </a:pPr>
              <a:r>
                <a:t>Importance</a:t>
              </a:r>
            </a:p>
          </p:txBody>
        </p:sp>
      </p:grpSp>
      <p:grpSp>
        <p:nvGrpSpPr>
          <p:cNvPr id="681" name="Rettangolo arrotondato 52"/>
          <p:cNvGrpSpPr/>
          <p:nvPr/>
        </p:nvGrpSpPr>
        <p:grpSpPr>
          <a:xfrm>
            <a:off x="2271249" y="1554317"/>
            <a:ext cx="864001" cy="324037"/>
            <a:chOff x="0" y="0"/>
            <a:chExt cx="863999" cy="324036"/>
          </a:xfrm>
        </p:grpSpPr>
        <p:sp>
          <p:nvSpPr>
            <p:cNvPr id="679" name="Rounded Rectangle"/>
            <p:cNvSpPr/>
            <p:nvPr/>
          </p:nvSpPr>
          <p:spPr>
            <a:xfrm>
              <a:off x="0" y="0"/>
              <a:ext cx="864000" cy="324037"/>
            </a:xfrm>
            <a:prstGeom prst="roundRect">
              <a:avLst>
                <a:gd name="adj" fmla="val 16667"/>
              </a:avLst>
            </a:prstGeom>
            <a:solidFill>
              <a:srgbClr val="FFFFFF"/>
            </a:solidFill>
            <a:ln w="6350" cap="flat">
              <a:solidFill>
                <a:schemeClr val="accent2"/>
              </a:solidFill>
              <a:prstDash val="solid"/>
              <a:round/>
            </a:ln>
            <a:effectLst/>
          </p:spPr>
          <p:txBody>
            <a:bodyPr wrap="square" lIns="45719" tIns="45719" rIns="45719" bIns="45719" numCol="1" anchor="ctr">
              <a:noAutofit/>
            </a:bodyPr>
            <a:lstStyle/>
            <a:p>
              <a:pPr algn="ctr"/>
            </a:p>
          </p:txBody>
        </p:sp>
        <p:sp>
          <p:nvSpPr>
            <p:cNvPr id="680" name="1749"/>
            <p:cNvSpPr txBox="1"/>
            <p:nvPr/>
          </p:nvSpPr>
          <p:spPr>
            <a:xfrm>
              <a:off x="64712" y="40098"/>
              <a:ext cx="734575"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1000">
                  <a:solidFill>
                    <a:srgbClr val="0070C0"/>
                  </a:solidFill>
                  <a:latin typeface="Open Sans"/>
                  <a:ea typeface="Open Sans"/>
                  <a:cs typeface="Open Sans"/>
                  <a:sym typeface="Open Sans"/>
                </a:defRPr>
              </a:lvl1pPr>
            </a:lstStyle>
            <a:p>
              <a:pPr/>
              <a:r>
                <a:t>1749</a:t>
              </a:r>
            </a:p>
          </p:txBody>
        </p:sp>
      </p:grpSp>
      <p:grpSp>
        <p:nvGrpSpPr>
          <p:cNvPr id="684" name="Rettangolo arrotondato 56"/>
          <p:cNvGrpSpPr/>
          <p:nvPr/>
        </p:nvGrpSpPr>
        <p:grpSpPr>
          <a:xfrm>
            <a:off x="2271249" y="2237057"/>
            <a:ext cx="864001" cy="270001"/>
            <a:chOff x="0" y="0"/>
            <a:chExt cx="863999" cy="269999"/>
          </a:xfrm>
        </p:grpSpPr>
        <p:sp>
          <p:nvSpPr>
            <p:cNvPr id="682" name="Rounded Rectangle"/>
            <p:cNvSpPr/>
            <p:nvPr/>
          </p:nvSpPr>
          <p:spPr>
            <a:xfrm>
              <a:off x="0" y="0"/>
              <a:ext cx="864000" cy="270000"/>
            </a:xfrm>
            <a:prstGeom prst="roundRect">
              <a:avLst>
                <a:gd name="adj" fmla="val 16667"/>
              </a:avLst>
            </a:prstGeom>
            <a:solidFill>
              <a:srgbClr val="FFFFFF"/>
            </a:solidFill>
            <a:ln w="6350" cap="flat">
              <a:solidFill>
                <a:schemeClr val="accent2"/>
              </a:solidFill>
              <a:prstDash val="solid"/>
              <a:round/>
            </a:ln>
            <a:effectLst/>
          </p:spPr>
          <p:txBody>
            <a:bodyPr wrap="square" lIns="45719" tIns="45719" rIns="45719" bIns="45719" numCol="1" anchor="ctr">
              <a:noAutofit/>
            </a:bodyPr>
            <a:lstStyle/>
            <a:p>
              <a:pPr algn="ctr"/>
            </a:p>
          </p:txBody>
        </p:sp>
        <p:sp>
          <p:nvSpPr>
            <p:cNvPr id="683" name="1304"/>
            <p:cNvSpPr txBox="1"/>
            <p:nvPr/>
          </p:nvSpPr>
          <p:spPr>
            <a:xfrm>
              <a:off x="62074" y="13079"/>
              <a:ext cx="739852"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1000">
                  <a:solidFill>
                    <a:srgbClr val="0070C0"/>
                  </a:solidFill>
                  <a:latin typeface="Open Sans"/>
                  <a:ea typeface="Open Sans"/>
                  <a:cs typeface="Open Sans"/>
                  <a:sym typeface="Open Sans"/>
                </a:defRPr>
              </a:lvl1pPr>
            </a:lstStyle>
            <a:p>
              <a:pPr/>
              <a:r>
                <a:t>1304</a:t>
              </a:r>
            </a:p>
          </p:txBody>
        </p:sp>
      </p:grpSp>
      <p:grpSp>
        <p:nvGrpSpPr>
          <p:cNvPr id="687" name="Rettangolo arrotondato 57"/>
          <p:cNvGrpSpPr/>
          <p:nvPr/>
        </p:nvGrpSpPr>
        <p:grpSpPr>
          <a:xfrm>
            <a:off x="2271249" y="2765747"/>
            <a:ext cx="864001" cy="270001"/>
            <a:chOff x="0" y="0"/>
            <a:chExt cx="863999" cy="269999"/>
          </a:xfrm>
        </p:grpSpPr>
        <p:sp>
          <p:nvSpPr>
            <p:cNvPr id="685" name="Rounded Rectangle"/>
            <p:cNvSpPr/>
            <p:nvPr/>
          </p:nvSpPr>
          <p:spPr>
            <a:xfrm>
              <a:off x="0" y="0"/>
              <a:ext cx="864000" cy="270000"/>
            </a:xfrm>
            <a:prstGeom prst="roundRect">
              <a:avLst>
                <a:gd name="adj" fmla="val 16667"/>
              </a:avLst>
            </a:prstGeom>
            <a:solidFill>
              <a:srgbClr val="FFFFFF"/>
            </a:solidFill>
            <a:ln w="6350" cap="flat">
              <a:solidFill>
                <a:schemeClr val="accent2"/>
              </a:solidFill>
              <a:prstDash val="solid"/>
              <a:round/>
            </a:ln>
            <a:effectLst/>
          </p:spPr>
          <p:txBody>
            <a:bodyPr wrap="square" lIns="45719" tIns="45719" rIns="45719" bIns="45719" numCol="1" anchor="ctr">
              <a:noAutofit/>
            </a:bodyPr>
            <a:lstStyle/>
            <a:p>
              <a:pPr algn="ctr"/>
            </a:p>
          </p:txBody>
        </p:sp>
        <p:sp>
          <p:nvSpPr>
            <p:cNvPr id="686" name="1304"/>
            <p:cNvSpPr txBox="1"/>
            <p:nvPr/>
          </p:nvSpPr>
          <p:spPr>
            <a:xfrm>
              <a:off x="62074" y="13079"/>
              <a:ext cx="739852"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1000">
                  <a:solidFill>
                    <a:srgbClr val="0070C0"/>
                  </a:solidFill>
                  <a:latin typeface="Open Sans"/>
                  <a:ea typeface="Open Sans"/>
                  <a:cs typeface="Open Sans"/>
                  <a:sym typeface="Open Sans"/>
                </a:defRPr>
              </a:lvl1pPr>
            </a:lstStyle>
            <a:p>
              <a:pPr/>
              <a:r>
                <a:t>1304</a:t>
              </a:r>
            </a:p>
          </p:txBody>
        </p:sp>
      </p:grpSp>
      <p:grpSp>
        <p:nvGrpSpPr>
          <p:cNvPr id="690" name="Rectangle 4"/>
          <p:cNvGrpSpPr/>
          <p:nvPr/>
        </p:nvGrpSpPr>
        <p:grpSpPr>
          <a:xfrm>
            <a:off x="4508439" y="1177384"/>
            <a:ext cx="1080121" cy="282824"/>
            <a:chOff x="0" y="0"/>
            <a:chExt cx="1080120" cy="282822"/>
          </a:xfrm>
        </p:grpSpPr>
        <p:sp>
          <p:nvSpPr>
            <p:cNvPr id="688" name="Rectangle"/>
            <p:cNvSpPr/>
            <p:nvPr/>
          </p:nvSpPr>
          <p:spPr>
            <a:xfrm>
              <a:off x="-1" y="0"/>
              <a:ext cx="1080122" cy="282823"/>
            </a:xfrm>
            <a:prstGeom prst="rect">
              <a:avLst/>
            </a:prstGeom>
            <a:solidFill>
              <a:srgbClr val="0070C0"/>
            </a:solidFill>
            <a:ln w="9525" cap="flat">
              <a:solidFill>
                <a:srgbClr val="0070C0"/>
              </a:solidFill>
              <a:prstDash val="solid"/>
              <a:miter lim="800000"/>
            </a:ln>
            <a:effectLst/>
          </p:spPr>
          <p:txBody>
            <a:bodyPr wrap="square" lIns="45719" tIns="45719" rIns="45719" bIns="45719" numCol="1" anchor="ctr">
              <a:noAutofit/>
            </a:bodyPr>
            <a:lstStyle/>
            <a:p>
              <a:pPr algn="ctr"/>
            </a:p>
          </p:txBody>
        </p:sp>
        <p:sp>
          <p:nvSpPr>
            <p:cNvPr id="689" name="EXCLUDED VARIABLES"/>
            <p:cNvSpPr txBox="1"/>
            <p:nvPr/>
          </p:nvSpPr>
          <p:spPr>
            <a:xfrm>
              <a:off x="58762" y="39811"/>
              <a:ext cx="962596"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700">
                  <a:solidFill>
                    <a:srgbClr val="FFFFFF"/>
                  </a:solidFill>
                  <a:latin typeface="Open Sans"/>
                  <a:ea typeface="Open Sans"/>
                  <a:cs typeface="Open Sans"/>
                  <a:sym typeface="Open Sans"/>
                </a:defRPr>
              </a:lvl1pPr>
            </a:lstStyle>
            <a:p>
              <a:pPr/>
              <a:r>
                <a:t>EXCLUDED VARIABLES</a:t>
              </a:r>
            </a:p>
          </p:txBody>
        </p:sp>
      </p:grpSp>
      <p:sp>
        <p:nvSpPr>
          <p:cNvPr id="691" name="Connettore 2 193"/>
          <p:cNvSpPr/>
          <p:nvPr/>
        </p:nvSpPr>
        <p:spPr>
          <a:xfrm>
            <a:off x="2703249" y="2018337"/>
            <a:ext cx="1" cy="216001"/>
          </a:xfrm>
          <a:prstGeom prst="line">
            <a:avLst/>
          </a:prstGeom>
          <a:ln w="22225">
            <a:solidFill>
              <a:srgbClr val="0070C0"/>
            </a:solidFill>
            <a:tailEnd type="triangle"/>
          </a:ln>
        </p:spPr>
        <p:txBody>
          <a:bodyPr lIns="45719" rIns="45719"/>
          <a:lstStyle/>
          <a:p>
            <a:pPr/>
          </a:p>
        </p:txBody>
      </p:sp>
      <p:sp>
        <p:nvSpPr>
          <p:cNvPr id="778" name="Connettore 2 196"/>
          <p:cNvSpPr/>
          <p:nvPr/>
        </p:nvSpPr>
        <p:spPr>
          <a:xfrm>
            <a:off x="2703249" y="1441304"/>
            <a:ext cx="2" cy="10983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21600"/>
                </a:lnTo>
              </a:path>
            </a:pathLst>
          </a:custGeom>
          <a:ln w="22225">
            <a:solidFill>
              <a:srgbClr val="0070C0"/>
            </a:solidFill>
            <a:tailEnd type="triangle"/>
          </a:ln>
        </p:spPr>
        <p:txBody>
          <a:bodyPr/>
          <a:lstStyle/>
          <a:p>
            <a:pPr/>
          </a:p>
        </p:txBody>
      </p:sp>
      <p:grpSp>
        <p:nvGrpSpPr>
          <p:cNvPr id="698" name="Gruppo 80"/>
          <p:cNvGrpSpPr/>
          <p:nvPr/>
        </p:nvGrpSpPr>
        <p:grpSpPr>
          <a:xfrm>
            <a:off x="4888695" y="3332500"/>
            <a:ext cx="427389" cy="270031"/>
            <a:chOff x="0" y="0"/>
            <a:chExt cx="427388" cy="270030"/>
          </a:xfrm>
        </p:grpSpPr>
        <p:sp>
          <p:nvSpPr>
            <p:cNvPr id="693" name="Connettore 1 81"/>
            <p:cNvSpPr/>
            <p:nvPr/>
          </p:nvSpPr>
          <p:spPr>
            <a:xfrm flipV="1">
              <a:off x="99081" y="15"/>
              <a:ext cx="270001" cy="270000"/>
            </a:xfrm>
            <a:prstGeom prst="line">
              <a:avLst/>
            </a:prstGeom>
            <a:noFill/>
            <a:ln w="6350" cap="flat">
              <a:solidFill>
                <a:srgbClr val="0070C0"/>
              </a:solidFill>
              <a:prstDash val="solid"/>
              <a:round/>
            </a:ln>
            <a:effectLst/>
          </p:spPr>
          <p:txBody>
            <a:bodyPr wrap="square" lIns="45719" tIns="45719" rIns="45719" bIns="45719" numCol="1" anchor="t">
              <a:noAutofit/>
            </a:bodyPr>
            <a:lstStyle/>
            <a:p>
              <a:pPr/>
            </a:p>
          </p:txBody>
        </p:sp>
        <p:sp>
          <p:nvSpPr>
            <p:cNvPr id="694" name="Connettore 1 82"/>
            <p:cNvSpPr/>
            <p:nvPr/>
          </p:nvSpPr>
          <p:spPr>
            <a:xfrm>
              <a:off x="77567" y="15"/>
              <a:ext cx="270001" cy="270000"/>
            </a:xfrm>
            <a:prstGeom prst="line">
              <a:avLst/>
            </a:prstGeom>
            <a:noFill/>
            <a:ln w="6350" cap="flat">
              <a:solidFill>
                <a:srgbClr val="0070C0"/>
              </a:solidFill>
              <a:prstDash val="solid"/>
              <a:round/>
            </a:ln>
            <a:effectLst/>
          </p:spPr>
          <p:txBody>
            <a:bodyPr wrap="square" lIns="45719" tIns="45719" rIns="45719" bIns="45719" numCol="1" anchor="t">
              <a:noAutofit/>
            </a:bodyPr>
            <a:lstStyle/>
            <a:p>
              <a:pPr/>
            </a:p>
          </p:txBody>
        </p:sp>
        <p:grpSp>
          <p:nvGrpSpPr>
            <p:cNvPr id="697" name="Ovale 83"/>
            <p:cNvGrpSpPr/>
            <p:nvPr/>
          </p:nvGrpSpPr>
          <p:grpSpPr>
            <a:xfrm>
              <a:off x="-1" y="-1"/>
              <a:ext cx="427390" cy="270032"/>
              <a:chOff x="0" y="0"/>
              <a:chExt cx="427388" cy="270030"/>
            </a:xfrm>
          </p:grpSpPr>
          <p:sp>
            <p:nvSpPr>
              <p:cNvPr id="695" name="Oval"/>
              <p:cNvSpPr/>
              <p:nvPr/>
            </p:nvSpPr>
            <p:spPr>
              <a:xfrm>
                <a:off x="-1" y="-1"/>
                <a:ext cx="427390" cy="270032"/>
              </a:xfrm>
              <a:prstGeom prst="ellipse">
                <a:avLst/>
              </a:prstGeom>
              <a:noFill/>
              <a:ln w="6350" cap="flat">
                <a:solidFill>
                  <a:srgbClr val="0070C0"/>
                </a:solidFill>
                <a:prstDash val="solid"/>
                <a:round/>
              </a:ln>
              <a:effectLst>
                <a:outerShdw sx="100000" sy="100000" kx="0" ky="0" algn="b" rotWithShape="0" blurRad="50800" dist="38100" dir="5400000">
                  <a:srgbClr val="000000">
                    <a:alpha val="40000"/>
                  </a:srgbClr>
                </a:outerShdw>
              </a:effectLst>
            </p:spPr>
            <p:txBody>
              <a:bodyPr wrap="square" lIns="45719" tIns="45719" rIns="45719" bIns="45719" numCol="1" anchor="ctr">
                <a:noAutofit/>
              </a:bodyPr>
              <a:lstStyle/>
              <a:p>
                <a:pPr algn="ctr">
                  <a:defRPr>
                    <a:solidFill>
                      <a:srgbClr val="FFFFFF"/>
                    </a:solidFill>
                  </a:defRPr>
                </a:pPr>
              </a:p>
            </p:txBody>
          </p:sp>
          <p:sp>
            <p:nvSpPr>
              <p:cNvPr id="696" name="184"/>
              <p:cNvSpPr txBox="1"/>
              <p:nvPr/>
            </p:nvSpPr>
            <p:spPr>
              <a:xfrm>
                <a:off x="65763" y="58815"/>
                <a:ext cx="295860" cy="152401"/>
              </a:xfrm>
              <a:prstGeom prst="rect">
                <a:avLst/>
              </a:prstGeom>
              <a:noFill/>
              <a:ln w="12700" cap="flat">
                <a:noFill/>
                <a:miter lim="400000"/>
              </a:ln>
              <a:effectLst>
                <a:outerShdw sx="100000" sy="100000" kx="0" ky="0" algn="b" rotWithShape="0" blurRad="50800" dist="38100" dir="5400000">
                  <a:srgbClr val="000000">
                    <a:alpha val="40000"/>
                  </a:srgbClr>
                </a:outerShdw>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000">
                    <a:solidFill>
                      <a:srgbClr val="0070C0"/>
                    </a:solidFill>
                    <a:latin typeface="Open Sans"/>
                    <a:ea typeface="Open Sans"/>
                    <a:cs typeface="Open Sans"/>
                    <a:sym typeface="Open Sans"/>
                  </a:defRPr>
                </a:lvl1pPr>
              </a:lstStyle>
              <a:p>
                <a:pPr/>
                <a:r>
                  <a:t>184</a:t>
                </a:r>
              </a:p>
            </p:txBody>
          </p:sp>
        </p:grpSp>
      </p:grpSp>
      <p:grpSp>
        <p:nvGrpSpPr>
          <p:cNvPr id="701" name="Rettangolo arrotondato 103"/>
          <p:cNvGrpSpPr/>
          <p:nvPr/>
        </p:nvGrpSpPr>
        <p:grpSpPr>
          <a:xfrm>
            <a:off x="2271303" y="3396203"/>
            <a:ext cx="864001" cy="270001"/>
            <a:chOff x="0" y="0"/>
            <a:chExt cx="863999" cy="269999"/>
          </a:xfrm>
        </p:grpSpPr>
        <p:sp>
          <p:nvSpPr>
            <p:cNvPr id="699" name="Rounded Rectangle"/>
            <p:cNvSpPr/>
            <p:nvPr/>
          </p:nvSpPr>
          <p:spPr>
            <a:xfrm>
              <a:off x="0" y="0"/>
              <a:ext cx="864000" cy="270000"/>
            </a:xfrm>
            <a:prstGeom prst="roundRect">
              <a:avLst>
                <a:gd name="adj" fmla="val 16667"/>
              </a:avLst>
            </a:prstGeom>
            <a:solidFill>
              <a:srgbClr val="FFFFFF"/>
            </a:solidFill>
            <a:ln w="6350" cap="flat">
              <a:solidFill>
                <a:schemeClr val="accent2"/>
              </a:solidFill>
              <a:prstDash val="solid"/>
              <a:round/>
            </a:ln>
            <a:effectLst/>
          </p:spPr>
          <p:txBody>
            <a:bodyPr wrap="square" lIns="45719" tIns="45719" rIns="45719" bIns="45719" numCol="1" anchor="ctr">
              <a:noAutofit/>
            </a:bodyPr>
            <a:lstStyle/>
            <a:p>
              <a:pPr algn="ctr"/>
            </a:p>
          </p:txBody>
        </p:sp>
        <p:sp>
          <p:nvSpPr>
            <p:cNvPr id="700" name="432"/>
            <p:cNvSpPr txBox="1"/>
            <p:nvPr/>
          </p:nvSpPr>
          <p:spPr>
            <a:xfrm>
              <a:off x="62074" y="13079"/>
              <a:ext cx="739852"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1000">
                  <a:solidFill>
                    <a:srgbClr val="0070C0"/>
                  </a:solidFill>
                  <a:latin typeface="Open Sans"/>
                  <a:ea typeface="Open Sans"/>
                  <a:cs typeface="Open Sans"/>
                  <a:sym typeface="Open Sans"/>
                </a:defRPr>
              </a:lvl1pPr>
            </a:lstStyle>
            <a:p>
              <a:pPr/>
              <a:r>
                <a:t>432</a:t>
              </a:r>
            </a:p>
          </p:txBody>
        </p:sp>
      </p:grpSp>
      <p:sp>
        <p:nvSpPr>
          <p:cNvPr id="702" name="Connettore 2 108"/>
          <p:cNvSpPr/>
          <p:nvPr/>
        </p:nvSpPr>
        <p:spPr>
          <a:xfrm>
            <a:off x="2703249" y="3174762"/>
            <a:ext cx="157" cy="216001"/>
          </a:xfrm>
          <a:prstGeom prst="line">
            <a:avLst/>
          </a:prstGeom>
          <a:ln w="22225">
            <a:solidFill>
              <a:srgbClr val="0070C0"/>
            </a:solidFill>
            <a:tailEnd type="triangle"/>
          </a:ln>
        </p:spPr>
        <p:txBody>
          <a:bodyPr lIns="45719" rIns="45719"/>
          <a:lstStyle/>
          <a:p>
            <a:pPr/>
          </a:p>
        </p:txBody>
      </p:sp>
      <p:grpSp>
        <p:nvGrpSpPr>
          <p:cNvPr id="705" name="AutoShape 60"/>
          <p:cNvGrpSpPr/>
          <p:nvPr/>
        </p:nvGrpSpPr>
        <p:grpSpPr>
          <a:xfrm>
            <a:off x="421473" y="3285849"/>
            <a:ext cx="937699" cy="444596"/>
            <a:chOff x="0" y="0"/>
            <a:chExt cx="937697" cy="444595"/>
          </a:xfrm>
        </p:grpSpPr>
        <p:sp>
          <p:nvSpPr>
            <p:cNvPr id="703" name="Shape"/>
            <p:cNvSpPr/>
            <p:nvPr/>
          </p:nvSpPr>
          <p:spPr>
            <a:xfrm>
              <a:off x="0" y="-1"/>
              <a:ext cx="937698" cy="44459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9936" y="0"/>
                  </a:lnTo>
                  <a:lnTo>
                    <a:pt x="21600" y="10800"/>
                  </a:lnTo>
                  <a:lnTo>
                    <a:pt x="19936" y="21600"/>
                  </a:lnTo>
                  <a:lnTo>
                    <a:pt x="0" y="21600"/>
                  </a:lnTo>
                  <a:close/>
                </a:path>
              </a:pathLst>
            </a:custGeom>
            <a:solidFill>
              <a:srgbClr val="002060"/>
            </a:solidFill>
            <a:ln w="25400" cap="flat">
              <a:solidFill>
                <a:srgbClr val="040408"/>
              </a:solidFill>
              <a:prstDash val="solid"/>
              <a:round/>
            </a:ln>
            <a:effectLst/>
          </p:spPr>
          <p:txBody>
            <a:bodyPr wrap="square" lIns="45719" tIns="45719" rIns="45719" bIns="45719" numCol="1" anchor="ctr">
              <a:noAutofit/>
            </a:bodyPr>
            <a:lstStyle/>
            <a:p>
              <a:pPr algn="ctr">
                <a:spcBef>
                  <a:spcPts val="300"/>
                </a:spcBef>
                <a:defRPr>
                  <a:solidFill>
                    <a:srgbClr val="FFFFFF"/>
                  </a:solidFill>
                </a:defRPr>
              </a:pPr>
            </a:p>
          </p:txBody>
        </p:sp>
        <p:sp>
          <p:nvSpPr>
            <p:cNvPr id="704" name="Business…"/>
            <p:cNvSpPr txBox="1"/>
            <p:nvPr/>
          </p:nvSpPr>
          <p:spPr>
            <a:xfrm>
              <a:off x="6111" y="33781"/>
              <a:ext cx="889364" cy="37703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35100" tIns="35100" rIns="35100" bIns="35100" numCol="1" anchor="ctr">
              <a:spAutoFit/>
            </a:bodyPr>
            <a:lstStyle/>
            <a:p>
              <a:pPr algn="ctr">
                <a:spcBef>
                  <a:spcPts val="200"/>
                </a:spcBef>
                <a:defRPr b="1" sz="900">
                  <a:solidFill>
                    <a:srgbClr val="FFFFFF"/>
                  </a:solidFill>
                  <a:latin typeface="Open Sans"/>
                  <a:ea typeface="Open Sans"/>
                  <a:cs typeface="Open Sans"/>
                  <a:sym typeface="Open Sans"/>
                </a:defRPr>
              </a:pPr>
              <a:r>
                <a:t>Business</a:t>
              </a:r>
            </a:p>
            <a:p>
              <a:pPr algn="ctr">
                <a:spcBef>
                  <a:spcPts val="200"/>
                </a:spcBef>
                <a:defRPr b="1" sz="900">
                  <a:solidFill>
                    <a:srgbClr val="FFFFFF"/>
                  </a:solidFill>
                  <a:latin typeface="Open Sans"/>
                  <a:ea typeface="Open Sans"/>
                  <a:cs typeface="Open Sans"/>
                  <a:sym typeface="Open Sans"/>
                </a:defRPr>
              </a:pPr>
              <a:r>
                <a:t>Understanding</a:t>
              </a:r>
            </a:p>
          </p:txBody>
        </p:sp>
      </p:grpSp>
      <p:grpSp>
        <p:nvGrpSpPr>
          <p:cNvPr id="708" name="Rettangolo arrotondato 62"/>
          <p:cNvGrpSpPr/>
          <p:nvPr/>
        </p:nvGrpSpPr>
        <p:grpSpPr>
          <a:xfrm>
            <a:off x="2264022" y="3940673"/>
            <a:ext cx="864001" cy="270001"/>
            <a:chOff x="0" y="0"/>
            <a:chExt cx="863999" cy="269999"/>
          </a:xfrm>
        </p:grpSpPr>
        <p:sp>
          <p:nvSpPr>
            <p:cNvPr id="706" name="Rounded Rectangle"/>
            <p:cNvSpPr/>
            <p:nvPr/>
          </p:nvSpPr>
          <p:spPr>
            <a:xfrm>
              <a:off x="0" y="0"/>
              <a:ext cx="864000" cy="270000"/>
            </a:xfrm>
            <a:prstGeom prst="roundRect">
              <a:avLst>
                <a:gd name="adj" fmla="val 16667"/>
              </a:avLst>
            </a:prstGeom>
            <a:solidFill>
              <a:srgbClr val="FFFFFF"/>
            </a:solidFill>
            <a:ln w="6350" cap="flat">
              <a:solidFill>
                <a:schemeClr val="accent2"/>
              </a:solidFill>
              <a:prstDash val="solid"/>
              <a:round/>
            </a:ln>
            <a:effectLst/>
          </p:spPr>
          <p:txBody>
            <a:bodyPr wrap="square" lIns="45719" tIns="45719" rIns="45719" bIns="45719" numCol="1" anchor="ctr">
              <a:noAutofit/>
            </a:bodyPr>
            <a:lstStyle/>
            <a:p>
              <a:pPr algn="ctr"/>
            </a:p>
          </p:txBody>
        </p:sp>
        <p:sp>
          <p:nvSpPr>
            <p:cNvPr id="707" name="248"/>
            <p:cNvSpPr txBox="1"/>
            <p:nvPr/>
          </p:nvSpPr>
          <p:spPr>
            <a:xfrm>
              <a:off x="62074" y="13079"/>
              <a:ext cx="739852"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1000">
                  <a:solidFill>
                    <a:srgbClr val="0070C0"/>
                  </a:solidFill>
                  <a:latin typeface="Open Sans"/>
                  <a:ea typeface="Open Sans"/>
                  <a:cs typeface="Open Sans"/>
                  <a:sym typeface="Open Sans"/>
                </a:defRPr>
              </a:lvl1pPr>
            </a:lstStyle>
            <a:p>
              <a:pPr/>
              <a:r>
                <a:t>248</a:t>
              </a:r>
            </a:p>
          </p:txBody>
        </p:sp>
      </p:grpSp>
      <p:sp>
        <p:nvSpPr>
          <p:cNvPr id="709" name="Connettore 2 63"/>
          <p:cNvSpPr/>
          <p:nvPr/>
        </p:nvSpPr>
        <p:spPr>
          <a:xfrm flipH="1">
            <a:off x="2702782" y="3666202"/>
            <a:ext cx="523" cy="270001"/>
          </a:xfrm>
          <a:prstGeom prst="line">
            <a:avLst/>
          </a:prstGeom>
          <a:ln w="22225">
            <a:solidFill>
              <a:srgbClr val="0070C0"/>
            </a:solidFill>
            <a:tailEnd type="triangle"/>
          </a:ln>
        </p:spPr>
        <p:txBody>
          <a:bodyPr lIns="45719" rIns="45719"/>
          <a:lstStyle/>
          <a:p>
            <a:pPr/>
          </a:p>
        </p:txBody>
      </p:sp>
      <p:grpSp>
        <p:nvGrpSpPr>
          <p:cNvPr id="712" name="Ovale 83"/>
          <p:cNvGrpSpPr/>
          <p:nvPr/>
        </p:nvGrpSpPr>
        <p:grpSpPr>
          <a:xfrm>
            <a:off x="4967432" y="3921585"/>
            <a:ext cx="270031" cy="270031"/>
            <a:chOff x="0" y="0"/>
            <a:chExt cx="270030" cy="270030"/>
          </a:xfrm>
        </p:grpSpPr>
        <p:sp>
          <p:nvSpPr>
            <p:cNvPr id="710" name="Circle"/>
            <p:cNvSpPr/>
            <p:nvPr/>
          </p:nvSpPr>
          <p:spPr>
            <a:xfrm>
              <a:off x="-1" y="-1"/>
              <a:ext cx="270032" cy="270032"/>
            </a:xfrm>
            <a:prstGeom prst="ellipse">
              <a:avLst/>
            </a:prstGeom>
            <a:solidFill>
              <a:srgbClr val="FFFFFF"/>
            </a:solidFill>
            <a:ln w="6350" cap="flat">
              <a:solidFill>
                <a:schemeClr val="accent2"/>
              </a:solidFill>
              <a:prstDash val="solid"/>
              <a:round/>
            </a:ln>
            <a:effectLst/>
          </p:spPr>
          <p:txBody>
            <a:bodyPr wrap="square" lIns="45719" tIns="45719" rIns="45719" bIns="45719" numCol="1" anchor="ctr">
              <a:noAutofit/>
            </a:bodyPr>
            <a:lstStyle/>
            <a:p>
              <a:pPr algn="ctr"/>
            </a:p>
          </p:txBody>
        </p:sp>
        <p:sp>
          <p:nvSpPr>
            <p:cNvPr id="711" name="57"/>
            <p:cNvSpPr txBox="1"/>
            <p:nvPr/>
          </p:nvSpPr>
          <p:spPr>
            <a:xfrm>
              <a:off x="42719" y="58815"/>
              <a:ext cx="184592" cy="152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000">
                  <a:solidFill>
                    <a:srgbClr val="0070C0"/>
                  </a:solidFill>
                  <a:latin typeface="Open Sans"/>
                  <a:ea typeface="Open Sans"/>
                  <a:cs typeface="Open Sans"/>
                  <a:sym typeface="Open Sans"/>
                </a:defRPr>
              </a:lvl1pPr>
            </a:lstStyle>
            <a:p>
              <a:pPr/>
              <a:r>
                <a:t>57</a:t>
              </a:r>
            </a:p>
          </p:txBody>
        </p:sp>
      </p:grpSp>
      <p:sp>
        <p:nvSpPr>
          <p:cNvPr id="713" name="Connettore 1 82"/>
          <p:cNvSpPr/>
          <p:nvPr/>
        </p:nvSpPr>
        <p:spPr>
          <a:xfrm>
            <a:off x="4977080" y="3930524"/>
            <a:ext cx="270001" cy="270001"/>
          </a:xfrm>
          <a:prstGeom prst="line">
            <a:avLst/>
          </a:prstGeom>
          <a:ln w="6350">
            <a:solidFill>
              <a:srgbClr val="0070C0"/>
            </a:solidFill>
          </a:ln>
        </p:spPr>
        <p:txBody>
          <a:bodyPr lIns="45719" rIns="45719"/>
          <a:lstStyle/>
          <a:p>
            <a:pPr/>
          </a:p>
        </p:txBody>
      </p:sp>
      <p:sp>
        <p:nvSpPr>
          <p:cNvPr id="714" name="Connettore 1 81"/>
          <p:cNvSpPr/>
          <p:nvPr/>
        </p:nvSpPr>
        <p:spPr>
          <a:xfrm flipV="1">
            <a:off x="4974690" y="3923465"/>
            <a:ext cx="270001" cy="270001"/>
          </a:xfrm>
          <a:prstGeom prst="line">
            <a:avLst/>
          </a:prstGeom>
          <a:ln w="6350">
            <a:solidFill>
              <a:srgbClr val="0070C0"/>
            </a:solidFill>
          </a:ln>
        </p:spPr>
        <p:txBody>
          <a:bodyPr lIns="45719" rIns="45719"/>
          <a:lstStyle/>
          <a:p>
            <a:pPr/>
          </a:p>
        </p:txBody>
      </p:sp>
      <p:grpSp>
        <p:nvGrpSpPr>
          <p:cNvPr id="717" name="AutoShape 60"/>
          <p:cNvGrpSpPr/>
          <p:nvPr/>
        </p:nvGrpSpPr>
        <p:grpSpPr>
          <a:xfrm>
            <a:off x="409648" y="3935205"/>
            <a:ext cx="937699" cy="269406"/>
            <a:chOff x="0" y="0"/>
            <a:chExt cx="937697" cy="269404"/>
          </a:xfrm>
        </p:grpSpPr>
        <p:sp>
          <p:nvSpPr>
            <p:cNvPr id="715" name="Shape"/>
            <p:cNvSpPr/>
            <p:nvPr/>
          </p:nvSpPr>
          <p:spPr>
            <a:xfrm>
              <a:off x="0" y="0"/>
              <a:ext cx="937698" cy="26940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0592" y="0"/>
                  </a:lnTo>
                  <a:lnTo>
                    <a:pt x="21600" y="10800"/>
                  </a:lnTo>
                  <a:lnTo>
                    <a:pt x="20592" y="21600"/>
                  </a:lnTo>
                  <a:lnTo>
                    <a:pt x="0" y="21600"/>
                  </a:lnTo>
                  <a:close/>
                </a:path>
              </a:pathLst>
            </a:custGeom>
            <a:solidFill>
              <a:srgbClr val="002060"/>
            </a:solidFill>
            <a:ln w="25400" cap="flat">
              <a:solidFill>
                <a:srgbClr val="040408"/>
              </a:solidFill>
              <a:prstDash val="solid"/>
              <a:round/>
            </a:ln>
            <a:effectLst/>
          </p:spPr>
          <p:txBody>
            <a:bodyPr wrap="square" lIns="45719" tIns="45719" rIns="45719" bIns="45719" numCol="1" anchor="ctr">
              <a:noAutofit/>
            </a:bodyPr>
            <a:lstStyle/>
            <a:p>
              <a:pPr algn="ctr">
                <a:spcBef>
                  <a:spcPts val="300"/>
                </a:spcBef>
                <a:defRPr>
                  <a:solidFill>
                    <a:srgbClr val="FFFFFF"/>
                  </a:solidFill>
                </a:defRPr>
              </a:pPr>
            </a:p>
          </p:txBody>
        </p:sp>
        <p:sp>
          <p:nvSpPr>
            <p:cNvPr id="716" name="PSI"/>
            <p:cNvSpPr txBox="1"/>
            <p:nvPr/>
          </p:nvSpPr>
          <p:spPr>
            <a:xfrm>
              <a:off x="45099" y="29752"/>
              <a:ext cx="825617" cy="209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5100" tIns="35100" rIns="35100" bIns="35100" numCol="1" anchor="ctr">
              <a:spAutoFit/>
            </a:bodyPr>
            <a:lstStyle>
              <a:lvl1pPr algn="ctr">
                <a:spcBef>
                  <a:spcPts val="200"/>
                </a:spcBef>
                <a:defRPr b="1" sz="900">
                  <a:solidFill>
                    <a:srgbClr val="FFFFFF"/>
                  </a:solidFill>
                  <a:latin typeface="Open Sans"/>
                  <a:ea typeface="Open Sans"/>
                  <a:cs typeface="Open Sans"/>
                  <a:sym typeface="Open Sans"/>
                </a:defRPr>
              </a:lvl1pPr>
            </a:lstStyle>
            <a:p>
              <a:pPr/>
              <a:r>
                <a:t>PSI</a:t>
              </a:r>
            </a:p>
          </p:txBody>
        </p:sp>
      </p:grpSp>
      <p:sp>
        <p:nvSpPr>
          <p:cNvPr id="718" name="Minus 31"/>
          <p:cNvSpPr/>
          <p:nvPr/>
        </p:nvSpPr>
        <p:spPr>
          <a:xfrm>
            <a:off x="4384182" y="1716181"/>
            <a:ext cx="198569" cy="46764"/>
          </a:xfrm>
          <a:prstGeom prst="rect">
            <a:avLst/>
          </a:prstGeom>
          <a:solidFill>
            <a:srgbClr val="002060"/>
          </a:solidFill>
          <a:ln w="25400">
            <a:solidFill>
              <a:srgbClr val="002060"/>
            </a:solidFill>
          </a:ln>
        </p:spPr>
        <p:txBody>
          <a:bodyPr lIns="45719" rIns="45719" anchor="ctr"/>
          <a:lstStyle/>
          <a:p>
            <a:pPr algn="ctr">
              <a:defRPr sz="1000">
                <a:solidFill>
                  <a:srgbClr val="002060"/>
                </a:solidFill>
                <a:latin typeface="Open Sans"/>
                <a:ea typeface="Open Sans"/>
                <a:cs typeface="Open Sans"/>
                <a:sym typeface="Open Sans"/>
              </a:defRPr>
            </a:pPr>
          </a:p>
        </p:txBody>
      </p:sp>
      <p:sp>
        <p:nvSpPr>
          <p:cNvPr id="719" name="Minus 32"/>
          <p:cNvSpPr/>
          <p:nvPr/>
        </p:nvSpPr>
        <p:spPr>
          <a:xfrm>
            <a:off x="4382236" y="2359863"/>
            <a:ext cx="198569" cy="46764"/>
          </a:xfrm>
          <a:prstGeom prst="rect">
            <a:avLst/>
          </a:prstGeom>
          <a:solidFill>
            <a:srgbClr val="16292C"/>
          </a:solidFill>
          <a:ln w="25400">
            <a:solidFill>
              <a:srgbClr val="002060"/>
            </a:solidFill>
          </a:ln>
        </p:spPr>
        <p:txBody>
          <a:bodyPr lIns="45719" rIns="45719" anchor="ctr"/>
          <a:lstStyle/>
          <a:p>
            <a:pPr algn="ctr">
              <a:defRPr sz="1000">
                <a:solidFill>
                  <a:srgbClr val="002060"/>
                </a:solidFill>
                <a:latin typeface="Open Sans"/>
                <a:ea typeface="Open Sans"/>
                <a:cs typeface="Open Sans"/>
                <a:sym typeface="Open Sans"/>
              </a:defRPr>
            </a:pPr>
          </a:p>
        </p:txBody>
      </p:sp>
      <p:sp>
        <p:nvSpPr>
          <p:cNvPr id="720" name="Minus 33"/>
          <p:cNvSpPr/>
          <p:nvPr/>
        </p:nvSpPr>
        <p:spPr>
          <a:xfrm>
            <a:off x="4382236" y="2885544"/>
            <a:ext cx="198569" cy="46764"/>
          </a:xfrm>
          <a:prstGeom prst="rect">
            <a:avLst/>
          </a:prstGeom>
          <a:solidFill>
            <a:srgbClr val="16292C"/>
          </a:solidFill>
          <a:ln w="25400">
            <a:solidFill>
              <a:srgbClr val="002060"/>
            </a:solidFill>
          </a:ln>
        </p:spPr>
        <p:txBody>
          <a:bodyPr lIns="45719" rIns="45719" anchor="ctr"/>
          <a:lstStyle/>
          <a:p>
            <a:pPr algn="ctr">
              <a:defRPr sz="1000">
                <a:solidFill>
                  <a:srgbClr val="002060"/>
                </a:solidFill>
                <a:latin typeface="Open Sans"/>
                <a:ea typeface="Open Sans"/>
                <a:cs typeface="Open Sans"/>
                <a:sym typeface="Open Sans"/>
              </a:defRPr>
            </a:pPr>
          </a:p>
        </p:txBody>
      </p:sp>
      <p:sp>
        <p:nvSpPr>
          <p:cNvPr id="721" name="Minus 34"/>
          <p:cNvSpPr/>
          <p:nvPr/>
        </p:nvSpPr>
        <p:spPr>
          <a:xfrm>
            <a:off x="4382236" y="3485263"/>
            <a:ext cx="198569" cy="46764"/>
          </a:xfrm>
          <a:prstGeom prst="rect">
            <a:avLst/>
          </a:prstGeom>
          <a:solidFill>
            <a:srgbClr val="16292C"/>
          </a:solidFill>
          <a:ln w="25400">
            <a:solidFill>
              <a:srgbClr val="002060"/>
            </a:solidFill>
          </a:ln>
        </p:spPr>
        <p:txBody>
          <a:bodyPr lIns="45719" rIns="45719" anchor="ctr"/>
          <a:lstStyle/>
          <a:p>
            <a:pPr algn="ctr">
              <a:defRPr sz="1000">
                <a:solidFill>
                  <a:srgbClr val="002060"/>
                </a:solidFill>
                <a:latin typeface="Open Sans"/>
                <a:ea typeface="Open Sans"/>
                <a:cs typeface="Open Sans"/>
                <a:sym typeface="Open Sans"/>
              </a:defRPr>
            </a:pPr>
          </a:p>
        </p:txBody>
      </p:sp>
      <p:sp>
        <p:nvSpPr>
          <p:cNvPr id="722" name="Minus 35"/>
          <p:cNvSpPr/>
          <p:nvPr/>
        </p:nvSpPr>
        <p:spPr>
          <a:xfrm>
            <a:off x="4389465" y="4033906"/>
            <a:ext cx="198569" cy="46764"/>
          </a:xfrm>
          <a:prstGeom prst="rect">
            <a:avLst/>
          </a:prstGeom>
          <a:solidFill>
            <a:srgbClr val="16292C"/>
          </a:solidFill>
          <a:ln w="25400">
            <a:solidFill>
              <a:srgbClr val="002060"/>
            </a:solidFill>
          </a:ln>
        </p:spPr>
        <p:txBody>
          <a:bodyPr lIns="45719" rIns="45719" anchor="ctr"/>
          <a:lstStyle/>
          <a:p>
            <a:pPr algn="ctr">
              <a:defRPr sz="1000">
                <a:solidFill>
                  <a:srgbClr val="002060"/>
                </a:solidFill>
                <a:latin typeface="Open Sans"/>
                <a:ea typeface="Open Sans"/>
                <a:cs typeface="Open Sans"/>
                <a:sym typeface="Open Sans"/>
              </a:defRPr>
            </a:pPr>
          </a:p>
        </p:txBody>
      </p:sp>
      <p:grpSp>
        <p:nvGrpSpPr>
          <p:cNvPr id="725" name="Rectangle 4"/>
          <p:cNvGrpSpPr/>
          <p:nvPr/>
        </p:nvGrpSpPr>
        <p:grpSpPr>
          <a:xfrm>
            <a:off x="6899234" y="1189692"/>
            <a:ext cx="961564" cy="271090"/>
            <a:chOff x="0" y="0"/>
            <a:chExt cx="961563" cy="271089"/>
          </a:xfrm>
        </p:grpSpPr>
        <p:sp>
          <p:nvSpPr>
            <p:cNvPr id="723" name="Rectangle"/>
            <p:cNvSpPr/>
            <p:nvPr/>
          </p:nvSpPr>
          <p:spPr>
            <a:xfrm>
              <a:off x="-1" y="-1"/>
              <a:ext cx="961565" cy="271091"/>
            </a:xfrm>
            <a:prstGeom prst="rect">
              <a:avLst/>
            </a:prstGeom>
            <a:solidFill>
              <a:srgbClr val="0070C0"/>
            </a:solidFill>
            <a:ln w="9525" cap="flat">
              <a:solidFill>
                <a:srgbClr val="0070C0"/>
              </a:solidFill>
              <a:prstDash val="solid"/>
              <a:miter lim="800000"/>
            </a:ln>
            <a:effectLst/>
          </p:spPr>
          <p:txBody>
            <a:bodyPr wrap="square" lIns="45719" tIns="45719" rIns="45719" bIns="45719" numCol="1" anchor="ctr">
              <a:noAutofit/>
            </a:bodyPr>
            <a:lstStyle/>
            <a:p>
              <a:pPr algn="ctr"/>
            </a:p>
          </p:txBody>
        </p:sp>
        <p:sp>
          <p:nvSpPr>
            <p:cNvPr id="724" name="REMAINING VARIABLES"/>
            <p:cNvSpPr txBox="1"/>
            <p:nvPr/>
          </p:nvSpPr>
          <p:spPr>
            <a:xfrm>
              <a:off x="58762" y="33944"/>
              <a:ext cx="84403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700">
                  <a:solidFill>
                    <a:srgbClr val="FFFFFF"/>
                  </a:solidFill>
                  <a:latin typeface="Open Sans"/>
                  <a:ea typeface="Open Sans"/>
                  <a:cs typeface="Open Sans"/>
                  <a:sym typeface="Open Sans"/>
                </a:defRPr>
              </a:lvl1pPr>
            </a:lstStyle>
            <a:p>
              <a:pPr/>
              <a:r>
                <a:t>REMAINING VARIABLES</a:t>
              </a:r>
            </a:p>
          </p:txBody>
        </p:sp>
      </p:grpSp>
      <p:sp>
        <p:nvSpPr>
          <p:cNvPr id="726" name="Equal 77"/>
          <p:cNvSpPr/>
          <p:nvPr/>
        </p:nvSpPr>
        <p:spPr>
          <a:xfrm>
            <a:off x="6542258" y="1694619"/>
            <a:ext cx="297922" cy="13026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8640"/>
                </a:lnTo>
                <a:lnTo>
                  <a:pt x="0" y="8640"/>
                </a:lnTo>
                <a:close/>
                <a:moveTo>
                  <a:pt x="0" y="12960"/>
                </a:moveTo>
                <a:lnTo>
                  <a:pt x="21600" y="12960"/>
                </a:lnTo>
                <a:lnTo>
                  <a:pt x="21600" y="21600"/>
                </a:lnTo>
                <a:lnTo>
                  <a:pt x="0" y="21600"/>
                </a:lnTo>
                <a:close/>
              </a:path>
            </a:pathLst>
          </a:custGeom>
          <a:solidFill>
            <a:srgbClr val="16292C"/>
          </a:solidFill>
          <a:ln w="25400">
            <a:solidFill>
              <a:srgbClr val="002060"/>
            </a:solidFill>
          </a:ln>
        </p:spPr>
        <p:txBody>
          <a:bodyPr lIns="45719" rIns="45719" anchor="ctr"/>
          <a:lstStyle/>
          <a:p>
            <a:pPr algn="ctr">
              <a:defRPr sz="900">
                <a:solidFill>
                  <a:srgbClr val="002060"/>
                </a:solidFill>
                <a:latin typeface="Open Sans"/>
                <a:ea typeface="Open Sans"/>
                <a:cs typeface="Open Sans"/>
                <a:sym typeface="Open Sans"/>
              </a:defRPr>
            </a:pPr>
          </a:p>
        </p:txBody>
      </p:sp>
      <p:grpSp>
        <p:nvGrpSpPr>
          <p:cNvPr id="729" name="Rettangolo arrotondato 52"/>
          <p:cNvGrpSpPr/>
          <p:nvPr/>
        </p:nvGrpSpPr>
        <p:grpSpPr>
          <a:xfrm>
            <a:off x="7174059" y="1544081"/>
            <a:ext cx="537377" cy="324037"/>
            <a:chOff x="0" y="0"/>
            <a:chExt cx="537376" cy="324036"/>
          </a:xfrm>
        </p:grpSpPr>
        <p:sp>
          <p:nvSpPr>
            <p:cNvPr id="727" name="Rounded Rectangle"/>
            <p:cNvSpPr/>
            <p:nvPr/>
          </p:nvSpPr>
          <p:spPr>
            <a:xfrm>
              <a:off x="0" y="0"/>
              <a:ext cx="537377" cy="324037"/>
            </a:xfrm>
            <a:prstGeom prst="roundRect">
              <a:avLst>
                <a:gd name="adj" fmla="val 16667"/>
              </a:avLst>
            </a:prstGeom>
            <a:solidFill>
              <a:srgbClr val="FFFFFF"/>
            </a:solidFill>
            <a:ln w="6350" cap="flat">
              <a:solidFill>
                <a:schemeClr val="accent2"/>
              </a:solidFill>
              <a:prstDash val="solid"/>
              <a:round/>
            </a:ln>
            <a:effectLst/>
          </p:spPr>
          <p:txBody>
            <a:bodyPr wrap="square" lIns="45719" tIns="45719" rIns="45719" bIns="45719" numCol="1" anchor="ctr">
              <a:noAutofit/>
            </a:bodyPr>
            <a:lstStyle/>
            <a:p>
              <a:pPr algn="ctr"/>
            </a:p>
          </p:txBody>
        </p:sp>
        <p:sp>
          <p:nvSpPr>
            <p:cNvPr id="728" name="1304"/>
            <p:cNvSpPr txBox="1"/>
            <p:nvPr/>
          </p:nvSpPr>
          <p:spPr>
            <a:xfrm>
              <a:off x="64712" y="40098"/>
              <a:ext cx="407951"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1000">
                  <a:solidFill>
                    <a:srgbClr val="0070C0"/>
                  </a:solidFill>
                  <a:latin typeface="Open Sans"/>
                  <a:ea typeface="Open Sans"/>
                  <a:cs typeface="Open Sans"/>
                  <a:sym typeface="Open Sans"/>
                </a:defRPr>
              </a:lvl1pPr>
            </a:lstStyle>
            <a:p>
              <a:pPr/>
              <a:r>
                <a:t>1304</a:t>
              </a:r>
            </a:p>
          </p:txBody>
        </p:sp>
      </p:grpSp>
      <p:sp>
        <p:nvSpPr>
          <p:cNvPr id="730" name="Equal 79"/>
          <p:cNvSpPr/>
          <p:nvPr/>
        </p:nvSpPr>
        <p:spPr>
          <a:xfrm>
            <a:off x="6556624" y="2360760"/>
            <a:ext cx="297922" cy="13026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8640"/>
                </a:lnTo>
                <a:lnTo>
                  <a:pt x="0" y="8640"/>
                </a:lnTo>
                <a:close/>
                <a:moveTo>
                  <a:pt x="0" y="12960"/>
                </a:moveTo>
                <a:lnTo>
                  <a:pt x="21600" y="12960"/>
                </a:lnTo>
                <a:lnTo>
                  <a:pt x="21600" y="21600"/>
                </a:lnTo>
                <a:lnTo>
                  <a:pt x="0" y="21600"/>
                </a:lnTo>
                <a:close/>
              </a:path>
            </a:pathLst>
          </a:custGeom>
          <a:solidFill>
            <a:srgbClr val="16292C"/>
          </a:solidFill>
          <a:ln w="25400">
            <a:solidFill>
              <a:srgbClr val="002060"/>
            </a:solidFill>
          </a:ln>
        </p:spPr>
        <p:txBody>
          <a:bodyPr lIns="45719" rIns="45719" anchor="ctr"/>
          <a:lstStyle/>
          <a:p>
            <a:pPr algn="ctr">
              <a:defRPr sz="900">
                <a:solidFill>
                  <a:srgbClr val="002060"/>
                </a:solidFill>
                <a:latin typeface="Open Sans"/>
                <a:ea typeface="Open Sans"/>
                <a:cs typeface="Open Sans"/>
                <a:sym typeface="Open Sans"/>
              </a:defRPr>
            </a:pPr>
          </a:p>
        </p:txBody>
      </p:sp>
      <p:grpSp>
        <p:nvGrpSpPr>
          <p:cNvPr id="733" name="Rettangolo arrotondato 52"/>
          <p:cNvGrpSpPr/>
          <p:nvPr/>
        </p:nvGrpSpPr>
        <p:grpSpPr>
          <a:xfrm>
            <a:off x="7174059" y="2237057"/>
            <a:ext cx="496394" cy="282280"/>
            <a:chOff x="0" y="0"/>
            <a:chExt cx="496393" cy="282278"/>
          </a:xfrm>
        </p:grpSpPr>
        <p:sp>
          <p:nvSpPr>
            <p:cNvPr id="731" name="Rounded Rectangle"/>
            <p:cNvSpPr/>
            <p:nvPr/>
          </p:nvSpPr>
          <p:spPr>
            <a:xfrm>
              <a:off x="0" y="0"/>
              <a:ext cx="496394" cy="282279"/>
            </a:xfrm>
            <a:prstGeom prst="roundRect">
              <a:avLst>
                <a:gd name="adj" fmla="val 16667"/>
              </a:avLst>
            </a:prstGeom>
            <a:solidFill>
              <a:srgbClr val="FFFFFF"/>
            </a:solidFill>
            <a:ln w="6350" cap="flat">
              <a:solidFill>
                <a:schemeClr val="accent2"/>
              </a:solidFill>
              <a:prstDash val="solid"/>
              <a:round/>
            </a:ln>
            <a:effectLst/>
          </p:spPr>
          <p:txBody>
            <a:bodyPr wrap="square" lIns="45719" tIns="45719" rIns="45719" bIns="45719" numCol="1" anchor="ctr">
              <a:noAutofit/>
            </a:bodyPr>
            <a:lstStyle/>
            <a:p>
              <a:pPr algn="ctr"/>
            </a:p>
          </p:txBody>
        </p:sp>
        <p:sp>
          <p:nvSpPr>
            <p:cNvPr id="732" name="250"/>
            <p:cNvSpPr txBox="1"/>
            <p:nvPr/>
          </p:nvSpPr>
          <p:spPr>
            <a:xfrm>
              <a:off x="62674" y="19219"/>
              <a:ext cx="371044"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1000">
                  <a:solidFill>
                    <a:srgbClr val="0070C0"/>
                  </a:solidFill>
                  <a:latin typeface="Open Sans"/>
                  <a:ea typeface="Open Sans"/>
                  <a:cs typeface="Open Sans"/>
                  <a:sym typeface="Open Sans"/>
                </a:defRPr>
              </a:lvl1pPr>
            </a:lstStyle>
            <a:p>
              <a:pPr/>
              <a:r>
                <a:t>250</a:t>
              </a:r>
            </a:p>
          </p:txBody>
        </p:sp>
      </p:grpSp>
      <p:sp>
        <p:nvSpPr>
          <p:cNvPr id="734" name="Equal 81"/>
          <p:cNvSpPr/>
          <p:nvPr/>
        </p:nvSpPr>
        <p:spPr>
          <a:xfrm>
            <a:off x="6556624" y="2852042"/>
            <a:ext cx="297922" cy="13026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8640"/>
                </a:lnTo>
                <a:lnTo>
                  <a:pt x="0" y="8640"/>
                </a:lnTo>
                <a:close/>
                <a:moveTo>
                  <a:pt x="0" y="12960"/>
                </a:moveTo>
                <a:lnTo>
                  <a:pt x="21600" y="12960"/>
                </a:lnTo>
                <a:lnTo>
                  <a:pt x="21600" y="21600"/>
                </a:lnTo>
                <a:lnTo>
                  <a:pt x="0" y="21600"/>
                </a:lnTo>
                <a:close/>
              </a:path>
            </a:pathLst>
          </a:custGeom>
          <a:solidFill>
            <a:srgbClr val="16292C"/>
          </a:solidFill>
          <a:ln w="25400">
            <a:solidFill>
              <a:srgbClr val="002060"/>
            </a:solidFill>
          </a:ln>
        </p:spPr>
        <p:txBody>
          <a:bodyPr lIns="45719" rIns="45719" anchor="ctr"/>
          <a:lstStyle/>
          <a:p>
            <a:pPr algn="ctr">
              <a:defRPr sz="900">
                <a:solidFill>
                  <a:srgbClr val="002060"/>
                </a:solidFill>
                <a:latin typeface="Open Sans"/>
                <a:ea typeface="Open Sans"/>
                <a:cs typeface="Open Sans"/>
                <a:sym typeface="Open Sans"/>
              </a:defRPr>
            </a:pPr>
          </a:p>
        </p:txBody>
      </p:sp>
      <p:grpSp>
        <p:nvGrpSpPr>
          <p:cNvPr id="737" name="Rettangolo arrotondato 52"/>
          <p:cNvGrpSpPr/>
          <p:nvPr/>
        </p:nvGrpSpPr>
        <p:grpSpPr>
          <a:xfrm>
            <a:off x="7175262" y="2755444"/>
            <a:ext cx="488682" cy="272982"/>
            <a:chOff x="0" y="0"/>
            <a:chExt cx="488681" cy="272981"/>
          </a:xfrm>
        </p:grpSpPr>
        <p:sp>
          <p:nvSpPr>
            <p:cNvPr id="735" name="Rounded Rectangle"/>
            <p:cNvSpPr/>
            <p:nvPr/>
          </p:nvSpPr>
          <p:spPr>
            <a:xfrm>
              <a:off x="0" y="0"/>
              <a:ext cx="488682" cy="272982"/>
            </a:xfrm>
            <a:prstGeom prst="roundRect">
              <a:avLst>
                <a:gd name="adj" fmla="val 16667"/>
              </a:avLst>
            </a:prstGeom>
            <a:solidFill>
              <a:srgbClr val="FFFFFF"/>
            </a:solidFill>
            <a:ln w="6350" cap="flat">
              <a:solidFill>
                <a:schemeClr val="accent2"/>
              </a:solidFill>
              <a:prstDash val="solid"/>
              <a:round/>
            </a:ln>
            <a:effectLst/>
          </p:spPr>
          <p:txBody>
            <a:bodyPr wrap="square" lIns="45719" tIns="45719" rIns="45719" bIns="45719" numCol="1" anchor="ctr">
              <a:noAutofit/>
            </a:bodyPr>
            <a:lstStyle/>
            <a:p>
              <a:pPr algn="ctr"/>
            </a:p>
          </p:txBody>
        </p:sp>
        <p:sp>
          <p:nvSpPr>
            <p:cNvPr id="736" name="182"/>
            <p:cNvSpPr txBox="1"/>
            <p:nvPr/>
          </p:nvSpPr>
          <p:spPr>
            <a:xfrm>
              <a:off x="62220" y="14570"/>
              <a:ext cx="364240"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1000">
                  <a:solidFill>
                    <a:srgbClr val="0070C0"/>
                  </a:solidFill>
                  <a:latin typeface="Open Sans"/>
                  <a:ea typeface="Open Sans"/>
                  <a:cs typeface="Open Sans"/>
                  <a:sym typeface="Open Sans"/>
                </a:defRPr>
              </a:lvl1pPr>
            </a:lstStyle>
            <a:p>
              <a:pPr/>
              <a:r>
                <a:t>182</a:t>
              </a:r>
            </a:p>
          </p:txBody>
        </p:sp>
      </p:grpSp>
      <p:sp>
        <p:nvSpPr>
          <p:cNvPr id="738" name="Equal 83"/>
          <p:cNvSpPr/>
          <p:nvPr/>
        </p:nvSpPr>
        <p:spPr>
          <a:xfrm>
            <a:off x="6556624" y="3439123"/>
            <a:ext cx="297922" cy="13026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8640"/>
                </a:lnTo>
                <a:lnTo>
                  <a:pt x="0" y="8640"/>
                </a:lnTo>
                <a:close/>
                <a:moveTo>
                  <a:pt x="0" y="12960"/>
                </a:moveTo>
                <a:lnTo>
                  <a:pt x="21600" y="12960"/>
                </a:lnTo>
                <a:lnTo>
                  <a:pt x="21600" y="21600"/>
                </a:lnTo>
                <a:lnTo>
                  <a:pt x="0" y="21600"/>
                </a:lnTo>
                <a:close/>
              </a:path>
            </a:pathLst>
          </a:custGeom>
          <a:solidFill>
            <a:srgbClr val="16292C"/>
          </a:solidFill>
          <a:ln w="25400">
            <a:solidFill>
              <a:srgbClr val="002060"/>
            </a:solidFill>
          </a:ln>
        </p:spPr>
        <p:txBody>
          <a:bodyPr lIns="45719" rIns="45719" anchor="ctr"/>
          <a:lstStyle/>
          <a:p>
            <a:pPr algn="ctr">
              <a:defRPr sz="900">
                <a:solidFill>
                  <a:srgbClr val="002060"/>
                </a:solidFill>
                <a:latin typeface="Open Sans"/>
                <a:ea typeface="Open Sans"/>
                <a:cs typeface="Open Sans"/>
                <a:sym typeface="Open Sans"/>
              </a:defRPr>
            </a:pPr>
          </a:p>
        </p:txBody>
      </p:sp>
      <p:grpSp>
        <p:nvGrpSpPr>
          <p:cNvPr id="741" name="Rettangolo arrotondato 52"/>
          <p:cNvGrpSpPr/>
          <p:nvPr/>
        </p:nvGrpSpPr>
        <p:grpSpPr>
          <a:xfrm>
            <a:off x="7174059" y="3355228"/>
            <a:ext cx="496394" cy="252828"/>
            <a:chOff x="0" y="0"/>
            <a:chExt cx="496393" cy="252827"/>
          </a:xfrm>
        </p:grpSpPr>
        <p:sp>
          <p:nvSpPr>
            <p:cNvPr id="739" name="Rounded Rectangle"/>
            <p:cNvSpPr/>
            <p:nvPr/>
          </p:nvSpPr>
          <p:spPr>
            <a:xfrm>
              <a:off x="0" y="0"/>
              <a:ext cx="496394" cy="252828"/>
            </a:xfrm>
            <a:prstGeom prst="roundRect">
              <a:avLst>
                <a:gd name="adj" fmla="val 16667"/>
              </a:avLst>
            </a:prstGeom>
            <a:solidFill>
              <a:srgbClr val="FFFFFF"/>
            </a:solidFill>
            <a:ln w="6350" cap="flat">
              <a:solidFill>
                <a:schemeClr val="accent2"/>
              </a:solidFill>
              <a:prstDash val="solid"/>
              <a:round/>
            </a:ln>
            <a:effectLst/>
          </p:spPr>
          <p:txBody>
            <a:bodyPr wrap="square" lIns="45719" tIns="45719" rIns="45719" bIns="45719" numCol="1" anchor="ctr">
              <a:noAutofit/>
            </a:bodyPr>
            <a:lstStyle/>
            <a:p>
              <a:pPr algn="ctr"/>
            </a:p>
          </p:txBody>
        </p:sp>
        <p:sp>
          <p:nvSpPr>
            <p:cNvPr id="740" name="248"/>
            <p:cNvSpPr txBox="1"/>
            <p:nvPr/>
          </p:nvSpPr>
          <p:spPr>
            <a:xfrm>
              <a:off x="61237" y="4493"/>
              <a:ext cx="373919"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1000">
                  <a:solidFill>
                    <a:srgbClr val="0070C0"/>
                  </a:solidFill>
                  <a:latin typeface="Open Sans"/>
                  <a:ea typeface="Open Sans"/>
                  <a:cs typeface="Open Sans"/>
                  <a:sym typeface="Open Sans"/>
                </a:defRPr>
              </a:lvl1pPr>
            </a:lstStyle>
            <a:p>
              <a:pPr/>
              <a:r>
                <a:t>248</a:t>
              </a:r>
            </a:p>
          </p:txBody>
        </p:sp>
      </p:grpSp>
      <p:sp>
        <p:nvSpPr>
          <p:cNvPr id="742" name="Equal 85"/>
          <p:cNvSpPr/>
          <p:nvPr/>
        </p:nvSpPr>
        <p:spPr>
          <a:xfrm>
            <a:off x="6564763" y="4000393"/>
            <a:ext cx="297922" cy="13026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8640"/>
                </a:lnTo>
                <a:lnTo>
                  <a:pt x="0" y="8640"/>
                </a:lnTo>
                <a:close/>
                <a:moveTo>
                  <a:pt x="0" y="12960"/>
                </a:moveTo>
                <a:lnTo>
                  <a:pt x="21600" y="12960"/>
                </a:lnTo>
                <a:lnTo>
                  <a:pt x="21600" y="21600"/>
                </a:lnTo>
                <a:lnTo>
                  <a:pt x="0" y="21600"/>
                </a:lnTo>
                <a:close/>
              </a:path>
            </a:pathLst>
          </a:custGeom>
          <a:solidFill>
            <a:srgbClr val="16292C"/>
          </a:solidFill>
          <a:ln w="25400">
            <a:solidFill>
              <a:srgbClr val="002060"/>
            </a:solidFill>
          </a:ln>
        </p:spPr>
        <p:txBody>
          <a:bodyPr lIns="45719" rIns="45719" anchor="ctr"/>
          <a:lstStyle/>
          <a:p>
            <a:pPr algn="ctr">
              <a:defRPr sz="900">
                <a:solidFill>
                  <a:srgbClr val="002060"/>
                </a:solidFill>
                <a:latin typeface="Open Sans"/>
                <a:ea typeface="Open Sans"/>
                <a:cs typeface="Open Sans"/>
                <a:sym typeface="Open Sans"/>
              </a:defRPr>
            </a:pPr>
          </a:p>
        </p:txBody>
      </p:sp>
      <p:grpSp>
        <p:nvGrpSpPr>
          <p:cNvPr id="745" name="Rettangolo arrotondato 52"/>
          <p:cNvGrpSpPr/>
          <p:nvPr/>
        </p:nvGrpSpPr>
        <p:grpSpPr>
          <a:xfrm>
            <a:off x="7177669" y="3923465"/>
            <a:ext cx="492784" cy="252828"/>
            <a:chOff x="0" y="0"/>
            <a:chExt cx="492783" cy="252827"/>
          </a:xfrm>
        </p:grpSpPr>
        <p:sp>
          <p:nvSpPr>
            <p:cNvPr id="743" name="Rounded Rectangle"/>
            <p:cNvSpPr/>
            <p:nvPr/>
          </p:nvSpPr>
          <p:spPr>
            <a:xfrm>
              <a:off x="0" y="0"/>
              <a:ext cx="492784" cy="252828"/>
            </a:xfrm>
            <a:prstGeom prst="roundRect">
              <a:avLst>
                <a:gd name="adj" fmla="val 16667"/>
              </a:avLst>
            </a:prstGeom>
            <a:solidFill>
              <a:srgbClr val="FFFFFF"/>
            </a:solidFill>
            <a:ln w="6350" cap="flat">
              <a:solidFill>
                <a:schemeClr val="accent2"/>
              </a:solidFill>
              <a:prstDash val="solid"/>
              <a:round/>
            </a:ln>
            <a:effectLst/>
          </p:spPr>
          <p:txBody>
            <a:bodyPr wrap="square" lIns="45719" tIns="45719" rIns="45719" bIns="45719" numCol="1" anchor="ctr">
              <a:noAutofit/>
            </a:bodyPr>
            <a:lstStyle/>
            <a:p>
              <a:pPr algn="ctr"/>
            </a:p>
          </p:txBody>
        </p:sp>
        <p:sp>
          <p:nvSpPr>
            <p:cNvPr id="744" name="191"/>
            <p:cNvSpPr txBox="1"/>
            <p:nvPr/>
          </p:nvSpPr>
          <p:spPr>
            <a:xfrm>
              <a:off x="61237" y="4493"/>
              <a:ext cx="370309"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1000">
                  <a:solidFill>
                    <a:srgbClr val="0070C0"/>
                  </a:solidFill>
                  <a:latin typeface="Open Sans"/>
                  <a:ea typeface="Open Sans"/>
                  <a:cs typeface="Open Sans"/>
                  <a:sym typeface="Open Sans"/>
                </a:defRPr>
              </a:lvl1pPr>
            </a:lstStyle>
            <a:p>
              <a:pPr/>
              <a:r>
                <a:t>191</a:t>
              </a:r>
            </a:p>
          </p:txBody>
        </p:sp>
      </p:grpSp>
      <p:sp>
        <p:nvSpPr>
          <p:cNvPr id="746" name="Straight Connector 47"/>
          <p:cNvSpPr/>
          <p:nvPr/>
        </p:nvSpPr>
        <p:spPr>
          <a:xfrm>
            <a:off x="1366431" y="2037299"/>
            <a:ext cx="7399237" cy="1"/>
          </a:xfrm>
          <a:prstGeom prst="line">
            <a:avLst/>
          </a:prstGeom>
          <a:ln w="25400">
            <a:solidFill>
              <a:srgbClr val="002060"/>
            </a:solidFill>
            <a:prstDash val="sysDot"/>
          </a:ln>
        </p:spPr>
        <p:txBody>
          <a:bodyPr lIns="45719" rIns="45719"/>
          <a:lstStyle/>
          <a:p>
            <a:pPr/>
          </a:p>
        </p:txBody>
      </p:sp>
      <p:sp>
        <p:nvSpPr>
          <p:cNvPr id="747" name="Straight Connector 48"/>
          <p:cNvSpPr/>
          <p:nvPr/>
        </p:nvSpPr>
        <p:spPr>
          <a:xfrm>
            <a:off x="1400829" y="2634182"/>
            <a:ext cx="7364839" cy="1"/>
          </a:xfrm>
          <a:prstGeom prst="line">
            <a:avLst/>
          </a:prstGeom>
          <a:ln w="25400">
            <a:solidFill>
              <a:srgbClr val="002060"/>
            </a:solidFill>
            <a:prstDash val="sysDot"/>
          </a:ln>
        </p:spPr>
        <p:txBody>
          <a:bodyPr lIns="45719" rIns="45719"/>
          <a:lstStyle/>
          <a:p>
            <a:pPr/>
          </a:p>
        </p:txBody>
      </p:sp>
      <p:sp>
        <p:nvSpPr>
          <p:cNvPr id="748" name="Straight Connector 49"/>
          <p:cNvSpPr/>
          <p:nvPr/>
        </p:nvSpPr>
        <p:spPr>
          <a:xfrm>
            <a:off x="1401938" y="3194217"/>
            <a:ext cx="7316345" cy="1"/>
          </a:xfrm>
          <a:prstGeom prst="line">
            <a:avLst/>
          </a:prstGeom>
          <a:ln w="25400">
            <a:solidFill>
              <a:srgbClr val="002060"/>
            </a:solidFill>
            <a:prstDash val="sysDot"/>
          </a:ln>
        </p:spPr>
        <p:txBody>
          <a:bodyPr lIns="45719" rIns="45719"/>
          <a:lstStyle/>
          <a:p>
            <a:pPr/>
          </a:p>
        </p:txBody>
      </p:sp>
      <p:sp>
        <p:nvSpPr>
          <p:cNvPr id="749" name="Straight Connector 50"/>
          <p:cNvSpPr/>
          <p:nvPr/>
        </p:nvSpPr>
        <p:spPr>
          <a:xfrm>
            <a:off x="1409703" y="3743507"/>
            <a:ext cx="7308579" cy="1"/>
          </a:xfrm>
          <a:prstGeom prst="line">
            <a:avLst/>
          </a:prstGeom>
          <a:ln w="25400">
            <a:solidFill>
              <a:srgbClr val="002060"/>
            </a:solidFill>
            <a:prstDash val="sysDot"/>
          </a:ln>
        </p:spPr>
        <p:txBody>
          <a:bodyPr lIns="45719" rIns="45719"/>
          <a:lstStyle/>
          <a:p>
            <a:pPr/>
          </a:p>
        </p:txBody>
      </p:sp>
      <p:grpSp>
        <p:nvGrpSpPr>
          <p:cNvPr id="752" name="AutoShape 60"/>
          <p:cNvGrpSpPr/>
          <p:nvPr/>
        </p:nvGrpSpPr>
        <p:grpSpPr>
          <a:xfrm>
            <a:off x="418498" y="4360650"/>
            <a:ext cx="937699" cy="269406"/>
            <a:chOff x="0" y="0"/>
            <a:chExt cx="937697" cy="269404"/>
          </a:xfrm>
        </p:grpSpPr>
        <p:sp>
          <p:nvSpPr>
            <p:cNvPr id="750" name="Shape"/>
            <p:cNvSpPr/>
            <p:nvPr/>
          </p:nvSpPr>
          <p:spPr>
            <a:xfrm>
              <a:off x="0" y="0"/>
              <a:ext cx="937698" cy="26940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0592" y="0"/>
                  </a:lnTo>
                  <a:lnTo>
                    <a:pt x="21600" y="10800"/>
                  </a:lnTo>
                  <a:lnTo>
                    <a:pt x="20592" y="21600"/>
                  </a:lnTo>
                  <a:lnTo>
                    <a:pt x="0" y="21600"/>
                  </a:lnTo>
                  <a:close/>
                </a:path>
              </a:pathLst>
            </a:custGeom>
            <a:solidFill>
              <a:srgbClr val="002060"/>
            </a:solidFill>
            <a:ln w="25400" cap="flat">
              <a:solidFill>
                <a:srgbClr val="040408"/>
              </a:solidFill>
              <a:prstDash val="solid"/>
              <a:round/>
            </a:ln>
            <a:effectLst/>
          </p:spPr>
          <p:txBody>
            <a:bodyPr wrap="square" lIns="45719" tIns="45719" rIns="45719" bIns="45719" numCol="1" anchor="ctr">
              <a:noAutofit/>
            </a:bodyPr>
            <a:lstStyle/>
            <a:p>
              <a:pPr algn="ctr">
                <a:spcBef>
                  <a:spcPts val="300"/>
                </a:spcBef>
                <a:defRPr>
                  <a:solidFill>
                    <a:srgbClr val="FFFFFF"/>
                  </a:solidFill>
                </a:defRPr>
              </a:pPr>
            </a:p>
          </p:txBody>
        </p:sp>
        <p:sp>
          <p:nvSpPr>
            <p:cNvPr id="751" name="Final Model"/>
            <p:cNvSpPr txBox="1"/>
            <p:nvPr/>
          </p:nvSpPr>
          <p:spPr>
            <a:xfrm>
              <a:off x="45099" y="29752"/>
              <a:ext cx="825617" cy="209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5100" tIns="35100" rIns="35100" bIns="35100" numCol="1" anchor="ctr">
              <a:spAutoFit/>
            </a:bodyPr>
            <a:lstStyle>
              <a:lvl1pPr algn="ctr">
                <a:spcBef>
                  <a:spcPts val="200"/>
                </a:spcBef>
                <a:defRPr b="1" sz="900">
                  <a:solidFill>
                    <a:srgbClr val="FFFFFF"/>
                  </a:solidFill>
                  <a:latin typeface="Open Sans"/>
                  <a:ea typeface="Open Sans"/>
                  <a:cs typeface="Open Sans"/>
                  <a:sym typeface="Open Sans"/>
                </a:defRPr>
              </a:lvl1pPr>
            </a:lstStyle>
            <a:p>
              <a:pPr/>
              <a:r>
                <a:t>Final Model</a:t>
              </a:r>
            </a:p>
          </p:txBody>
        </p:sp>
      </p:grpSp>
      <p:grpSp>
        <p:nvGrpSpPr>
          <p:cNvPr id="755" name="Rettangolo arrotondato 52"/>
          <p:cNvGrpSpPr/>
          <p:nvPr/>
        </p:nvGrpSpPr>
        <p:grpSpPr>
          <a:xfrm>
            <a:off x="2271249" y="4368939"/>
            <a:ext cx="864001" cy="252828"/>
            <a:chOff x="0" y="0"/>
            <a:chExt cx="863999" cy="252827"/>
          </a:xfrm>
        </p:grpSpPr>
        <p:sp>
          <p:nvSpPr>
            <p:cNvPr id="753" name="Rounded Rectangle"/>
            <p:cNvSpPr/>
            <p:nvPr/>
          </p:nvSpPr>
          <p:spPr>
            <a:xfrm>
              <a:off x="0" y="0"/>
              <a:ext cx="864000" cy="252828"/>
            </a:xfrm>
            <a:prstGeom prst="roundRect">
              <a:avLst>
                <a:gd name="adj" fmla="val 16667"/>
              </a:avLst>
            </a:prstGeom>
            <a:solidFill>
              <a:srgbClr val="FFFFFF"/>
            </a:solidFill>
            <a:ln w="6350" cap="flat">
              <a:solidFill>
                <a:schemeClr val="accent2"/>
              </a:solidFill>
              <a:prstDash val="solid"/>
              <a:round/>
            </a:ln>
            <a:effectLst/>
          </p:spPr>
          <p:txBody>
            <a:bodyPr wrap="square" lIns="45719" tIns="45719" rIns="45719" bIns="45719" numCol="1" anchor="ctr">
              <a:noAutofit/>
            </a:bodyPr>
            <a:lstStyle/>
            <a:p>
              <a:pPr algn="ctr">
                <a:defRPr b="1" sz="1000">
                  <a:solidFill>
                    <a:srgbClr val="0070C0"/>
                  </a:solidFill>
                  <a:latin typeface="Open Sans"/>
                  <a:ea typeface="Open Sans"/>
                  <a:cs typeface="Open Sans"/>
                  <a:sym typeface="Open Sans"/>
                </a:defRPr>
              </a:pPr>
            </a:p>
          </p:txBody>
        </p:sp>
        <p:sp>
          <p:nvSpPr>
            <p:cNvPr id="754" name="191"/>
            <p:cNvSpPr txBox="1"/>
            <p:nvPr/>
          </p:nvSpPr>
          <p:spPr>
            <a:xfrm>
              <a:off x="61236" y="4493"/>
              <a:ext cx="741527" cy="243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lvl1pPr algn="ctr">
                <a:defRPr b="1" sz="1000">
                  <a:solidFill>
                    <a:srgbClr val="0070C0"/>
                  </a:solidFill>
                  <a:latin typeface="Open Sans"/>
                  <a:ea typeface="Open Sans"/>
                  <a:cs typeface="Open Sans"/>
                  <a:sym typeface="Open Sans"/>
                </a:defRPr>
              </a:lvl1pPr>
            </a:lstStyle>
            <a:p>
              <a:pPr/>
              <a:r>
                <a:t>191</a:t>
              </a:r>
            </a:p>
          </p:txBody>
        </p:sp>
      </p:grpSp>
      <p:sp>
        <p:nvSpPr>
          <p:cNvPr id="756" name="TextBox 53"/>
          <p:cNvSpPr txBox="1"/>
          <p:nvPr/>
        </p:nvSpPr>
        <p:spPr>
          <a:xfrm>
            <a:off x="6315995" y="4414015"/>
            <a:ext cx="2270056" cy="240666"/>
          </a:xfrm>
          <a:prstGeom prst="rect">
            <a:avLst/>
          </a:prstGeom>
          <a:solidFill>
            <a:srgbClr val="00B0F0"/>
          </a:solidFill>
          <a:ln>
            <a:solidFill>
              <a:srgbClr val="00B0F0"/>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45719" rIns="45719">
            <a:spAutoFit/>
          </a:bodyPr>
          <a:lstStyle>
            <a:lvl1pPr algn="ctr">
              <a:defRPr b="1" sz="900">
                <a:solidFill>
                  <a:srgbClr val="FFFFFF"/>
                </a:solidFill>
                <a:latin typeface="Open Sans"/>
                <a:ea typeface="Open Sans"/>
                <a:cs typeface="Open Sans"/>
                <a:sym typeface="Open Sans"/>
              </a:defRPr>
            </a:lvl1pPr>
          </a:lstStyle>
          <a:p>
            <a:pPr/>
            <a:r>
              <a:t>Final attribute list for model</a:t>
            </a:r>
          </a:p>
        </p:txBody>
      </p:sp>
      <p:sp>
        <p:nvSpPr>
          <p:cNvPr id="779" name="Straight Arrow Connector 54"/>
          <p:cNvSpPr/>
          <p:nvPr/>
        </p:nvSpPr>
        <p:spPr>
          <a:xfrm>
            <a:off x="3138421" y="1744299"/>
            <a:ext cx="4032464" cy="56661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21600"/>
                </a:lnTo>
              </a:path>
            </a:pathLst>
          </a:custGeom>
          <a:ln>
            <a:solidFill>
              <a:srgbClr val="0070C0"/>
            </a:solidFill>
            <a:prstDash val="dashDot"/>
            <a:tailEnd type="triangle"/>
          </a:ln>
        </p:spPr>
        <p:txBody>
          <a:bodyPr/>
          <a:lstStyle/>
          <a:p>
            <a:pPr/>
          </a:p>
        </p:txBody>
      </p:sp>
      <p:sp>
        <p:nvSpPr>
          <p:cNvPr id="780" name="Straight Arrow Connector 55"/>
          <p:cNvSpPr/>
          <p:nvPr/>
        </p:nvSpPr>
        <p:spPr>
          <a:xfrm>
            <a:off x="3135728" y="2439615"/>
            <a:ext cx="4035157" cy="9859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21600"/>
                </a:lnTo>
              </a:path>
            </a:pathLst>
          </a:custGeom>
          <a:ln>
            <a:solidFill>
              <a:srgbClr val="0070C0"/>
            </a:solidFill>
            <a:prstDash val="dashDot"/>
            <a:tailEnd type="triangle"/>
          </a:ln>
        </p:spPr>
        <p:txBody>
          <a:bodyPr/>
          <a:lstStyle/>
          <a:p>
            <a:pPr/>
          </a:p>
        </p:txBody>
      </p:sp>
      <p:sp>
        <p:nvSpPr>
          <p:cNvPr id="781" name="Straight Arrow Connector 56"/>
          <p:cNvSpPr/>
          <p:nvPr/>
        </p:nvSpPr>
        <p:spPr>
          <a:xfrm>
            <a:off x="3138421" y="4073429"/>
            <a:ext cx="4036074" cy="38086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21600"/>
                </a:lnTo>
              </a:path>
            </a:pathLst>
          </a:custGeom>
          <a:ln>
            <a:solidFill>
              <a:srgbClr val="0070C0"/>
            </a:solidFill>
            <a:prstDash val="dashDot"/>
            <a:tailEnd type="triangle"/>
          </a:ln>
        </p:spPr>
        <p:txBody>
          <a:bodyPr/>
          <a:lstStyle/>
          <a:p>
            <a:pPr/>
          </a:p>
        </p:txBody>
      </p:sp>
      <p:sp>
        <p:nvSpPr>
          <p:cNvPr id="782" name="Straight Arrow Connector 57"/>
          <p:cNvSpPr/>
          <p:nvPr/>
        </p:nvSpPr>
        <p:spPr>
          <a:xfrm>
            <a:off x="3131193" y="3513236"/>
            <a:ext cx="4039692" cy="5077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21600"/>
                </a:lnTo>
              </a:path>
            </a:pathLst>
          </a:custGeom>
          <a:ln>
            <a:solidFill>
              <a:srgbClr val="0070C0"/>
            </a:solidFill>
            <a:prstDash val="dashDot"/>
            <a:tailEnd type="triangle"/>
          </a:ln>
        </p:spPr>
        <p:txBody>
          <a:bodyPr/>
          <a:lstStyle/>
          <a:p>
            <a:pPr/>
          </a:p>
        </p:txBody>
      </p:sp>
      <p:sp>
        <p:nvSpPr>
          <p:cNvPr id="783" name="Straight Arrow Connector 58"/>
          <p:cNvSpPr/>
          <p:nvPr/>
        </p:nvSpPr>
        <p:spPr>
          <a:xfrm>
            <a:off x="3138475" y="2925483"/>
            <a:ext cx="4033613" cy="54673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21600"/>
                </a:lnTo>
              </a:path>
            </a:pathLst>
          </a:custGeom>
          <a:ln>
            <a:solidFill>
              <a:srgbClr val="0070C0"/>
            </a:solidFill>
            <a:prstDash val="dashDot"/>
            <a:tailEnd type="triangle"/>
          </a:ln>
        </p:spPr>
        <p:txBody>
          <a:bodyPr/>
          <a:lstStyle/>
          <a:p>
            <a:pPr/>
          </a:p>
        </p:txBody>
      </p:sp>
      <p:grpSp>
        <p:nvGrpSpPr>
          <p:cNvPr id="764" name="Ovale 83"/>
          <p:cNvGrpSpPr/>
          <p:nvPr/>
        </p:nvGrpSpPr>
        <p:grpSpPr>
          <a:xfrm>
            <a:off x="4896801" y="1586772"/>
            <a:ext cx="405389" cy="270031"/>
            <a:chOff x="0" y="0"/>
            <a:chExt cx="405387" cy="270030"/>
          </a:xfrm>
        </p:grpSpPr>
        <p:sp>
          <p:nvSpPr>
            <p:cNvPr id="762" name="Oval"/>
            <p:cNvSpPr/>
            <p:nvPr/>
          </p:nvSpPr>
          <p:spPr>
            <a:xfrm>
              <a:off x="0" y="-1"/>
              <a:ext cx="405388" cy="270032"/>
            </a:xfrm>
            <a:prstGeom prst="ellipse">
              <a:avLst/>
            </a:prstGeom>
            <a:solidFill>
              <a:srgbClr val="FFFFFF"/>
            </a:solidFill>
            <a:ln w="6350" cap="flat">
              <a:solidFill>
                <a:schemeClr val="accent2"/>
              </a:solidFill>
              <a:prstDash val="solid"/>
              <a:round/>
            </a:ln>
            <a:effectLst/>
          </p:spPr>
          <p:txBody>
            <a:bodyPr wrap="square" lIns="45719" tIns="45719" rIns="45719" bIns="45719" numCol="1" anchor="ctr">
              <a:noAutofit/>
            </a:bodyPr>
            <a:lstStyle/>
            <a:p>
              <a:pPr algn="ctr"/>
            </a:p>
          </p:txBody>
        </p:sp>
        <p:sp>
          <p:nvSpPr>
            <p:cNvPr id="763" name="445"/>
            <p:cNvSpPr txBox="1"/>
            <p:nvPr/>
          </p:nvSpPr>
          <p:spPr>
            <a:xfrm>
              <a:off x="62542" y="58815"/>
              <a:ext cx="280304" cy="152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000">
                  <a:solidFill>
                    <a:srgbClr val="0070C0"/>
                  </a:solidFill>
                  <a:latin typeface="Open Sans"/>
                  <a:ea typeface="Open Sans"/>
                  <a:cs typeface="Open Sans"/>
                  <a:sym typeface="Open Sans"/>
                </a:defRPr>
              </a:lvl1pPr>
            </a:lstStyle>
            <a:p>
              <a:pPr/>
              <a:r>
                <a:t>445</a:t>
              </a:r>
            </a:p>
          </p:txBody>
        </p:sp>
      </p:grpSp>
      <p:sp>
        <p:nvSpPr>
          <p:cNvPr id="765" name="Connettore 1 82"/>
          <p:cNvSpPr/>
          <p:nvPr/>
        </p:nvSpPr>
        <p:spPr>
          <a:xfrm>
            <a:off x="4959142" y="1584253"/>
            <a:ext cx="270001" cy="270001"/>
          </a:xfrm>
          <a:prstGeom prst="line">
            <a:avLst/>
          </a:prstGeom>
          <a:ln w="6350">
            <a:solidFill>
              <a:srgbClr val="0070C0"/>
            </a:solidFill>
          </a:ln>
        </p:spPr>
        <p:txBody>
          <a:bodyPr lIns="45719" rIns="45719"/>
          <a:lstStyle/>
          <a:p>
            <a:pPr/>
          </a:p>
        </p:txBody>
      </p:sp>
      <p:sp>
        <p:nvSpPr>
          <p:cNvPr id="766" name="Connettore 1 81"/>
          <p:cNvSpPr/>
          <p:nvPr/>
        </p:nvSpPr>
        <p:spPr>
          <a:xfrm flipV="1">
            <a:off x="4960345" y="1587123"/>
            <a:ext cx="270001" cy="270001"/>
          </a:xfrm>
          <a:prstGeom prst="line">
            <a:avLst/>
          </a:prstGeom>
          <a:ln w="6350">
            <a:solidFill>
              <a:srgbClr val="0070C0"/>
            </a:solidFill>
          </a:ln>
        </p:spPr>
        <p:txBody>
          <a:bodyPr lIns="45719" rIns="45719"/>
          <a:lstStyle/>
          <a:p>
            <a:pPr/>
          </a:p>
        </p:txBody>
      </p:sp>
      <p:grpSp>
        <p:nvGrpSpPr>
          <p:cNvPr id="769" name="Ovale 83"/>
          <p:cNvGrpSpPr/>
          <p:nvPr/>
        </p:nvGrpSpPr>
        <p:grpSpPr>
          <a:xfrm>
            <a:off x="4855200" y="2235667"/>
            <a:ext cx="505439" cy="270031"/>
            <a:chOff x="0" y="0"/>
            <a:chExt cx="505437" cy="270030"/>
          </a:xfrm>
        </p:grpSpPr>
        <p:sp>
          <p:nvSpPr>
            <p:cNvPr id="767" name="Oval"/>
            <p:cNvSpPr/>
            <p:nvPr/>
          </p:nvSpPr>
          <p:spPr>
            <a:xfrm>
              <a:off x="0" y="-1"/>
              <a:ext cx="505438" cy="270032"/>
            </a:xfrm>
            <a:prstGeom prst="ellipse">
              <a:avLst/>
            </a:prstGeom>
            <a:solidFill>
              <a:srgbClr val="FFFFFF"/>
            </a:solidFill>
            <a:ln w="6350" cap="flat">
              <a:solidFill>
                <a:schemeClr val="accent2"/>
              </a:solidFill>
              <a:prstDash val="solid"/>
              <a:round/>
            </a:ln>
            <a:effectLst/>
          </p:spPr>
          <p:txBody>
            <a:bodyPr wrap="square" lIns="45719" tIns="45719" rIns="45719" bIns="45719" numCol="1" anchor="ctr">
              <a:noAutofit/>
            </a:bodyPr>
            <a:lstStyle/>
            <a:p>
              <a:pPr algn="ctr"/>
            </a:p>
          </p:txBody>
        </p:sp>
        <p:sp>
          <p:nvSpPr>
            <p:cNvPr id="768" name="1054"/>
            <p:cNvSpPr txBox="1"/>
            <p:nvPr/>
          </p:nvSpPr>
          <p:spPr>
            <a:xfrm>
              <a:off x="77194" y="58815"/>
              <a:ext cx="351049" cy="152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000">
                  <a:solidFill>
                    <a:srgbClr val="0070C0"/>
                  </a:solidFill>
                  <a:latin typeface="Open Sans"/>
                  <a:ea typeface="Open Sans"/>
                  <a:cs typeface="Open Sans"/>
                  <a:sym typeface="Open Sans"/>
                </a:defRPr>
              </a:lvl1pPr>
            </a:lstStyle>
            <a:p>
              <a:pPr/>
              <a:r>
                <a:t>1054</a:t>
              </a:r>
            </a:p>
          </p:txBody>
        </p:sp>
      </p:grpSp>
      <p:sp>
        <p:nvSpPr>
          <p:cNvPr id="770" name="Connettore 1 82"/>
          <p:cNvSpPr/>
          <p:nvPr/>
        </p:nvSpPr>
        <p:spPr>
          <a:xfrm>
            <a:off x="4981480" y="2249604"/>
            <a:ext cx="270001" cy="270001"/>
          </a:xfrm>
          <a:prstGeom prst="line">
            <a:avLst/>
          </a:prstGeom>
          <a:ln w="6350">
            <a:solidFill>
              <a:srgbClr val="0070C0"/>
            </a:solidFill>
          </a:ln>
        </p:spPr>
        <p:txBody>
          <a:bodyPr lIns="45719" rIns="45719"/>
          <a:lstStyle/>
          <a:p>
            <a:pPr/>
          </a:p>
        </p:txBody>
      </p:sp>
      <p:sp>
        <p:nvSpPr>
          <p:cNvPr id="771" name="Connettore 1 81"/>
          <p:cNvSpPr/>
          <p:nvPr/>
        </p:nvSpPr>
        <p:spPr>
          <a:xfrm flipV="1">
            <a:off x="4983592" y="2243180"/>
            <a:ext cx="270001" cy="270001"/>
          </a:xfrm>
          <a:prstGeom prst="line">
            <a:avLst/>
          </a:prstGeom>
          <a:ln w="6350">
            <a:solidFill>
              <a:srgbClr val="0070C0"/>
            </a:solidFill>
          </a:ln>
        </p:spPr>
        <p:txBody>
          <a:bodyPr lIns="45719" rIns="45719"/>
          <a:lstStyle/>
          <a:p>
            <a:pPr/>
          </a:p>
        </p:txBody>
      </p:sp>
      <p:grpSp>
        <p:nvGrpSpPr>
          <p:cNvPr id="774" name="Ovale 83"/>
          <p:cNvGrpSpPr/>
          <p:nvPr/>
        </p:nvGrpSpPr>
        <p:grpSpPr>
          <a:xfrm>
            <a:off x="4858048" y="2763998"/>
            <a:ext cx="488683" cy="270031"/>
            <a:chOff x="0" y="0"/>
            <a:chExt cx="488681" cy="270030"/>
          </a:xfrm>
        </p:grpSpPr>
        <p:sp>
          <p:nvSpPr>
            <p:cNvPr id="772" name="Oval"/>
            <p:cNvSpPr/>
            <p:nvPr/>
          </p:nvSpPr>
          <p:spPr>
            <a:xfrm>
              <a:off x="0" y="-1"/>
              <a:ext cx="488682" cy="270032"/>
            </a:xfrm>
            <a:prstGeom prst="ellipse">
              <a:avLst/>
            </a:prstGeom>
            <a:solidFill>
              <a:srgbClr val="FFFFFF"/>
            </a:solidFill>
            <a:ln w="6350" cap="flat">
              <a:solidFill>
                <a:schemeClr val="accent2"/>
              </a:solidFill>
              <a:prstDash val="solid"/>
              <a:round/>
            </a:ln>
            <a:effectLst/>
          </p:spPr>
          <p:txBody>
            <a:bodyPr wrap="square" lIns="45719" tIns="45719" rIns="45719" bIns="45719" numCol="1" anchor="ctr">
              <a:noAutofit/>
            </a:bodyPr>
            <a:lstStyle/>
            <a:p>
              <a:pPr algn="ctr"/>
            </a:p>
          </p:txBody>
        </p:sp>
        <p:sp>
          <p:nvSpPr>
            <p:cNvPr id="773" name="1122"/>
            <p:cNvSpPr txBox="1"/>
            <p:nvPr/>
          </p:nvSpPr>
          <p:spPr>
            <a:xfrm>
              <a:off x="74740" y="58815"/>
              <a:ext cx="339201" cy="152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000">
                  <a:solidFill>
                    <a:srgbClr val="0070C0"/>
                  </a:solidFill>
                  <a:latin typeface="Open Sans"/>
                  <a:ea typeface="Open Sans"/>
                  <a:cs typeface="Open Sans"/>
                  <a:sym typeface="Open Sans"/>
                </a:defRPr>
              </a:lvl1pPr>
            </a:lstStyle>
            <a:p>
              <a:pPr/>
              <a:r>
                <a:t>1122</a:t>
              </a:r>
            </a:p>
          </p:txBody>
        </p:sp>
      </p:grpSp>
      <p:sp>
        <p:nvSpPr>
          <p:cNvPr id="775" name="Connettore 1 82"/>
          <p:cNvSpPr/>
          <p:nvPr/>
        </p:nvSpPr>
        <p:spPr>
          <a:xfrm>
            <a:off x="4976564" y="2764029"/>
            <a:ext cx="270001" cy="270001"/>
          </a:xfrm>
          <a:prstGeom prst="line">
            <a:avLst/>
          </a:prstGeom>
          <a:ln w="6350">
            <a:solidFill>
              <a:srgbClr val="0070C0"/>
            </a:solidFill>
          </a:ln>
        </p:spPr>
        <p:txBody>
          <a:bodyPr lIns="45719" rIns="45719"/>
          <a:lstStyle/>
          <a:p>
            <a:pPr/>
          </a:p>
        </p:txBody>
      </p:sp>
      <p:sp>
        <p:nvSpPr>
          <p:cNvPr id="776" name="Connettore 1 81"/>
          <p:cNvSpPr/>
          <p:nvPr/>
        </p:nvSpPr>
        <p:spPr>
          <a:xfrm flipV="1">
            <a:off x="4981480" y="2764028"/>
            <a:ext cx="270001" cy="270001"/>
          </a:xfrm>
          <a:prstGeom prst="line">
            <a:avLst/>
          </a:prstGeom>
          <a:ln w="6350">
            <a:solidFill>
              <a:srgbClr val="0070C0"/>
            </a:solidFill>
          </a:ln>
        </p:spPr>
        <p:txBody>
          <a:bodyPr lIns="45719" rIns="45719"/>
          <a:lstStyle/>
          <a:p>
            <a:pPr/>
          </a:p>
        </p:txBody>
      </p:sp>
      <p:sp>
        <p:nvSpPr>
          <p:cNvPr id="777" name="Straight Arrow Connector 324"/>
          <p:cNvSpPr/>
          <p:nvPr/>
        </p:nvSpPr>
        <p:spPr>
          <a:xfrm flipH="1">
            <a:off x="3135247" y="1706099"/>
            <a:ext cx="4038812" cy="1194648"/>
          </a:xfrm>
          <a:prstGeom prst="line">
            <a:avLst/>
          </a:prstGeom>
          <a:ln>
            <a:solidFill>
              <a:srgbClr val="0070C0"/>
            </a:solidFill>
            <a:prstDash val="dashDot"/>
            <a:tailEnd type="triangle"/>
          </a:ln>
        </p:spPr>
        <p:txBody>
          <a:bodyPr lIns="45719" rIns="45719"/>
          <a:lstStyle/>
          <a:p>
            <a:pP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85" name="Slide Number Placeholder 3"/>
          <p:cNvSpPr txBox="1"/>
          <p:nvPr>
            <p:ph type="sldNum" sz="quarter" idx="4294967295"/>
          </p:nvPr>
        </p:nvSpPr>
        <p:spPr>
          <a:xfrm>
            <a:off x="11754629" y="6202479"/>
            <a:ext cx="301908" cy="288824"/>
          </a:xfrm>
          <a:prstGeom prst="rect">
            <a:avLst/>
          </a:prstGeom>
          <a:extLst>
            <a:ext uri="{C572A759-6A51-4108-AA02-DFA0A04FC94B}">
              <ma14:wrappingTextBoxFlag xmlns:ma14="http://schemas.microsoft.com/office/mac/drawingml/2011/main" val="1"/>
            </a:ext>
          </a:extLst>
        </p:spPr>
        <p:txBody>
          <a:bodyPr lIns="45719" tIns="45719" rIns="45719" bIns="45719"/>
          <a:lstStyle>
            <a:lvl1pPr algn="r" defTabSz="548599">
              <a:defRPr sz="1400"/>
            </a:lvl1pPr>
          </a:lstStyle>
          <a:p>
            <a:pPr/>
            <a:fld id="{86CB4B4D-7CA3-9044-876B-883B54F8677D}" type="slidenum"/>
          </a:p>
        </p:txBody>
      </p:sp>
      <p:sp>
        <p:nvSpPr>
          <p:cNvPr id="786" name="Title 1"/>
          <p:cNvSpPr txBox="1"/>
          <p:nvPr/>
        </p:nvSpPr>
        <p:spPr>
          <a:xfrm>
            <a:off x="9539" y="63083"/>
            <a:ext cx="8245941" cy="5511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ctr">
            <a:spAutoFit/>
          </a:bodyPr>
          <a:lstStyle/>
          <a:p>
            <a:pPr defTabSz="914309">
              <a:defRPr b="1" i="1" spc="-150" sz="2400">
                <a:solidFill>
                  <a:srgbClr val="002060"/>
                </a:solidFill>
                <a:latin typeface="Open Sans"/>
                <a:ea typeface="Open Sans"/>
                <a:cs typeface="Open Sans"/>
                <a:sym typeface="Open Sans"/>
              </a:defRPr>
            </a:pPr>
            <a:r>
              <a:t>4. Output Validation ~ </a:t>
            </a:r>
            <a:r>
              <a:rPr>
                <a:solidFill>
                  <a:srgbClr val="00B0F0"/>
                </a:solidFill>
              </a:rPr>
              <a:t>Out Of Time ()</a:t>
            </a:r>
          </a:p>
        </p:txBody>
      </p:sp>
      <p:sp>
        <p:nvSpPr>
          <p:cNvPr id="787" name="Straight Connector 8"/>
          <p:cNvSpPr/>
          <p:nvPr/>
        </p:nvSpPr>
        <p:spPr>
          <a:xfrm>
            <a:off x="-12300" y="618293"/>
            <a:ext cx="9180002" cy="13502"/>
          </a:xfrm>
          <a:prstGeom prst="line">
            <a:avLst/>
          </a:prstGeom>
          <a:ln w="38100">
            <a:solidFill>
              <a:srgbClr val="072C62"/>
            </a:solidFill>
          </a:ln>
        </p:spPr>
        <p:txBody>
          <a:bodyPr lIns="45719" rIns="45719"/>
          <a:lstStyle/>
          <a:p>
            <a:pPr/>
          </a:p>
        </p:txBody>
      </p:sp>
      <p:graphicFrame>
        <p:nvGraphicFramePr>
          <p:cNvPr id="788" name="Table 18"/>
          <p:cNvGraphicFramePr/>
          <p:nvPr/>
        </p:nvGraphicFramePr>
        <p:xfrm>
          <a:off x="578851" y="861782"/>
          <a:ext cx="5424387" cy="1434160"/>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789626"/>
                <a:gridCol w="549305"/>
                <a:gridCol w="549305"/>
                <a:gridCol w="549305"/>
                <a:gridCol w="549305"/>
                <a:gridCol w="549305"/>
                <a:gridCol w="549305"/>
                <a:gridCol w="549305"/>
                <a:gridCol w="789626"/>
              </a:tblGrid>
              <a:tr h="168724">
                <a:tc>
                  <a:txBody>
                    <a:bodyPr/>
                    <a:lstStyle/>
                    <a:p>
                      <a:pPr>
                        <a:defRPr b="0" sz="1400">
                          <a:solidFill>
                            <a:srgbClr val="000000"/>
                          </a:solidFill>
                        </a:defRPr>
                      </a:pPr>
                    </a:p>
                  </a:txBody>
                  <a:tcPr marL="45720" marR="45720" marT="45720" marB="45720" anchor="t" anchorCtr="0" horzOverflow="overflow">
                    <a:lnL w="12700">
                      <a:miter lim="400000"/>
                    </a:lnL>
                    <a:lnR w="3175">
                      <a:solidFill>
                        <a:srgbClr val="002060"/>
                      </a:solidFill>
                      <a:prstDash val="lgDash"/>
                    </a:lnR>
                    <a:lnT w="12700">
                      <a:miter lim="400000"/>
                    </a:lnT>
                    <a:lnB w="3175">
                      <a:solidFill>
                        <a:srgbClr val="002060"/>
                      </a:solidFill>
                      <a:prstDash val="lgDash"/>
                    </a:lnB>
                    <a:noFill/>
                  </a:tcPr>
                </a:tc>
                <a:tc>
                  <a:txBody>
                    <a:bodyPr/>
                    <a:lstStyle/>
                    <a:p>
                      <a:pPr algn="ctr">
                        <a:defRPr b="0" sz="1800">
                          <a:solidFill>
                            <a:srgbClr val="000000"/>
                          </a:solidFill>
                        </a:defRPr>
                      </a:pPr>
                      <a:r>
                        <a:rPr b="1" sz="700">
                          <a:solidFill>
                            <a:srgbClr val="FFFFFF"/>
                          </a:solidFill>
                          <a:latin typeface="Open Sans"/>
                          <a:ea typeface="Open Sans"/>
                          <a:cs typeface="Open Sans"/>
                          <a:sym typeface="Open Sans"/>
                        </a:rPr>
                        <a:t>&lt;=₹5</a:t>
                      </a:r>
                    </a:p>
                  </a:txBody>
                  <a:tcPr marL="45720" marR="45720" marT="45720" marB="45720" anchor="ctr" anchorCtr="0" horzOverflow="overflow">
                    <a:lnL w="3175">
                      <a:solidFill>
                        <a:srgbClr val="002060"/>
                      </a:solidFill>
                      <a:prstDash val="lgDash"/>
                    </a:lnL>
                    <a:lnR w="3175">
                      <a:solidFill>
                        <a:srgbClr val="002060"/>
                      </a:solidFill>
                      <a:prstDash val="lgDash"/>
                    </a:lnR>
                    <a:lnT w="12700">
                      <a:miter lim="400000"/>
                    </a:lnT>
                    <a:lnB w="3175">
                      <a:solidFill>
                        <a:srgbClr val="002060"/>
                      </a:solidFill>
                      <a:prstDash val="lgDash"/>
                    </a:lnB>
                    <a:solidFill>
                      <a:srgbClr val="002060"/>
                    </a:solidFill>
                  </a:tcPr>
                </a:tc>
                <a:tc>
                  <a:txBody>
                    <a:bodyPr/>
                    <a:lstStyle/>
                    <a:p>
                      <a:pPr algn="ctr">
                        <a:defRPr b="0" sz="1800">
                          <a:solidFill>
                            <a:srgbClr val="000000"/>
                          </a:solidFill>
                        </a:defRPr>
                      </a:pPr>
                      <a:r>
                        <a:rPr b="1" sz="700">
                          <a:solidFill>
                            <a:srgbClr val="FFFFFF"/>
                          </a:solidFill>
                          <a:latin typeface="Open Sans"/>
                          <a:ea typeface="Open Sans"/>
                          <a:cs typeface="Open Sans"/>
                          <a:sym typeface="Open Sans"/>
                        </a:rPr>
                        <a:t>&lt;=₹25</a:t>
                      </a:r>
                    </a:p>
                  </a:txBody>
                  <a:tcPr marL="45720" marR="45720" marT="45720" marB="45720" anchor="ctr" anchorCtr="0" horzOverflow="overflow">
                    <a:lnL w="3175">
                      <a:solidFill>
                        <a:srgbClr val="002060"/>
                      </a:solidFill>
                      <a:prstDash val="lgDash"/>
                    </a:lnL>
                    <a:lnR w="3175">
                      <a:solidFill>
                        <a:srgbClr val="002060"/>
                      </a:solidFill>
                      <a:prstDash val="lgDash"/>
                    </a:lnR>
                    <a:lnT w="12700">
                      <a:miter lim="400000"/>
                    </a:lnT>
                    <a:lnB w="3175">
                      <a:solidFill>
                        <a:srgbClr val="002060"/>
                      </a:solidFill>
                      <a:prstDash val="lgDash"/>
                    </a:lnB>
                    <a:solidFill>
                      <a:srgbClr val="002060"/>
                    </a:solidFill>
                  </a:tcPr>
                </a:tc>
                <a:tc>
                  <a:txBody>
                    <a:bodyPr/>
                    <a:lstStyle/>
                    <a:p>
                      <a:pPr algn="ctr">
                        <a:defRPr b="0" sz="1800">
                          <a:solidFill>
                            <a:srgbClr val="000000"/>
                          </a:solidFill>
                        </a:defRPr>
                      </a:pPr>
                      <a:r>
                        <a:rPr b="1" sz="700">
                          <a:solidFill>
                            <a:srgbClr val="FFFFFF"/>
                          </a:solidFill>
                          <a:latin typeface="Open Sans"/>
                          <a:ea typeface="Open Sans"/>
                          <a:cs typeface="Open Sans"/>
                          <a:sym typeface="Open Sans"/>
                        </a:rPr>
                        <a:t>&lt;=₹50</a:t>
                      </a:r>
                    </a:p>
                  </a:txBody>
                  <a:tcPr marL="45720" marR="45720" marT="45720" marB="45720" anchor="ctr" anchorCtr="0" horzOverflow="overflow">
                    <a:lnL w="3175">
                      <a:solidFill>
                        <a:srgbClr val="002060"/>
                      </a:solidFill>
                      <a:prstDash val="lgDash"/>
                    </a:lnL>
                    <a:lnR w="3175">
                      <a:solidFill>
                        <a:srgbClr val="002060"/>
                      </a:solidFill>
                      <a:prstDash val="lgDash"/>
                    </a:lnR>
                    <a:lnT w="12700">
                      <a:miter lim="400000"/>
                    </a:lnT>
                    <a:lnB w="3175">
                      <a:solidFill>
                        <a:srgbClr val="002060"/>
                      </a:solidFill>
                      <a:prstDash val="lgDash"/>
                    </a:lnB>
                    <a:solidFill>
                      <a:srgbClr val="002060"/>
                    </a:solidFill>
                  </a:tcPr>
                </a:tc>
                <a:tc>
                  <a:txBody>
                    <a:bodyPr/>
                    <a:lstStyle/>
                    <a:p>
                      <a:pPr algn="ctr">
                        <a:defRPr b="0" sz="1800">
                          <a:solidFill>
                            <a:srgbClr val="000000"/>
                          </a:solidFill>
                        </a:defRPr>
                      </a:pPr>
                      <a:r>
                        <a:rPr b="1" sz="700">
                          <a:solidFill>
                            <a:srgbClr val="FFFFFF"/>
                          </a:solidFill>
                          <a:latin typeface="Open Sans"/>
                          <a:ea typeface="Open Sans"/>
                          <a:cs typeface="Open Sans"/>
                          <a:sym typeface="Open Sans"/>
                        </a:rPr>
                        <a:t>&lt;=₹100</a:t>
                      </a:r>
                    </a:p>
                  </a:txBody>
                  <a:tcPr marL="45720" marR="45720" marT="45720" marB="45720" anchor="ctr" anchorCtr="0" horzOverflow="overflow">
                    <a:lnL w="3175">
                      <a:solidFill>
                        <a:srgbClr val="002060"/>
                      </a:solidFill>
                      <a:prstDash val="lgDash"/>
                    </a:lnL>
                    <a:lnR w="3175">
                      <a:solidFill>
                        <a:srgbClr val="002060"/>
                      </a:solidFill>
                      <a:prstDash val="lgDash"/>
                    </a:lnR>
                    <a:lnT w="12700">
                      <a:miter lim="400000"/>
                    </a:lnT>
                    <a:lnB w="3175">
                      <a:solidFill>
                        <a:srgbClr val="002060"/>
                      </a:solidFill>
                      <a:prstDash val="lgDash"/>
                    </a:lnB>
                    <a:solidFill>
                      <a:srgbClr val="002060"/>
                    </a:solidFill>
                  </a:tcPr>
                </a:tc>
                <a:tc>
                  <a:txBody>
                    <a:bodyPr/>
                    <a:lstStyle/>
                    <a:p>
                      <a:pPr algn="ctr">
                        <a:defRPr b="0" sz="1800">
                          <a:solidFill>
                            <a:srgbClr val="000000"/>
                          </a:solidFill>
                        </a:defRPr>
                      </a:pPr>
                      <a:r>
                        <a:rPr b="1" sz="700">
                          <a:solidFill>
                            <a:srgbClr val="FFFFFF"/>
                          </a:solidFill>
                          <a:latin typeface="Open Sans"/>
                          <a:ea typeface="Open Sans"/>
                          <a:cs typeface="Open Sans"/>
                          <a:sym typeface="Open Sans"/>
                        </a:rPr>
                        <a:t>&lt;=₹200</a:t>
                      </a:r>
                    </a:p>
                  </a:txBody>
                  <a:tcPr marL="45720" marR="45720" marT="45720" marB="45720" anchor="ctr" anchorCtr="0" horzOverflow="overflow">
                    <a:lnL w="3175">
                      <a:solidFill>
                        <a:srgbClr val="002060"/>
                      </a:solidFill>
                      <a:prstDash val="lgDash"/>
                    </a:lnL>
                    <a:lnR w="3175">
                      <a:solidFill>
                        <a:srgbClr val="002060"/>
                      </a:solidFill>
                      <a:prstDash val="lgDash"/>
                    </a:lnR>
                    <a:lnT w="12700">
                      <a:miter lim="400000"/>
                    </a:lnT>
                    <a:lnB w="3175">
                      <a:solidFill>
                        <a:srgbClr val="002060"/>
                      </a:solidFill>
                      <a:prstDash val="lgDash"/>
                    </a:lnB>
                    <a:solidFill>
                      <a:srgbClr val="002060"/>
                    </a:solidFill>
                  </a:tcPr>
                </a:tc>
                <a:tc>
                  <a:txBody>
                    <a:bodyPr/>
                    <a:lstStyle/>
                    <a:p>
                      <a:pPr algn="ctr">
                        <a:defRPr b="0" sz="1800">
                          <a:solidFill>
                            <a:srgbClr val="000000"/>
                          </a:solidFill>
                        </a:defRPr>
                      </a:pPr>
                      <a:r>
                        <a:rPr b="1" sz="700">
                          <a:solidFill>
                            <a:srgbClr val="FFFFFF"/>
                          </a:solidFill>
                          <a:latin typeface="Open Sans"/>
                          <a:ea typeface="Open Sans"/>
                          <a:cs typeface="Open Sans"/>
                          <a:sym typeface="Open Sans"/>
                        </a:rPr>
                        <a:t> &lt;=₹500</a:t>
                      </a:r>
                    </a:p>
                  </a:txBody>
                  <a:tcPr marL="45720" marR="45720" marT="45720" marB="45720" anchor="ctr" anchorCtr="0" horzOverflow="overflow">
                    <a:lnL w="3175">
                      <a:solidFill>
                        <a:srgbClr val="002060"/>
                      </a:solidFill>
                      <a:prstDash val="lgDash"/>
                    </a:lnL>
                    <a:lnR w="3175">
                      <a:solidFill>
                        <a:srgbClr val="002060"/>
                      </a:solidFill>
                      <a:prstDash val="lgDash"/>
                    </a:lnR>
                    <a:lnT w="12700">
                      <a:miter lim="400000"/>
                    </a:lnT>
                    <a:lnB w="3175">
                      <a:solidFill>
                        <a:srgbClr val="002060"/>
                      </a:solidFill>
                      <a:prstDash val="lgDash"/>
                    </a:lnB>
                    <a:solidFill>
                      <a:srgbClr val="002060"/>
                    </a:solidFill>
                  </a:tcPr>
                </a:tc>
                <a:tc>
                  <a:txBody>
                    <a:bodyPr/>
                    <a:lstStyle/>
                    <a:p>
                      <a:pPr algn="ctr">
                        <a:defRPr b="0" sz="1800">
                          <a:solidFill>
                            <a:srgbClr val="000000"/>
                          </a:solidFill>
                        </a:defRPr>
                      </a:pPr>
                      <a:r>
                        <a:rPr b="1" sz="700">
                          <a:solidFill>
                            <a:srgbClr val="FFFFFF"/>
                          </a:solidFill>
                          <a:latin typeface="Open Sans"/>
                          <a:ea typeface="Open Sans"/>
                          <a:cs typeface="Open Sans"/>
                          <a:sym typeface="Open Sans"/>
                        </a:rPr>
                        <a:t>₹500+</a:t>
                      </a:r>
                    </a:p>
                  </a:txBody>
                  <a:tcPr marL="45720" marR="45720" marT="45720" marB="45720" anchor="ctr" anchorCtr="0" horzOverflow="overflow">
                    <a:lnL w="3175">
                      <a:solidFill>
                        <a:srgbClr val="002060"/>
                      </a:solidFill>
                      <a:prstDash val="lgDash"/>
                    </a:lnL>
                    <a:lnR w="3175">
                      <a:solidFill>
                        <a:srgbClr val="002060"/>
                      </a:solidFill>
                      <a:prstDash val="lgDash"/>
                    </a:lnR>
                    <a:lnT w="12700">
                      <a:miter lim="400000"/>
                    </a:lnT>
                    <a:lnB w="3175">
                      <a:solidFill>
                        <a:srgbClr val="002060"/>
                      </a:solidFill>
                      <a:prstDash val="lgDash"/>
                    </a:lnB>
                    <a:solidFill>
                      <a:srgbClr val="002060"/>
                    </a:solidFill>
                  </a:tcPr>
                </a:tc>
                <a:tc>
                  <a:txBody>
                    <a:bodyPr/>
                    <a:lstStyle/>
                    <a:p>
                      <a:pPr algn="ctr">
                        <a:defRPr b="0" sz="1800">
                          <a:solidFill>
                            <a:srgbClr val="000000"/>
                          </a:solidFill>
                        </a:defRPr>
                      </a:pPr>
                      <a:r>
                        <a:rPr b="1" sz="800">
                          <a:solidFill>
                            <a:srgbClr val="002060"/>
                          </a:solidFill>
                          <a:latin typeface="Open Sans"/>
                          <a:ea typeface="Open Sans"/>
                          <a:cs typeface="Open Sans"/>
                          <a:sym typeface="Open Sans"/>
                        </a:rPr>
                        <a:t>Customers</a:t>
                      </a:r>
                    </a:p>
                  </a:txBody>
                  <a:tcPr marL="45720" marR="45720" marT="45720" marB="45720" anchor="ctr" anchorCtr="0" horzOverflow="overflow">
                    <a:lnL w="3175">
                      <a:solidFill>
                        <a:srgbClr val="002060"/>
                      </a:solidFill>
                      <a:prstDash val="lgDash"/>
                    </a:lnL>
                    <a:lnR w="12700">
                      <a:miter lim="400000"/>
                    </a:lnR>
                    <a:lnT w="12700">
                      <a:miter lim="400000"/>
                    </a:lnT>
                    <a:lnB w="3175">
                      <a:solidFill>
                        <a:srgbClr val="002060"/>
                      </a:solidFill>
                      <a:prstDash val="lgDash"/>
                    </a:lnB>
                    <a:noFill/>
                  </a:tcPr>
                </a:tc>
              </a:tr>
              <a:tr h="156673">
                <a:tc>
                  <a:txBody>
                    <a:bodyPr/>
                    <a:lstStyle/>
                    <a:p>
                      <a:pPr algn="ctr">
                        <a:defRPr sz="1800"/>
                      </a:pPr>
                      <a:r>
                        <a:rPr b="1" sz="700">
                          <a:solidFill>
                            <a:srgbClr val="FFFFFF"/>
                          </a:solidFill>
                          <a:latin typeface="Open Sans"/>
                          <a:ea typeface="Open Sans"/>
                          <a:cs typeface="Open Sans"/>
                          <a:sym typeface="Open Sans"/>
                        </a:rPr>
                        <a:t>&lt;=₹5</a:t>
                      </a:r>
                    </a:p>
                  </a:txBody>
                  <a:tcPr marL="45720" marR="45720" marT="45720" marB="45720" anchor="ctr" anchorCtr="0" horzOverflow="overflow">
                    <a:lnL w="12700">
                      <a:miter lim="400000"/>
                    </a:lnL>
                    <a:lnR w="3175">
                      <a:solidFill>
                        <a:srgbClr val="002060"/>
                      </a:solidFill>
                      <a:prstDash val="lgDash"/>
                    </a:lnR>
                    <a:lnT w="3175">
                      <a:solidFill>
                        <a:srgbClr val="002060"/>
                      </a:solidFill>
                      <a:prstDash val="lgDash"/>
                    </a:lnT>
                    <a:lnB w="3175">
                      <a:solidFill>
                        <a:srgbClr val="002060"/>
                      </a:solidFill>
                      <a:prstDash val="lgDash"/>
                    </a:lnB>
                    <a:solidFill>
                      <a:srgbClr val="002060"/>
                    </a:solidFill>
                  </a:tcPr>
                </a:tc>
                <a:tc>
                  <a:txBody>
                    <a:bodyPr/>
                    <a:lstStyle/>
                    <a:p>
                      <a:pPr algn="ctr">
                        <a:defRPr sz="1800"/>
                      </a:pPr>
                      <a:r>
                        <a:rPr sz="700">
                          <a:solidFill>
                            <a:srgbClr val="002060"/>
                          </a:solidFill>
                          <a:latin typeface="Open Sans"/>
                          <a:ea typeface="Open Sans"/>
                          <a:cs typeface="Open Sans"/>
                          <a:sym typeface="Open Sans"/>
                        </a:rPr>
                        <a:t>55%</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002060"/>
                          </a:solidFill>
                          <a:latin typeface="Open Sans"/>
                          <a:ea typeface="Open Sans"/>
                          <a:cs typeface="Open Sans"/>
                          <a:sym typeface="Open Sans"/>
                        </a:rPr>
                        <a:t>29%</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A6A6A6"/>
                          </a:solidFill>
                          <a:latin typeface="Open Sans"/>
                          <a:ea typeface="Open Sans"/>
                          <a:cs typeface="Open Sans"/>
                          <a:sym typeface="Open Sans"/>
                        </a:rPr>
                        <a:t>7%</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4%</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2%</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2%</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1%</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b="1" sz="800">
                          <a:solidFill>
                            <a:srgbClr val="002060"/>
                          </a:solidFill>
                          <a:latin typeface="Open Sans"/>
                          <a:ea typeface="Open Sans"/>
                          <a:cs typeface="Open Sans"/>
                          <a:sym typeface="Open Sans"/>
                        </a:rPr>
                        <a:t>64%</a:t>
                      </a:r>
                    </a:p>
                  </a:txBody>
                  <a:tcPr marL="9525" marR="9525" marT="9525" marB="9525" anchor="ctr" anchorCtr="0" horzOverflow="overflow">
                    <a:lnL w="3175">
                      <a:solidFill>
                        <a:srgbClr val="002060"/>
                      </a:solidFill>
                      <a:prstDash val="lgDash"/>
                    </a:lnL>
                    <a:lnR w="12700">
                      <a:miter lim="400000"/>
                    </a:lnR>
                    <a:lnT w="3175">
                      <a:solidFill>
                        <a:srgbClr val="002060"/>
                      </a:solidFill>
                      <a:prstDash val="lgDash"/>
                    </a:lnT>
                    <a:lnB w="3175">
                      <a:solidFill>
                        <a:srgbClr val="002060"/>
                      </a:solidFill>
                      <a:prstDash val="lgDash"/>
                    </a:lnB>
                    <a:noFill/>
                  </a:tcPr>
                </a:tc>
              </a:tr>
              <a:tr h="156673">
                <a:tc>
                  <a:txBody>
                    <a:bodyPr/>
                    <a:lstStyle/>
                    <a:p>
                      <a:pPr algn="ctr">
                        <a:defRPr sz="1800"/>
                      </a:pPr>
                      <a:r>
                        <a:rPr b="1" sz="700">
                          <a:solidFill>
                            <a:srgbClr val="FFFFFF"/>
                          </a:solidFill>
                          <a:latin typeface="Open Sans"/>
                          <a:ea typeface="Open Sans"/>
                          <a:cs typeface="Open Sans"/>
                          <a:sym typeface="Open Sans"/>
                        </a:rPr>
                        <a:t>&lt;=₹25</a:t>
                      </a:r>
                    </a:p>
                  </a:txBody>
                  <a:tcPr marL="45720" marR="45720" marT="45720" marB="45720" anchor="ctr" anchorCtr="0" horzOverflow="overflow">
                    <a:lnL w="12700">
                      <a:miter lim="400000"/>
                    </a:lnL>
                    <a:lnR w="3175">
                      <a:solidFill>
                        <a:srgbClr val="002060"/>
                      </a:solidFill>
                      <a:prstDash val="lgDash"/>
                    </a:lnR>
                    <a:lnT w="3175">
                      <a:solidFill>
                        <a:srgbClr val="002060"/>
                      </a:solidFill>
                      <a:prstDash val="lgDash"/>
                    </a:lnT>
                    <a:lnB w="3175">
                      <a:solidFill>
                        <a:srgbClr val="002060"/>
                      </a:solidFill>
                      <a:prstDash val="lgDash"/>
                    </a:lnB>
                    <a:solidFill>
                      <a:srgbClr val="002060"/>
                    </a:solidFill>
                  </a:tcPr>
                </a:tc>
                <a:tc>
                  <a:txBody>
                    <a:bodyPr/>
                    <a:lstStyle/>
                    <a:p>
                      <a:pPr algn="ctr">
                        <a:defRPr sz="1800"/>
                      </a:pPr>
                      <a:r>
                        <a:rPr sz="700">
                          <a:solidFill>
                            <a:srgbClr val="002060"/>
                          </a:solidFill>
                          <a:latin typeface="Open Sans"/>
                          <a:ea typeface="Open Sans"/>
                          <a:cs typeface="Open Sans"/>
                          <a:sym typeface="Open Sans"/>
                        </a:rPr>
                        <a:t>10%</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002060"/>
                          </a:solidFill>
                          <a:latin typeface="Open Sans"/>
                          <a:ea typeface="Open Sans"/>
                          <a:cs typeface="Open Sans"/>
                          <a:sym typeface="Open Sans"/>
                        </a:rPr>
                        <a:t>33%</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002060"/>
                          </a:solidFill>
                          <a:latin typeface="Open Sans"/>
                          <a:ea typeface="Open Sans"/>
                          <a:cs typeface="Open Sans"/>
                          <a:sym typeface="Open Sans"/>
                        </a:rPr>
                        <a:t>20%</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A6A6A6"/>
                          </a:solidFill>
                          <a:latin typeface="Open Sans"/>
                          <a:ea typeface="Open Sans"/>
                          <a:cs typeface="Open Sans"/>
                          <a:sym typeface="Open Sans"/>
                        </a:rPr>
                        <a:t>17%</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10%</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7%</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3%</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b="1" sz="800">
                          <a:solidFill>
                            <a:srgbClr val="002060"/>
                          </a:solidFill>
                          <a:latin typeface="Open Sans"/>
                          <a:ea typeface="Open Sans"/>
                          <a:cs typeface="Open Sans"/>
                          <a:sym typeface="Open Sans"/>
                        </a:rPr>
                        <a:t>12%</a:t>
                      </a:r>
                    </a:p>
                  </a:txBody>
                  <a:tcPr marL="9525" marR="9525" marT="9525" marB="9525" anchor="ctr" anchorCtr="0" horzOverflow="overflow">
                    <a:lnL w="3175">
                      <a:solidFill>
                        <a:srgbClr val="002060"/>
                      </a:solidFill>
                      <a:prstDash val="lgDash"/>
                    </a:lnL>
                    <a:lnR w="12700">
                      <a:miter lim="400000"/>
                    </a:lnR>
                    <a:lnT w="3175">
                      <a:solidFill>
                        <a:srgbClr val="002060"/>
                      </a:solidFill>
                      <a:prstDash val="lgDash"/>
                    </a:lnT>
                    <a:lnB w="3175">
                      <a:solidFill>
                        <a:srgbClr val="002060"/>
                      </a:solidFill>
                      <a:prstDash val="lgDash"/>
                    </a:lnB>
                    <a:noFill/>
                  </a:tcPr>
                </a:tc>
              </a:tr>
              <a:tr h="156673">
                <a:tc>
                  <a:txBody>
                    <a:bodyPr/>
                    <a:lstStyle/>
                    <a:p>
                      <a:pPr algn="ctr">
                        <a:defRPr sz="1800"/>
                      </a:pPr>
                      <a:r>
                        <a:rPr b="1" sz="700">
                          <a:solidFill>
                            <a:srgbClr val="FFFFFF"/>
                          </a:solidFill>
                          <a:latin typeface="Open Sans"/>
                          <a:ea typeface="Open Sans"/>
                          <a:cs typeface="Open Sans"/>
                          <a:sym typeface="Open Sans"/>
                        </a:rPr>
                        <a:t>&lt;=₹50</a:t>
                      </a:r>
                    </a:p>
                  </a:txBody>
                  <a:tcPr marL="45720" marR="45720" marT="45720" marB="45720" anchor="ctr" anchorCtr="0" horzOverflow="overflow">
                    <a:lnL w="12700">
                      <a:miter lim="400000"/>
                    </a:lnL>
                    <a:lnR w="3175">
                      <a:solidFill>
                        <a:srgbClr val="002060"/>
                      </a:solidFill>
                      <a:prstDash val="lgDash"/>
                    </a:lnR>
                    <a:lnT w="3175">
                      <a:solidFill>
                        <a:srgbClr val="002060"/>
                      </a:solidFill>
                      <a:prstDash val="lgDash"/>
                    </a:lnT>
                    <a:lnB w="3175">
                      <a:solidFill>
                        <a:srgbClr val="002060"/>
                      </a:solidFill>
                      <a:prstDash val="lgDash"/>
                    </a:lnB>
                    <a:solidFill>
                      <a:srgbClr val="002060"/>
                    </a:solidFill>
                  </a:tcPr>
                </a:tc>
                <a:tc>
                  <a:txBody>
                    <a:bodyPr/>
                    <a:lstStyle/>
                    <a:p>
                      <a:pPr algn="ctr">
                        <a:defRPr sz="1800"/>
                      </a:pPr>
                      <a:r>
                        <a:rPr sz="700">
                          <a:solidFill>
                            <a:srgbClr val="A6A6A6"/>
                          </a:solidFill>
                          <a:latin typeface="Open Sans"/>
                          <a:ea typeface="Open Sans"/>
                          <a:cs typeface="Open Sans"/>
                          <a:sym typeface="Open Sans"/>
                        </a:rPr>
                        <a:t>5%</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002060"/>
                          </a:solidFill>
                          <a:latin typeface="Open Sans"/>
                          <a:ea typeface="Open Sans"/>
                          <a:cs typeface="Open Sans"/>
                          <a:sym typeface="Open Sans"/>
                        </a:rPr>
                        <a:t>21%</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002060"/>
                          </a:solidFill>
                          <a:latin typeface="Open Sans"/>
                          <a:ea typeface="Open Sans"/>
                          <a:cs typeface="Open Sans"/>
                          <a:sym typeface="Open Sans"/>
                        </a:rPr>
                        <a:t>17%</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002060"/>
                          </a:solidFill>
                          <a:latin typeface="Open Sans"/>
                          <a:ea typeface="Open Sans"/>
                          <a:cs typeface="Open Sans"/>
                          <a:sym typeface="Open Sans"/>
                        </a:rPr>
                        <a:t>20%</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A6A6A6"/>
                          </a:solidFill>
                          <a:latin typeface="Open Sans"/>
                          <a:ea typeface="Open Sans"/>
                          <a:cs typeface="Open Sans"/>
                          <a:sym typeface="Open Sans"/>
                        </a:rPr>
                        <a:t>17%</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14%</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6%</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b="1" sz="800">
                          <a:solidFill>
                            <a:srgbClr val="002060"/>
                          </a:solidFill>
                          <a:latin typeface="Open Sans"/>
                          <a:ea typeface="Open Sans"/>
                          <a:cs typeface="Open Sans"/>
                          <a:sym typeface="Open Sans"/>
                        </a:rPr>
                        <a:t>6%</a:t>
                      </a:r>
                    </a:p>
                  </a:txBody>
                  <a:tcPr marL="9525" marR="9525" marT="9525" marB="9525" anchor="ctr" anchorCtr="0" horzOverflow="overflow">
                    <a:lnL w="3175">
                      <a:solidFill>
                        <a:srgbClr val="002060"/>
                      </a:solidFill>
                      <a:prstDash val="lgDash"/>
                    </a:lnL>
                    <a:lnR w="12700">
                      <a:miter lim="400000"/>
                    </a:lnR>
                    <a:lnT w="3175">
                      <a:solidFill>
                        <a:srgbClr val="002060"/>
                      </a:solidFill>
                      <a:prstDash val="lgDash"/>
                    </a:lnT>
                    <a:lnB w="3175">
                      <a:solidFill>
                        <a:srgbClr val="002060"/>
                      </a:solidFill>
                      <a:prstDash val="lgDash"/>
                    </a:lnB>
                    <a:noFill/>
                  </a:tcPr>
                </a:tc>
              </a:tr>
              <a:tr h="156673">
                <a:tc>
                  <a:txBody>
                    <a:bodyPr/>
                    <a:lstStyle/>
                    <a:p>
                      <a:pPr algn="ctr">
                        <a:defRPr sz="1800"/>
                      </a:pPr>
                      <a:r>
                        <a:rPr b="1" sz="700">
                          <a:solidFill>
                            <a:srgbClr val="FFFFFF"/>
                          </a:solidFill>
                          <a:latin typeface="Open Sans"/>
                          <a:ea typeface="Open Sans"/>
                          <a:cs typeface="Open Sans"/>
                          <a:sym typeface="Open Sans"/>
                        </a:rPr>
                        <a:t>&lt;=₹100</a:t>
                      </a:r>
                    </a:p>
                  </a:txBody>
                  <a:tcPr marL="45720" marR="45720" marT="45720" marB="45720" anchor="ctr" anchorCtr="0" horzOverflow="overflow">
                    <a:lnL w="12700">
                      <a:miter lim="400000"/>
                    </a:lnL>
                    <a:lnR w="3175">
                      <a:solidFill>
                        <a:srgbClr val="002060"/>
                      </a:solidFill>
                      <a:prstDash val="lgDash"/>
                    </a:lnR>
                    <a:lnT w="3175">
                      <a:solidFill>
                        <a:srgbClr val="002060"/>
                      </a:solidFill>
                      <a:prstDash val="lgDash"/>
                    </a:lnT>
                    <a:lnB w="3175">
                      <a:solidFill>
                        <a:srgbClr val="002060"/>
                      </a:solidFill>
                      <a:prstDash val="lgDash"/>
                    </a:lnB>
                    <a:solidFill>
                      <a:srgbClr val="002060"/>
                    </a:solidFill>
                  </a:tcPr>
                </a:tc>
                <a:tc>
                  <a:txBody>
                    <a:bodyPr/>
                    <a:lstStyle/>
                    <a:p>
                      <a:pPr algn="ctr">
                        <a:defRPr sz="1800"/>
                      </a:pPr>
                      <a:r>
                        <a:rPr sz="700">
                          <a:solidFill>
                            <a:srgbClr val="A6A6A6"/>
                          </a:solidFill>
                          <a:latin typeface="Open Sans"/>
                          <a:ea typeface="Open Sans"/>
                          <a:cs typeface="Open Sans"/>
                          <a:sym typeface="Open Sans"/>
                        </a:rPr>
                        <a:t>4%</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14%</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002060"/>
                          </a:solidFill>
                          <a:latin typeface="Open Sans"/>
                          <a:ea typeface="Open Sans"/>
                          <a:cs typeface="Open Sans"/>
                          <a:sym typeface="Open Sans"/>
                        </a:rPr>
                        <a:t>13%</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002060"/>
                          </a:solidFill>
                          <a:latin typeface="Open Sans"/>
                          <a:ea typeface="Open Sans"/>
                          <a:cs typeface="Open Sans"/>
                          <a:sym typeface="Open Sans"/>
                        </a:rPr>
                        <a:t>18%</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002060"/>
                          </a:solidFill>
                          <a:latin typeface="Open Sans"/>
                          <a:ea typeface="Open Sans"/>
                          <a:cs typeface="Open Sans"/>
                          <a:sym typeface="Open Sans"/>
                        </a:rPr>
                        <a:t>20%</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A6A6A6"/>
                          </a:solidFill>
                          <a:latin typeface="Open Sans"/>
                          <a:ea typeface="Open Sans"/>
                          <a:cs typeface="Open Sans"/>
                          <a:sym typeface="Open Sans"/>
                        </a:rPr>
                        <a:t>20%</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10%</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b="1" sz="800">
                          <a:solidFill>
                            <a:srgbClr val="002060"/>
                          </a:solidFill>
                          <a:latin typeface="Open Sans"/>
                          <a:ea typeface="Open Sans"/>
                          <a:cs typeface="Open Sans"/>
                          <a:sym typeface="Open Sans"/>
                        </a:rPr>
                        <a:t>5%</a:t>
                      </a:r>
                    </a:p>
                  </a:txBody>
                  <a:tcPr marL="9525" marR="9525" marT="9525" marB="9525" anchor="ctr" anchorCtr="0" horzOverflow="overflow">
                    <a:lnL w="3175">
                      <a:solidFill>
                        <a:srgbClr val="002060"/>
                      </a:solidFill>
                      <a:prstDash val="lgDash"/>
                    </a:lnL>
                    <a:lnR w="12700">
                      <a:miter lim="400000"/>
                    </a:lnR>
                    <a:lnT w="3175">
                      <a:solidFill>
                        <a:srgbClr val="002060"/>
                      </a:solidFill>
                      <a:prstDash val="lgDash"/>
                    </a:lnT>
                    <a:lnB w="3175">
                      <a:solidFill>
                        <a:srgbClr val="002060"/>
                      </a:solidFill>
                      <a:prstDash val="lgDash"/>
                    </a:lnB>
                    <a:noFill/>
                  </a:tcPr>
                </a:tc>
              </a:tr>
              <a:tr h="156673">
                <a:tc>
                  <a:txBody>
                    <a:bodyPr/>
                    <a:lstStyle/>
                    <a:p>
                      <a:pPr algn="ctr">
                        <a:defRPr sz="1800"/>
                      </a:pPr>
                      <a:r>
                        <a:rPr b="1" sz="700">
                          <a:solidFill>
                            <a:srgbClr val="FFFFFF"/>
                          </a:solidFill>
                          <a:latin typeface="Open Sans"/>
                          <a:ea typeface="Open Sans"/>
                          <a:cs typeface="Open Sans"/>
                          <a:sym typeface="Open Sans"/>
                        </a:rPr>
                        <a:t>&lt;=₹200</a:t>
                      </a:r>
                    </a:p>
                  </a:txBody>
                  <a:tcPr marL="45720" marR="45720" marT="45720" marB="45720" anchor="ctr" anchorCtr="0" horzOverflow="overflow">
                    <a:lnL w="12700">
                      <a:miter lim="400000"/>
                    </a:lnL>
                    <a:lnR w="3175">
                      <a:solidFill>
                        <a:srgbClr val="002060"/>
                      </a:solidFill>
                      <a:prstDash val="lgDash"/>
                    </a:lnR>
                    <a:lnT w="3175">
                      <a:solidFill>
                        <a:srgbClr val="002060"/>
                      </a:solidFill>
                      <a:prstDash val="lgDash"/>
                    </a:lnT>
                    <a:lnB w="3175">
                      <a:solidFill>
                        <a:srgbClr val="002060"/>
                      </a:solidFill>
                      <a:prstDash val="lgDash"/>
                    </a:lnB>
                    <a:solidFill>
                      <a:srgbClr val="002060"/>
                    </a:solidFill>
                  </a:tcPr>
                </a:tc>
                <a:tc>
                  <a:txBody>
                    <a:bodyPr/>
                    <a:lstStyle/>
                    <a:p>
                      <a:pPr algn="ctr">
                        <a:defRPr sz="1800"/>
                      </a:pPr>
                      <a:r>
                        <a:rPr sz="700">
                          <a:solidFill>
                            <a:srgbClr val="A6A6A6"/>
                          </a:solidFill>
                          <a:latin typeface="Open Sans"/>
                          <a:ea typeface="Open Sans"/>
                          <a:cs typeface="Open Sans"/>
                          <a:sym typeface="Open Sans"/>
                        </a:rPr>
                        <a:t>3%</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9%</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9%</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002060"/>
                          </a:solidFill>
                          <a:latin typeface="Open Sans"/>
                          <a:ea typeface="Open Sans"/>
                          <a:cs typeface="Open Sans"/>
                          <a:sym typeface="Open Sans"/>
                        </a:rPr>
                        <a:t>14%</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002060"/>
                          </a:solidFill>
                          <a:latin typeface="Open Sans"/>
                          <a:ea typeface="Open Sans"/>
                          <a:cs typeface="Open Sans"/>
                          <a:sym typeface="Open Sans"/>
                        </a:rPr>
                        <a:t>19%</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002060"/>
                          </a:solidFill>
                          <a:latin typeface="Open Sans"/>
                          <a:ea typeface="Open Sans"/>
                          <a:cs typeface="Open Sans"/>
                          <a:sym typeface="Open Sans"/>
                        </a:rPr>
                        <a:t>27%</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A6A6A6"/>
                          </a:solidFill>
                          <a:latin typeface="Open Sans"/>
                          <a:ea typeface="Open Sans"/>
                          <a:cs typeface="Open Sans"/>
                          <a:sym typeface="Open Sans"/>
                        </a:rPr>
                        <a:t>19%</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b="1" sz="800">
                          <a:solidFill>
                            <a:srgbClr val="002060"/>
                          </a:solidFill>
                          <a:latin typeface="Open Sans"/>
                          <a:ea typeface="Open Sans"/>
                          <a:cs typeface="Open Sans"/>
                          <a:sym typeface="Open Sans"/>
                        </a:rPr>
                        <a:t>4%</a:t>
                      </a:r>
                    </a:p>
                  </a:txBody>
                  <a:tcPr marL="9525" marR="9525" marT="9525" marB="9525" anchor="ctr" anchorCtr="0" horzOverflow="overflow">
                    <a:lnL w="3175">
                      <a:solidFill>
                        <a:srgbClr val="002060"/>
                      </a:solidFill>
                      <a:prstDash val="lgDash"/>
                    </a:lnL>
                    <a:lnR w="12700">
                      <a:miter lim="400000"/>
                    </a:lnR>
                    <a:lnT w="3175">
                      <a:solidFill>
                        <a:srgbClr val="002060"/>
                      </a:solidFill>
                      <a:prstDash val="lgDash"/>
                    </a:lnT>
                    <a:lnB w="3175">
                      <a:solidFill>
                        <a:srgbClr val="002060"/>
                      </a:solidFill>
                      <a:prstDash val="lgDash"/>
                    </a:lnB>
                    <a:noFill/>
                  </a:tcPr>
                </a:tc>
              </a:tr>
              <a:tr h="156673">
                <a:tc>
                  <a:txBody>
                    <a:bodyPr/>
                    <a:lstStyle/>
                    <a:p>
                      <a:pPr algn="ctr">
                        <a:defRPr sz="1800"/>
                      </a:pPr>
                      <a:r>
                        <a:rPr b="1" sz="700">
                          <a:solidFill>
                            <a:srgbClr val="FFFFFF"/>
                          </a:solidFill>
                          <a:latin typeface="Open Sans"/>
                          <a:ea typeface="Open Sans"/>
                          <a:cs typeface="Open Sans"/>
                          <a:sym typeface="Open Sans"/>
                        </a:rPr>
                        <a:t>&lt;=₹500</a:t>
                      </a:r>
                    </a:p>
                  </a:txBody>
                  <a:tcPr marL="45720" marR="45720" marT="45720" marB="45720" anchor="ctr" anchorCtr="0" horzOverflow="overflow">
                    <a:lnL w="12700">
                      <a:miter lim="400000"/>
                    </a:lnL>
                    <a:lnR w="3175">
                      <a:solidFill>
                        <a:srgbClr val="002060"/>
                      </a:solidFill>
                      <a:prstDash val="lgDash"/>
                    </a:lnR>
                    <a:lnT w="3175">
                      <a:solidFill>
                        <a:srgbClr val="002060"/>
                      </a:solidFill>
                      <a:prstDash val="lgDash"/>
                    </a:lnT>
                    <a:lnB w="3175">
                      <a:solidFill>
                        <a:srgbClr val="002060"/>
                      </a:solidFill>
                      <a:prstDash val="lgDash"/>
                    </a:lnB>
                    <a:solidFill>
                      <a:srgbClr val="002060"/>
                    </a:solidFill>
                  </a:tcPr>
                </a:tc>
                <a:tc>
                  <a:txBody>
                    <a:bodyPr/>
                    <a:lstStyle/>
                    <a:p>
                      <a:pPr algn="ctr">
                        <a:defRPr sz="1800"/>
                      </a:pPr>
                      <a:r>
                        <a:rPr sz="700">
                          <a:solidFill>
                            <a:srgbClr val="A6A6A6"/>
                          </a:solidFill>
                          <a:latin typeface="Open Sans"/>
                          <a:ea typeface="Open Sans"/>
                          <a:cs typeface="Open Sans"/>
                          <a:sym typeface="Open Sans"/>
                        </a:rPr>
                        <a:t>2%</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6%</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5%</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9%</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002060"/>
                          </a:solidFill>
                          <a:latin typeface="Open Sans"/>
                          <a:ea typeface="Open Sans"/>
                          <a:cs typeface="Open Sans"/>
                          <a:sym typeface="Open Sans"/>
                        </a:rPr>
                        <a:t>14%</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002060"/>
                          </a:solidFill>
                          <a:latin typeface="Open Sans"/>
                          <a:ea typeface="Open Sans"/>
                          <a:cs typeface="Open Sans"/>
                          <a:sym typeface="Open Sans"/>
                        </a:rPr>
                        <a:t>28%</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002060"/>
                          </a:solidFill>
                          <a:latin typeface="Open Sans"/>
                          <a:ea typeface="Open Sans"/>
                          <a:cs typeface="Open Sans"/>
                          <a:sym typeface="Open Sans"/>
                        </a:rPr>
                        <a:t>36%</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b="1" sz="800">
                          <a:solidFill>
                            <a:srgbClr val="002060"/>
                          </a:solidFill>
                          <a:latin typeface="Open Sans"/>
                          <a:ea typeface="Open Sans"/>
                          <a:cs typeface="Open Sans"/>
                          <a:sym typeface="Open Sans"/>
                        </a:rPr>
                        <a:t>4%</a:t>
                      </a:r>
                    </a:p>
                  </a:txBody>
                  <a:tcPr marL="9525" marR="9525" marT="9525" marB="9525" anchor="ctr" anchorCtr="0" horzOverflow="overflow">
                    <a:lnL w="3175">
                      <a:solidFill>
                        <a:srgbClr val="002060"/>
                      </a:solidFill>
                      <a:prstDash val="lgDash"/>
                    </a:lnL>
                    <a:lnR w="12700">
                      <a:miter lim="400000"/>
                    </a:lnR>
                    <a:lnT w="3175">
                      <a:solidFill>
                        <a:srgbClr val="002060"/>
                      </a:solidFill>
                      <a:prstDash val="lgDash"/>
                    </a:lnT>
                    <a:lnB w="3175">
                      <a:solidFill>
                        <a:srgbClr val="002060"/>
                      </a:solidFill>
                      <a:prstDash val="lgDash"/>
                    </a:lnB>
                    <a:noFill/>
                  </a:tcPr>
                </a:tc>
              </a:tr>
              <a:tr h="156673">
                <a:tc>
                  <a:txBody>
                    <a:bodyPr/>
                    <a:lstStyle/>
                    <a:p>
                      <a:pPr algn="ctr">
                        <a:defRPr sz="1800"/>
                      </a:pPr>
                      <a:r>
                        <a:rPr b="1" sz="700">
                          <a:solidFill>
                            <a:srgbClr val="FFFFFF"/>
                          </a:solidFill>
                          <a:latin typeface="Open Sans"/>
                          <a:ea typeface="Open Sans"/>
                          <a:cs typeface="Open Sans"/>
                          <a:sym typeface="Open Sans"/>
                        </a:rPr>
                        <a:t>₹500+</a:t>
                      </a:r>
                    </a:p>
                  </a:txBody>
                  <a:tcPr marL="45720" marR="45720" marT="45720" marB="45720" anchor="ctr" anchorCtr="0" horzOverflow="overflow">
                    <a:lnL w="12700">
                      <a:miter lim="400000"/>
                    </a:lnL>
                    <a:lnR w="3175">
                      <a:solidFill>
                        <a:srgbClr val="002060"/>
                      </a:solidFill>
                      <a:prstDash val="lgDash"/>
                    </a:lnR>
                    <a:lnT w="3175">
                      <a:solidFill>
                        <a:srgbClr val="002060"/>
                      </a:solidFill>
                      <a:prstDash val="lgDash"/>
                    </a:lnT>
                    <a:lnB w="3175">
                      <a:solidFill>
                        <a:srgbClr val="002060"/>
                      </a:solidFill>
                      <a:prstDash val="lgDash"/>
                    </a:lnB>
                    <a:solidFill>
                      <a:srgbClr val="002060"/>
                    </a:solidFill>
                  </a:tcPr>
                </a:tc>
                <a:tc>
                  <a:txBody>
                    <a:bodyPr/>
                    <a:lstStyle/>
                    <a:p>
                      <a:pPr algn="ctr">
                        <a:defRPr sz="1800"/>
                      </a:pPr>
                      <a:r>
                        <a:rPr sz="700">
                          <a:solidFill>
                            <a:srgbClr val="A6A6A6"/>
                          </a:solidFill>
                          <a:latin typeface="Open Sans"/>
                          <a:ea typeface="Open Sans"/>
                          <a:cs typeface="Open Sans"/>
                          <a:sym typeface="Open Sans"/>
                        </a:rPr>
                        <a:t>1%</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3%</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3%</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4%</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A6A6A6"/>
                          </a:solidFill>
                          <a:latin typeface="Open Sans"/>
                          <a:ea typeface="Open Sans"/>
                          <a:cs typeface="Open Sans"/>
                          <a:sym typeface="Open Sans"/>
                        </a:rPr>
                        <a:t>6%</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700">
                          <a:solidFill>
                            <a:srgbClr val="002060"/>
                          </a:solidFill>
                          <a:latin typeface="Open Sans"/>
                          <a:ea typeface="Open Sans"/>
                          <a:cs typeface="Open Sans"/>
                          <a:sym typeface="Open Sans"/>
                        </a:rPr>
                        <a:t>13%</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sz="700">
                          <a:solidFill>
                            <a:srgbClr val="002060"/>
                          </a:solidFill>
                          <a:latin typeface="Open Sans"/>
                          <a:ea typeface="Open Sans"/>
                          <a:cs typeface="Open Sans"/>
                          <a:sym typeface="Open Sans"/>
                        </a:rPr>
                        <a:t>70%</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solidFill>
                      <a:srgbClr val="92D050"/>
                    </a:solidFill>
                  </a:tcPr>
                </a:tc>
                <a:tc>
                  <a:txBody>
                    <a:bodyPr/>
                    <a:lstStyle/>
                    <a:p>
                      <a:pPr algn="ctr">
                        <a:defRPr sz="1800"/>
                      </a:pPr>
                      <a:r>
                        <a:rPr b="1" sz="800">
                          <a:solidFill>
                            <a:srgbClr val="002060"/>
                          </a:solidFill>
                          <a:latin typeface="Open Sans"/>
                          <a:ea typeface="Open Sans"/>
                          <a:cs typeface="Open Sans"/>
                          <a:sym typeface="Open Sans"/>
                        </a:rPr>
                        <a:t>4%</a:t>
                      </a:r>
                    </a:p>
                  </a:txBody>
                  <a:tcPr marL="9525" marR="9525" marT="9525" marB="9525" anchor="ctr" anchorCtr="0" horzOverflow="overflow">
                    <a:lnL w="3175">
                      <a:solidFill>
                        <a:srgbClr val="002060"/>
                      </a:solidFill>
                      <a:prstDash val="lgDash"/>
                    </a:lnL>
                    <a:lnR w="12700">
                      <a:miter lim="400000"/>
                    </a:lnR>
                    <a:lnT w="3175">
                      <a:solidFill>
                        <a:srgbClr val="002060"/>
                      </a:solidFill>
                      <a:prstDash val="lgDash"/>
                    </a:lnT>
                    <a:lnB w="3175">
                      <a:solidFill>
                        <a:srgbClr val="002060"/>
                      </a:solidFill>
                      <a:prstDash val="lgDash"/>
                    </a:lnB>
                    <a:noFill/>
                  </a:tcPr>
                </a:tc>
              </a:tr>
              <a:tr h="168724">
                <a:tc>
                  <a:txBody>
                    <a:bodyPr/>
                    <a:lstStyle/>
                    <a:p>
                      <a:pPr algn="ctr">
                        <a:defRPr sz="1800"/>
                      </a:pPr>
                      <a:r>
                        <a:rPr b="1" sz="800">
                          <a:solidFill>
                            <a:srgbClr val="002060"/>
                          </a:solidFill>
                          <a:latin typeface="Open Sans"/>
                          <a:ea typeface="Open Sans"/>
                          <a:cs typeface="Open Sans"/>
                          <a:sym typeface="Open Sans"/>
                        </a:rPr>
                        <a:t>Customers</a:t>
                      </a:r>
                    </a:p>
                  </a:txBody>
                  <a:tcPr marL="45720" marR="45720" marT="45720" marB="45720" anchor="ctr" anchorCtr="0" horzOverflow="overflow">
                    <a:lnL w="12700">
                      <a:miter lim="400000"/>
                    </a:lnL>
                    <a:lnR w="3175">
                      <a:solidFill>
                        <a:srgbClr val="002060"/>
                      </a:solidFill>
                      <a:prstDash val="lgDash"/>
                    </a:lnR>
                    <a:lnT w="3175">
                      <a:solidFill>
                        <a:srgbClr val="002060"/>
                      </a:solidFill>
                      <a:prstDash val="lgDash"/>
                    </a:lnT>
                    <a:lnB w="12700">
                      <a:miter lim="400000"/>
                    </a:lnB>
                    <a:noFill/>
                  </a:tcPr>
                </a:tc>
                <a:tc>
                  <a:txBody>
                    <a:bodyPr/>
                    <a:lstStyle/>
                    <a:p>
                      <a:pPr algn="ctr">
                        <a:defRPr sz="1800"/>
                      </a:pPr>
                      <a:r>
                        <a:rPr b="1" sz="800">
                          <a:solidFill>
                            <a:srgbClr val="002060"/>
                          </a:solidFill>
                          <a:latin typeface="Open Sans"/>
                          <a:ea typeface="Open Sans"/>
                          <a:cs typeface="Open Sans"/>
                          <a:sym typeface="Open Sans"/>
                        </a:rPr>
                        <a:t>37%</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12700">
                      <a:miter lim="400000"/>
                    </a:lnB>
                    <a:noFill/>
                  </a:tcPr>
                </a:tc>
                <a:tc>
                  <a:txBody>
                    <a:bodyPr/>
                    <a:lstStyle/>
                    <a:p>
                      <a:pPr algn="ctr">
                        <a:defRPr sz="1800"/>
                      </a:pPr>
                      <a:r>
                        <a:rPr b="1" sz="800">
                          <a:solidFill>
                            <a:srgbClr val="002060"/>
                          </a:solidFill>
                          <a:latin typeface="Open Sans"/>
                          <a:ea typeface="Open Sans"/>
                          <a:cs typeface="Open Sans"/>
                          <a:sym typeface="Open Sans"/>
                        </a:rPr>
                        <a:t>26%</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12700">
                      <a:miter lim="400000"/>
                    </a:lnB>
                    <a:noFill/>
                  </a:tcPr>
                </a:tc>
                <a:tc>
                  <a:txBody>
                    <a:bodyPr/>
                    <a:lstStyle/>
                    <a:p>
                      <a:pPr algn="ctr">
                        <a:defRPr sz="1800"/>
                      </a:pPr>
                      <a:r>
                        <a:rPr b="1" sz="800">
                          <a:solidFill>
                            <a:srgbClr val="002060"/>
                          </a:solidFill>
                          <a:latin typeface="Open Sans"/>
                          <a:ea typeface="Open Sans"/>
                          <a:cs typeface="Open Sans"/>
                          <a:sym typeface="Open Sans"/>
                        </a:rPr>
                        <a:t>9%</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12700">
                      <a:miter lim="400000"/>
                    </a:lnB>
                    <a:noFill/>
                  </a:tcPr>
                </a:tc>
                <a:tc>
                  <a:txBody>
                    <a:bodyPr/>
                    <a:lstStyle/>
                    <a:p>
                      <a:pPr algn="ctr">
                        <a:defRPr sz="1800"/>
                      </a:pPr>
                      <a:r>
                        <a:rPr b="1" sz="800">
                          <a:solidFill>
                            <a:srgbClr val="002060"/>
                          </a:solidFill>
                          <a:latin typeface="Open Sans"/>
                          <a:ea typeface="Open Sans"/>
                          <a:cs typeface="Open Sans"/>
                          <a:sym typeface="Open Sans"/>
                        </a:rPr>
                        <a:t>8%</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12700">
                      <a:miter lim="400000"/>
                    </a:lnB>
                    <a:noFill/>
                  </a:tcPr>
                </a:tc>
                <a:tc>
                  <a:txBody>
                    <a:bodyPr/>
                    <a:lstStyle/>
                    <a:p>
                      <a:pPr algn="ctr">
                        <a:defRPr sz="1800"/>
                      </a:pPr>
                      <a:r>
                        <a:rPr b="1" sz="800">
                          <a:solidFill>
                            <a:srgbClr val="002060"/>
                          </a:solidFill>
                          <a:latin typeface="Open Sans"/>
                          <a:ea typeface="Open Sans"/>
                          <a:cs typeface="Open Sans"/>
                          <a:sym typeface="Open Sans"/>
                        </a:rPr>
                        <a:t>6%</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12700">
                      <a:miter lim="400000"/>
                    </a:lnB>
                    <a:noFill/>
                  </a:tcPr>
                </a:tc>
                <a:tc>
                  <a:txBody>
                    <a:bodyPr/>
                    <a:lstStyle/>
                    <a:p>
                      <a:pPr algn="ctr">
                        <a:defRPr sz="1800"/>
                      </a:pPr>
                      <a:r>
                        <a:rPr b="1" sz="800">
                          <a:solidFill>
                            <a:srgbClr val="002060"/>
                          </a:solidFill>
                          <a:latin typeface="Open Sans"/>
                          <a:ea typeface="Open Sans"/>
                          <a:cs typeface="Open Sans"/>
                          <a:sym typeface="Open Sans"/>
                        </a:rPr>
                        <a:t>7%</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12700">
                      <a:miter lim="400000"/>
                    </a:lnB>
                    <a:noFill/>
                  </a:tcPr>
                </a:tc>
                <a:tc>
                  <a:txBody>
                    <a:bodyPr/>
                    <a:lstStyle/>
                    <a:p>
                      <a:pPr algn="ctr">
                        <a:defRPr sz="1800"/>
                      </a:pPr>
                      <a:r>
                        <a:rPr b="1" sz="800">
                          <a:solidFill>
                            <a:srgbClr val="002060"/>
                          </a:solidFill>
                          <a:latin typeface="Open Sans"/>
                          <a:ea typeface="Open Sans"/>
                          <a:cs typeface="Open Sans"/>
                          <a:sym typeface="Open Sans"/>
                        </a:rPr>
                        <a:t>7%</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12700">
                      <a:miter lim="400000"/>
                    </a:lnB>
                    <a:noFill/>
                  </a:tcPr>
                </a:tc>
                <a:tc>
                  <a:txBody>
                    <a:bodyPr/>
                    <a:lstStyle/>
                    <a:p>
                      <a:pPr algn="ctr">
                        <a:defRPr sz="1800"/>
                      </a:pPr>
                      <a:r>
                        <a:rPr b="1" sz="800">
                          <a:solidFill>
                            <a:srgbClr val="002060"/>
                          </a:solidFill>
                          <a:latin typeface="Open Sans"/>
                          <a:ea typeface="Open Sans"/>
                          <a:cs typeface="Open Sans"/>
                          <a:sym typeface="Open Sans"/>
                        </a:rPr>
                        <a:t>12.63 Cr.</a:t>
                      </a:r>
                    </a:p>
                  </a:txBody>
                  <a:tcPr marL="9525" marR="9525" marT="9525" marB="9525" anchor="ctr" anchorCtr="0" horzOverflow="overflow">
                    <a:lnL w="3175">
                      <a:solidFill>
                        <a:srgbClr val="002060"/>
                      </a:solidFill>
                      <a:prstDash val="lgDash"/>
                    </a:lnL>
                    <a:lnR w="12700">
                      <a:miter lim="400000"/>
                    </a:lnR>
                    <a:lnT w="3175">
                      <a:solidFill>
                        <a:srgbClr val="002060"/>
                      </a:solidFill>
                      <a:prstDash val="lgDash"/>
                    </a:lnT>
                    <a:lnB w="12700">
                      <a:miter lim="400000"/>
                    </a:lnB>
                    <a:noFill/>
                  </a:tcPr>
                </a:tc>
              </a:tr>
            </a:tbl>
          </a:graphicData>
        </a:graphic>
      </p:graphicFrame>
      <p:sp>
        <p:nvSpPr>
          <p:cNvPr id="789" name="TextBox 19"/>
          <p:cNvSpPr txBox="1"/>
          <p:nvPr/>
        </p:nvSpPr>
        <p:spPr>
          <a:xfrm>
            <a:off x="1836326" y="602576"/>
            <a:ext cx="2783594" cy="269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1200">
                <a:solidFill>
                  <a:srgbClr val="0070C0"/>
                </a:solidFill>
                <a:latin typeface="Open Sans"/>
                <a:ea typeface="Open Sans"/>
                <a:cs typeface="Open Sans"/>
                <a:sym typeface="Open Sans"/>
              </a:defRPr>
            </a:lvl1pPr>
          </a:lstStyle>
          <a:p>
            <a:pPr/>
            <a:r>
              <a:t>Predicted Customer Value</a:t>
            </a:r>
          </a:p>
        </p:txBody>
      </p:sp>
      <p:sp>
        <p:nvSpPr>
          <p:cNvPr id="790" name="TextBox 20"/>
          <p:cNvSpPr txBox="1"/>
          <p:nvPr/>
        </p:nvSpPr>
        <p:spPr>
          <a:xfrm rot="16200000">
            <a:off x="-405045" y="1586231"/>
            <a:ext cx="1486026" cy="447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1200">
                <a:solidFill>
                  <a:srgbClr val="0070C0"/>
                </a:solidFill>
                <a:latin typeface="Open Sans"/>
                <a:ea typeface="Open Sans"/>
                <a:cs typeface="Open Sans"/>
                <a:sym typeface="Open Sans"/>
              </a:defRPr>
            </a:lvl1pPr>
          </a:lstStyle>
          <a:p>
            <a:pPr/>
            <a:r>
              <a:t>Observed Customer Value</a:t>
            </a:r>
          </a:p>
        </p:txBody>
      </p:sp>
      <p:sp>
        <p:nvSpPr>
          <p:cNvPr id="791" name="Rectangle 21"/>
          <p:cNvSpPr/>
          <p:nvPr/>
        </p:nvSpPr>
        <p:spPr>
          <a:xfrm rot="1110765">
            <a:off x="1418756" y="1489094"/>
            <a:ext cx="3744575" cy="572804"/>
          </a:xfrm>
          <a:prstGeom prst="rect">
            <a:avLst/>
          </a:prstGeom>
          <a:ln w="12700">
            <a:solidFill>
              <a:srgbClr val="0070C0"/>
            </a:solidFill>
            <a:prstDash val="lgDash"/>
          </a:ln>
        </p:spPr>
        <p:txBody>
          <a:bodyPr lIns="45719" rIns="45719" anchor="ctr"/>
          <a:lstStyle/>
          <a:p>
            <a:pPr algn="ctr">
              <a:defRPr sz="1200">
                <a:solidFill>
                  <a:srgbClr val="FFFFFF"/>
                </a:solidFill>
              </a:defRPr>
            </a:pPr>
          </a:p>
        </p:txBody>
      </p:sp>
      <p:sp>
        <p:nvSpPr>
          <p:cNvPr id="792" name="Rectangle 22"/>
          <p:cNvSpPr txBox="1"/>
          <p:nvPr/>
        </p:nvSpPr>
        <p:spPr>
          <a:xfrm>
            <a:off x="6142382" y="859152"/>
            <a:ext cx="2862471" cy="1181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28600" indent="-228600">
              <a:lnSpc>
                <a:spcPct val="150000"/>
              </a:lnSpc>
              <a:spcBef>
                <a:spcPts val="900"/>
              </a:spcBef>
              <a:buClr>
                <a:srgbClr val="00B0F0"/>
              </a:buClr>
              <a:buSzPct val="100000"/>
              <a:buFont typeface="Helvetica"/>
              <a:buChar char="⁃"/>
              <a:defRPr sz="1200">
                <a:solidFill>
                  <a:srgbClr val="0070C0"/>
                </a:solidFill>
                <a:latin typeface="Open Sans"/>
                <a:ea typeface="Open Sans"/>
                <a:cs typeface="Open Sans"/>
                <a:sym typeface="Open Sans"/>
              </a:defRPr>
            </a:pPr>
            <a:r>
              <a:t>12.63 Cr. L12M Active Customers in</a:t>
            </a:r>
          </a:p>
          <a:p>
            <a:pPr marL="228600" indent="-228600">
              <a:spcBef>
                <a:spcPts val="900"/>
              </a:spcBef>
              <a:buClr>
                <a:srgbClr val="00B0F0"/>
              </a:buClr>
              <a:buSzPct val="100000"/>
              <a:buFont typeface="Helvetica"/>
              <a:buChar char="⁃"/>
              <a:defRPr b="1" sz="1200">
                <a:solidFill>
                  <a:srgbClr val="0070C0"/>
                </a:solidFill>
                <a:latin typeface="Open Sans"/>
                <a:ea typeface="Open Sans"/>
                <a:cs typeface="Open Sans"/>
                <a:sym typeface="Open Sans"/>
              </a:defRPr>
            </a:pPr>
            <a:r>
              <a:t>Accuracy</a:t>
            </a:r>
            <a:r>
              <a:rPr b="0"/>
              <a:t> of the model is </a:t>
            </a:r>
            <a:r>
              <a:t>77%</a:t>
            </a:r>
            <a:r>
              <a:rPr b="0"/>
              <a:t> on </a:t>
            </a:r>
            <a:r>
              <a:t>Out-of-Time</a:t>
            </a:r>
            <a:r>
              <a:rPr b="0"/>
              <a:t> sample </a:t>
            </a:r>
            <a:endParaRPr b="0"/>
          </a:p>
          <a:p>
            <a:pPr marL="403225" indent="-217488">
              <a:spcBef>
                <a:spcPts val="900"/>
              </a:spcBef>
              <a:buClr>
                <a:srgbClr val="00B0F0"/>
              </a:buClr>
              <a:buSzPct val="100000"/>
              <a:buFont typeface="Arial"/>
              <a:buChar char="•"/>
              <a:defRPr sz="1100">
                <a:solidFill>
                  <a:srgbClr val="0070C0"/>
                </a:solidFill>
                <a:latin typeface="Open Sans"/>
                <a:ea typeface="Open Sans"/>
                <a:cs typeface="Open Sans"/>
                <a:sym typeface="Open Sans"/>
              </a:defRPr>
            </a:pPr>
            <a:r>
              <a:t>On extended Accuracy, Model is able to predict Customer Value correctly </a:t>
            </a:r>
          </a:p>
        </p:txBody>
      </p:sp>
      <p:sp>
        <p:nvSpPr>
          <p:cNvPr id="793" name="Straight Connector 23"/>
          <p:cNvSpPr/>
          <p:nvPr/>
        </p:nvSpPr>
        <p:spPr>
          <a:xfrm>
            <a:off x="0" y="2815282"/>
            <a:ext cx="9167701" cy="1"/>
          </a:xfrm>
          <a:prstGeom prst="line">
            <a:avLst/>
          </a:prstGeom>
          <a:ln>
            <a:solidFill>
              <a:srgbClr val="002060"/>
            </a:solidFill>
            <a:prstDash val="lgDash"/>
          </a:ln>
        </p:spPr>
        <p:txBody>
          <a:bodyPr lIns="45719" rIns="45719"/>
          <a:lstStyle/>
          <a:p>
            <a:pPr/>
          </a:p>
        </p:txBody>
      </p:sp>
      <p:graphicFrame>
        <p:nvGraphicFramePr>
          <p:cNvPr id="794" name="Chart 27"/>
          <p:cNvGraphicFramePr/>
          <p:nvPr/>
        </p:nvGraphicFramePr>
        <p:xfrm>
          <a:off x="246250" y="3155771"/>
          <a:ext cx="5723334" cy="1568287"/>
        </p:xfrm>
        <a:graphic xmlns:a="http://schemas.openxmlformats.org/drawingml/2006/main">
          <a:graphicData uri="http://schemas.openxmlformats.org/drawingml/2006/chart">
            <c:chart xmlns:c="http://schemas.openxmlformats.org/drawingml/2006/chart" r:id="rId2"/>
          </a:graphicData>
        </a:graphic>
      </p:graphicFrame>
      <p:sp>
        <p:nvSpPr>
          <p:cNvPr id="795" name="TextBox 28"/>
          <p:cNvSpPr txBox="1"/>
          <p:nvPr/>
        </p:nvSpPr>
        <p:spPr>
          <a:xfrm>
            <a:off x="1754536" y="2924562"/>
            <a:ext cx="2783594" cy="269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b="1" sz="1200">
                <a:solidFill>
                  <a:srgbClr val="0070C0"/>
                </a:solidFill>
                <a:latin typeface="Open Sans"/>
                <a:ea typeface="Open Sans"/>
                <a:cs typeface="Open Sans"/>
                <a:sym typeface="Open Sans"/>
              </a:defRPr>
            </a:pPr>
            <a:r>
              <a:t>Churn</a:t>
            </a:r>
            <a:r>
              <a:rPr baseline="30000"/>
              <a:t>*</a:t>
            </a:r>
            <a:r>
              <a:t> Rate by Predicted Pentiles</a:t>
            </a:r>
          </a:p>
        </p:txBody>
      </p:sp>
      <p:sp>
        <p:nvSpPr>
          <p:cNvPr id="796" name="TextBox 30"/>
          <p:cNvSpPr/>
          <p:nvPr/>
        </p:nvSpPr>
        <p:spPr>
          <a:xfrm rot="20036587">
            <a:off x="750893" y="3859279"/>
            <a:ext cx="1915849" cy="308040"/>
          </a:xfrm>
          <a:prstGeom prst="rect">
            <a:avLst/>
          </a:prstGeom>
          <a:solidFill>
            <a:srgbClr val="002060">
              <a:alpha val="15684"/>
            </a:srgbClr>
          </a:solidFill>
          <a:ln w="12700">
            <a:miter lim="400000"/>
          </a:ln>
        </p:spPr>
        <p:txBody>
          <a:bodyPr lIns="45719" rIns="45719"/>
          <a:lstStyle/>
          <a:p>
            <a:pPr>
              <a:defRPr sz="1000">
                <a:solidFill>
                  <a:srgbClr val="002060"/>
                </a:solidFill>
                <a:latin typeface="Open Sans"/>
                <a:ea typeface="Open Sans"/>
                <a:cs typeface="Open Sans"/>
                <a:sym typeface="Open Sans"/>
              </a:defRPr>
            </a:pPr>
          </a:p>
        </p:txBody>
      </p:sp>
      <p:sp>
        <p:nvSpPr>
          <p:cNvPr id="797" name="Straight Connector 31"/>
          <p:cNvSpPr/>
          <p:nvPr/>
        </p:nvSpPr>
        <p:spPr>
          <a:xfrm flipH="1">
            <a:off x="2554656" y="3618281"/>
            <a:ext cx="1" cy="1011953"/>
          </a:xfrm>
          <a:prstGeom prst="line">
            <a:avLst/>
          </a:prstGeom>
          <a:ln w="3175">
            <a:solidFill>
              <a:srgbClr val="048F41"/>
            </a:solidFill>
            <a:prstDash val="lgDash"/>
          </a:ln>
        </p:spPr>
        <p:txBody>
          <a:bodyPr lIns="45719" rIns="45719"/>
          <a:lstStyle/>
          <a:p>
            <a:pPr/>
          </a:p>
        </p:txBody>
      </p:sp>
      <p:sp>
        <p:nvSpPr>
          <p:cNvPr id="798" name="Straight Connector 33"/>
          <p:cNvSpPr/>
          <p:nvPr/>
        </p:nvSpPr>
        <p:spPr>
          <a:xfrm flipH="1">
            <a:off x="2567581" y="3580215"/>
            <a:ext cx="2720036" cy="38067"/>
          </a:xfrm>
          <a:prstGeom prst="line">
            <a:avLst/>
          </a:prstGeom>
          <a:ln w="3175">
            <a:solidFill>
              <a:srgbClr val="048F41"/>
            </a:solidFill>
            <a:prstDash val="lgDash"/>
          </a:ln>
        </p:spPr>
        <p:txBody>
          <a:bodyPr lIns="45719" rIns="45719"/>
          <a:lstStyle/>
          <a:p>
            <a:pPr/>
          </a:p>
        </p:txBody>
      </p:sp>
      <p:sp>
        <p:nvSpPr>
          <p:cNvPr id="799" name="TextBox 39"/>
          <p:cNvSpPr txBox="1"/>
          <p:nvPr/>
        </p:nvSpPr>
        <p:spPr>
          <a:xfrm>
            <a:off x="744529" y="3454153"/>
            <a:ext cx="1150102" cy="421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700">
                <a:solidFill>
                  <a:srgbClr val="048F41"/>
                </a:solidFill>
                <a:latin typeface="Open Sans"/>
                <a:ea typeface="Open Sans"/>
                <a:cs typeface="Open Sans"/>
                <a:sym typeface="Open Sans"/>
              </a:defRPr>
            </a:pPr>
            <a:r>
              <a:t>80% of </a:t>
            </a:r>
            <a:r>
              <a:rPr b="1" i="1" sz="800"/>
              <a:t>Churn</a:t>
            </a:r>
            <a:r>
              <a:t> are intercepted by the model in the first  40% population</a:t>
            </a:r>
          </a:p>
        </p:txBody>
      </p:sp>
      <p:graphicFrame>
        <p:nvGraphicFramePr>
          <p:cNvPr id="800" name="Table 41"/>
          <p:cNvGraphicFramePr/>
          <p:nvPr/>
        </p:nvGraphicFramePr>
        <p:xfrm>
          <a:off x="6253272" y="3201560"/>
          <a:ext cx="2520001" cy="1008001"/>
        </p:xfrm>
        <a:graphic xmlns:a="http://schemas.openxmlformats.org/drawingml/2006/main">
          <a:graphicData uri="http://schemas.openxmlformats.org/drawingml/2006/table">
            <a:tbl>
              <a:tblPr firstCol="0" firstRow="1" lastCol="0" lastRow="0" bandCol="0" bandRow="0" rtl="0">
                <a:tableStyleId>{4C3C2611-4C71-4FC5-86AE-919BDF0F9419}</a:tableStyleId>
              </a:tblPr>
              <a:tblGrid>
                <a:gridCol w="1260000"/>
                <a:gridCol w="1260000"/>
              </a:tblGrid>
              <a:tr h="252000">
                <a:tc>
                  <a:txBody>
                    <a:bodyPr/>
                    <a:lstStyle/>
                    <a:p>
                      <a:pPr algn="ctr">
                        <a:defRPr b="0" sz="1800">
                          <a:solidFill>
                            <a:srgbClr val="000000"/>
                          </a:solidFill>
                        </a:defRPr>
                      </a:pPr>
                      <a:r>
                        <a:rPr b="1" sz="1200">
                          <a:solidFill>
                            <a:srgbClr val="FFFFFF"/>
                          </a:solidFill>
                          <a:latin typeface="Open Sans"/>
                          <a:ea typeface="Open Sans"/>
                          <a:cs typeface="Open Sans"/>
                          <a:sym typeface="Open Sans"/>
                        </a:rPr>
                        <a:t>KPI</a:t>
                      </a:r>
                    </a:p>
                  </a:txBody>
                  <a:tcPr marL="45720" marR="45720" marT="45720" marB="45720" anchor="ctr" anchorCtr="0" horzOverflow="overflow">
                    <a:lnL w="3175">
                      <a:solidFill>
                        <a:srgbClr val="002060"/>
                      </a:solidFill>
                      <a:prstDash val="lgDash"/>
                    </a:lnL>
                    <a:lnR w="3175">
                      <a:solidFill>
                        <a:srgbClr val="002060"/>
                      </a:solidFill>
                      <a:prstDash val="lgDash"/>
                    </a:lnR>
                    <a:lnT w="12700">
                      <a:miter lim="400000"/>
                    </a:lnT>
                    <a:lnB w="3175">
                      <a:solidFill>
                        <a:srgbClr val="002060"/>
                      </a:solidFill>
                      <a:prstDash val="lgDash"/>
                    </a:lnB>
                    <a:solidFill>
                      <a:srgbClr val="002060"/>
                    </a:solidFill>
                  </a:tcPr>
                </a:tc>
                <a:tc>
                  <a:txBody>
                    <a:bodyPr/>
                    <a:lstStyle/>
                    <a:p>
                      <a:pPr algn="ctr">
                        <a:defRPr b="0" sz="1800">
                          <a:solidFill>
                            <a:srgbClr val="000000"/>
                          </a:solidFill>
                        </a:defRPr>
                      </a:pPr>
                      <a:r>
                        <a:rPr b="1" sz="1200">
                          <a:solidFill>
                            <a:srgbClr val="FFFFFF"/>
                          </a:solidFill>
                          <a:latin typeface="Open Sans"/>
                          <a:ea typeface="Open Sans"/>
                          <a:cs typeface="Open Sans"/>
                          <a:sym typeface="Open Sans"/>
                        </a:rPr>
                        <a:t> Metrics</a:t>
                      </a:r>
                    </a:p>
                  </a:txBody>
                  <a:tcPr marL="45720" marR="45720" marT="45720" marB="45720" anchor="ctr" anchorCtr="0" horzOverflow="overflow">
                    <a:lnL w="3175">
                      <a:solidFill>
                        <a:srgbClr val="002060"/>
                      </a:solidFill>
                      <a:prstDash val="lgDash"/>
                    </a:lnL>
                    <a:lnR w="3175">
                      <a:solidFill>
                        <a:srgbClr val="002060"/>
                      </a:solidFill>
                      <a:prstDash val="lgDash"/>
                    </a:lnR>
                    <a:lnT w="12700">
                      <a:miter lim="400000"/>
                    </a:lnT>
                    <a:lnB w="3175">
                      <a:solidFill>
                        <a:srgbClr val="002060"/>
                      </a:solidFill>
                      <a:prstDash val="lgDash"/>
                    </a:lnB>
                    <a:solidFill>
                      <a:srgbClr val="002060"/>
                    </a:solidFill>
                  </a:tcPr>
                </a:tc>
              </a:tr>
              <a:tr h="252000">
                <a:tc>
                  <a:txBody>
                    <a:bodyPr/>
                    <a:lstStyle/>
                    <a:p>
                      <a:pPr algn="ctr">
                        <a:defRPr sz="1800"/>
                      </a:pPr>
                      <a:r>
                        <a:rPr sz="1100">
                          <a:solidFill>
                            <a:srgbClr val="002060"/>
                          </a:solidFill>
                          <a:latin typeface="Open Sans"/>
                          <a:ea typeface="Open Sans"/>
                          <a:cs typeface="Open Sans"/>
                          <a:sym typeface="Open Sans"/>
                        </a:rPr>
                        <a:t>Gini</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1100">
                          <a:solidFill>
                            <a:srgbClr val="002060"/>
                          </a:solidFill>
                          <a:latin typeface="Open Sans"/>
                          <a:ea typeface="Open Sans"/>
                          <a:cs typeface="Open Sans"/>
                          <a:sym typeface="Open Sans"/>
                        </a:rPr>
                        <a:t>79.6%</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r>
              <a:tr h="252000">
                <a:tc>
                  <a:txBody>
                    <a:bodyPr/>
                    <a:lstStyle/>
                    <a:p>
                      <a:pPr algn="ctr">
                        <a:defRPr sz="1800"/>
                      </a:pPr>
                      <a:r>
                        <a:rPr sz="1100">
                          <a:solidFill>
                            <a:srgbClr val="002060"/>
                          </a:solidFill>
                          <a:latin typeface="Open Sans"/>
                          <a:ea typeface="Open Sans"/>
                          <a:cs typeface="Open Sans"/>
                          <a:sym typeface="Open Sans"/>
                        </a:rPr>
                        <a:t>AUC</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1100">
                          <a:solidFill>
                            <a:srgbClr val="002060"/>
                          </a:solidFill>
                          <a:latin typeface="Open Sans"/>
                          <a:ea typeface="Open Sans"/>
                          <a:cs typeface="Open Sans"/>
                          <a:sym typeface="Open Sans"/>
                        </a:rPr>
                        <a:t>89.8%</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r>
              <a:tr h="252000">
                <a:tc>
                  <a:txBody>
                    <a:bodyPr/>
                    <a:lstStyle/>
                    <a:p>
                      <a:pPr algn="ctr">
                        <a:defRPr sz="1800"/>
                      </a:pPr>
                      <a:r>
                        <a:rPr sz="1100">
                          <a:solidFill>
                            <a:srgbClr val="002060"/>
                          </a:solidFill>
                          <a:latin typeface="Open Sans"/>
                          <a:ea typeface="Open Sans"/>
                          <a:cs typeface="Open Sans"/>
                          <a:sym typeface="Open Sans"/>
                        </a:rPr>
                        <a:t>KS</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c>
                  <a:txBody>
                    <a:bodyPr/>
                    <a:lstStyle/>
                    <a:p>
                      <a:pPr algn="ctr">
                        <a:defRPr sz="1800"/>
                      </a:pPr>
                      <a:r>
                        <a:rPr sz="1100">
                          <a:solidFill>
                            <a:srgbClr val="002060"/>
                          </a:solidFill>
                          <a:latin typeface="Open Sans"/>
                          <a:ea typeface="Open Sans"/>
                          <a:cs typeface="Open Sans"/>
                          <a:sym typeface="Open Sans"/>
                        </a:rPr>
                        <a:t>65%</a:t>
                      </a:r>
                    </a:p>
                  </a:txBody>
                  <a:tcPr marL="9525" marR="9525" marT="9525" marB="9525" anchor="ctr" anchorCtr="0" horzOverflow="overflow">
                    <a:lnL w="3175">
                      <a:solidFill>
                        <a:srgbClr val="002060"/>
                      </a:solidFill>
                      <a:prstDash val="lgDash"/>
                    </a:lnL>
                    <a:lnR w="3175">
                      <a:solidFill>
                        <a:srgbClr val="002060"/>
                      </a:solidFill>
                      <a:prstDash val="lgDash"/>
                    </a:lnR>
                    <a:lnT w="3175">
                      <a:solidFill>
                        <a:srgbClr val="002060"/>
                      </a:solidFill>
                      <a:prstDash val="lgDash"/>
                    </a:lnT>
                    <a:lnB w="3175">
                      <a:solidFill>
                        <a:srgbClr val="002060"/>
                      </a:solidFill>
                      <a:prstDash val="lgDash"/>
                    </a:lnB>
                    <a:noFill/>
                  </a:tcPr>
                </a:tc>
              </a:tr>
            </a:tbl>
          </a:graphicData>
        </a:graphic>
      </p:graphicFrame>
      <p:sp>
        <p:nvSpPr>
          <p:cNvPr id="801" name="TextBox 42"/>
          <p:cNvSpPr txBox="1"/>
          <p:nvPr/>
        </p:nvSpPr>
        <p:spPr>
          <a:xfrm>
            <a:off x="6175538" y="2924561"/>
            <a:ext cx="2783595" cy="269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1200">
                <a:solidFill>
                  <a:srgbClr val="0070C0"/>
                </a:solidFill>
                <a:latin typeface="Open Sans"/>
                <a:ea typeface="Open Sans"/>
                <a:cs typeface="Open Sans"/>
                <a:sym typeface="Open Sans"/>
              </a:defRPr>
            </a:lvl1pPr>
          </a:lstStyle>
          <a:p>
            <a:pPr/>
            <a:r>
              <a:t>Model Performance Metrics</a:t>
            </a:r>
          </a:p>
        </p:txBody>
      </p:sp>
      <p:sp>
        <p:nvSpPr>
          <p:cNvPr id="802" name="Rectangle 43"/>
          <p:cNvSpPr txBox="1"/>
          <p:nvPr/>
        </p:nvSpPr>
        <p:spPr>
          <a:xfrm>
            <a:off x="6298993" y="4572444"/>
            <a:ext cx="2428561" cy="396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baseline="30000" i="1" sz="1000">
                <a:solidFill>
                  <a:srgbClr val="0070C0"/>
                </a:solidFill>
                <a:latin typeface="Open Sans"/>
                <a:ea typeface="Open Sans"/>
                <a:cs typeface="Open Sans"/>
                <a:sym typeface="Open Sans"/>
              </a:defRPr>
            </a:pPr>
            <a:r>
              <a:t>*</a:t>
            </a:r>
            <a:r>
              <a:rPr baseline="0"/>
              <a:t>Retention Rate = 1 - Churn</a:t>
            </a:r>
            <a:endParaRPr>
              <a:solidFill>
                <a:srgbClr val="FFFFFF"/>
              </a:solidFill>
            </a:endParaRP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04" name="Slide Number Placeholder 3"/>
          <p:cNvSpPr txBox="1"/>
          <p:nvPr>
            <p:ph type="sldNum" sz="quarter" idx="4294967295"/>
          </p:nvPr>
        </p:nvSpPr>
        <p:spPr>
          <a:xfrm>
            <a:off x="11754629" y="6202479"/>
            <a:ext cx="301908" cy="288824"/>
          </a:xfrm>
          <a:prstGeom prst="rect">
            <a:avLst/>
          </a:prstGeom>
          <a:extLst>
            <a:ext uri="{C572A759-6A51-4108-AA02-DFA0A04FC94B}">
              <ma14:wrappingTextBoxFlag xmlns:ma14="http://schemas.microsoft.com/office/mac/drawingml/2011/main" val="1"/>
            </a:ext>
          </a:extLst>
        </p:spPr>
        <p:txBody>
          <a:bodyPr lIns="45719" tIns="45719" rIns="45719" bIns="45719"/>
          <a:lstStyle>
            <a:lvl1pPr algn="r" defTabSz="548599">
              <a:defRPr sz="1400"/>
            </a:lvl1pPr>
          </a:lstStyle>
          <a:p>
            <a:pPr/>
            <a:fld id="{86CB4B4D-7CA3-9044-876B-883B54F8677D}" type="slidenum"/>
          </a:p>
        </p:txBody>
      </p:sp>
      <p:sp>
        <p:nvSpPr>
          <p:cNvPr id="805" name="Title 1"/>
          <p:cNvSpPr txBox="1"/>
          <p:nvPr/>
        </p:nvSpPr>
        <p:spPr>
          <a:xfrm>
            <a:off x="9539" y="63083"/>
            <a:ext cx="8245941" cy="5511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ctr">
            <a:spAutoFit/>
          </a:bodyPr>
          <a:lstStyle/>
          <a:p>
            <a:pPr defTabSz="914309">
              <a:defRPr b="1" i="1" spc="-150" sz="2400">
                <a:solidFill>
                  <a:srgbClr val="002060"/>
                </a:solidFill>
                <a:latin typeface="Open Sans"/>
                <a:ea typeface="Open Sans"/>
                <a:cs typeface="Open Sans"/>
                <a:sym typeface="Open Sans"/>
              </a:defRPr>
            </a:pPr>
            <a:r>
              <a:t>5. Retain </a:t>
            </a:r>
            <a:r>
              <a:rPr>
                <a:solidFill>
                  <a:srgbClr val="00B0F0"/>
                </a:solidFill>
              </a:rPr>
              <a:t>Score</a:t>
            </a:r>
          </a:p>
        </p:txBody>
      </p:sp>
      <p:sp>
        <p:nvSpPr>
          <p:cNvPr id="806" name="Straight Connector 8"/>
          <p:cNvSpPr/>
          <p:nvPr/>
        </p:nvSpPr>
        <p:spPr>
          <a:xfrm>
            <a:off x="-12300" y="618293"/>
            <a:ext cx="9180002" cy="13502"/>
          </a:xfrm>
          <a:prstGeom prst="line">
            <a:avLst/>
          </a:prstGeom>
          <a:ln w="38100">
            <a:solidFill>
              <a:srgbClr val="072C62"/>
            </a:solidFill>
          </a:ln>
        </p:spPr>
        <p:txBody>
          <a:bodyPr lIns="45719" rIns="45719"/>
          <a:lstStyle/>
          <a:p>
            <a:pPr/>
          </a:p>
        </p:txBody>
      </p:sp>
      <p:graphicFrame>
        <p:nvGraphicFramePr>
          <p:cNvPr id="807" name="Chart 1"/>
          <p:cNvGraphicFramePr/>
          <p:nvPr/>
        </p:nvGraphicFramePr>
        <p:xfrm>
          <a:off x="-171265" y="1211049"/>
          <a:ext cx="1878799" cy="1882233"/>
        </p:xfrm>
        <a:graphic xmlns:a="http://schemas.openxmlformats.org/drawingml/2006/main">
          <a:graphicData uri="http://schemas.openxmlformats.org/drawingml/2006/chart">
            <c:chart xmlns:c="http://schemas.openxmlformats.org/drawingml/2006/chart" r:id="rId2"/>
          </a:graphicData>
        </a:graphic>
      </p:graphicFrame>
      <p:graphicFrame>
        <p:nvGraphicFramePr>
          <p:cNvPr id="808" name="Chart 6"/>
          <p:cNvGraphicFramePr/>
          <p:nvPr/>
        </p:nvGraphicFramePr>
        <p:xfrm>
          <a:off x="1821057" y="1211049"/>
          <a:ext cx="1099051" cy="1882233"/>
        </p:xfrm>
        <a:graphic xmlns:a="http://schemas.openxmlformats.org/drawingml/2006/main">
          <a:graphicData uri="http://schemas.openxmlformats.org/drawingml/2006/chart">
            <c:chart xmlns:c="http://schemas.openxmlformats.org/drawingml/2006/chart" r:id="rId3"/>
          </a:graphicData>
        </a:graphic>
      </p:graphicFrame>
      <p:graphicFrame>
        <p:nvGraphicFramePr>
          <p:cNvPr id="809" name="Chart 9"/>
          <p:cNvGraphicFramePr/>
          <p:nvPr/>
        </p:nvGraphicFramePr>
        <p:xfrm>
          <a:off x="3033631" y="1211049"/>
          <a:ext cx="1099051" cy="1882233"/>
        </p:xfrm>
        <a:graphic xmlns:a="http://schemas.openxmlformats.org/drawingml/2006/main">
          <a:graphicData uri="http://schemas.openxmlformats.org/drawingml/2006/chart">
            <c:chart xmlns:c="http://schemas.openxmlformats.org/drawingml/2006/chart" r:id="rId4"/>
          </a:graphicData>
        </a:graphic>
      </p:graphicFrame>
      <p:graphicFrame>
        <p:nvGraphicFramePr>
          <p:cNvPr id="810" name="Chart 10"/>
          <p:cNvGraphicFramePr/>
          <p:nvPr/>
        </p:nvGraphicFramePr>
        <p:xfrm>
          <a:off x="4246205" y="1211049"/>
          <a:ext cx="1099051" cy="1882233"/>
        </p:xfrm>
        <a:graphic xmlns:a="http://schemas.openxmlformats.org/drawingml/2006/main">
          <a:graphicData uri="http://schemas.openxmlformats.org/drawingml/2006/chart">
            <c:chart xmlns:c="http://schemas.openxmlformats.org/drawingml/2006/chart" r:id="rId5"/>
          </a:graphicData>
        </a:graphic>
      </p:graphicFrame>
      <p:graphicFrame>
        <p:nvGraphicFramePr>
          <p:cNvPr id="811" name="Chart 11"/>
          <p:cNvGraphicFramePr/>
          <p:nvPr/>
        </p:nvGraphicFramePr>
        <p:xfrm>
          <a:off x="5458779" y="1211049"/>
          <a:ext cx="1099051" cy="1882233"/>
        </p:xfrm>
        <a:graphic xmlns:a="http://schemas.openxmlformats.org/drawingml/2006/main">
          <a:graphicData uri="http://schemas.openxmlformats.org/drawingml/2006/chart">
            <c:chart xmlns:c="http://schemas.openxmlformats.org/drawingml/2006/chart" r:id="rId6"/>
          </a:graphicData>
        </a:graphic>
      </p:graphicFrame>
      <p:graphicFrame>
        <p:nvGraphicFramePr>
          <p:cNvPr id="812" name="Chart 12"/>
          <p:cNvGraphicFramePr/>
          <p:nvPr/>
        </p:nvGraphicFramePr>
        <p:xfrm>
          <a:off x="6671353" y="1211049"/>
          <a:ext cx="1099051" cy="1882233"/>
        </p:xfrm>
        <a:graphic xmlns:a="http://schemas.openxmlformats.org/drawingml/2006/main">
          <a:graphicData uri="http://schemas.openxmlformats.org/drawingml/2006/chart">
            <c:chart xmlns:c="http://schemas.openxmlformats.org/drawingml/2006/chart" r:id="rId7"/>
          </a:graphicData>
        </a:graphic>
      </p:graphicFrame>
      <p:graphicFrame>
        <p:nvGraphicFramePr>
          <p:cNvPr id="813" name="Chart 13"/>
          <p:cNvGraphicFramePr/>
          <p:nvPr/>
        </p:nvGraphicFramePr>
        <p:xfrm>
          <a:off x="7872638" y="1211049"/>
          <a:ext cx="1099051" cy="1882233"/>
        </p:xfrm>
        <a:graphic xmlns:a="http://schemas.openxmlformats.org/drawingml/2006/main">
          <a:graphicData uri="http://schemas.openxmlformats.org/drawingml/2006/chart">
            <c:chart xmlns:c="http://schemas.openxmlformats.org/drawingml/2006/chart" r:id="rId8"/>
          </a:graphicData>
        </a:graphic>
      </p:graphicFrame>
      <p:sp>
        <p:nvSpPr>
          <p:cNvPr id="814" name="Straight Connector 14"/>
          <p:cNvSpPr/>
          <p:nvPr/>
        </p:nvSpPr>
        <p:spPr>
          <a:xfrm flipV="1">
            <a:off x="1774349" y="1242390"/>
            <a:ext cx="1" cy="1958010"/>
          </a:xfrm>
          <a:prstGeom prst="line">
            <a:avLst/>
          </a:prstGeom>
          <a:ln w="3175">
            <a:solidFill>
              <a:srgbClr val="00B0F0"/>
            </a:solidFill>
            <a:prstDash val="lgDash"/>
          </a:ln>
        </p:spPr>
        <p:txBody>
          <a:bodyPr lIns="45719" rIns="45719"/>
          <a:lstStyle/>
          <a:p>
            <a:pPr/>
          </a:p>
        </p:txBody>
      </p:sp>
      <p:sp>
        <p:nvSpPr>
          <p:cNvPr id="815" name="Straight Connector 17"/>
          <p:cNvSpPr/>
          <p:nvPr/>
        </p:nvSpPr>
        <p:spPr>
          <a:xfrm>
            <a:off x="96803" y="3200400"/>
            <a:ext cx="8928001" cy="0"/>
          </a:xfrm>
          <a:prstGeom prst="line">
            <a:avLst/>
          </a:prstGeom>
          <a:ln w="3175">
            <a:solidFill>
              <a:srgbClr val="00B0F0"/>
            </a:solidFill>
            <a:prstDash val="lgDash"/>
          </a:ln>
        </p:spPr>
        <p:txBody>
          <a:bodyPr lIns="45719" rIns="45719"/>
          <a:lstStyle/>
          <a:p>
            <a:pPr/>
          </a:p>
        </p:txBody>
      </p:sp>
      <p:sp>
        <p:nvSpPr>
          <p:cNvPr id="816" name="Straight Connector 21"/>
          <p:cNvSpPr/>
          <p:nvPr/>
        </p:nvSpPr>
        <p:spPr>
          <a:xfrm flipV="1">
            <a:off x="2979152" y="1242390"/>
            <a:ext cx="1" cy="1958010"/>
          </a:xfrm>
          <a:prstGeom prst="line">
            <a:avLst/>
          </a:prstGeom>
          <a:ln w="3175">
            <a:solidFill>
              <a:srgbClr val="00B0F0"/>
            </a:solidFill>
            <a:prstDash val="lgDash"/>
          </a:ln>
        </p:spPr>
        <p:txBody>
          <a:bodyPr lIns="45719" rIns="45719"/>
          <a:lstStyle/>
          <a:p>
            <a:pPr/>
          </a:p>
        </p:txBody>
      </p:sp>
      <p:sp>
        <p:nvSpPr>
          <p:cNvPr id="817" name="Straight Connector 22"/>
          <p:cNvSpPr/>
          <p:nvPr/>
        </p:nvSpPr>
        <p:spPr>
          <a:xfrm flipV="1">
            <a:off x="4191726" y="1242390"/>
            <a:ext cx="1" cy="1958010"/>
          </a:xfrm>
          <a:prstGeom prst="line">
            <a:avLst/>
          </a:prstGeom>
          <a:ln w="3175">
            <a:solidFill>
              <a:srgbClr val="00B0F0"/>
            </a:solidFill>
            <a:prstDash val="lgDash"/>
          </a:ln>
        </p:spPr>
        <p:txBody>
          <a:bodyPr lIns="45719" rIns="45719"/>
          <a:lstStyle/>
          <a:p>
            <a:pPr/>
          </a:p>
        </p:txBody>
      </p:sp>
      <p:sp>
        <p:nvSpPr>
          <p:cNvPr id="818" name="Straight Connector 23"/>
          <p:cNvSpPr/>
          <p:nvPr/>
        </p:nvSpPr>
        <p:spPr>
          <a:xfrm flipV="1">
            <a:off x="5404301" y="1242390"/>
            <a:ext cx="1" cy="1958010"/>
          </a:xfrm>
          <a:prstGeom prst="line">
            <a:avLst/>
          </a:prstGeom>
          <a:ln w="3175">
            <a:solidFill>
              <a:srgbClr val="00B0F0"/>
            </a:solidFill>
            <a:prstDash val="lgDash"/>
          </a:ln>
        </p:spPr>
        <p:txBody>
          <a:bodyPr lIns="45719" rIns="45719"/>
          <a:lstStyle/>
          <a:p>
            <a:pPr/>
          </a:p>
        </p:txBody>
      </p:sp>
      <p:sp>
        <p:nvSpPr>
          <p:cNvPr id="819" name="Straight Connector 24"/>
          <p:cNvSpPr/>
          <p:nvPr/>
        </p:nvSpPr>
        <p:spPr>
          <a:xfrm flipV="1">
            <a:off x="6616875" y="1242390"/>
            <a:ext cx="1" cy="1958010"/>
          </a:xfrm>
          <a:prstGeom prst="line">
            <a:avLst/>
          </a:prstGeom>
          <a:ln w="3175">
            <a:solidFill>
              <a:srgbClr val="00B0F0"/>
            </a:solidFill>
            <a:prstDash val="lgDash"/>
          </a:ln>
        </p:spPr>
        <p:txBody>
          <a:bodyPr lIns="45719" rIns="45719"/>
          <a:lstStyle/>
          <a:p>
            <a:pPr/>
          </a:p>
        </p:txBody>
      </p:sp>
      <p:sp>
        <p:nvSpPr>
          <p:cNvPr id="820" name="Straight Connector 25"/>
          <p:cNvSpPr/>
          <p:nvPr/>
        </p:nvSpPr>
        <p:spPr>
          <a:xfrm flipV="1">
            <a:off x="7810297" y="1242390"/>
            <a:ext cx="1" cy="1958010"/>
          </a:xfrm>
          <a:prstGeom prst="line">
            <a:avLst/>
          </a:prstGeom>
          <a:ln w="3175">
            <a:solidFill>
              <a:srgbClr val="00B0F0"/>
            </a:solidFill>
            <a:prstDash val="lgDash"/>
          </a:ln>
        </p:spPr>
        <p:txBody>
          <a:bodyPr lIns="45719" rIns="45719"/>
          <a:lstStyle/>
          <a:p>
            <a:pPr/>
          </a:p>
        </p:txBody>
      </p:sp>
      <p:sp>
        <p:nvSpPr>
          <p:cNvPr id="821" name="Straight Connector 26"/>
          <p:cNvSpPr/>
          <p:nvPr/>
        </p:nvSpPr>
        <p:spPr>
          <a:xfrm flipV="1">
            <a:off x="9027318" y="1242390"/>
            <a:ext cx="1" cy="1958010"/>
          </a:xfrm>
          <a:prstGeom prst="line">
            <a:avLst/>
          </a:prstGeom>
          <a:ln w="3175">
            <a:solidFill>
              <a:srgbClr val="00B0F0"/>
            </a:solidFill>
            <a:prstDash val="lgDash"/>
          </a:ln>
        </p:spPr>
        <p:txBody>
          <a:bodyPr lIns="45719" rIns="45719"/>
          <a:lstStyle/>
          <a:p>
            <a:pPr/>
          </a:p>
        </p:txBody>
      </p:sp>
      <p:sp>
        <p:nvSpPr>
          <p:cNvPr id="822" name="Straight Connector 28"/>
          <p:cNvSpPr/>
          <p:nvPr/>
        </p:nvSpPr>
        <p:spPr>
          <a:xfrm flipV="1">
            <a:off x="95359" y="1242389"/>
            <a:ext cx="1" cy="1958010"/>
          </a:xfrm>
          <a:prstGeom prst="line">
            <a:avLst/>
          </a:prstGeom>
          <a:ln w="3175">
            <a:solidFill>
              <a:srgbClr val="00B0F0"/>
            </a:solidFill>
            <a:prstDash val="lgDash"/>
          </a:ln>
        </p:spPr>
        <p:txBody>
          <a:bodyPr lIns="45719" rIns="45719"/>
          <a:lstStyle/>
          <a:p>
            <a:pPr/>
          </a:p>
        </p:txBody>
      </p:sp>
      <p:sp>
        <p:nvSpPr>
          <p:cNvPr id="823" name="Straight Connector 30"/>
          <p:cNvSpPr/>
          <p:nvPr/>
        </p:nvSpPr>
        <p:spPr>
          <a:xfrm>
            <a:off x="106741" y="1242389"/>
            <a:ext cx="8928002" cy="1"/>
          </a:xfrm>
          <a:prstGeom prst="line">
            <a:avLst/>
          </a:prstGeom>
          <a:ln w="3175">
            <a:solidFill>
              <a:srgbClr val="00B0F0"/>
            </a:solidFill>
            <a:prstDash val="lgDash"/>
          </a:ln>
        </p:spPr>
        <p:txBody>
          <a:bodyPr lIns="45719" rIns="45719"/>
          <a:lstStyle/>
          <a:p>
            <a:pPr/>
          </a:p>
        </p:txBody>
      </p:sp>
      <p:sp>
        <p:nvSpPr>
          <p:cNvPr id="824" name="Straight Connector 31"/>
          <p:cNvSpPr/>
          <p:nvPr/>
        </p:nvSpPr>
        <p:spPr>
          <a:xfrm>
            <a:off x="872057" y="2826026"/>
            <a:ext cx="8154001" cy="1"/>
          </a:xfrm>
          <a:prstGeom prst="line">
            <a:avLst/>
          </a:prstGeom>
          <a:ln w="3175">
            <a:solidFill>
              <a:srgbClr val="00B0F0"/>
            </a:solidFill>
          </a:ln>
        </p:spPr>
        <p:txBody>
          <a:bodyPr lIns="45719" rIns="45719"/>
          <a:lstStyle/>
          <a:p>
            <a:pPr/>
          </a:p>
        </p:txBody>
      </p:sp>
      <p:sp>
        <p:nvSpPr>
          <p:cNvPr id="825" name="Left Brace 32"/>
          <p:cNvSpPr/>
          <p:nvPr/>
        </p:nvSpPr>
        <p:spPr>
          <a:xfrm rot="10800000">
            <a:off x="8047248" y="1987824"/>
            <a:ext cx="253917" cy="80838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15635" y="21600"/>
                  <a:pt x="10800" y="21347"/>
                  <a:pt x="10800" y="21035"/>
                </a:cubicBezTo>
                <a:lnTo>
                  <a:pt x="10800" y="11365"/>
                </a:lnTo>
                <a:cubicBezTo>
                  <a:pt x="10800" y="11053"/>
                  <a:pt x="5965" y="10800"/>
                  <a:pt x="0" y="10800"/>
                </a:cubicBezTo>
                <a:cubicBezTo>
                  <a:pt x="5965" y="10800"/>
                  <a:pt x="10800" y="10547"/>
                  <a:pt x="10800" y="10235"/>
                </a:cubicBezTo>
                <a:lnTo>
                  <a:pt x="10800" y="565"/>
                </a:lnTo>
                <a:cubicBezTo>
                  <a:pt x="10800" y="253"/>
                  <a:pt x="15635" y="0"/>
                  <a:pt x="21600" y="0"/>
                </a:cubicBezTo>
              </a:path>
            </a:pathLst>
          </a:custGeom>
          <a:ln w="12700">
            <a:solidFill>
              <a:srgbClr val="002060"/>
            </a:solidFill>
          </a:ln>
        </p:spPr>
        <p:txBody>
          <a:bodyPr lIns="45719" rIns="45719" anchor="ctr"/>
          <a:lstStyle/>
          <a:p>
            <a:pPr algn="ctr">
              <a:defRPr sz="1200"/>
            </a:pPr>
          </a:p>
        </p:txBody>
      </p:sp>
      <p:sp>
        <p:nvSpPr>
          <p:cNvPr id="826" name="Left Brace 34"/>
          <p:cNvSpPr/>
          <p:nvPr/>
        </p:nvSpPr>
        <p:spPr>
          <a:xfrm rot="10800000">
            <a:off x="6853311" y="1987824"/>
            <a:ext cx="253917" cy="80838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15635" y="21600"/>
                  <a:pt x="10800" y="21347"/>
                  <a:pt x="10800" y="21035"/>
                </a:cubicBezTo>
                <a:lnTo>
                  <a:pt x="10800" y="11365"/>
                </a:lnTo>
                <a:cubicBezTo>
                  <a:pt x="10800" y="11053"/>
                  <a:pt x="5965" y="10800"/>
                  <a:pt x="0" y="10800"/>
                </a:cubicBezTo>
                <a:cubicBezTo>
                  <a:pt x="5965" y="10800"/>
                  <a:pt x="10800" y="10547"/>
                  <a:pt x="10800" y="10235"/>
                </a:cubicBezTo>
                <a:lnTo>
                  <a:pt x="10800" y="565"/>
                </a:lnTo>
                <a:cubicBezTo>
                  <a:pt x="10800" y="253"/>
                  <a:pt x="15635" y="0"/>
                  <a:pt x="21600" y="0"/>
                </a:cubicBezTo>
              </a:path>
            </a:pathLst>
          </a:custGeom>
          <a:ln w="12700">
            <a:solidFill>
              <a:srgbClr val="002060"/>
            </a:solidFill>
          </a:ln>
        </p:spPr>
        <p:txBody>
          <a:bodyPr lIns="45719" rIns="45719" anchor="ctr"/>
          <a:lstStyle/>
          <a:p>
            <a:pPr algn="ctr">
              <a:defRPr sz="1200"/>
            </a:pPr>
          </a:p>
        </p:txBody>
      </p:sp>
      <p:sp>
        <p:nvSpPr>
          <p:cNvPr id="827" name="Left Brace 36"/>
          <p:cNvSpPr/>
          <p:nvPr/>
        </p:nvSpPr>
        <p:spPr>
          <a:xfrm rot="10800000">
            <a:off x="5679236" y="1984508"/>
            <a:ext cx="253917" cy="80838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15635" y="21600"/>
                  <a:pt x="10800" y="21347"/>
                  <a:pt x="10800" y="21035"/>
                </a:cubicBezTo>
                <a:lnTo>
                  <a:pt x="10800" y="11365"/>
                </a:lnTo>
                <a:cubicBezTo>
                  <a:pt x="10800" y="11053"/>
                  <a:pt x="5965" y="10800"/>
                  <a:pt x="0" y="10800"/>
                </a:cubicBezTo>
                <a:cubicBezTo>
                  <a:pt x="5965" y="10800"/>
                  <a:pt x="10800" y="10547"/>
                  <a:pt x="10800" y="10235"/>
                </a:cubicBezTo>
                <a:lnTo>
                  <a:pt x="10800" y="565"/>
                </a:lnTo>
                <a:cubicBezTo>
                  <a:pt x="10800" y="253"/>
                  <a:pt x="15635" y="0"/>
                  <a:pt x="21600" y="0"/>
                </a:cubicBezTo>
              </a:path>
            </a:pathLst>
          </a:custGeom>
          <a:ln>
            <a:solidFill>
              <a:srgbClr val="000000"/>
            </a:solidFill>
          </a:ln>
        </p:spPr>
        <p:txBody>
          <a:bodyPr lIns="45719" rIns="45719" anchor="ctr"/>
          <a:lstStyle/>
          <a:p>
            <a:pPr algn="ctr">
              <a:defRPr sz="1200"/>
            </a:pPr>
          </a:p>
        </p:txBody>
      </p:sp>
      <p:grpSp>
        <p:nvGrpSpPr>
          <p:cNvPr id="830" name="Down Arrow 15"/>
          <p:cNvGrpSpPr/>
          <p:nvPr/>
        </p:nvGrpSpPr>
        <p:grpSpPr>
          <a:xfrm>
            <a:off x="8656733" y="2345515"/>
            <a:ext cx="329182" cy="1705697"/>
            <a:chOff x="0" y="0"/>
            <a:chExt cx="329180" cy="1705696"/>
          </a:xfrm>
        </p:grpSpPr>
        <p:sp>
          <p:nvSpPr>
            <p:cNvPr id="828" name="Shape"/>
            <p:cNvSpPr/>
            <p:nvPr/>
          </p:nvSpPr>
          <p:spPr>
            <a:xfrm rot="5400000">
              <a:off x="-688258" y="688257"/>
              <a:ext cx="1705697" cy="3291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881" y="21600"/>
                  </a:moveTo>
                  <a:lnTo>
                    <a:pt x="19516" y="16200"/>
                  </a:lnTo>
                  <a:lnTo>
                    <a:pt x="20037" y="16200"/>
                  </a:lnTo>
                  <a:lnTo>
                    <a:pt x="20037" y="16200"/>
                  </a:lnTo>
                  <a:cubicBezTo>
                    <a:pt x="18876" y="6663"/>
                    <a:pt x="14822" y="0"/>
                    <a:pt x="10180" y="0"/>
                  </a:cubicBezTo>
                  <a:lnTo>
                    <a:pt x="11222" y="0"/>
                  </a:lnTo>
                  <a:cubicBezTo>
                    <a:pt x="15864" y="0"/>
                    <a:pt x="19918" y="6663"/>
                    <a:pt x="21079" y="16200"/>
                  </a:cubicBezTo>
                  <a:lnTo>
                    <a:pt x="21600" y="16200"/>
                  </a:lnTo>
                  <a:close/>
                  <a:moveTo>
                    <a:pt x="10701" y="28"/>
                  </a:moveTo>
                  <a:lnTo>
                    <a:pt x="10701" y="28"/>
                  </a:lnTo>
                  <a:cubicBezTo>
                    <a:pt x="5288" y="617"/>
                    <a:pt x="1042" y="10100"/>
                    <a:pt x="1042" y="21600"/>
                  </a:cubicBezTo>
                  <a:lnTo>
                    <a:pt x="0" y="21600"/>
                  </a:lnTo>
                  <a:cubicBezTo>
                    <a:pt x="0" y="9671"/>
                    <a:pt x="4558" y="0"/>
                    <a:pt x="10180" y="0"/>
                  </a:cubicBezTo>
                  <a:cubicBezTo>
                    <a:pt x="10354" y="0"/>
                    <a:pt x="10528" y="9"/>
                    <a:pt x="10701" y="28"/>
                  </a:cubicBezTo>
                  <a:close/>
                </a:path>
              </a:pathLst>
            </a:custGeom>
            <a:solidFill>
              <a:srgbClr val="002060"/>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829" name="Shape"/>
            <p:cNvSpPr/>
            <p:nvPr/>
          </p:nvSpPr>
          <p:spPr>
            <a:xfrm rot="5400000">
              <a:off x="-257929" y="257928"/>
              <a:ext cx="845039" cy="3291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8"/>
                  </a:moveTo>
                  <a:lnTo>
                    <a:pt x="21600" y="28"/>
                  </a:lnTo>
                  <a:cubicBezTo>
                    <a:pt x="10675" y="617"/>
                    <a:pt x="2104" y="10100"/>
                    <a:pt x="2104" y="21600"/>
                  </a:cubicBezTo>
                  <a:lnTo>
                    <a:pt x="0" y="21600"/>
                  </a:lnTo>
                  <a:cubicBezTo>
                    <a:pt x="0" y="9671"/>
                    <a:pt x="9200" y="0"/>
                    <a:pt x="20548" y="0"/>
                  </a:cubicBezTo>
                  <a:cubicBezTo>
                    <a:pt x="20899" y="0"/>
                    <a:pt x="21250" y="9"/>
                    <a:pt x="21600" y="28"/>
                  </a:cubicBezTo>
                  <a:close/>
                </a:path>
              </a:pathLst>
            </a:custGeom>
            <a:solidFill>
              <a:srgbClr val="000000">
                <a:alpha val="20000"/>
              </a:srgbClr>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sp>
        <p:nvSpPr>
          <p:cNvPr id="831" name="Straight Arrow Connector 42"/>
          <p:cNvSpPr/>
          <p:nvPr/>
        </p:nvSpPr>
        <p:spPr>
          <a:xfrm>
            <a:off x="5933152" y="2383589"/>
            <a:ext cx="2844002" cy="1"/>
          </a:xfrm>
          <a:prstGeom prst="line">
            <a:avLst/>
          </a:prstGeom>
          <a:ln w="12700">
            <a:solidFill>
              <a:srgbClr val="002060"/>
            </a:solidFill>
            <a:tailEnd type="triangle"/>
          </a:ln>
        </p:spPr>
        <p:txBody>
          <a:bodyPr lIns="45719" rIns="45719"/>
          <a:lstStyle/>
          <a:p>
            <a:pPr/>
          </a:p>
        </p:txBody>
      </p:sp>
      <p:grpSp>
        <p:nvGrpSpPr>
          <p:cNvPr id="834" name="Rounded Rectangle 43"/>
          <p:cNvGrpSpPr/>
          <p:nvPr/>
        </p:nvGrpSpPr>
        <p:grpSpPr>
          <a:xfrm>
            <a:off x="471861" y="3341461"/>
            <a:ext cx="8184875" cy="1470555"/>
            <a:chOff x="0" y="0"/>
            <a:chExt cx="8184873" cy="1470554"/>
          </a:xfrm>
        </p:grpSpPr>
        <p:sp>
          <p:nvSpPr>
            <p:cNvPr id="832" name="Rounded Rectangle"/>
            <p:cNvSpPr/>
            <p:nvPr/>
          </p:nvSpPr>
          <p:spPr>
            <a:xfrm>
              <a:off x="0" y="0"/>
              <a:ext cx="8184874" cy="1470555"/>
            </a:xfrm>
            <a:prstGeom prst="roundRect">
              <a:avLst>
                <a:gd name="adj" fmla="val 16667"/>
              </a:avLst>
            </a:prstGeom>
            <a:noFill/>
            <a:ln w="9525" cap="flat">
              <a:solidFill>
                <a:srgbClr val="002060"/>
              </a:solidFill>
              <a:prstDash val="lgDash"/>
              <a:round/>
            </a:ln>
            <a:effectLst/>
          </p:spPr>
          <p:txBody>
            <a:bodyPr wrap="square" lIns="45719" tIns="45719" rIns="45719" bIns="45719" numCol="1" anchor="ctr">
              <a:noAutofit/>
            </a:bodyPr>
            <a:lstStyle/>
            <a:p>
              <a:pPr>
                <a:lnSpc>
                  <a:spcPct val="150000"/>
                </a:lnSpc>
                <a:defRPr>
                  <a:solidFill>
                    <a:srgbClr val="FFFFFF"/>
                  </a:solidFill>
                </a:defRPr>
              </a:pPr>
            </a:p>
          </p:txBody>
        </p:sp>
        <p:sp>
          <p:nvSpPr>
            <p:cNvPr id="833" name="Actionable Insights…"/>
            <p:cNvSpPr txBox="1"/>
            <p:nvPr/>
          </p:nvSpPr>
          <p:spPr>
            <a:xfrm>
              <a:off x="122269" y="245057"/>
              <a:ext cx="7940335" cy="9804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p>
              <a:pPr>
                <a:defRPr b="1">
                  <a:solidFill>
                    <a:srgbClr val="072C62"/>
                  </a:solidFill>
                  <a:latin typeface="Open Sans"/>
                  <a:ea typeface="Open Sans"/>
                  <a:cs typeface="Open Sans"/>
                  <a:sym typeface="Open Sans"/>
                </a:defRPr>
              </a:pPr>
              <a:r>
                <a:t>Actionable Insights</a:t>
              </a:r>
              <a:endParaRPr>
                <a:solidFill>
                  <a:srgbClr val="FFFFFF"/>
                </a:solidFill>
              </a:endParaRPr>
            </a:p>
            <a:p>
              <a:pPr>
                <a:defRPr b="1" sz="400">
                  <a:solidFill>
                    <a:srgbClr val="072C62"/>
                  </a:solidFill>
                  <a:latin typeface="Open Sans"/>
                  <a:ea typeface="Open Sans"/>
                  <a:cs typeface="Open Sans"/>
                  <a:sym typeface="Open Sans"/>
                </a:defRPr>
              </a:pPr>
            </a:p>
            <a:p>
              <a:pPr marL="358775" indent="-358775">
                <a:lnSpc>
                  <a:spcPct val="150000"/>
                </a:lnSpc>
                <a:buClr>
                  <a:srgbClr val="FF9300"/>
                </a:buClr>
                <a:buSzPct val="150000"/>
                <a:buFont typeface="Helvetica"/>
                <a:buChar char="⇢"/>
                <a:defRPr sz="1000">
                  <a:solidFill>
                    <a:srgbClr val="072C62"/>
                  </a:solidFill>
                  <a:latin typeface="Open Sans"/>
                  <a:ea typeface="Open Sans"/>
                  <a:cs typeface="Open Sans"/>
                  <a:sym typeface="Open Sans"/>
                </a:defRPr>
              </a:pPr>
              <a:r>
                <a:t>High Value but Low Engagement Customers</a:t>
              </a:r>
              <a:endParaRPr>
                <a:solidFill>
                  <a:srgbClr val="FFFFFF"/>
                </a:solidFill>
              </a:endParaRPr>
            </a:p>
            <a:p>
              <a:pPr marL="358775" indent="-358775">
                <a:lnSpc>
                  <a:spcPct val="150000"/>
                </a:lnSpc>
                <a:buClr>
                  <a:srgbClr val="FF9300"/>
                </a:buClr>
                <a:buSzPct val="150000"/>
                <a:buFont typeface="Helvetica"/>
                <a:buChar char="⇢"/>
                <a:defRPr sz="1000">
                  <a:solidFill>
                    <a:srgbClr val="072C62"/>
                  </a:solidFill>
                  <a:latin typeface="Open Sans"/>
                  <a:ea typeface="Open Sans"/>
                  <a:cs typeface="Open Sans"/>
                  <a:sym typeface="Open Sans"/>
                </a:defRPr>
              </a:pPr>
              <a:r>
                <a:t>Transacting on high value categories e.g. CC Add Money, Rent Payment, Travel Categories </a:t>
              </a:r>
              <a:endParaRPr>
                <a:solidFill>
                  <a:srgbClr val="FFFFFF"/>
                </a:solidFill>
              </a:endParaRPr>
            </a:p>
            <a:p>
              <a:pPr marL="717550" indent="-354013">
                <a:lnSpc>
                  <a:spcPct val="150000"/>
                </a:lnSpc>
                <a:buClr>
                  <a:srgbClr val="FF9300"/>
                </a:buClr>
                <a:buSzPct val="150000"/>
                <a:buFont typeface="Arial"/>
                <a:buChar char="•"/>
                <a:defRPr b="1" sz="1000">
                  <a:solidFill>
                    <a:srgbClr val="072C62"/>
                  </a:solidFill>
                  <a:latin typeface="Open Sans"/>
                  <a:ea typeface="Open Sans"/>
                  <a:cs typeface="Open Sans"/>
                  <a:sym typeface="Open Sans"/>
                </a:defRPr>
              </a:pPr>
              <a:r>
                <a:t>Customizing offerings based on their specific need</a:t>
              </a:r>
            </a:p>
          </p:txBody>
        </p:sp>
      </p:grpSp>
      <p:sp>
        <p:nvSpPr>
          <p:cNvPr id="835" name="Title 1"/>
          <p:cNvSpPr txBox="1"/>
          <p:nvPr/>
        </p:nvSpPr>
        <p:spPr>
          <a:xfrm>
            <a:off x="471862" y="702849"/>
            <a:ext cx="8184871" cy="4876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ctr">
            <a:spAutoFit/>
          </a:bodyPr>
          <a:lstStyle/>
          <a:p>
            <a:pPr algn="ctr" defTabSz="914309">
              <a:defRPr b="1" i="1" spc="-150" sz="2000">
                <a:solidFill>
                  <a:srgbClr val="002060"/>
                </a:solidFill>
                <a:latin typeface="Open Sans"/>
                <a:ea typeface="Open Sans"/>
                <a:cs typeface="Open Sans"/>
                <a:sym typeface="Open Sans"/>
              </a:defRPr>
            </a:pPr>
            <a:r>
              <a:t>Customer</a:t>
            </a:r>
            <a:r>
              <a:rPr>
                <a:solidFill>
                  <a:srgbClr val="00B0F0"/>
                </a:solidFill>
              </a:rPr>
              <a:t> Value vs. </a:t>
            </a:r>
            <a:r>
              <a:t>Global</a:t>
            </a:r>
            <a:r>
              <a:rPr>
                <a:solidFill>
                  <a:srgbClr val="00B0F0"/>
                </a:solidFill>
              </a:rPr>
              <a:t> Clusters</a:t>
            </a:r>
          </a:p>
        </p:txBody>
      </p:sp>
      <p:sp>
        <p:nvSpPr>
          <p:cNvPr id="836" name="TextBox 45"/>
          <p:cNvSpPr txBox="1"/>
          <p:nvPr/>
        </p:nvSpPr>
        <p:spPr>
          <a:xfrm>
            <a:off x="8267324" y="454589"/>
            <a:ext cx="575638" cy="574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200">
                <a:solidFill>
                  <a:srgbClr val="002060"/>
                </a:solidFill>
                <a:latin typeface="Open Sans"/>
                <a:ea typeface="Open Sans"/>
                <a:cs typeface="Open Sans"/>
                <a:sym typeface="Open Sans"/>
              </a:defRPr>
            </a:lvl1pPr>
          </a:lstStyle>
          <a:p>
            <a:pPr/>
            <a:r>
              <a:t>1/</a:t>
            </a:r>
          </a:p>
        </p:txBody>
      </p:sp>
      <p:sp>
        <p:nvSpPr>
          <p:cNvPr id="837" name="TextBox 46"/>
          <p:cNvSpPr txBox="1"/>
          <p:nvPr/>
        </p:nvSpPr>
        <p:spPr>
          <a:xfrm>
            <a:off x="8656935" y="221492"/>
            <a:ext cx="505833" cy="916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5400">
                <a:solidFill>
                  <a:srgbClr val="002060"/>
                </a:solidFill>
                <a:latin typeface="Open Sans"/>
                <a:ea typeface="Open Sans"/>
                <a:cs typeface="Open Sans"/>
                <a:sym typeface="Open Sans"/>
              </a:defRPr>
            </a:lvl1pPr>
          </a:lstStyle>
          <a:p>
            <a:pPr/>
            <a:r>
              <a:t>2</a:t>
            </a:r>
          </a:p>
        </p:txBody>
      </p:sp>
      <p:sp>
        <p:nvSpPr>
          <p:cNvPr id="838" name="Rectangle 47"/>
          <p:cNvSpPr txBox="1"/>
          <p:nvPr/>
        </p:nvSpPr>
        <p:spPr>
          <a:xfrm>
            <a:off x="902892" y="1252209"/>
            <a:ext cx="795774" cy="180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600">
                <a:solidFill>
                  <a:srgbClr val="002060"/>
                </a:solidFill>
                <a:latin typeface="Open Sans"/>
                <a:ea typeface="Open Sans"/>
                <a:cs typeface="Open Sans"/>
                <a:sym typeface="Open Sans"/>
              </a:defRPr>
            </a:lvl1pPr>
          </a:lstStyle>
          <a:p>
            <a:pPr/>
            <a:r>
              <a:t>% Customers</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aphicFrame>
        <p:nvGraphicFramePr>
          <p:cNvPr id="840" name="Chart 9"/>
          <p:cNvGraphicFramePr/>
          <p:nvPr/>
        </p:nvGraphicFramePr>
        <p:xfrm>
          <a:off x="3033631" y="1211049"/>
          <a:ext cx="1099051" cy="1882233"/>
        </p:xfrm>
        <a:graphic xmlns:a="http://schemas.openxmlformats.org/drawingml/2006/main">
          <a:graphicData uri="http://schemas.openxmlformats.org/drawingml/2006/chart">
            <c:chart xmlns:c="http://schemas.openxmlformats.org/drawingml/2006/chart" r:id="rId2"/>
          </a:graphicData>
        </a:graphic>
      </p:graphicFrame>
      <p:graphicFrame>
        <p:nvGraphicFramePr>
          <p:cNvPr id="841" name="Chart 13"/>
          <p:cNvGraphicFramePr/>
          <p:nvPr/>
        </p:nvGraphicFramePr>
        <p:xfrm>
          <a:off x="7872638" y="1211049"/>
          <a:ext cx="1099051" cy="1882233"/>
        </p:xfrm>
        <a:graphic xmlns:a="http://schemas.openxmlformats.org/drawingml/2006/main">
          <a:graphicData uri="http://schemas.openxmlformats.org/drawingml/2006/chart">
            <c:chart xmlns:c="http://schemas.openxmlformats.org/drawingml/2006/chart" r:id="rId3"/>
          </a:graphicData>
        </a:graphic>
      </p:graphicFrame>
      <p:graphicFrame>
        <p:nvGraphicFramePr>
          <p:cNvPr id="842" name="Chart 11"/>
          <p:cNvGraphicFramePr/>
          <p:nvPr/>
        </p:nvGraphicFramePr>
        <p:xfrm>
          <a:off x="5458779" y="1211049"/>
          <a:ext cx="1099051" cy="1882233"/>
        </p:xfrm>
        <a:graphic xmlns:a="http://schemas.openxmlformats.org/drawingml/2006/main">
          <a:graphicData uri="http://schemas.openxmlformats.org/drawingml/2006/chart">
            <c:chart xmlns:c="http://schemas.openxmlformats.org/drawingml/2006/chart" r:id="rId4"/>
          </a:graphicData>
        </a:graphic>
      </p:graphicFrame>
      <p:sp>
        <p:nvSpPr>
          <p:cNvPr id="843" name="Slide Number Placeholder 3"/>
          <p:cNvSpPr txBox="1"/>
          <p:nvPr>
            <p:ph type="sldNum" sz="quarter" idx="4294967295"/>
          </p:nvPr>
        </p:nvSpPr>
        <p:spPr>
          <a:xfrm>
            <a:off x="11754629" y="6202479"/>
            <a:ext cx="301908" cy="288824"/>
          </a:xfrm>
          <a:prstGeom prst="rect">
            <a:avLst/>
          </a:prstGeom>
          <a:extLst>
            <a:ext uri="{C572A759-6A51-4108-AA02-DFA0A04FC94B}">
              <ma14:wrappingTextBoxFlag xmlns:ma14="http://schemas.microsoft.com/office/mac/drawingml/2011/main" val="1"/>
            </a:ext>
          </a:extLst>
        </p:spPr>
        <p:txBody>
          <a:bodyPr lIns="45719" tIns="45719" rIns="45719" bIns="45719"/>
          <a:lstStyle>
            <a:lvl1pPr algn="r" defTabSz="548599">
              <a:defRPr sz="1400"/>
            </a:lvl1pPr>
          </a:lstStyle>
          <a:p>
            <a:pPr/>
            <a:fld id="{86CB4B4D-7CA3-9044-876B-883B54F8677D}" type="slidenum"/>
          </a:p>
        </p:txBody>
      </p:sp>
      <p:sp>
        <p:nvSpPr>
          <p:cNvPr id="844" name="Title 1"/>
          <p:cNvSpPr txBox="1"/>
          <p:nvPr/>
        </p:nvSpPr>
        <p:spPr>
          <a:xfrm>
            <a:off x="9539" y="63083"/>
            <a:ext cx="8245941" cy="5511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ctr">
            <a:spAutoFit/>
          </a:bodyPr>
          <a:lstStyle/>
          <a:p>
            <a:pPr defTabSz="914309">
              <a:defRPr b="1" i="1" spc="-150" sz="2400">
                <a:solidFill>
                  <a:srgbClr val="002060"/>
                </a:solidFill>
                <a:latin typeface="Open Sans"/>
                <a:ea typeface="Open Sans"/>
                <a:cs typeface="Open Sans"/>
                <a:sym typeface="Open Sans"/>
              </a:defRPr>
            </a:pPr>
            <a:r>
              <a:t>5. Affluence </a:t>
            </a:r>
            <a:r>
              <a:rPr>
                <a:solidFill>
                  <a:srgbClr val="00B0F0"/>
                </a:solidFill>
              </a:rPr>
              <a:t>Score</a:t>
            </a:r>
          </a:p>
        </p:txBody>
      </p:sp>
      <p:sp>
        <p:nvSpPr>
          <p:cNvPr id="845" name="Straight Connector 8"/>
          <p:cNvSpPr/>
          <p:nvPr/>
        </p:nvSpPr>
        <p:spPr>
          <a:xfrm>
            <a:off x="-12300" y="618293"/>
            <a:ext cx="9180002" cy="13502"/>
          </a:xfrm>
          <a:prstGeom prst="line">
            <a:avLst/>
          </a:prstGeom>
          <a:ln w="38100">
            <a:solidFill>
              <a:srgbClr val="072C62"/>
            </a:solidFill>
          </a:ln>
        </p:spPr>
        <p:txBody>
          <a:bodyPr lIns="45719" rIns="45719"/>
          <a:lstStyle/>
          <a:p>
            <a:pPr/>
          </a:p>
        </p:txBody>
      </p:sp>
      <p:graphicFrame>
        <p:nvGraphicFramePr>
          <p:cNvPr id="846" name="Chart 1"/>
          <p:cNvGraphicFramePr/>
          <p:nvPr/>
        </p:nvGraphicFramePr>
        <p:xfrm>
          <a:off x="547054" y="1211049"/>
          <a:ext cx="1160480" cy="1882233"/>
        </p:xfrm>
        <a:graphic xmlns:a="http://schemas.openxmlformats.org/drawingml/2006/main">
          <a:graphicData uri="http://schemas.openxmlformats.org/drawingml/2006/chart">
            <c:chart xmlns:c="http://schemas.openxmlformats.org/drawingml/2006/chart" r:id="rId5"/>
          </a:graphicData>
        </a:graphic>
      </p:graphicFrame>
      <p:graphicFrame>
        <p:nvGraphicFramePr>
          <p:cNvPr id="847" name="Chart 6"/>
          <p:cNvGraphicFramePr/>
          <p:nvPr/>
        </p:nvGraphicFramePr>
        <p:xfrm>
          <a:off x="1821057" y="1211049"/>
          <a:ext cx="1099051" cy="1882233"/>
        </p:xfrm>
        <a:graphic xmlns:a="http://schemas.openxmlformats.org/drawingml/2006/main">
          <a:graphicData uri="http://schemas.openxmlformats.org/drawingml/2006/chart">
            <c:chart xmlns:c="http://schemas.openxmlformats.org/drawingml/2006/chart" r:id="rId6"/>
          </a:graphicData>
        </a:graphic>
      </p:graphicFrame>
      <p:graphicFrame>
        <p:nvGraphicFramePr>
          <p:cNvPr id="848" name="Chart 10"/>
          <p:cNvGraphicFramePr/>
          <p:nvPr/>
        </p:nvGraphicFramePr>
        <p:xfrm>
          <a:off x="4246205" y="1211049"/>
          <a:ext cx="1099051" cy="1882233"/>
        </p:xfrm>
        <a:graphic xmlns:a="http://schemas.openxmlformats.org/drawingml/2006/main">
          <a:graphicData uri="http://schemas.openxmlformats.org/drawingml/2006/chart">
            <c:chart xmlns:c="http://schemas.openxmlformats.org/drawingml/2006/chart" r:id="rId7"/>
          </a:graphicData>
        </a:graphic>
      </p:graphicFrame>
      <p:graphicFrame>
        <p:nvGraphicFramePr>
          <p:cNvPr id="849" name="Chart 12"/>
          <p:cNvGraphicFramePr/>
          <p:nvPr/>
        </p:nvGraphicFramePr>
        <p:xfrm>
          <a:off x="6671353" y="1211049"/>
          <a:ext cx="1099051" cy="1882233"/>
        </p:xfrm>
        <a:graphic xmlns:a="http://schemas.openxmlformats.org/drawingml/2006/main">
          <a:graphicData uri="http://schemas.openxmlformats.org/drawingml/2006/chart">
            <c:chart xmlns:c="http://schemas.openxmlformats.org/drawingml/2006/chart" r:id="rId8"/>
          </a:graphicData>
        </a:graphic>
      </p:graphicFrame>
      <p:sp>
        <p:nvSpPr>
          <p:cNvPr id="850" name="Straight Connector 14"/>
          <p:cNvSpPr/>
          <p:nvPr/>
        </p:nvSpPr>
        <p:spPr>
          <a:xfrm flipV="1">
            <a:off x="1774349" y="1242390"/>
            <a:ext cx="1" cy="1958010"/>
          </a:xfrm>
          <a:prstGeom prst="line">
            <a:avLst/>
          </a:prstGeom>
          <a:ln w="3175">
            <a:solidFill>
              <a:srgbClr val="00B0F0"/>
            </a:solidFill>
            <a:prstDash val="lgDash"/>
          </a:ln>
        </p:spPr>
        <p:txBody>
          <a:bodyPr lIns="45719" rIns="45719"/>
          <a:lstStyle/>
          <a:p>
            <a:pPr/>
          </a:p>
        </p:txBody>
      </p:sp>
      <p:sp>
        <p:nvSpPr>
          <p:cNvPr id="851" name="Straight Connector 17"/>
          <p:cNvSpPr/>
          <p:nvPr/>
        </p:nvSpPr>
        <p:spPr>
          <a:xfrm>
            <a:off x="96803" y="3200400"/>
            <a:ext cx="8928001" cy="0"/>
          </a:xfrm>
          <a:prstGeom prst="line">
            <a:avLst/>
          </a:prstGeom>
          <a:ln w="3175">
            <a:solidFill>
              <a:srgbClr val="00B0F0"/>
            </a:solidFill>
            <a:prstDash val="lgDash"/>
          </a:ln>
        </p:spPr>
        <p:txBody>
          <a:bodyPr lIns="45719" rIns="45719"/>
          <a:lstStyle/>
          <a:p>
            <a:pPr/>
          </a:p>
        </p:txBody>
      </p:sp>
      <p:sp>
        <p:nvSpPr>
          <p:cNvPr id="852" name="Straight Connector 21"/>
          <p:cNvSpPr/>
          <p:nvPr/>
        </p:nvSpPr>
        <p:spPr>
          <a:xfrm flipV="1">
            <a:off x="2979152" y="1242390"/>
            <a:ext cx="1" cy="1958010"/>
          </a:xfrm>
          <a:prstGeom prst="line">
            <a:avLst/>
          </a:prstGeom>
          <a:ln w="3175">
            <a:solidFill>
              <a:srgbClr val="00B0F0"/>
            </a:solidFill>
            <a:prstDash val="lgDash"/>
          </a:ln>
        </p:spPr>
        <p:txBody>
          <a:bodyPr lIns="45719" rIns="45719"/>
          <a:lstStyle/>
          <a:p>
            <a:pPr/>
          </a:p>
        </p:txBody>
      </p:sp>
      <p:sp>
        <p:nvSpPr>
          <p:cNvPr id="853" name="Straight Connector 22"/>
          <p:cNvSpPr/>
          <p:nvPr/>
        </p:nvSpPr>
        <p:spPr>
          <a:xfrm flipV="1">
            <a:off x="4191726" y="1242390"/>
            <a:ext cx="1" cy="1958010"/>
          </a:xfrm>
          <a:prstGeom prst="line">
            <a:avLst/>
          </a:prstGeom>
          <a:ln w="3175">
            <a:solidFill>
              <a:srgbClr val="00B0F0"/>
            </a:solidFill>
            <a:prstDash val="lgDash"/>
          </a:ln>
        </p:spPr>
        <p:txBody>
          <a:bodyPr lIns="45719" rIns="45719"/>
          <a:lstStyle/>
          <a:p>
            <a:pPr/>
          </a:p>
        </p:txBody>
      </p:sp>
      <p:sp>
        <p:nvSpPr>
          <p:cNvPr id="854" name="Straight Connector 23"/>
          <p:cNvSpPr/>
          <p:nvPr/>
        </p:nvSpPr>
        <p:spPr>
          <a:xfrm flipV="1">
            <a:off x="5404301" y="1242390"/>
            <a:ext cx="1" cy="1958010"/>
          </a:xfrm>
          <a:prstGeom prst="line">
            <a:avLst/>
          </a:prstGeom>
          <a:ln w="3175">
            <a:solidFill>
              <a:srgbClr val="00B0F0"/>
            </a:solidFill>
            <a:prstDash val="lgDash"/>
          </a:ln>
        </p:spPr>
        <p:txBody>
          <a:bodyPr lIns="45719" rIns="45719"/>
          <a:lstStyle/>
          <a:p>
            <a:pPr/>
          </a:p>
        </p:txBody>
      </p:sp>
      <p:sp>
        <p:nvSpPr>
          <p:cNvPr id="855" name="Straight Connector 24"/>
          <p:cNvSpPr/>
          <p:nvPr/>
        </p:nvSpPr>
        <p:spPr>
          <a:xfrm flipV="1">
            <a:off x="6616875" y="1242390"/>
            <a:ext cx="1" cy="1958010"/>
          </a:xfrm>
          <a:prstGeom prst="line">
            <a:avLst/>
          </a:prstGeom>
          <a:ln w="3175">
            <a:solidFill>
              <a:srgbClr val="00B0F0"/>
            </a:solidFill>
            <a:prstDash val="lgDash"/>
          </a:ln>
        </p:spPr>
        <p:txBody>
          <a:bodyPr lIns="45719" rIns="45719"/>
          <a:lstStyle/>
          <a:p>
            <a:pPr/>
          </a:p>
        </p:txBody>
      </p:sp>
      <p:sp>
        <p:nvSpPr>
          <p:cNvPr id="856" name="Straight Connector 25"/>
          <p:cNvSpPr/>
          <p:nvPr/>
        </p:nvSpPr>
        <p:spPr>
          <a:xfrm flipV="1">
            <a:off x="7810297" y="1242390"/>
            <a:ext cx="1" cy="1958010"/>
          </a:xfrm>
          <a:prstGeom prst="line">
            <a:avLst/>
          </a:prstGeom>
          <a:ln w="3175">
            <a:solidFill>
              <a:srgbClr val="00B0F0"/>
            </a:solidFill>
            <a:prstDash val="lgDash"/>
          </a:ln>
        </p:spPr>
        <p:txBody>
          <a:bodyPr lIns="45719" rIns="45719"/>
          <a:lstStyle/>
          <a:p>
            <a:pPr/>
          </a:p>
        </p:txBody>
      </p:sp>
      <p:sp>
        <p:nvSpPr>
          <p:cNvPr id="857" name="Straight Connector 26"/>
          <p:cNvSpPr/>
          <p:nvPr/>
        </p:nvSpPr>
        <p:spPr>
          <a:xfrm flipV="1">
            <a:off x="9027318" y="1242390"/>
            <a:ext cx="1" cy="1958010"/>
          </a:xfrm>
          <a:prstGeom prst="line">
            <a:avLst/>
          </a:prstGeom>
          <a:ln w="3175">
            <a:solidFill>
              <a:srgbClr val="00B0F0"/>
            </a:solidFill>
            <a:prstDash val="lgDash"/>
          </a:ln>
        </p:spPr>
        <p:txBody>
          <a:bodyPr lIns="45719" rIns="45719"/>
          <a:lstStyle/>
          <a:p>
            <a:pPr/>
          </a:p>
        </p:txBody>
      </p:sp>
      <p:sp>
        <p:nvSpPr>
          <p:cNvPr id="858" name="Straight Connector 28"/>
          <p:cNvSpPr/>
          <p:nvPr/>
        </p:nvSpPr>
        <p:spPr>
          <a:xfrm flipV="1">
            <a:off x="95359" y="1242389"/>
            <a:ext cx="1" cy="1958010"/>
          </a:xfrm>
          <a:prstGeom prst="line">
            <a:avLst/>
          </a:prstGeom>
          <a:ln w="3175">
            <a:solidFill>
              <a:srgbClr val="00B0F0"/>
            </a:solidFill>
            <a:prstDash val="lgDash"/>
          </a:ln>
        </p:spPr>
        <p:txBody>
          <a:bodyPr lIns="45719" rIns="45719"/>
          <a:lstStyle/>
          <a:p>
            <a:pPr/>
          </a:p>
        </p:txBody>
      </p:sp>
      <p:sp>
        <p:nvSpPr>
          <p:cNvPr id="859" name="Straight Connector 30"/>
          <p:cNvSpPr/>
          <p:nvPr/>
        </p:nvSpPr>
        <p:spPr>
          <a:xfrm>
            <a:off x="106741" y="1242389"/>
            <a:ext cx="8928002" cy="1"/>
          </a:xfrm>
          <a:prstGeom prst="line">
            <a:avLst/>
          </a:prstGeom>
          <a:ln w="3175">
            <a:solidFill>
              <a:srgbClr val="00B0F0"/>
            </a:solidFill>
            <a:prstDash val="lgDash"/>
          </a:ln>
        </p:spPr>
        <p:txBody>
          <a:bodyPr lIns="45719" rIns="45719"/>
          <a:lstStyle/>
          <a:p>
            <a:pPr/>
          </a:p>
        </p:txBody>
      </p:sp>
      <p:sp>
        <p:nvSpPr>
          <p:cNvPr id="860" name="Straight Connector 31"/>
          <p:cNvSpPr/>
          <p:nvPr/>
        </p:nvSpPr>
        <p:spPr>
          <a:xfrm>
            <a:off x="872057" y="2826026"/>
            <a:ext cx="8154001" cy="1"/>
          </a:xfrm>
          <a:prstGeom prst="line">
            <a:avLst/>
          </a:prstGeom>
          <a:ln w="3175">
            <a:solidFill>
              <a:srgbClr val="00B0F0"/>
            </a:solidFill>
          </a:ln>
        </p:spPr>
        <p:txBody>
          <a:bodyPr lIns="45719" rIns="45719"/>
          <a:lstStyle/>
          <a:p>
            <a:pPr/>
          </a:p>
        </p:txBody>
      </p:sp>
      <p:grpSp>
        <p:nvGrpSpPr>
          <p:cNvPr id="863" name="Rounded Rectangle 43"/>
          <p:cNvGrpSpPr/>
          <p:nvPr/>
        </p:nvGrpSpPr>
        <p:grpSpPr>
          <a:xfrm>
            <a:off x="471861" y="3341461"/>
            <a:ext cx="8184875" cy="1470555"/>
            <a:chOff x="0" y="0"/>
            <a:chExt cx="8184873" cy="1470554"/>
          </a:xfrm>
        </p:grpSpPr>
        <p:sp>
          <p:nvSpPr>
            <p:cNvPr id="861" name="Rounded Rectangle"/>
            <p:cNvSpPr/>
            <p:nvPr/>
          </p:nvSpPr>
          <p:spPr>
            <a:xfrm>
              <a:off x="0" y="0"/>
              <a:ext cx="8184874" cy="1470555"/>
            </a:xfrm>
            <a:prstGeom prst="roundRect">
              <a:avLst>
                <a:gd name="adj" fmla="val 16667"/>
              </a:avLst>
            </a:prstGeom>
            <a:noFill/>
            <a:ln w="9525" cap="flat">
              <a:solidFill>
                <a:srgbClr val="002060"/>
              </a:solidFill>
              <a:prstDash val="lgDash"/>
              <a:round/>
            </a:ln>
            <a:effectLst/>
          </p:spPr>
          <p:txBody>
            <a:bodyPr wrap="square" lIns="45719" tIns="45719" rIns="45719" bIns="45719" numCol="1" anchor="ctr">
              <a:noAutofit/>
            </a:bodyPr>
            <a:lstStyle/>
            <a:p>
              <a:pPr>
                <a:lnSpc>
                  <a:spcPct val="150000"/>
                </a:lnSpc>
                <a:defRPr>
                  <a:solidFill>
                    <a:srgbClr val="FFFFFF"/>
                  </a:solidFill>
                </a:defRPr>
              </a:pPr>
            </a:p>
          </p:txBody>
        </p:sp>
        <p:sp>
          <p:nvSpPr>
            <p:cNvPr id="862" name="Actionable Insights…"/>
            <p:cNvSpPr txBox="1"/>
            <p:nvPr/>
          </p:nvSpPr>
          <p:spPr>
            <a:xfrm>
              <a:off x="122269" y="359357"/>
              <a:ext cx="7940335" cy="75184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ctr">
              <a:spAutoFit/>
            </a:bodyPr>
            <a:lstStyle/>
            <a:p>
              <a:pPr>
                <a:defRPr b="1">
                  <a:solidFill>
                    <a:srgbClr val="072C62"/>
                  </a:solidFill>
                  <a:latin typeface="Open Sans"/>
                  <a:ea typeface="Open Sans"/>
                  <a:cs typeface="Open Sans"/>
                  <a:sym typeface="Open Sans"/>
                </a:defRPr>
              </a:pPr>
              <a:r>
                <a:t>Actionable Insights</a:t>
              </a:r>
              <a:endParaRPr>
                <a:solidFill>
                  <a:srgbClr val="FFFFFF"/>
                </a:solidFill>
              </a:endParaRPr>
            </a:p>
            <a:p>
              <a:pPr>
                <a:defRPr b="1" sz="400">
                  <a:solidFill>
                    <a:srgbClr val="072C62"/>
                  </a:solidFill>
                  <a:latin typeface="Open Sans"/>
                  <a:ea typeface="Open Sans"/>
                  <a:cs typeface="Open Sans"/>
                  <a:sym typeface="Open Sans"/>
                </a:defRPr>
              </a:pPr>
            </a:p>
            <a:p>
              <a:pPr marL="358775" indent="-358775">
                <a:lnSpc>
                  <a:spcPct val="150000"/>
                </a:lnSpc>
                <a:buClr>
                  <a:srgbClr val="FF9300"/>
                </a:buClr>
                <a:buSzPct val="150000"/>
                <a:buFont typeface="Helvetica"/>
                <a:buChar char="⇢"/>
                <a:defRPr sz="1000">
                  <a:solidFill>
                    <a:srgbClr val="002060"/>
                  </a:solidFill>
                  <a:latin typeface="Open Sans"/>
                  <a:ea typeface="Open Sans"/>
                  <a:cs typeface="Open Sans"/>
                  <a:sym typeface="Open Sans"/>
                </a:defRPr>
              </a:pPr>
              <a:r>
                <a:t>Affluent Customers are not necessarily Affluent</a:t>
              </a:r>
              <a:endParaRPr>
                <a:solidFill>
                  <a:srgbClr val="FFFFFF"/>
                </a:solidFill>
              </a:endParaRPr>
            </a:p>
            <a:p>
              <a:pPr marL="358775" indent="-358775">
                <a:lnSpc>
                  <a:spcPct val="150000"/>
                </a:lnSpc>
                <a:buClr>
                  <a:srgbClr val="FF9300"/>
                </a:buClr>
                <a:buSzPct val="150000"/>
                <a:buFont typeface="Helvetica"/>
                <a:buChar char="⇢"/>
                <a:defRPr b="1" sz="1000">
                  <a:solidFill>
                    <a:srgbClr val="072C62"/>
                  </a:solidFill>
                  <a:latin typeface="Open Sans"/>
                  <a:ea typeface="Open Sans"/>
                  <a:cs typeface="Open Sans"/>
                  <a:sym typeface="Open Sans"/>
                </a:defRPr>
              </a:pPr>
              <a:r>
                <a:t>Affluent Customers can be pushed to transact more on Paytm by Up Selling more services </a:t>
              </a:r>
            </a:p>
          </p:txBody>
        </p:sp>
      </p:grpSp>
      <p:sp>
        <p:nvSpPr>
          <p:cNvPr id="864" name="Title 1"/>
          <p:cNvSpPr txBox="1"/>
          <p:nvPr/>
        </p:nvSpPr>
        <p:spPr>
          <a:xfrm>
            <a:off x="471862" y="702849"/>
            <a:ext cx="8184871" cy="4876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ctr">
            <a:spAutoFit/>
          </a:bodyPr>
          <a:lstStyle/>
          <a:p>
            <a:pPr algn="ctr" defTabSz="914309">
              <a:defRPr b="1" i="1" spc="-150" sz="2000">
                <a:solidFill>
                  <a:srgbClr val="002060"/>
                </a:solidFill>
                <a:latin typeface="Open Sans"/>
                <a:ea typeface="Open Sans"/>
                <a:cs typeface="Open Sans"/>
                <a:sym typeface="Open Sans"/>
              </a:defRPr>
            </a:pPr>
            <a:r>
              <a:t>Customer</a:t>
            </a:r>
            <a:r>
              <a:rPr>
                <a:solidFill>
                  <a:srgbClr val="00B0F0"/>
                </a:solidFill>
              </a:rPr>
              <a:t> Value vs. </a:t>
            </a:r>
            <a:r>
              <a:t>Affluence</a:t>
            </a:r>
            <a:r>
              <a:rPr>
                <a:solidFill>
                  <a:srgbClr val="00B0F0"/>
                </a:solidFill>
              </a:rPr>
              <a:t> Score</a:t>
            </a:r>
          </a:p>
        </p:txBody>
      </p:sp>
      <p:sp>
        <p:nvSpPr>
          <p:cNvPr id="865" name="TextBox 45"/>
          <p:cNvSpPr txBox="1"/>
          <p:nvPr/>
        </p:nvSpPr>
        <p:spPr>
          <a:xfrm>
            <a:off x="8267324" y="454589"/>
            <a:ext cx="575638" cy="574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200">
                <a:solidFill>
                  <a:srgbClr val="002060"/>
                </a:solidFill>
                <a:latin typeface="Open Sans"/>
                <a:ea typeface="Open Sans"/>
                <a:cs typeface="Open Sans"/>
                <a:sym typeface="Open Sans"/>
              </a:defRPr>
            </a:lvl1pPr>
          </a:lstStyle>
          <a:p>
            <a:pPr/>
            <a:r>
              <a:t>2/</a:t>
            </a:r>
          </a:p>
        </p:txBody>
      </p:sp>
      <p:sp>
        <p:nvSpPr>
          <p:cNvPr id="866" name="TextBox 46"/>
          <p:cNvSpPr txBox="1"/>
          <p:nvPr/>
        </p:nvSpPr>
        <p:spPr>
          <a:xfrm>
            <a:off x="8656935" y="221492"/>
            <a:ext cx="505833" cy="916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5400">
                <a:solidFill>
                  <a:srgbClr val="002060"/>
                </a:solidFill>
                <a:latin typeface="Open Sans"/>
                <a:ea typeface="Open Sans"/>
                <a:cs typeface="Open Sans"/>
                <a:sym typeface="Open Sans"/>
              </a:defRPr>
            </a:lvl1pPr>
          </a:lstStyle>
          <a:p>
            <a:pPr/>
            <a:r>
              <a:t>2</a:t>
            </a:r>
          </a:p>
        </p:txBody>
      </p:sp>
      <p:sp>
        <p:nvSpPr>
          <p:cNvPr id="867" name="TextBox 5"/>
          <p:cNvSpPr txBox="1"/>
          <p:nvPr/>
        </p:nvSpPr>
        <p:spPr>
          <a:xfrm rot="16200000">
            <a:off x="-321079" y="1947163"/>
            <a:ext cx="1409197" cy="243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defRPr b="1" sz="1000">
                <a:solidFill>
                  <a:srgbClr val="00B0F0"/>
                </a:solidFill>
                <a:latin typeface="Open Sans"/>
                <a:ea typeface="Open Sans"/>
                <a:cs typeface="Open Sans"/>
                <a:sym typeface="Open Sans"/>
              </a:defRPr>
            </a:lvl1pPr>
          </a:lstStyle>
          <a:p>
            <a:pPr/>
            <a:r>
              <a:t>Affluence Score</a:t>
            </a:r>
          </a:p>
        </p:txBody>
      </p:sp>
      <p:sp>
        <p:nvSpPr>
          <p:cNvPr id="868" name="Rectangle 15"/>
          <p:cNvSpPr txBox="1"/>
          <p:nvPr/>
        </p:nvSpPr>
        <p:spPr>
          <a:xfrm>
            <a:off x="902892" y="1252209"/>
            <a:ext cx="795774" cy="180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600">
                <a:solidFill>
                  <a:srgbClr val="002060"/>
                </a:solidFill>
                <a:latin typeface="Open Sans"/>
                <a:ea typeface="Open Sans"/>
                <a:cs typeface="Open Sans"/>
                <a:sym typeface="Open Sans"/>
              </a:defRPr>
            </a:lvl1pPr>
          </a:lstStyle>
          <a:p>
            <a:pPr/>
            <a:r>
              <a:t>% Customers</a:t>
            </a:r>
          </a:p>
        </p:txBody>
      </p:sp>
      <p:sp>
        <p:nvSpPr>
          <p:cNvPr id="869" name="Left Brace 18"/>
          <p:cNvSpPr/>
          <p:nvPr/>
        </p:nvSpPr>
        <p:spPr>
          <a:xfrm rot="10800000">
            <a:off x="3278377" y="1435540"/>
            <a:ext cx="253917" cy="468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15635" y="21600"/>
                  <a:pt x="10800" y="21163"/>
                  <a:pt x="10800" y="20623"/>
                </a:cubicBezTo>
                <a:lnTo>
                  <a:pt x="10800" y="11777"/>
                </a:lnTo>
                <a:cubicBezTo>
                  <a:pt x="10800" y="11237"/>
                  <a:pt x="5965" y="10800"/>
                  <a:pt x="0" y="10800"/>
                </a:cubicBezTo>
                <a:cubicBezTo>
                  <a:pt x="5965" y="10800"/>
                  <a:pt x="10800" y="10363"/>
                  <a:pt x="10800" y="9823"/>
                </a:cubicBezTo>
                <a:lnTo>
                  <a:pt x="10800" y="977"/>
                </a:lnTo>
                <a:cubicBezTo>
                  <a:pt x="10800" y="437"/>
                  <a:pt x="15635" y="0"/>
                  <a:pt x="21600" y="0"/>
                </a:cubicBezTo>
              </a:path>
            </a:pathLst>
          </a:custGeom>
          <a:ln w="12700">
            <a:solidFill>
              <a:srgbClr val="002060"/>
            </a:solidFill>
          </a:ln>
        </p:spPr>
        <p:txBody>
          <a:bodyPr lIns="45719" rIns="45719" anchor="ctr"/>
          <a:lstStyle/>
          <a:p>
            <a:pPr algn="ctr">
              <a:defRPr sz="1200"/>
            </a:pPr>
          </a:p>
        </p:txBody>
      </p:sp>
      <p:sp>
        <p:nvSpPr>
          <p:cNvPr id="870" name="Left Brace 19"/>
          <p:cNvSpPr/>
          <p:nvPr/>
        </p:nvSpPr>
        <p:spPr>
          <a:xfrm rot="10800000">
            <a:off x="1976314" y="1435539"/>
            <a:ext cx="253917" cy="4680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15635" y="21600"/>
                  <a:pt x="10800" y="21163"/>
                  <a:pt x="10800" y="20623"/>
                </a:cubicBezTo>
                <a:lnTo>
                  <a:pt x="10800" y="11777"/>
                </a:lnTo>
                <a:cubicBezTo>
                  <a:pt x="10800" y="11237"/>
                  <a:pt x="5965" y="10800"/>
                  <a:pt x="0" y="10800"/>
                </a:cubicBezTo>
                <a:cubicBezTo>
                  <a:pt x="5965" y="10800"/>
                  <a:pt x="10800" y="10363"/>
                  <a:pt x="10800" y="9823"/>
                </a:cubicBezTo>
                <a:lnTo>
                  <a:pt x="10800" y="977"/>
                </a:lnTo>
                <a:cubicBezTo>
                  <a:pt x="10800" y="437"/>
                  <a:pt x="15635" y="0"/>
                  <a:pt x="21600" y="0"/>
                </a:cubicBezTo>
              </a:path>
            </a:pathLst>
          </a:custGeom>
          <a:ln w="12700">
            <a:solidFill>
              <a:srgbClr val="002060"/>
            </a:solidFill>
          </a:ln>
        </p:spPr>
        <p:txBody>
          <a:bodyPr lIns="45719" rIns="45719" anchor="ctr"/>
          <a:lstStyle/>
          <a:p>
            <a:pPr algn="ctr">
              <a:defRPr sz="1200"/>
            </a:pPr>
          </a:p>
        </p:txBody>
      </p:sp>
      <p:sp>
        <p:nvSpPr>
          <p:cNvPr id="871" name="Left Brace 20"/>
          <p:cNvSpPr/>
          <p:nvPr/>
        </p:nvSpPr>
        <p:spPr>
          <a:xfrm rot="10800000">
            <a:off x="1020896" y="1432224"/>
            <a:ext cx="253917" cy="4680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15635" y="21600"/>
                  <a:pt x="10800" y="21163"/>
                  <a:pt x="10800" y="20623"/>
                </a:cubicBezTo>
                <a:lnTo>
                  <a:pt x="10800" y="11777"/>
                </a:lnTo>
                <a:cubicBezTo>
                  <a:pt x="10800" y="11237"/>
                  <a:pt x="5965" y="10800"/>
                  <a:pt x="0" y="10800"/>
                </a:cubicBezTo>
                <a:cubicBezTo>
                  <a:pt x="5965" y="10800"/>
                  <a:pt x="10800" y="10363"/>
                  <a:pt x="10800" y="9823"/>
                </a:cubicBezTo>
                <a:lnTo>
                  <a:pt x="10800" y="977"/>
                </a:lnTo>
                <a:cubicBezTo>
                  <a:pt x="10800" y="437"/>
                  <a:pt x="15635" y="0"/>
                  <a:pt x="21600" y="0"/>
                </a:cubicBezTo>
              </a:path>
            </a:pathLst>
          </a:custGeom>
          <a:ln>
            <a:solidFill>
              <a:srgbClr val="000000"/>
            </a:solidFill>
          </a:ln>
        </p:spPr>
        <p:txBody>
          <a:bodyPr lIns="45719" rIns="45719" anchor="ctr"/>
          <a:lstStyle/>
          <a:p>
            <a:pPr algn="ctr">
              <a:defRPr sz="1200"/>
            </a:pPr>
          </a:p>
        </p:txBody>
      </p:sp>
      <p:grpSp>
        <p:nvGrpSpPr>
          <p:cNvPr id="874" name="Down Arrow 15"/>
          <p:cNvGrpSpPr/>
          <p:nvPr/>
        </p:nvGrpSpPr>
        <p:grpSpPr>
          <a:xfrm>
            <a:off x="8678988" y="1619918"/>
            <a:ext cx="329181" cy="2359777"/>
            <a:chOff x="0" y="0"/>
            <a:chExt cx="329180" cy="2359775"/>
          </a:xfrm>
        </p:grpSpPr>
        <p:sp>
          <p:nvSpPr>
            <p:cNvPr id="872" name="Shape"/>
            <p:cNvSpPr/>
            <p:nvPr/>
          </p:nvSpPr>
          <p:spPr>
            <a:xfrm rot="5400000">
              <a:off x="-1015298" y="1015297"/>
              <a:ext cx="2359776" cy="3291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177" y="21600"/>
                  </a:moveTo>
                  <a:lnTo>
                    <a:pt x="20093" y="16200"/>
                  </a:lnTo>
                  <a:lnTo>
                    <a:pt x="20470" y="16200"/>
                  </a:lnTo>
                  <a:lnTo>
                    <a:pt x="20470" y="16200"/>
                  </a:lnTo>
                  <a:cubicBezTo>
                    <a:pt x="19284" y="6663"/>
                    <a:pt x="15143" y="0"/>
                    <a:pt x="10400" y="0"/>
                  </a:cubicBezTo>
                  <a:lnTo>
                    <a:pt x="11153" y="0"/>
                  </a:lnTo>
                  <a:cubicBezTo>
                    <a:pt x="15896" y="0"/>
                    <a:pt x="20038" y="6663"/>
                    <a:pt x="21223" y="16200"/>
                  </a:cubicBezTo>
                  <a:lnTo>
                    <a:pt x="21600" y="16200"/>
                  </a:lnTo>
                  <a:close/>
                  <a:moveTo>
                    <a:pt x="10777" y="14"/>
                  </a:moveTo>
                  <a:lnTo>
                    <a:pt x="10777" y="14"/>
                  </a:lnTo>
                  <a:cubicBezTo>
                    <a:pt x="5183" y="435"/>
                    <a:pt x="753" y="9975"/>
                    <a:pt x="753" y="21600"/>
                  </a:cubicBezTo>
                  <a:lnTo>
                    <a:pt x="0" y="21600"/>
                  </a:lnTo>
                  <a:cubicBezTo>
                    <a:pt x="0" y="9671"/>
                    <a:pt x="4656" y="0"/>
                    <a:pt x="10400" y="0"/>
                  </a:cubicBezTo>
                  <a:cubicBezTo>
                    <a:pt x="10526" y="0"/>
                    <a:pt x="10651" y="5"/>
                    <a:pt x="10777" y="14"/>
                  </a:cubicBezTo>
                  <a:close/>
                </a:path>
              </a:pathLst>
            </a:custGeom>
            <a:solidFill>
              <a:srgbClr val="002060"/>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873" name="Shape"/>
            <p:cNvSpPr/>
            <p:nvPr/>
          </p:nvSpPr>
          <p:spPr>
            <a:xfrm rot="5400000">
              <a:off x="-424087" y="424086"/>
              <a:ext cx="1177355" cy="3291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4"/>
                  </a:moveTo>
                  <a:lnTo>
                    <a:pt x="21600" y="14"/>
                  </a:lnTo>
                  <a:cubicBezTo>
                    <a:pt x="10389" y="435"/>
                    <a:pt x="1510" y="9975"/>
                    <a:pt x="1510" y="21600"/>
                  </a:cubicBezTo>
                  <a:lnTo>
                    <a:pt x="0" y="21600"/>
                  </a:lnTo>
                  <a:cubicBezTo>
                    <a:pt x="0" y="9671"/>
                    <a:pt x="9333" y="0"/>
                    <a:pt x="20845" y="0"/>
                  </a:cubicBezTo>
                  <a:cubicBezTo>
                    <a:pt x="21097" y="0"/>
                    <a:pt x="21348" y="5"/>
                    <a:pt x="21600" y="14"/>
                  </a:cubicBezTo>
                  <a:close/>
                </a:path>
              </a:pathLst>
            </a:custGeom>
            <a:solidFill>
              <a:srgbClr val="000000">
                <a:alpha val="20000"/>
              </a:srgbClr>
            </a:soli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sp>
        <p:nvSpPr>
          <p:cNvPr id="875" name="Straight Arrow Connector 33"/>
          <p:cNvSpPr/>
          <p:nvPr/>
        </p:nvSpPr>
        <p:spPr>
          <a:xfrm>
            <a:off x="1132052" y="1670156"/>
            <a:ext cx="7632002" cy="1"/>
          </a:xfrm>
          <a:prstGeom prst="line">
            <a:avLst/>
          </a:prstGeom>
          <a:ln w="12700">
            <a:solidFill>
              <a:srgbClr val="002060"/>
            </a:solidFill>
            <a:tailEnd type="triangle"/>
          </a:ln>
        </p:spPr>
        <p:txBody>
          <a:bodyPr lIns="45719" rIns="45719"/>
          <a:lstStyle/>
          <a:p>
            <a:pP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77" name="Slide Number Placeholder 3"/>
          <p:cNvSpPr txBox="1"/>
          <p:nvPr>
            <p:ph type="sldNum" sz="quarter" idx="4294967295"/>
          </p:nvPr>
        </p:nvSpPr>
        <p:spPr>
          <a:xfrm>
            <a:off x="11754629" y="6202479"/>
            <a:ext cx="301908" cy="288824"/>
          </a:xfrm>
          <a:prstGeom prst="rect">
            <a:avLst/>
          </a:prstGeom>
          <a:extLst>
            <a:ext uri="{C572A759-6A51-4108-AA02-DFA0A04FC94B}">
              <ma14:wrappingTextBoxFlag xmlns:ma14="http://schemas.microsoft.com/office/mac/drawingml/2011/main" val="1"/>
            </a:ext>
          </a:extLst>
        </p:spPr>
        <p:txBody>
          <a:bodyPr lIns="45719" tIns="45719" rIns="45719" bIns="45719"/>
          <a:lstStyle>
            <a:lvl1pPr algn="r" defTabSz="548599">
              <a:defRPr sz="1400"/>
            </a:lvl1pPr>
          </a:lstStyle>
          <a:p>
            <a:pPr/>
            <a:fld id="{86CB4B4D-7CA3-9044-876B-883B54F8677D}" type="slidenum"/>
          </a:p>
        </p:txBody>
      </p:sp>
      <p:sp>
        <p:nvSpPr>
          <p:cNvPr id="878" name="Title 1"/>
          <p:cNvSpPr txBox="1"/>
          <p:nvPr/>
        </p:nvSpPr>
        <p:spPr>
          <a:xfrm>
            <a:off x="9539" y="63083"/>
            <a:ext cx="8245941" cy="55115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ctr">
            <a:spAutoFit/>
          </a:bodyPr>
          <a:lstStyle>
            <a:lvl1pPr defTabSz="914309">
              <a:defRPr b="1" i="1" spc="-150" sz="2400">
                <a:solidFill>
                  <a:srgbClr val="002060"/>
                </a:solidFill>
                <a:latin typeface="Open Sans"/>
                <a:ea typeface="Open Sans"/>
                <a:cs typeface="Open Sans"/>
                <a:sym typeface="Open Sans"/>
              </a:defRPr>
            </a:lvl1pPr>
          </a:lstStyle>
          <a:p>
            <a:pPr/>
            <a:r>
              <a:t>Summary</a:t>
            </a:r>
          </a:p>
        </p:txBody>
      </p:sp>
      <p:sp>
        <p:nvSpPr>
          <p:cNvPr id="879" name="Straight Connector 8"/>
          <p:cNvSpPr/>
          <p:nvPr/>
        </p:nvSpPr>
        <p:spPr>
          <a:xfrm>
            <a:off x="-12300" y="618293"/>
            <a:ext cx="9180002" cy="13502"/>
          </a:xfrm>
          <a:prstGeom prst="line">
            <a:avLst/>
          </a:prstGeom>
          <a:ln w="38100">
            <a:solidFill>
              <a:srgbClr val="072C62"/>
            </a:solidFill>
          </a:ln>
        </p:spPr>
        <p:txBody>
          <a:bodyPr lIns="45719" rIns="45719"/>
          <a:lstStyle/>
          <a:p>
            <a:pPr/>
          </a:p>
        </p:txBody>
      </p:sp>
      <p:grpSp>
        <p:nvGrpSpPr>
          <p:cNvPr id="882" name="Rectangle: Rounded Corners 39"/>
          <p:cNvGrpSpPr/>
          <p:nvPr/>
        </p:nvGrpSpPr>
        <p:grpSpPr>
          <a:xfrm>
            <a:off x="2784885" y="2752670"/>
            <a:ext cx="2904463" cy="606230"/>
            <a:chOff x="0" y="0"/>
            <a:chExt cx="2904462" cy="606228"/>
          </a:xfrm>
        </p:grpSpPr>
        <p:sp>
          <p:nvSpPr>
            <p:cNvPr id="880" name="Rounded Rectangle"/>
            <p:cNvSpPr/>
            <p:nvPr/>
          </p:nvSpPr>
          <p:spPr>
            <a:xfrm>
              <a:off x="0" y="0"/>
              <a:ext cx="2904463" cy="606229"/>
            </a:xfrm>
            <a:prstGeom prst="roundRect">
              <a:avLst>
                <a:gd name="adj" fmla="val 50000"/>
              </a:avLst>
            </a:prstGeom>
            <a:solidFill>
              <a:srgbClr val="0070C0"/>
            </a:solidFill>
            <a:ln w="12700" cap="flat">
              <a:noFill/>
              <a:miter lim="400000"/>
            </a:ln>
            <a:effectLst/>
          </p:spPr>
          <p:txBody>
            <a:bodyPr wrap="square" lIns="45719" tIns="45719" rIns="45719" bIns="45719" numCol="1" anchor="ctr">
              <a:noAutofit/>
            </a:bodyPr>
            <a:lstStyle/>
            <a:p>
              <a:pPr/>
            </a:p>
          </p:txBody>
        </p:sp>
        <p:sp>
          <p:nvSpPr>
            <p:cNvPr id="881" name="Retention…"/>
            <p:cNvSpPr txBox="1"/>
            <p:nvPr/>
          </p:nvSpPr>
          <p:spPr>
            <a:xfrm>
              <a:off x="1168778" y="61814"/>
              <a:ext cx="1646906" cy="482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defRPr b="1" sz="1600">
                  <a:solidFill>
                    <a:srgbClr val="FFFFFF"/>
                  </a:solidFill>
                  <a:latin typeface="Open Sans"/>
                  <a:ea typeface="Open Sans"/>
                  <a:cs typeface="Open Sans"/>
                  <a:sym typeface="Open Sans"/>
                </a:defRPr>
              </a:pPr>
              <a:r>
                <a:t> Retention </a:t>
              </a:r>
            </a:p>
            <a:p>
              <a:pPr>
                <a:defRPr b="1" sz="1600">
                  <a:solidFill>
                    <a:srgbClr val="FFFFFF"/>
                  </a:solidFill>
                  <a:latin typeface="Open Sans"/>
                  <a:ea typeface="Open Sans"/>
                  <a:cs typeface="Open Sans"/>
                  <a:sym typeface="Open Sans"/>
                </a:defRPr>
              </a:pPr>
              <a:r>
                <a:t> Rate</a:t>
              </a:r>
            </a:p>
          </p:txBody>
        </p:sp>
      </p:grpSp>
      <p:grpSp>
        <p:nvGrpSpPr>
          <p:cNvPr id="885" name="Rectangle: Rounded Corners 45"/>
          <p:cNvGrpSpPr/>
          <p:nvPr/>
        </p:nvGrpSpPr>
        <p:grpSpPr>
          <a:xfrm>
            <a:off x="2273819" y="4084242"/>
            <a:ext cx="3472757" cy="606230"/>
            <a:chOff x="0" y="0"/>
            <a:chExt cx="3472755" cy="606228"/>
          </a:xfrm>
        </p:grpSpPr>
        <p:sp>
          <p:nvSpPr>
            <p:cNvPr id="883" name="Rounded Rectangle"/>
            <p:cNvSpPr/>
            <p:nvPr/>
          </p:nvSpPr>
          <p:spPr>
            <a:xfrm>
              <a:off x="0" y="0"/>
              <a:ext cx="3472756" cy="606229"/>
            </a:xfrm>
            <a:prstGeom prst="roundRect">
              <a:avLst>
                <a:gd name="adj" fmla="val 50000"/>
              </a:avLst>
            </a:prstGeom>
            <a:solidFill>
              <a:srgbClr val="002060"/>
            </a:solidFill>
            <a:ln w="12700" cap="flat">
              <a:noFill/>
              <a:miter lim="400000"/>
            </a:ln>
            <a:effectLst/>
          </p:spPr>
          <p:txBody>
            <a:bodyPr wrap="square" lIns="45719" tIns="45719" rIns="45719" bIns="45719" numCol="1" anchor="ctr">
              <a:noAutofit/>
            </a:bodyPr>
            <a:lstStyle/>
            <a:p>
              <a:pPr/>
            </a:p>
          </p:txBody>
        </p:sp>
        <p:sp>
          <p:nvSpPr>
            <p:cNvPr id="884" name="Use Cases"/>
            <p:cNvSpPr txBox="1"/>
            <p:nvPr/>
          </p:nvSpPr>
          <p:spPr>
            <a:xfrm>
              <a:off x="1168779" y="182464"/>
              <a:ext cx="2215198"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600">
                  <a:solidFill>
                    <a:srgbClr val="FFFFFF"/>
                  </a:solidFill>
                  <a:latin typeface="Open Sans"/>
                  <a:ea typeface="Open Sans"/>
                  <a:cs typeface="Open Sans"/>
                  <a:sym typeface="Open Sans"/>
                </a:defRPr>
              </a:lvl1pPr>
            </a:lstStyle>
            <a:p>
              <a:pPr/>
              <a:r>
                <a:t> Use Cases</a:t>
              </a:r>
            </a:p>
          </p:txBody>
        </p:sp>
      </p:grpSp>
      <p:grpSp>
        <p:nvGrpSpPr>
          <p:cNvPr id="888" name="Rectangle: Rounded Corners 46"/>
          <p:cNvGrpSpPr/>
          <p:nvPr/>
        </p:nvGrpSpPr>
        <p:grpSpPr>
          <a:xfrm>
            <a:off x="2216591" y="1416590"/>
            <a:ext cx="3472756" cy="606230"/>
            <a:chOff x="0" y="0"/>
            <a:chExt cx="3472755" cy="606228"/>
          </a:xfrm>
        </p:grpSpPr>
        <p:sp>
          <p:nvSpPr>
            <p:cNvPr id="886" name="Rounded Rectangle"/>
            <p:cNvSpPr/>
            <p:nvPr/>
          </p:nvSpPr>
          <p:spPr>
            <a:xfrm>
              <a:off x="0" y="0"/>
              <a:ext cx="3472756" cy="606229"/>
            </a:xfrm>
            <a:prstGeom prst="roundRect">
              <a:avLst>
                <a:gd name="adj" fmla="val 50000"/>
              </a:avLst>
            </a:prstGeom>
            <a:solidFill>
              <a:srgbClr val="00B0F0"/>
            </a:solidFill>
            <a:ln w="12700" cap="flat">
              <a:noFill/>
              <a:miter lim="400000"/>
            </a:ln>
            <a:effectLst/>
          </p:spPr>
          <p:txBody>
            <a:bodyPr wrap="square" lIns="45719" tIns="45719" rIns="45719" bIns="45719" numCol="1" anchor="ctr">
              <a:noAutofit/>
            </a:bodyPr>
            <a:lstStyle/>
            <a:p>
              <a:pPr>
                <a:defRPr b="1" sz="900">
                  <a:solidFill>
                    <a:srgbClr val="FFFFFF"/>
                  </a:solidFill>
                  <a:latin typeface="Open Sans"/>
                  <a:ea typeface="Open Sans"/>
                  <a:cs typeface="Open Sans"/>
                  <a:sym typeface="Open Sans"/>
                </a:defRPr>
              </a:pPr>
            </a:p>
          </p:txBody>
        </p:sp>
        <p:sp>
          <p:nvSpPr>
            <p:cNvPr id="887" name="Customer Value"/>
            <p:cNvSpPr txBox="1"/>
            <p:nvPr/>
          </p:nvSpPr>
          <p:spPr>
            <a:xfrm>
              <a:off x="1168779" y="182464"/>
              <a:ext cx="2215198"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600">
                  <a:solidFill>
                    <a:srgbClr val="FFFFFF"/>
                  </a:solidFill>
                  <a:latin typeface="Open Sans"/>
                  <a:ea typeface="Open Sans"/>
                  <a:cs typeface="Open Sans"/>
                  <a:sym typeface="Open Sans"/>
                </a:defRPr>
              </a:lvl1pPr>
            </a:lstStyle>
            <a:p>
              <a:pPr/>
              <a:r>
                <a:t> Customer Value</a:t>
              </a:r>
            </a:p>
          </p:txBody>
        </p:sp>
      </p:grpSp>
      <p:sp>
        <p:nvSpPr>
          <p:cNvPr id="889" name="Oval 19"/>
          <p:cNvSpPr/>
          <p:nvPr/>
        </p:nvSpPr>
        <p:spPr>
          <a:xfrm>
            <a:off x="2191918" y="1177176"/>
            <a:ext cx="1187559" cy="1187559"/>
          </a:xfrm>
          <a:prstGeom prst="ellipse">
            <a:avLst/>
          </a:prstGeom>
          <a:solidFill>
            <a:srgbClr val="FFFFFF"/>
          </a:solidFill>
          <a:ln w="12700">
            <a:miter lim="400000"/>
          </a:ln>
        </p:spPr>
        <p:txBody>
          <a:bodyPr lIns="45719" rIns="45719"/>
          <a:lstStyle/>
          <a:p>
            <a:pPr defTabSz="685800">
              <a:defRPr sz="1300">
                <a:latin typeface="Open Sans"/>
                <a:ea typeface="Open Sans"/>
                <a:cs typeface="Open Sans"/>
                <a:sym typeface="Open Sans"/>
              </a:defRPr>
            </a:pPr>
          </a:p>
        </p:txBody>
      </p:sp>
      <p:sp>
        <p:nvSpPr>
          <p:cNvPr id="890" name="Oval 20"/>
          <p:cNvSpPr/>
          <p:nvPr/>
        </p:nvSpPr>
        <p:spPr>
          <a:xfrm>
            <a:off x="2738720" y="2459880"/>
            <a:ext cx="1187559" cy="1187559"/>
          </a:xfrm>
          <a:prstGeom prst="ellipse">
            <a:avLst/>
          </a:prstGeom>
          <a:solidFill>
            <a:srgbClr val="FFFFFF"/>
          </a:solidFill>
          <a:ln w="12700">
            <a:miter lim="400000"/>
          </a:ln>
        </p:spPr>
        <p:txBody>
          <a:bodyPr lIns="45719" rIns="45719"/>
          <a:lstStyle/>
          <a:p>
            <a:pPr defTabSz="685800">
              <a:defRPr sz="1300">
                <a:latin typeface="Open Sans"/>
                <a:ea typeface="Open Sans"/>
                <a:cs typeface="Open Sans"/>
                <a:sym typeface="Open Sans"/>
              </a:defRPr>
            </a:pPr>
          </a:p>
        </p:txBody>
      </p:sp>
      <p:sp>
        <p:nvSpPr>
          <p:cNvPr id="891" name="Oval 21"/>
          <p:cNvSpPr/>
          <p:nvPr/>
        </p:nvSpPr>
        <p:spPr>
          <a:xfrm>
            <a:off x="2185978" y="3645915"/>
            <a:ext cx="1185495" cy="1187559"/>
          </a:xfrm>
          <a:prstGeom prst="ellipse">
            <a:avLst/>
          </a:prstGeom>
          <a:solidFill>
            <a:srgbClr val="FFFFFF"/>
          </a:solidFill>
          <a:ln w="12700">
            <a:miter lim="400000"/>
          </a:ln>
        </p:spPr>
        <p:txBody>
          <a:bodyPr lIns="45719" rIns="45719"/>
          <a:lstStyle/>
          <a:p>
            <a:pPr defTabSz="685800">
              <a:defRPr sz="1300">
                <a:latin typeface="Open Sans"/>
                <a:ea typeface="Open Sans"/>
                <a:cs typeface="Open Sans"/>
                <a:sym typeface="Open Sans"/>
              </a:defRPr>
            </a:pPr>
          </a:p>
        </p:txBody>
      </p:sp>
      <p:sp>
        <p:nvSpPr>
          <p:cNvPr id="892" name="Oval 15"/>
          <p:cNvSpPr/>
          <p:nvPr/>
        </p:nvSpPr>
        <p:spPr>
          <a:xfrm>
            <a:off x="259263" y="1867118"/>
            <a:ext cx="2374633" cy="2374633"/>
          </a:xfrm>
          <a:prstGeom prst="ellipse">
            <a:avLst/>
          </a:prstGeom>
          <a:solidFill>
            <a:srgbClr val="002060"/>
          </a:solidFill>
          <a:ln w="12700">
            <a:miter lim="400000"/>
          </a:ln>
          <a:effectLst>
            <a:outerShdw sx="100000" sy="100000" kx="0" ky="0" algn="b" rotWithShape="0" blurRad="0" dist="38100" dir="5400000">
              <a:srgbClr val="000000">
                <a:alpha val="20000"/>
              </a:srgbClr>
            </a:outerShdw>
          </a:effectLst>
        </p:spPr>
        <p:txBody>
          <a:bodyPr lIns="45719" rIns="45719"/>
          <a:lstStyle/>
          <a:p>
            <a:pPr defTabSz="685800">
              <a:defRPr sz="1300">
                <a:latin typeface="Open Sans"/>
                <a:ea typeface="Open Sans"/>
                <a:cs typeface="Open Sans"/>
                <a:sym typeface="Open Sans"/>
              </a:defRPr>
            </a:pPr>
          </a:p>
        </p:txBody>
      </p:sp>
      <p:sp>
        <p:nvSpPr>
          <p:cNvPr id="893" name="Oval 16"/>
          <p:cNvSpPr/>
          <p:nvPr/>
        </p:nvSpPr>
        <p:spPr>
          <a:xfrm>
            <a:off x="454438" y="2060744"/>
            <a:ext cx="1984283" cy="1987381"/>
          </a:xfrm>
          <a:prstGeom prst="ellipse">
            <a:avLst/>
          </a:prstGeom>
          <a:solidFill>
            <a:srgbClr val="0070C0"/>
          </a:solidFill>
          <a:ln w="12700">
            <a:miter lim="400000"/>
          </a:ln>
          <a:effectLst>
            <a:outerShdw sx="100000" sy="100000" kx="0" ky="0" algn="b" rotWithShape="0" blurRad="0" dist="38100" dir="5400000">
              <a:srgbClr val="000000">
                <a:alpha val="20000"/>
              </a:srgbClr>
            </a:outerShdw>
          </a:effectLst>
        </p:spPr>
        <p:txBody>
          <a:bodyPr lIns="45719" rIns="45719"/>
          <a:lstStyle/>
          <a:p>
            <a:pPr defTabSz="685800">
              <a:defRPr sz="1300">
                <a:latin typeface="Open Sans"/>
                <a:ea typeface="Open Sans"/>
                <a:cs typeface="Open Sans"/>
                <a:sym typeface="Open Sans"/>
              </a:defRPr>
            </a:pPr>
          </a:p>
        </p:txBody>
      </p:sp>
      <p:sp>
        <p:nvSpPr>
          <p:cNvPr id="894" name="Oval 17"/>
          <p:cNvSpPr/>
          <p:nvPr/>
        </p:nvSpPr>
        <p:spPr>
          <a:xfrm>
            <a:off x="648064" y="2255919"/>
            <a:ext cx="1597030" cy="1597031"/>
          </a:xfrm>
          <a:prstGeom prst="ellipse">
            <a:avLst/>
          </a:prstGeom>
          <a:solidFill>
            <a:srgbClr val="00B0F0"/>
          </a:solidFill>
          <a:ln w="12700">
            <a:miter lim="400000"/>
          </a:ln>
          <a:effectLst>
            <a:outerShdw sx="100000" sy="100000" kx="0" ky="0" algn="b" rotWithShape="0" blurRad="0" dist="38100" dir="5400000">
              <a:srgbClr val="000000">
                <a:alpha val="20000"/>
              </a:srgbClr>
            </a:outerShdw>
          </a:effectLst>
        </p:spPr>
        <p:txBody>
          <a:bodyPr lIns="45719" rIns="45719"/>
          <a:lstStyle/>
          <a:p>
            <a:pPr defTabSz="685800">
              <a:defRPr sz="1300">
                <a:latin typeface="Open Sans"/>
                <a:ea typeface="Open Sans"/>
                <a:cs typeface="Open Sans"/>
                <a:sym typeface="Open Sans"/>
              </a:defRPr>
            </a:pPr>
          </a:p>
        </p:txBody>
      </p:sp>
      <p:sp>
        <p:nvSpPr>
          <p:cNvPr id="895" name="Oval 18"/>
          <p:cNvSpPr/>
          <p:nvPr/>
        </p:nvSpPr>
        <p:spPr>
          <a:xfrm>
            <a:off x="846337" y="2454193"/>
            <a:ext cx="1200482" cy="1200485"/>
          </a:xfrm>
          <a:prstGeom prst="ellipse">
            <a:avLst/>
          </a:prstGeom>
          <a:solidFill>
            <a:srgbClr val="FFFFFF"/>
          </a:solidFill>
          <a:ln w="12700">
            <a:miter lim="400000"/>
          </a:ln>
          <a:effectLst>
            <a:outerShdw sx="100000" sy="100000" kx="0" ky="0" algn="b" rotWithShape="0" blurRad="0" dist="38100" dir="5400000">
              <a:srgbClr val="000000">
                <a:alpha val="20000"/>
              </a:srgbClr>
            </a:outerShdw>
          </a:effectLst>
        </p:spPr>
        <p:txBody>
          <a:bodyPr lIns="45719" rIns="45719"/>
          <a:lstStyle/>
          <a:p>
            <a:pPr defTabSz="685800">
              <a:defRPr sz="1300">
                <a:latin typeface="Open Sans"/>
                <a:ea typeface="Open Sans"/>
                <a:cs typeface="Open Sans"/>
                <a:sym typeface="Open Sans"/>
              </a:defRPr>
            </a:pPr>
          </a:p>
        </p:txBody>
      </p:sp>
      <p:sp>
        <p:nvSpPr>
          <p:cNvPr id="896" name="Oval 19"/>
          <p:cNvSpPr/>
          <p:nvPr/>
        </p:nvSpPr>
        <p:spPr>
          <a:xfrm>
            <a:off x="2339582" y="1278495"/>
            <a:ext cx="892231" cy="892230"/>
          </a:xfrm>
          <a:prstGeom prst="ellipse">
            <a:avLst/>
          </a:prstGeom>
          <a:solidFill>
            <a:srgbClr val="00B0F0"/>
          </a:solidFill>
          <a:ln w="12700">
            <a:miter lim="400000"/>
          </a:ln>
        </p:spPr>
        <p:txBody>
          <a:bodyPr lIns="45719" rIns="45719"/>
          <a:lstStyle/>
          <a:p>
            <a:pPr defTabSz="685800">
              <a:defRPr sz="1300">
                <a:latin typeface="Open Sans"/>
                <a:ea typeface="Open Sans"/>
                <a:cs typeface="Open Sans"/>
                <a:sym typeface="Open Sans"/>
              </a:defRPr>
            </a:pPr>
          </a:p>
        </p:txBody>
      </p:sp>
      <p:sp>
        <p:nvSpPr>
          <p:cNvPr id="897" name="Oval 20"/>
          <p:cNvSpPr/>
          <p:nvPr/>
        </p:nvSpPr>
        <p:spPr>
          <a:xfrm>
            <a:off x="2886384" y="2607543"/>
            <a:ext cx="892231" cy="892231"/>
          </a:xfrm>
          <a:prstGeom prst="ellipse">
            <a:avLst/>
          </a:prstGeom>
          <a:solidFill>
            <a:srgbClr val="0070C0"/>
          </a:solidFill>
          <a:ln w="12700">
            <a:miter lim="400000"/>
          </a:ln>
        </p:spPr>
        <p:txBody>
          <a:bodyPr lIns="45719" rIns="45719"/>
          <a:lstStyle/>
          <a:p>
            <a:pPr defTabSz="685800">
              <a:defRPr sz="1300">
                <a:latin typeface="Open Sans"/>
                <a:ea typeface="Open Sans"/>
                <a:cs typeface="Open Sans"/>
                <a:sym typeface="Open Sans"/>
              </a:defRPr>
            </a:pPr>
          </a:p>
        </p:txBody>
      </p:sp>
      <p:sp>
        <p:nvSpPr>
          <p:cNvPr id="898" name="Oval 21"/>
          <p:cNvSpPr/>
          <p:nvPr/>
        </p:nvSpPr>
        <p:spPr>
          <a:xfrm>
            <a:off x="2333386" y="3941241"/>
            <a:ext cx="890680" cy="892231"/>
          </a:xfrm>
          <a:prstGeom prst="ellipse">
            <a:avLst/>
          </a:prstGeom>
          <a:solidFill>
            <a:srgbClr val="002060"/>
          </a:solidFill>
          <a:ln w="12700">
            <a:miter lim="400000"/>
          </a:ln>
        </p:spPr>
        <p:txBody>
          <a:bodyPr lIns="45719" rIns="45719"/>
          <a:lstStyle/>
          <a:p>
            <a:pPr defTabSz="685800">
              <a:defRPr sz="1300">
                <a:latin typeface="Open Sans"/>
                <a:ea typeface="Open Sans"/>
                <a:cs typeface="Open Sans"/>
                <a:sym typeface="Open Sans"/>
              </a:defRPr>
            </a:pPr>
          </a:p>
        </p:txBody>
      </p:sp>
      <p:sp>
        <p:nvSpPr>
          <p:cNvPr id="899" name="Freeform 22"/>
          <p:cNvSpPr/>
          <p:nvPr/>
        </p:nvSpPr>
        <p:spPr>
          <a:xfrm>
            <a:off x="1921350" y="1958509"/>
            <a:ext cx="621153" cy="61960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6740"/>
                </a:moveTo>
                <a:lnTo>
                  <a:pt x="16860" y="0"/>
                </a:lnTo>
                <a:lnTo>
                  <a:pt x="21061" y="270"/>
                </a:lnTo>
                <a:lnTo>
                  <a:pt x="21600" y="4860"/>
                </a:lnTo>
                <a:lnTo>
                  <a:pt x="4848" y="21600"/>
                </a:lnTo>
                <a:lnTo>
                  <a:pt x="1293" y="20358"/>
                </a:lnTo>
                <a:lnTo>
                  <a:pt x="0" y="16740"/>
                </a:lnTo>
                <a:close/>
              </a:path>
            </a:pathLst>
          </a:custGeom>
          <a:solidFill>
            <a:srgbClr val="00B0F0"/>
          </a:solidFill>
          <a:ln w="12700">
            <a:miter lim="400000"/>
          </a:ln>
        </p:spPr>
        <p:txBody>
          <a:bodyPr lIns="45719" rIns="45719"/>
          <a:lstStyle/>
          <a:p>
            <a:pPr defTabSz="685800">
              <a:defRPr sz="1300">
                <a:latin typeface="Open Sans"/>
                <a:ea typeface="Open Sans"/>
                <a:cs typeface="Open Sans"/>
                <a:sym typeface="Open Sans"/>
              </a:defRPr>
            </a:pPr>
          </a:p>
        </p:txBody>
      </p:sp>
      <p:sp>
        <p:nvSpPr>
          <p:cNvPr id="900" name="Freeform 23"/>
          <p:cNvSpPr/>
          <p:nvPr/>
        </p:nvSpPr>
        <p:spPr>
          <a:xfrm>
            <a:off x="2336483" y="2957621"/>
            <a:ext cx="608761" cy="1936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89" y="0"/>
                </a:moveTo>
                <a:lnTo>
                  <a:pt x="19896" y="0"/>
                </a:lnTo>
                <a:lnTo>
                  <a:pt x="21600" y="6048"/>
                </a:lnTo>
                <a:lnTo>
                  <a:pt x="19896" y="21600"/>
                </a:lnTo>
                <a:lnTo>
                  <a:pt x="2198" y="21600"/>
                </a:lnTo>
                <a:lnTo>
                  <a:pt x="0" y="6566"/>
                </a:lnTo>
                <a:lnTo>
                  <a:pt x="2089" y="0"/>
                </a:lnTo>
                <a:close/>
              </a:path>
            </a:pathLst>
          </a:custGeom>
          <a:solidFill>
            <a:srgbClr val="0070C0"/>
          </a:solidFill>
          <a:ln w="12700">
            <a:miter lim="400000"/>
          </a:ln>
        </p:spPr>
        <p:txBody>
          <a:bodyPr lIns="45719" rIns="45719"/>
          <a:lstStyle/>
          <a:p>
            <a:pPr defTabSz="685800">
              <a:defRPr sz="1300">
                <a:latin typeface="Open Sans"/>
                <a:ea typeface="Open Sans"/>
                <a:cs typeface="Open Sans"/>
                <a:sym typeface="Open Sans"/>
              </a:defRPr>
            </a:pPr>
          </a:p>
        </p:txBody>
      </p:sp>
      <p:sp>
        <p:nvSpPr>
          <p:cNvPr id="901" name="Freeform 24"/>
          <p:cNvSpPr/>
          <p:nvPr/>
        </p:nvSpPr>
        <p:spPr>
          <a:xfrm>
            <a:off x="2164544" y="3780144"/>
            <a:ext cx="388803" cy="3702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520" y="0"/>
                </a:moveTo>
                <a:lnTo>
                  <a:pt x="21170" y="13285"/>
                </a:lnTo>
                <a:lnTo>
                  <a:pt x="21600" y="20064"/>
                </a:lnTo>
                <a:lnTo>
                  <a:pt x="12994" y="21600"/>
                </a:lnTo>
                <a:lnTo>
                  <a:pt x="0" y="7682"/>
                </a:lnTo>
                <a:lnTo>
                  <a:pt x="1033" y="3796"/>
                </a:lnTo>
                <a:lnTo>
                  <a:pt x="8520" y="0"/>
                </a:lnTo>
                <a:close/>
              </a:path>
            </a:pathLst>
          </a:custGeom>
          <a:solidFill>
            <a:srgbClr val="293452"/>
          </a:solidFill>
          <a:ln w="12700">
            <a:miter lim="400000"/>
          </a:ln>
        </p:spPr>
        <p:txBody>
          <a:bodyPr lIns="45719" rIns="45719"/>
          <a:lstStyle/>
          <a:p>
            <a:pPr defTabSz="685800">
              <a:defRPr sz="1300">
                <a:latin typeface="Open Sans"/>
                <a:ea typeface="Open Sans"/>
                <a:cs typeface="Open Sans"/>
                <a:sym typeface="Open Sans"/>
              </a:defRPr>
            </a:pPr>
          </a:p>
        </p:txBody>
      </p:sp>
      <p:sp>
        <p:nvSpPr>
          <p:cNvPr id="902" name="Oval 18"/>
          <p:cNvSpPr/>
          <p:nvPr/>
        </p:nvSpPr>
        <p:spPr>
          <a:xfrm>
            <a:off x="2477678" y="1416590"/>
            <a:ext cx="616038" cy="616039"/>
          </a:xfrm>
          <a:prstGeom prst="ellipse">
            <a:avLst/>
          </a:prstGeom>
          <a:solidFill>
            <a:srgbClr val="FFFFFF"/>
          </a:solidFill>
          <a:ln w="12700">
            <a:miter lim="400000"/>
          </a:ln>
        </p:spPr>
        <p:txBody>
          <a:bodyPr lIns="45719" rIns="45719"/>
          <a:lstStyle/>
          <a:p>
            <a:pPr defTabSz="685800">
              <a:defRPr sz="1300">
                <a:latin typeface="Open Sans"/>
                <a:ea typeface="Open Sans"/>
                <a:cs typeface="Open Sans"/>
                <a:sym typeface="Open Sans"/>
              </a:defRPr>
            </a:pPr>
          </a:p>
        </p:txBody>
      </p:sp>
      <p:sp>
        <p:nvSpPr>
          <p:cNvPr id="903" name="Oval 18"/>
          <p:cNvSpPr/>
          <p:nvPr/>
        </p:nvSpPr>
        <p:spPr>
          <a:xfrm>
            <a:off x="3024478" y="2745639"/>
            <a:ext cx="616039" cy="616039"/>
          </a:xfrm>
          <a:prstGeom prst="ellipse">
            <a:avLst/>
          </a:prstGeom>
          <a:solidFill>
            <a:srgbClr val="FFFFFF"/>
          </a:solidFill>
          <a:ln w="12700">
            <a:miter lim="400000"/>
          </a:ln>
        </p:spPr>
        <p:txBody>
          <a:bodyPr lIns="45719" rIns="45719"/>
          <a:lstStyle/>
          <a:p>
            <a:pPr defTabSz="685800">
              <a:defRPr sz="1300">
                <a:latin typeface="Open Sans"/>
                <a:ea typeface="Open Sans"/>
                <a:cs typeface="Open Sans"/>
                <a:sym typeface="Open Sans"/>
              </a:defRPr>
            </a:pPr>
          </a:p>
        </p:txBody>
      </p:sp>
      <p:sp>
        <p:nvSpPr>
          <p:cNvPr id="904" name="Oval 18"/>
          <p:cNvSpPr/>
          <p:nvPr/>
        </p:nvSpPr>
        <p:spPr>
          <a:xfrm>
            <a:off x="2470706" y="4079337"/>
            <a:ext cx="616039" cy="616039"/>
          </a:xfrm>
          <a:prstGeom prst="ellipse">
            <a:avLst/>
          </a:prstGeom>
          <a:solidFill>
            <a:srgbClr val="FFFFFF"/>
          </a:solidFill>
          <a:ln w="12700">
            <a:miter lim="400000"/>
          </a:ln>
        </p:spPr>
        <p:txBody>
          <a:bodyPr lIns="45719" rIns="45719"/>
          <a:lstStyle/>
          <a:p>
            <a:pPr defTabSz="685800">
              <a:defRPr sz="1300">
                <a:latin typeface="Open Sans"/>
                <a:ea typeface="Open Sans"/>
                <a:cs typeface="Open Sans"/>
                <a:sym typeface="Open Sans"/>
              </a:defRPr>
            </a:pPr>
          </a:p>
        </p:txBody>
      </p:sp>
      <p:sp>
        <p:nvSpPr>
          <p:cNvPr id="905" name="Freeform 55"/>
          <p:cNvSpPr/>
          <p:nvPr/>
        </p:nvSpPr>
        <p:spPr>
          <a:xfrm>
            <a:off x="5366323" y="1576393"/>
            <a:ext cx="290506" cy="29178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50" y="0"/>
                  <a:pt x="0" y="4950"/>
                  <a:pt x="0" y="10800"/>
                </a:cubicBezTo>
                <a:cubicBezTo>
                  <a:pt x="0" y="16650"/>
                  <a:pt x="4950" y="21600"/>
                  <a:pt x="10800" y="21600"/>
                </a:cubicBezTo>
                <a:cubicBezTo>
                  <a:pt x="16875" y="21600"/>
                  <a:pt x="21600" y="16650"/>
                  <a:pt x="21600" y="10800"/>
                </a:cubicBezTo>
                <a:cubicBezTo>
                  <a:pt x="21600" y="4950"/>
                  <a:pt x="16875" y="0"/>
                  <a:pt x="10800" y="0"/>
                </a:cubicBezTo>
                <a:close/>
                <a:moveTo>
                  <a:pt x="16875" y="11250"/>
                </a:moveTo>
                <a:cubicBezTo>
                  <a:pt x="8775" y="18000"/>
                  <a:pt x="8775" y="18000"/>
                  <a:pt x="8775" y="18000"/>
                </a:cubicBezTo>
                <a:cubicBezTo>
                  <a:pt x="8775" y="18000"/>
                  <a:pt x="8550" y="18000"/>
                  <a:pt x="8550" y="18000"/>
                </a:cubicBezTo>
                <a:cubicBezTo>
                  <a:pt x="8550" y="18000"/>
                  <a:pt x="8325" y="18000"/>
                  <a:pt x="8325" y="18000"/>
                </a:cubicBezTo>
                <a:cubicBezTo>
                  <a:pt x="8100" y="17775"/>
                  <a:pt x="8100" y="17775"/>
                  <a:pt x="8100" y="17550"/>
                </a:cubicBezTo>
                <a:cubicBezTo>
                  <a:pt x="8100" y="13950"/>
                  <a:pt x="8100" y="13950"/>
                  <a:pt x="8100" y="13950"/>
                </a:cubicBezTo>
                <a:cubicBezTo>
                  <a:pt x="8100" y="13725"/>
                  <a:pt x="8100" y="13725"/>
                  <a:pt x="8325" y="13500"/>
                </a:cubicBezTo>
                <a:cubicBezTo>
                  <a:pt x="11925" y="10800"/>
                  <a:pt x="11925" y="10800"/>
                  <a:pt x="11925" y="10800"/>
                </a:cubicBezTo>
                <a:cubicBezTo>
                  <a:pt x="8325" y="8100"/>
                  <a:pt x="8325" y="8100"/>
                  <a:pt x="8325" y="8100"/>
                </a:cubicBezTo>
                <a:cubicBezTo>
                  <a:pt x="8100" y="7875"/>
                  <a:pt x="8100" y="7875"/>
                  <a:pt x="8100" y="7650"/>
                </a:cubicBezTo>
                <a:cubicBezTo>
                  <a:pt x="8100" y="4050"/>
                  <a:pt x="8100" y="4050"/>
                  <a:pt x="8100" y="4050"/>
                </a:cubicBezTo>
                <a:cubicBezTo>
                  <a:pt x="8100" y="3825"/>
                  <a:pt x="8100" y="3825"/>
                  <a:pt x="8325" y="3600"/>
                </a:cubicBezTo>
                <a:cubicBezTo>
                  <a:pt x="8550" y="3600"/>
                  <a:pt x="8775" y="3600"/>
                  <a:pt x="8775" y="3600"/>
                </a:cubicBezTo>
                <a:cubicBezTo>
                  <a:pt x="16875" y="10350"/>
                  <a:pt x="16875" y="10350"/>
                  <a:pt x="16875" y="10350"/>
                </a:cubicBezTo>
                <a:cubicBezTo>
                  <a:pt x="17100" y="10575"/>
                  <a:pt x="17100" y="10575"/>
                  <a:pt x="17100" y="10800"/>
                </a:cubicBezTo>
                <a:cubicBezTo>
                  <a:pt x="17100" y="11025"/>
                  <a:pt x="17100" y="11025"/>
                  <a:pt x="16875" y="11250"/>
                </a:cubicBezTo>
                <a:close/>
              </a:path>
            </a:pathLst>
          </a:custGeom>
          <a:solidFill>
            <a:srgbClr val="FFFFFF"/>
          </a:solidFill>
          <a:ln w="12700">
            <a:miter lim="400000"/>
          </a:ln>
        </p:spPr>
        <p:txBody>
          <a:bodyPr lIns="45719" rIns="45719"/>
          <a:lstStyle/>
          <a:p>
            <a:pPr>
              <a:defRPr sz="1000">
                <a:latin typeface="Open Sans"/>
                <a:ea typeface="Open Sans"/>
                <a:cs typeface="Open Sans"/>
                <a:sym typeface="Open Sans"/>
              </a:defRPr>
            </a:pPr>
          </a:p>
        </p:txBody>
      </p:sp>
      <p:sp>
        <p:nvSpPr>
          <p:cNvPr id="906" name="Freeform 55"/>
          <p:cNvSpPr/>
          <p:nvPr/>
        </p:nvSpPr>
        <p:spPr>
          <a:xfrm>
            <a:off x="5366323" y="2909894"/>
            <a:ext cx="290506" cy="29178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50" y="0"/>
                  <a:pt x="0" y="4950"/>
                  <a:pt x="0" y="10800"/>
                </a:cubicBezTo>
                <a:cubicBezTo>
                  <a:pt x="0" y="16650"/>
                  <a:pt x="4950" y="21600"/>
                  <a:pt x="10800" y="21600"/>
                </a:cubicBezTo>
                <a:cubicBezTo>
                  <a:pt x="16875" y="21600"/>
                  <a:pt x="21600" y="16650"/>
                  <a:pt x="21600" y="10800"/>
                </a:cubicBezTo>
                <a:cubicBezTo>
                  <a:pt x="21600" y="4950"/>
                  <a:pt x="16875" y="0"/>
                  <a:pt x="10800" y="0"/>
                </a:cubicBezTo>
                <a:close/>
                <a:moveTo>
                  <a:pt x="16875" y="11250"/>
                </a:moveTo>
                <a:cubicBezTo>
                  <a:pt x="8775" y="18000"/>
                  <a:pt x="8775" y="18000"/>
                  <a:pt x="8775" y="18000"/>
                </a:cubicBezTo>
                <a:cubicBezTo>
                  <a:pt x="8775" y="18000"/>
                  <a:pt x="8550" y="18000"/>
                  <a:pt x="8550" y="18000"/>
                </a:cubicBezTo>
                <a:cubicBezTo>
                  <a:pt x="8550" y="18000"/>
                  <a:pt x="8325" y="18000"/>
                  <a:pt x="8325" y="18000"/>
                </a:cubicBezTo>
                <a:cubicBezTo>
                  <a:pt x="8100" y="17775"/>
                  <a:pt x="8100" y="17775"/>
                  <a:pt x="8100" y="17550"/>
                </a:cubicBezTo>
                <a:cubicBezTo>
                  <a:pt x="8100" y="13950"/>
                  <a:pt x="8100" y="13950"/>
                  <a:pt x="8100" y="13950"/>
                </a:cubicBezTo>
                <a:cubicBezTo>
                  <a:pt x="8100" y="13725"/>
                  <a:pt x="8100" y="13725"/>
                  <a:pt x="8325" y="13500"/>
                </a:cubicBezTo>
                <a:cubicBezTo>
                  <a:pt x="11925" y="10800"/>
                  <a:pt x="11925" y="10800"/>
                  <a:pt x="11925" y="10800"/>
                </a:cubicBezTo>
                <a:cubicBezTo>
                  <a:pt x="8325" y="8100"/>
                  <a:pt x="8325" y="8100"/>
                  <a:pt x="8325" y="8100"/>
                </a:cubicBezTo>
                <a:cubicBezTo>
                  <a:pt x="8100" y="7875"/>
                  <a:pt x="8100" y="7875"/>
                  <a:pt x="8100" y="7650"/>
                </a:cubicBezTo>
                <a:cubicBezTo>
                  <a:pt x="8100" y="4050"/>
                  <a:pt x="8100" y="4050"/>
                  <a:pt x="8100" y="4050"/>
                </a:cubicBezTo>
                <a:cubicBezTo>
                  <a:pt x="8100" y="3825"/>
                  <a:pt x="8100" y="3825"/>
                  <a:pt x="8325" y="3600"/>
                </a:cubicBezTo>
                <a:cubicBezTo>
                  <a:pt x="8550" y="3600"/>
                  <a:pt x="8775" y="3600"/>
                  <a:pt x="8775" y="3600"/>
                </a:cubicBezTo>
                <a:cubicBezTo>
                  <a:pt x="16875" y="10350"/>
                  <a:pt x="16875" y="10350"/>
                  <a:pt x="16875" y="10350"/>
                </a:cubicBezTo>
                <a:cubicBezTo>
                  <a:pt x="17100" y="10575"/>
                  <a:pt x="17100" y="10575"/>
                  <a:pt x="17100" y="10800"/>
                </a:cubicBezTo>
                <a:cubicBezTo>
                  <a:pt x="17100" y="11025"/>
                  <a:pt x="17100" y="11025"/>
                  <a:pt x="16875" y="11250"/>
                </a:cubicBezTo>
                <a:close/>
              </a:path>
            </a:pathLst>
          </a:custGeom>
          <a:solidFill>
            <a:srgbClr val="FFFFFF"/>
          </a:solidFill>
          <a:ln w="12700">
            <a:miter lim="400000"/>
          </a:ln>
        </p:spPr>
        <p:txBody>
          <a:bodyPr lIns="45719" rIns="45719"/>
          <a:lstStyle/>
          <a:p>
            <a:pPr>
              <a:defRPr sz="1000">
                <a:latin typeface="Open Sans"/>
                <a:ea typeface="Open Sans"/>
                <a:cs typeface="Open Sans"/>
                <a:sym typeface="Open Sans"/>
              </a:defRPr>
            </a:pPr>
          </a:p>
        </p:txBody>
      </p:sp>
      <p:sp>
        <p:nvSpPr>
          <p:cNvPr id="907" name="Freeform 55"/>
          <p:cNvSpPr/>
          <p:nvPr/>
        </p:nvSpPr>
        <p:spPr>
          <a:xfrm>
            <a:off x="5366323" y="4241465"/>
            <a:ext cx="290506" cy="29178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50" y="0"/>
                  <a:pt x="0" y="4950"/>
                  <a:pt x="0" y="10800"/>
                </a:cubicBezTo>
                <a:cubicBezTo>
                  <a:pt x="0" y="16650"/>
                  <a:pt x="4950" y="21600"/>
                  <a:pt x="10800" y="21600"/>
                </a:cubicBezTo>
                <a:cubicBezTo>
                  <a:pt x="16875" y="21600"/>
                  <a:pt x="21600" y="16650"/>
                  <a:pt x="21600" y="10800"/>
                </a:cubicBezTo>
                <a:cubicBezTo>
                  <a:pt x="21600" y="4950"/>
                  <a:pt x="16875" y="0"/>
                  <a:pt x="10800" y="0"/>
                </a:cubicBezTo>
                <a:close/>
                <a:moveTo>
                  <a:pt x="16875" y="11250"/>
                </a:moveTo>
                <a:cubicBezTo>
                  <a:pt x="8775" y="18000"/>
                  <a:pt x="8775" y="18000"/>
                  <a:pt x="8775" y="18000"/>
                </a:cubicBezTo>
                <a:cubicBezTo>
                  <a:pt x="8775" y="18000"/>
                  <a:pt x="8550" y="18000"/>
                  <a:pt x="8550" y="18000"/>
                </a:cubicBezTo>
                <a:cubicBezTo>
                  <a:pt x="8550" y="18000"/>
                  <a:pt x="8325" y="18000"/>
                  <a:pt x="8325" y="18000"/>
                </a:cubicBezTo>
                <a:cubicBezTo>
                  <a:pt x="8100" y="17775"/>
                  <a:pt x="8100" y="17775"/>
                  <a:pt x="8100" y="17550"/>
                </a:cubicBezTo>
                <a:cubicBezTo>
                  <a:pt x="8100" y="13950"/>
                  <a:pt x="8100" y="13950"/>
                  <a:pt x="8100" y="13950"/>
                </a:cubicBezTo>
                <a:cubicBezTo>
                  <a:pt x="8100" y="13725"/>
                  <a:pt x="8100" y="13725"/>
                  <a:pt x="8325" y="13500"/>
                </a:cubicBezTo>
                <a:cubicBezTo>
                  <a:pt x="11925" y="10800"/>
                  <a:pt x="11925" y="10800"/>
                  <a:pt x="11925" y="10800"/>
                </a:cubicBezTo>
                <a:cubicBezTo>
                  <a:pt x="8325" y="8100"/>
                  <a:pt x="8325" y="8100"/>
                  <a:pt x="8325" y="8100"/>
                </a:cubicBezTo>
                <a:cubicBezTo>
                  <a:pt x="8100" y="7875"/>
                  <a:pt x="8100" y="7875"/>
                  <a:pt x="8100" y="7650"/>
                </a:cubicBezTo>
                <a:cubicBezTo>
                  <a:pt x="8100" y="4050"/>
                  <a:pt x="8100" y="4050"/>
                  <a:pt x="8100" y="4050"/>
                </a:cubicBezTo>
                <a:cubicBezTo>
                  <a:pt x="8100" y="3825"/>
                  <a:pt x="8100" y="3825"/>
                  <a:pt x="8325" y="3600"/>
                </a:cubicBezTo>
                <a:cubicBezTo>
                  <a:pt x="8550" y="3600"/>
                  <a:pt x="8775" y="3600"/>
                  <a:pt x="8775" y="3600"/>
                </a:cubicBezTo>
                <a:cubicBezTo>
                  <a:pt x="16875" y="10350"/>
                  <a:pt x="16875" y="10350"/>
                  <a:pt x="16875" y="10350"/>
                </a:cubicBezTo>
                <a:cubicBezTo>
                  <a:pt x="17100" y="10575"/>
                  <a:pt x="17100" y="10575"/>
                  <a:pt x="17100" y="10800"/>
                </a:cubicBezTo>
                <a:cubicBezTo>
                  <a:pt x="17100" y="11025"/>
                  <a:pt x="17100" y="11025"/>
                  <a:pt x="16875" y="11250"/>
                </a:cubicBezTo>
                <a:close/>
              </a:path>
            </a:pathLst>
          </a:custGeom>
          <a:solidFill>
            <a:srgbClr val="FFFFFF"/>
          </a:solidFill>
          <a:ln w="12700">
            <a:miter lim="400000"/>
          </a:ln>
        </p:spPr>
        <p:txBody>
          <a:bodyPr lIns="45719" rIns="45719"/>
          <a:lstStyle/>
          <a:p>
            <a:pPr>
              <a:defRPr sz="1000">
                <a:latin typeface="Open Sans"/>
                <a:ea typeface="Open Sans"/>
                <a:cs typeface="Open Sans"/>
                <a:sym typeface="Open Sans"/>
              </a:defRPr>
            </a:pPr>
          </a:p>
        </p:txBody>
      </p:sp>
      <p:sp>
        <p:nvSpPr>
          <p:cNvPr id="908" name="Rectangle 189"/>
          <p:cNvSpPr txBox="1"/>
          <p:nvPr/>
        </p:nvSpPr>
        <p:spPr>
          <a:xfrm>
            <a:off x="6003168" y="1361913"/>
            <a:ext cx="2990520" cy="685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28600" indent="-228600">
              <a:spcBef>
                <a:spcPts val="900"/>
              </a:spcBef>
              <a:buClr>
                <a:srgbClr val="00B0F0"/>
              </a:buClr>
              <a:buSzPct val="100000"/>
              <a:buFont typeface="Helvetica"/>
              <a:buChar char="⁃"/>
              <a:defRPr sz="1000">
                <a:solidFill>
                  <a:srgbClr val="002060"/>
                </a:solidFill>
                <a:latin typeface="Open Sans"/>
                <a:ea typeface="Open Sans"/>
                <a:cs typeface="Open Sans"/>
                <a:sym typeface="Open Sans"/>
              </a:defRPr>
            </a:pPr>
            <a:r>
              <a:t>Predicted in 7 bands ~ 1 to 7</a:t>
            </a:r>
          </a:p>
          <a:p>
            <a:pPr marL="228600" indent="-228600">
              <a:spcBef>
                <a:spcPts val="900"/>
              </a:spcBef>
              <a:buClr>
                <a:srgbClr val="00B0F0"/>
              </a:buClr>
              <a:buSzPct val="100000"/>
              <a:buFont typeface="Helvetica"/>
              <a:buChar char="⁃"/>
              <a:defRPr sz="1000">
                <a:solidFill>
                  <a:srgbClr val="002060"/>
                </a:solidFill>
                <a:latin typeface="Open Sans"/>
                <a:ea typeface="Open Sans"/>
                <a:cs typeface="Open Sans"/>
                <a:sym typeface="Open Sans"/>
              </a:defRPr>
            </a:pPr>
            <a:r>
              <a:t>Band 1 (0-5 Value in 12M) ~ 64% pop.</a:t>
            </a:r>
          </a:p>
          <a:p>
            <a:pPr marL="228600" indent="-228600">
              <a:spcBef>
                <a:spcPts val="900"/>
              </a:spcBef>
              <a:buClr>
                <a:srgbClr val="00B0F0"/>
              </a:buClr>
              <a:buSzPct val="100000"/>
              <a:buFont typeface="Helvetica"/>
              <a:buChar char="⁃"/>
              <a:defRPr sz="1000">
                <a:solidFill>
                  <a:srgbClr val="002060"/>
                </a:solidFill>
                <a:latin typeface="Open Sans"/>
                <a:ea typeface="Open Sans"/>
                <a:cs typeface="Open Sans"/>
                <a:sym typeface="Open Sans"/>
              </a:defRPr>
            </a:pPr>
            <a:r>
              <a:t>Band 7 (500+ Value in 12M) ~ 5% pop.</a:t>
            </a:r>
          </a:p>
        </p:txBody>
      </p:sp>
      <p:sp>
        <p:nvSpPr>
          <p:cNvPr id="909" name="Rectangle 191"/>
          <p:cNvSpPr txBox="1"/>
          <p:nvPr/>
        </p:nvSpPr>
        <p:spPr>
          <a:xfrm>
            <a:off x="6003168" y="3880970"/>
            <a:ext cx="2971800" cy="952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p>
            <a:pPr marL="228600" indent="-228600">
              <a:spcBef>
                <a:spcPts val="900"/>
              </a:spcBef>
              <a:buClr>
                <a:srgbClr val="00B0F0"/>
              </a:buClr>
              <a:buSzPct val="100000"/>
              <a:buFont typeface="Helvetica"/>
              <a:buChar char="⁃"/>
              <a:defRPr b="1" sz="1000">
                <a:solidFill>
                  <a:srgbClr val="002060"/>
                </a:solidFill>
                <a:latin typeface="Open Sans"/>
                <a:ea typeface="Open Sans"/>
                <a:cs typeface="Open Sans"/>
                <a:sym typeface="Open Sans"/>
              </a:defRPr>
            </a:pPr>
            <a:r>
              <a:t>Stop Cash Burn</a:t>
            </a:r>
          </a:p>
          <a:p>
            <a:pPr marL="228600" indent="-228600">
              <a:spcBef>
                <a:spcPts val="900"/>
              </a:spcBef>
              <a:buClr>
                <a:srgbClr val="00B0F0"/>
              </a:buClr>
              <a:buSzPct val="100000"/>
              <a:buFont typeface="Helvetica"/>
              <a:buChar char="⁃"/>
              <a:defRPr b="1" sz="1000">
                <a:solidFill>
                  <a:srgbClr val="002060"/>
                </a:solidFill>
                <a:latin typeface="Open Sans"/>
                <a:ea typeface="Open Sans"/>
                <a:cs typeface="Open Sans"/>
                <a:sym typeface="Open Sans"/>
              </a:defRPr>
            </a:pPr>
            <a:r>
              <a:t>Customer Service and Treatment</a:t>
            </a:r>
          </a:p>
          <a:p>
            <a:pPr marL="228600" indent="-228600">
              <a:spcBef>
                <a:spcPts val="900"/>
              </a:spcBef>
              <a:buClr>
                <a:srgbClr val="00B0F0"/>
              </a:buClr>
              <a:buSzPct val="100000"/>
              <a:buFont typeface="Helvetica"/>
              <a:buChar char="⁃"/>
              <a:defRPr b="1" sz="1000">
                <a:solidFill>
                  <a:srgbClr val="002060"/>
                </a:solidFill>
                <a:latin typeface="Open Sans"/>
                <a:ea typeface="Open Sans"/>
                <a:cs typeface="Open Sans"/>
                <a:sym typeface="Open Sans"/>
              </a:defRPr>
            </a:pPr>
            <a:r>
              <a:t>Increase Engagement</a:t>
            </a:r>
          </a:p>
          <a:p>
            <a:pPr marL="228600" indent="-228600">
              <a:spcBef>
                <a:spcPts val="900"/>
              </a:spcBef>
              <a:buClr>
                <a:srgbClr val="00B0F0"/>
              </a:buClr>
              <a:buSzPct val="100000"/>
              <a:buFont typeface="Helvetica"/>
              <a:buChar char="⁃"/>
              <a:defRPr b="1" sz="1000">
                <a:solidFill>
                  <a:srgbClr val="002060"/>
                </a:solidFill>
                <a:latin typeface="Open Sans"/>
                <a:ea typeface="Open Sans"/>
                <a:cs typeface="Open Sans"/>
                <a:sym typeface="Open Sans"/>
              </a:defRPr>
            </a:pPr>
            <a:r>
              <a:t>Rewards and Loyalty</a:t>
            </a:r>
          </a:p>
        </p:txBody>
      </p:sp>
      <p:sp>
        <p:nvSpPr>
          <p:cNvPr id="910" name="Straight Connector 192"/>
          <p:cNvSpPr/>
          <p:nvPr/>
        </p:nvSpPr>
        <p:spPr>
          <a:xfrm>
            <a:off x="5950966" y="2364732"/>
            <a:ext cx="3024002" cy="1"/>
          </a:xfrm>
          <a:prstGeom prst="line">
            <a:avLst/>
          </a:prstGeom>
          <a:ln>
            <a:solidFill>
              <a:srgbClr val="002060"/>
            </a:solidFill>
            <a:prstDash val="lgDash"/>
          </a:ln>
        </p:spPr>
        <p:txBody>
          <a:bodyPr lIns="45719" rIns="45719"/>
          <a:lstStyle/>
          <a:p>
            <a:pPr/>
          </a:p>
        </p:txBody>
      </p:sp>
      <p:sp>
        <p:nvSpPr>
          <p:cNvPr id="911" name="Straight Connector 193"/>
          <p:cNvSpPr/>
          <p:nvPr/>
        </p:nvSpPr>
        <p:spPr>
          <a:xfrm>
            <a:off x="5950966" y="3780144"/>
            <a:ext cx="3024002" cy="1"/>
          </a:xfrm>
          <a:prstGeom prst="line">
            <a:avLst/>
          </a:prstGeom>
          <a:ln>
            <a:solidFill>
              <a:srgbClr val="002060"/>
            </a:solidFill>
            <a:prstDash val="lgDash"/>
          </a:ln>
        </p:spPr>
        <p:txBody>
          <a:bodyPr lIns="45719" rIns="45719"/>
          <a:lstStyle/>
          <a:p>
            <a:pPr/>
          </a:p>
        </p:txBody>
      </p:sp>
      <p:pic>
        <p:nvPicPr>
          <p:cNvPr id="912" name="Graphic 197" descr="Graphic 197"/>
          <p:cNvPicPr>
            <a:picLocks noChangeAspect="1"/>
          </p:cNvPicPr>
          <p:nvPr/>
        </p:nvPicPr>
        <p:blipFill>
          <a:blip r:embed="rId2">
            <a:extLst/>
          </a:blip>
          <a:stretch>
            <a:fillRect/>
          </a:stretch>
        </p:blipFill>
        <p:spPr>
          <a:xfrm>
            <a:off x="1121436" y="2729294"/>
            <a:ext cx="650283" cy="650283"/>
          </a:xfrm>
          <a:prstGeom prst="rect">
            <a:avLst/>
          </a:prstGeom>
          <a:ln w="12700">
            <a:miter lim="400000"/>
          </a:ln>
        </p:spPr>
      </p:pic>
      <p:sp>
        <p:nvSpPr>
          <p:cNvPr id="913" name="Google Shape;345;p21"/>
          <p:cNvSpPr txBox="1"/>
          <p:nvPr/>
        </p:nvSpPr>
        <p:spPr>
          <a:xfrm>
            <a:off x="454438" y="697069"/>
            <a:ext cx="8245942" cy="467339"/>
          </a:xfrm>
          <a:prstGeom prst="rect">
            <a:avLst/>
          </a:prstGeom>
          <a:ln w="12700">
            <a:miter lim="400000"/>
          </a:ln>
          <a:extLst>
            <a:ext uri="{C572A759-6A51-4108-AA02-DFA0A04FC94B}">
              <ma14:wrappingTextBoxFlag xmlns:ma14="http://schemas.microsoft.com/office/mac/drawingml/2011/main" val="1"/>
            </a:ext>
          </a:extLst>
        </p:spPr>
        <p:txBody>
          <a:bodyPr lIns="68568" tIns="68568" rIns="68568" bIns="68568" anchor="ctr">
            <a:spAutoFit/>
          </a:bodyPr>
          <a:lstStyle>
            <a:lvl1pPr algn="ctr">
              <a:defRPr b="1" i="1" sz="2200">
                <a:solidFill>
                  <a:srgbClr val="00B0F0"/>
                </a:solidFill>
                <a:latin typeface="Open Sans"/>
                <a:ea typeface="Open Sans"/>
                <a:cs typeface="Open Sans"/>
                <a:sym typeface="Open Sans"/>
              </a:defRPr>
            </a:lvl1pPr>
          </a:lstStyle>
          <a:p>
            <a:pPr/>
            <a:r>
              <a:t>~40% of Customers don’t generate any value in near 12M </a:t>
            </a:r>
          </a:p>
        </p:txBody>
      </p:sp>
      <p:sp>
        <p:nvSpPr>
          <p:cNvPr id="914" name="Rectangle 2"/>
          <p:cNvSpPr txBox="1"/>
          <p:nvPr/>
        </p:nvSpPr>
        <p:spPr>
          <a:xfrm>
            <a:off x="6003168" y="2578113"/>
            <a:ext cx="3056995" cy="952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28600" indent="-228600">
              <a:spcBef>
                <a:spcPts val="900"/>
              </a:spcBef>
              <a:buClr>
                <a:srgbClr val="00B0F0"/>
              </a:buClr>
              <a:buSzPct val="100000"/>
              <a:buFont typeface="Helvetica"/>
              <a:buChar char="⁃"/>
              <a:defRPr sz="1000">
                <a:solidFill>
                  <a:srgbClr val="002060"/>
                </a:solidFill>
                <a:latin typeface="Open Sans"/>
                <a:ea typeface="Open Sans"/>
                <a:cs typeface="Open Sans"/>
                <a:sym typeface="Open Sans"/>
              </a:defRPr>
            </a:pPr>
            <a:r>
              <a:t>Portfolio Retention Rate (RR) ~ 61%</a:t>
            </a:r>
          </a:p>
          <a:p>
            <a:pPr marL="228600" indent="-228600">
              <a:spcBef>
                <a:spcPts val="900"/>
              </a:spcBef>
              <a:buClr>
                <a:srgbClr val="00B0F0"/>
              </a:buClr>
              <a:buSzPct val="100000"/>
              <a:buFont typeface="Helvetica"/>
              <a:buChar char="⁃"/>
              <a:defRPr sz="1000">
                <a:solidFill>
                  <a:srgbClr val="002060"/>
                </a:solidFill>
                <a:latin typeface="Open Sans"/>
                <a:ea typeface="Open Sans"/>
                <a:cs typeface="Open Sans"/>
                <a:sym typeface="Open Sans"/>
              </a:defRPr>
            </a:pPr>
            <a:r>
              <a:t>Predicted in 7 bands ~ 1 to 7</a:t>
            </a:r>
          </a:p>
          <a:p>
            <a:pPr marL="228600" indent="-228600">
              <a:spcBef>
                <a:spcPts val="900"/>
              </a:spcBef>
              <a:buClr>
                <a:srgbClr val="00B0F0"/>
              </a:buClr>
              <a:buSzPct val="100000"/>
              <a:buFont typeface="Helvetica"/>
              <a:buChar char="⁃"/>
              <a:defRPr sz="1000">
                <a:solidFill>
                  <a:srgbClr val="002060"/>
                </a:solidFill>
                <a:latin typeface="Open Sans"/>
                <a:ea typeface="Open Sans"/>
                <a:cs typeface="Open Sans"/>
                <a:sym typeface="Open Sans"/>
              </a:defRPr>
            </a:pPr>
            <a:r>
              <a:t>Band 1 (RR &lt; 15% in 12M) ~ 15% pop.</a:t>
            </a:r>
          </a:p>
          <a:p>
            <a:pPr marL="228600" indent="-228600">
              <a:spcBef>
                <a:spcPts val="900"/>
              </a:spcBef>
              <a:buClr>
                <a:srgbClr val="00B0F0"/>
              </a:buClr>
              <a:buSzPct val="100000"/>
              <a:buFont typeface="Helvetica"/>
              <a:buChar char="⁃"/>
              <a:defRPr sz="1000">
                <a:solidFill>
                  <a:srgbClr val="002060"/>
                </a:solidFill>
                <a:latin typeface="Open Sans"/>
                <a:ea typeface="Open Sans"/>
                <a:cs typeface="Open Sans"/>
                <a:sym typeface="Open Sans"/>
              </a:defRPr>
            </a:pPr>
            <a:r>
              <a:t>Band 7 (RR &gt; 99% in 12M) ~ 16% pop.</a:t>
            </a:r>
          </a:p>
        </p:txBody>
      </p:sp>
      <p:grpSp>
        <p:nvGrpSpPr>
          <p:cNvPr id="917" name="Google Shape;8345;p85"/>
          <p:cNvGrpSpPr/>
          <p:nvPr/>
        </p:nvGrpSpPr>
        <p:grpSpPr>
          <a:xfrm>
            <a:off x="3198428" y="2904455"/>
            <a:ext cx="280517" cy="287956"/>
            <a:chOff x="22" y="22"/>
            <a:chExt cx="280516" cy="287954"/>
          </a:xfrm>
        </p:grpSpPr>
        <p:sp>
          <p:nvSpPr>
            <p:cNvPr id="915" name="Google Shape;8346;p85"/>
            <p:cNvSpPr/>
            <p:nvPr/>
          </p:nvSpPr>
          <p:spPr>
            <a:xfrm>
              <a:off x="22" y="22"/>
              <a:ext cx="280517" cy="28795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45" y="0"/>
                  </a:moveTo>
                  <a:cubicBezTo>
                    <a:pt x="268" y="0"/>
                    <a:pt x="0" y="322"/>
                    <a:pt x="0" y="696"/>
                  </a:cubicBezTo>
                  <a:lnTo>
                    <a:pt x="0" y="20850"/>
                  </a:lnTo>
                  <a:cubicBezTo>
                    <a:pt x="0" y="21278"/>
                    <a:pt x="322" y="21600"/>
                    <a:pt x="645" y="21600"/>
                  </a:cubicBezTo>
                  <a:lnTo>
                    <a:pt x="20901" y="21600"/>
                  </a:lnTo>
                  <a:cubicBezTo>
                    <a:pt x="21278" y="21600"/>
                    <a:pt x="21600" y="21278"/>
                    <a:pt x="21600" y="20850"/>
                  </a:cubicBezTo>
                  <a:cubicBezTo>
                    <a:pt x="21545" y="20528"/>
                    <a:pt x="21278" y="20207"/>
                    <a:pt x="20901" y="20207"/>
                  </a:cubicBezTo>
                  <a:lnTo>
                    <a:pt x="1397" y="20207"/>
                  </a:lnTo>
                  <a:lnTo>
                    <a:pt x="1397" y="696"/>
                  </a:lnTo>
                  <a:cubicBezTo>
                    <a:pt x="1397" y="267"/>
                    <a:pt x="1074" y="0"/>
                    <a:pt x="645" y="0"/>
                  </a:cubicBezTo>
                  <a:close/>
                </a:path>
              </a:pathLst>
            </a:custGeom>
            <a:solidFill>
              <a:srgbClr val="0070C0"/>
            </a:solidFill>
            <a:ln w="12700" cap="flat">
              <a:noFill/>
              <a:miter lim="400000"/>
            </a:ln>
            <a:effectLst/>
          </p:spPr>
          <p:txBody>
            <a:bodyPr wrap="square" lIns="45719" tIns="45719" rIns="45719" bIns="45719" numCol="1" anchor="ctr">
              <a:noAutofit/>
            </a:bodyPr>
            <a:lstStyle/>
            <a:p>
              <a:pPr/>
            </a:p>
          </p:txBody>
        </p:sp>
        <p:sp>
          <p:nvSpPr>
            <p:cNvPr id="916" name="Google Shape;8347;p85"/>
            <p:cNvSpPr/>
            <p:nvPr/>
          </p:nvSpPr>
          <p:spPr>
            <a:xfrm>
              <a:off x="39092" y="81469"/>
              <a:ext cx="241447" cy="13576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103" y="0"/>
                  </a:moveTo>
                  <a:cubicBezTo>
                    <a:pt x="17792" y="0"/>
                    <a:pt x="16732" y="1934"/>
                    <a:pt x="16732" y="4435"/>
                  </a:cubicBezTo>
                  <a:cubicBezTo>
                    <a:pt x="16732" y="5117"/>
                    <a:pt x="16793" y="5683"/>
                    <a:pt x="16918" y="6253"/>
                  </a:cubicBezTo>
                  <a:lnTo>
                    <a:pt x="13672" y="12279"/>
                  </a:lnTo>
                  <a:cubicBezTo>
                    <a:pt x="13359" y="11937"/>
                    <a:pt x="12985" y="11825"/>
                    <a:pt x="12673" y="11825"/>
                  </a:cubicBezTo>
                  <a:cubicBezTo>
                    <a:pt x="12360" y="11825"/>
                    <a:pt x="11924" y="11937"/>
                    <a:pt x="11611" y="12279"/>
                  </a:cubicBezTo>
                  <a:lnTo>
                    <a:pt x="9989" y="9209"/>
                  </a:lnTo>
                  <a:cubicBezTo>
                    <a:pt x="10177" y="8642"/>
                    <a:pt x="10238" y="7960"/>
                    <a:pt x="10238" y="7390"/>
                  </a:cubicBezTo>
                  <a:cubicBezTo>
                    <a:pt x="10238" y="5001"/>
                    <a:pt x="9115" y="2955"/>
                    <a:pt x="7803" y="2955"/>
                  </a:cubicBezTo>
                  <a:cubicBezTo>
                    <a:pt x="6493" y="2955"/>
                    <a:pt x="5370" y="5001"/>
                    <a:pt x="5370" y="7390"/>
                  </a:cubicBezTo>
                  <a:cubicBezTo>
                    <a:pt x="5370" y="8072"/>
                    <a:pt x="5495" y="8642"/>
                    <a:pt x="5619" y="9209"/>
                  </a:cubicBezTo>
                  <a:lnTo>
                    <a:pt x="3434" y="13189"/>
                  </a:lnTo>
                  <a:cubicBezTo>
                    <a:pt x="3121" y="12961"/>
                    <a:pt x="2746" y="12846"/>
                    <a:pt x="2435" y="12846"/>
                  </a:cubicBezTo>
                  <a:cubicBezTo>
                    <a:pt x="1123" y="12846"/>
                    <a:pt x="0" y="14780"/>
                    <a:pt x="0" y="17165"/>
                  </a:cubicBezTo>
                  <a:cubicBezTo>
                    <a:pt x="0" y="19669"/>
                    <a:pt x="1123" y="21600"/>
                    <a:pt x="2435" y="21600"/>
                  </a:cubicBezTo>
                  <a:cubicBezTo>
                    <a:pt x="3747" y="21600"/>
                    <a:pt x="4870" y="19669"/>
                    <a:pt x="4870" y="17165"/>
                  </a:cubicBezTo>
                  <a:cubicBezTo>
                    <a:pt x="4870" y="16483"/>
                    <a:pt x="4746" y="15917"/>
                    <a:pt x="4621" y="15347"/>
                  </a:cubicBezTo>
                  <a:lnTo>
                    <a:pt x="6804" y="11370"/>
                  </a:lnTo>
                  <a:cubicBezTo>
                    <a:pt x="7117" y="11597"/>
                    <a:pt x="7492" y="11825"/>
                    <a:pt x="7803" y="11825"/>
                  </a:cubicBezTo>
                  <a:cubicBezTo>
                    <a:pt x="8116" y="11825"/>
                    <a:pt x="8491" y="11597"/>
                    <a:pt x="8802" y="11370"/>
                  </a:cubicBezTo>
                  <a:lnTo>
                    <a:pt x="10488" y="14325"/>
                  </a:lnTo>
                  <a:cubicBezTo>
                    <a:pt x="10302" y="14892"/>
                    <a:pt x="10238" y="15689"/>
                    <a:pt x="10238" y="16256"/>
                  </a:cubicBezTo>
                  <a:cubicBezTo>
                    <a:pt x="10238" y="18645"/>
                    <a:pt x="11300" y="20579"/>
                    <a:pt x="12673" y="20579"/>
                  </a:cubicBezTo>
                  <a:cubicBezTo>
                    <a:pt x="13983" y="20579"/>
                    <a:pt x="15045" y="18645"/>
                    <a:pt x="15045" y="16256"/>
                  </a:cubicBezTo>
                  <a:cubicBezTo>
                    <a:pt x="15045" y="15462"/>
                    <a:pt x="14982" y="14892"/>
                    <a:pt x="14857" y="14325"/>
                  </a:cubicBezTo>
                  <a:lnTo>
                    <a:pt x="18105" y="8415"/>
                  </a:lnTo>
                  <a:cubicBezTo>
                    <a:pt x="18416" y="8642"/>
                    <a:pt x="18790" y="8869"/>
                    <a:pt x="19103" y="8869"/>
                  </a:cubicBezTo>
                  <a:cubicBezTo>
                    <a:pt x="20477" y="8869"/>
                    <a:pt x="21600" y="6820"/>
                    <a:pt x="21600" y="4435"/>
                  </a:cubicBezTo>
                  <a:cubicBezTo>
                    <a:pt x="21600" y="1934"/>
                    <a:pt x="20477" y="0"/>
                    <a:pt x="19103" y="0"/>
                  </a:cubicBezTo>
                  <a:close/>
                </a:path>
              </a:pathLst>
            </a:custGeom>
            <a:solidFill>
              <a:srgbClr val="0070C0"/>
            </a:solidFill>
            <a:ln w="12700" cap="flat">
              <a:noFill/>
              <a:miter lim="400000"/>
            </a:ln>
            <a:effectLst/>
          </p:spPr>
          <p:txBody>
            <a:bodyPr wrap="square" lIns="45719" tIns="45719" rIns="45719" bIns="45719" numCol="1" anchor="ctr">
              <a:noAutofit/>
            </a:bodyPr>
            <a:lstStyle/>
            <a:p>
              <a:pPr/>
            </a:p>
          </p:txBody>
        </p:sp>
      </p:grpSp>
      <p:grpSp>
        <p:nvGrpSpPr>
          <p:cNvPr id="921" name="Google Shape;8231;p85"/>
          <p:cNvGrpSpPr/>
          <p:nvPr/>
        </p:nvGrpSpPr>
        <p:grpSpPr>
          <a:xfrm>
            <a:off x="2631256" y="4258870"/>
            <a:ext cx="286709" cy="287978"/>
            <a:chOff x="0" y="0"/>
            <a:chExt cx="286708" cy="287976"/>
          </a:xfrm>
        </p:grpSpPr>
        <p:sp>
          <p:nvSpPr>
            <p:cNvPr id="918" name="Google Shape;8232;p85"/>
            <p:cNvSpPr/>
            <p:nvPr/>
          </p:nvSpPr>
          <p:spPr>
            <a:xfrm>
              <a:off x="598" y="0"/>
              <a:ext cx="286111" cy="287977"/>
            </a:xfrm>
            <a:custGeom>
              <a:avLst/>
              <a:gdLst/>
              <a:ahLst/>
              <a:cxnLst>
                <a:cxn ang="0">
                  <a:pos x="wd2" y="hd2"/>
                </a:cxn>
                <a:cxn ang="5400000">
                  <a:pos x="wd2" y="hd2"/>
                </a:cxn>
                <a:cxn ang="10800000">
                  <a:pos x="wd2" y="hd2"/>
                </a:cxn>
                <a:cxn ang="16200000">
                  <a:pos x="wd2" y="hd2"/>
                </a:cxn>
              </a:cxnLst>
              <a:rect l="0" t="0" r="r" b="b"/>
              <a:pathLst>
                <a:path w="21513" h="21600" fill="norm" stroke="1" extrusionOk="0">
                  <a:moveTo>
                    <a:pt x="19052" y="0"/>
                  </a:moveTo>
                  <a:cubicBezTo>
                    <a:pt x="18911" y="0"/>
                    <a:pt x="18776" y="0"/>
                    <a:pt x="18650" y="0"/>
                  </a:cubicBezTo>
                  <a:cubicBezTo>
                    <a:pt x="17840" y="0"/>
                    <a:pt x="17192" y="274"/>
                    <a:pt x="16652" y="821"/>
                  </a:cubicBezTo>
                  <a:lnTo>
                    <a:pt x="6068" y="11539"/>
                  </a:lnTo>
                  <a:lnTo>
                    <a:pt x="3908" y="11155"/>
                  </a:lnTo>
                  <a:cubicBezTo>
                    <a:pt x="3869" y="11146"/>
                    <a:pt x="3826" y="11141"/>
                    <a:pt x="3785" y="11141"/>
                  </a:cubicBezTo>
                  <a:cubicBezTo>
                    <a:pt x="3596" y="11141"/>
                    <a:pt x="3392" y="11230"/>
                    <a:pt x="3260" y="11320"/>
                  </a:cubicBezTo>
                  <a:lnTo>
                    <a:pt x="235" y="14437"/>
                  </a:lnTo>
                  <a:cubicBezTo>
                    <a:pt x="19" y="14546"/>
                    <a:pt x="-34" y="14819"/>
                    <a:pt x="19" y="15093"/>
                  </a:cubicBezTo>
                  <a:cubicBezTo>
                    <a:pt x="127" y="15312"/>
                    <a:pt x="290" y="15530"/>
                    <a:pt x="559" y="15584"/>
                  </a:cubicBezTo>
                  <a:lnTo>
                    <a:pt x="5096" y="16459"/>
                  </a:lnTo>
                  <a:lnTo>
                    <a:pt x="5960" y="21053"/>
                  </a:lnTo>
                  <a:cubicBezTo>
                    <a:pt x="6068" y="21326"/>
                    <a:pt x="6176" y="21544"/>
                    <a:pt x="6447" y="21600"/>
                  </a:cubicBezTo>
                  <a:lnTo>
                    <a:pt x="6663" y="21600"/>
                  </a:lnTo>
                  <a:cubicBezTo>
                    <a:pt x="6879" y="21600"/>
                    <a:pt x="7040" y="21544"/>
                    <a:pt x="7256" y="21544"/>
                  </a:cubicBezTo>
                  <a:lnTo>
                    <a:pt x="10279" y="18429"/>
                  </a:lnTo>
                  <a:cubicBezTo>
                    <a:pt x="10495" y="18320"/>
                    <a:pt x="10550" y="18045"/>
                    <a:pt x="10495" y="17827"/>
                  </a:cubicBezTo>
                  <a:lnTo>
                    <a:pt x="10118" y="15640"/>
                  </a:lnTo>
                  <a:lnTo>
                    <a:pt x="20702" y="4922"/>
                  </a:lnTo>
                  <a:cubicBezTo>
                    <a:pt x="21242" y="4376"/>
                    <a:pt x="21511" y="3610"/>
                    <a:pt x="21511" y="2899"/>
                  </a:cubicBezTo>
                  <a:cubicBezTo>
                    <a:pt x="21511" y="2079"/>
                    <a:pt x="21566" y="1040"/>
                    <a:pt x="21026" y="493"/>
                  </a:cubicBezTo>
                  <a:cubicBezTo>
                    <a:pt x="20575" y="36"/>
                    <a:pt x="19751" y="0"/>
                    <a:pt x="19052" y="0"/>
                  </a:cubicBezTo>
                  <a:close/>
                </a:path>
              </a:pathLst>
            </a:custGeom>
            <a:solidFill>
              <a:srgbClr val="002060"/>
            </a:solidFill>
            <a:ln w="12700" cap="flat">
              <a:noFill/>
              <a:miter lim="400000"/>
            </a:ln>
            <a:effectLst/>
          </p:spPr>
          <p:txBody>
            <a:bodyPr wrap="square" lIns="45719" tIns="45719" rIns="45719" bIns="45719" numCol="1" anchor="ctr">
              <a:noAutofit/>
            </a:bodyPr>
            <a:lstStyle/>
            <a:p>
              <a:pPr/>
            </a:p>
          </p:txBody>
        </p:sp>
        <p:sp>
          <p:nvSpPr>
            <p:cNvPr id="919" name="Google Shape;8233;p85"/>
            <p:cNvSpPr/>
            <p:nvPr/>
          </p:nvSpPr>
          <p:spPr>
            <a:xfrm>
              <a:off x="0" y="25338"/>
              <a:ext cx="158873" cy="82564"/>
            </a:xfrm>
            <a:custGeom>
              <a:avLst/>
              <a:gdLst/>
              <a:ahLst/>
              <a:cxnLst>
                <a:cxn ang="0">
                  <a:pos x="wd2" y="hd2"/>
                </a:cxn>
                <a:cxn ang="5400000">
                  <a:pos x="wd2" y="hd2"/>
                </a:cxn>
                <a:cxn ang="10800000">
                  <a:pos x="wd2" y="hd2"/>
                </a:cxn>
                <a:cxn ang="16200000">
                  <a:pos x="wd2" y="hd2"/>
                </a:cxn>
              </a:cxnLst>
              <a:rect l="0" t="0" r="r" b="b"/>
              <a:pathLst>
                <a:path w="21521" h="21600" fill="norm" stroke="1" extrusionOk="0">
                  <a:moveTo>
                    <a:pt x="4960" y="0"/>
                  </a:moveTo>
                  <a:cubicBezTo>
                    <a:pt x="4624" y="0"/>
                    <a:pt x="4266" y="339"/>
                    <a:pt x="4105" y="811"/>
                  </a:cubicBezTo>
                  <a:lnTo>
                    <a:pt x="409" y="7870"/>
                  </a:lnTo>
                  <a:cubicBezTo>
                    <a:pt x="214" y="8439"/>
                    <a:pt x="-79" y="9396"/>
                    <a:pt x="20" y="10346"/>
                  </a:cubicBezTo>
                  <a:cubicBezTo>
                    <a:pt x="310" y="10727"/>
                    <a:pt x="505" y="11490"/>
                    <a:pt x="894" y="11684"/>
                  </a:cubicBezTo>
                  <a:lnTo>
                    <a:pt x="13252" y="21600"/>
                  </a:lnTo>
                  <a:lnTo>
                    <a:pt x="21521" y="5388"/>
                  </a:lnTo>
                  <a:lnTo>
                    <a:pt x="5177" y="48"/>
                  </a:lnTo>
                  <a:cubicBezTo>
                    <a:pt x="5106" y="18"/>
                    <a:pt x="5035" y="0"/>
                    <a:pt x="4960" y="0"/>
                  </a:cubicBezTo>
                  <a:close/>
                </a:path>
              </a:pathLst>
            </a:custGeom>
            <a:solidFill>
              <a:srgbClr val="002060"/>
            </a:solidFill>
            <a:ln w="12700" cap="flat">
              <a:noFill/>
              <a:miter lim="400000"/>
            </a:ln>
            <a:effectLst/>
          </p:spPr>
          <p:txBody>
            <a:bodyPr wrap="square" lIns="45719" tIns="45719" rIns="45719" bIns="45719" numCol="1" anchor="ctr">
              <a:noAutofit/>
            </a:bodyPr>
            <a:lstStyle/>
            <a:p>
              <a:pPr/>
            </a:p>
          </p:txBody>
        </p:sp>
        <p:sp>
          <p:nvSpPr>
            <p:cNvPr id="920" name="Google Shape;8234;p85"/>
            <p:cNvSpPr/>
            <p:nvPr/>
          </p:nvSpPr>
          <p:spPr>
            <a:xfrm>
              <a:off x="178248" y="126853"/>
              <a:ext cx="81153" cy="16038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249" y="0"/>
                  </a:moveTo>
                  <a:lnTo>
                    <a:pt x="0" y="8346"/>
                  </a:lnTo>
                  <a:lnTo>
                    <a:pt x="9750" y="20815"/>
                  </a:lnTo>
                  <a:cubicBezTo>
                    <a:pt x="9938" y="21207"/>
                    <a:pt x="10703" y="21600"/>
                    <a:pt x="11662" y="21600"/>
                  </a:cubicBezTo>
                  <a:lnTo>
                    <a:pt x="12044" y="21600"/>
                  </a:lnTo>
                  <a:cubicBezTo>
                    <a:pt x="12808" y="21600"/>
                    <a:pt x="13385" y="21503"/>
                    <a:pt x="13767" y="21207"/>
                  </a:cubicBezTo>
                  <a:lnTo>
                    <a:pt x="21030" y="17577"/>
                  </a:lnTo>
                  <a:cubicBezTo>
                    <a:pt x="21412" y="17281"/>
                    <a:pt x="21600" y="16791"/>
                    <a:pt x="21600" y="16399"/>
                  </a:cubicBezTo>
                  <a:lnTo>
                    <a:pt x="16249" y="0"/>
                  </a:lnTo>
                  <a:close/>
                </a:path>
              </a:pathLst>
            </a:custGeom>
            <a:solidFill>
              <a:srgbClr val="002060"/>
            </a:solidFill>
            <a:ln w="12700" cap="flat">
              <a:noFill/>
              <a:miter lim="400000"/>
            </a:ln>
            <a:effectLst/>
          </p:spPr>
          <p:txBody>
            <a:bodyPr wrap="square" lIns="45719" tIns="45719" rIns="45719" bIns="45719" numCol="1" anchor="ctr">
              <a:noAutofit/>
            </a:bodyPr>
            <a:lstStyle/>
            <a:p>
              <a:pPr/>
            </a:p>
          </p:txBody>
        </p:sp>
      </p:grpSp>
      <p:grpSp>
        <p:nvGrpSpPr>
          <p:cNvPr id="926" name="Google Shape;8327;p85"/>
          <p:cNvGrpSpPr/>
          <p:nvPr/>
        </p:nvGrpSpPr>
        <p:grpSpPr>
          <a:xfrm>
            <a:off x="2631942" y="1561850"/>
            <a:ext cx="287085" cy="287979"/>
            <a:chOff x="0" y="0"/>
            <a:chExt cx="287083" cy="287977"/>
          </a:xfrm>
        </p:grpSpPr>
        <p:sp>
          <p:nvSpPr>
            <p:cNvPr id="922" name="Google Shape;8328;p85"/>
            <p:cNvSpPr/>
            <p:nvPr/>
          </p:nvSpPr>
          <p:spPr>
            <a:xfrm>
              <a:off x="164476" y="57299"/>
              <a:ext cx="37061" cy="3724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85" y="0"/>
                    <a:pt x="0" y="4985"/>
                    <a:pt x="0" y="10800"/>
                  </a:cubicBezTo>
                  <a:cubicBezTo>
                    <a:pt x="0" y="16615"/>
                    <a:pt x="4985" y="21600"/>
                    <a:pt x="10800" y="21600"/>
                  </a:cubicBezTo>
                  <a:cubicBezTo>
                    <a:pt x="16615" y="21600"/>
                    <a:pt x="21600" y="16615"/>
                    <a:pt x="21600" y="10800"/>
                  </a:cubicBezTo>
                  <a:cubicBezTo>
                    <a:pt x="21600" y="4985"/>
                    <a:pt x="16615" y="0"/>
                    <a:pt x="10800" y="0"/>
                  </a:cubicBezTo>
                  <a:close/>
                </a:path>
              </a:pathLst>
            </a:custGeom>
            <a:solidFill>
              <a:srgbClr val="00B0F0"/>
            </a:solidFill>
            <a:ln w="12700" cap="flat">
              <a:noFill/>
              <a:miter lim="400000"/>
            </a:ln>
            <a:effectLst/>
          </p:spPr>
          <p:txBody>
            <a:bodyPr wrap="square" lIns="45719" tIns="45719" rIns="45719" bIns="45719" numCol="1" anchor="ctr">
              <a:noAutofit/>
            </a:bodyPr>
            <a:lstStyle/>
            <a:p>
              <a:pPr/>
            </a:p>
          </p:txBody>
        </p:sp>
        <p:sp>
          <p:nvSpPr>
            <p:cNvPr id="923" name="Google Shape;8329;p85"/>
            <p:cNvSpPr/>
            <p:nvPr/>
          </p:nvSpPr>
          <p:spPr>
            <a:xfrm>
              <a:off x="146669" y="113894"/>
              <a:ext cx="71996" cy="272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02" y="0"/>
                  </a:moveTo>
                  <a:cubicBezTo>
                    <a:pt x="5560" y="0"/>
                    <a:pt x="1283" y="9095"/>
                    <a:pt x="0" y="21600"/>
                  </a:cubicBezTo>
                  <a:lnTo>
                    <a:pt x="21600" y="21600"/>
                  </a:lnTo>
                  <a:cubicBezTo>
                    <a:pt x="20527" y="9095"/>
                    <a:pt x="16251" y="0"/>
                    <a:pt x="10902" y="0"/>
                  </a:cubicBezTo>
                  <a:close/>
                </a:path>
              </a:pathLst>
            </a:custGeom>
            <a:solidFill>
              <a:srgbClr val="00B0F0"/>
            </a:solidFill>
            <a:ln w="12700" cap="flat">
              <a:noFill/>
              <a:miter lim="400000"/>
            </a:ln>
            <a:effectLst/>
          </p:spPr>
          <p:txBody>
            <a:bodyPr wrap="square" lIns="45719" tIns="45719" rIns="45719" bIns="45719" numCol="1" anchor="ctr">
              <a:noAutofit/>
            </a:bodyPr>
            <a:lstStyle/>
            <a:p>
              <a:pPr/>
            </a:p>
          </p:txBody>
        </p:sp>
        <p:sp>
          <p:nvSpPr>
            <p:cNvPr id="924" name="Google Shape;8330;p85"/>
            <p:cNvSpPr/>
            <p:nvPr/>
          </p:nvSpPr>
          <p:spPr>
            <a:xfrm>
              <a:off x="55590" y="0"/>
              <a:ext cx="231494" cy="233361"/>
            </a:xfrm>
            <a:custGeom>
              <a:avLst/>
              <a:gdLst/>
              <a:ahLst/>
              <a:cxnLst>
                <a:cxn ang="0">
                  <a:pos x="wd2" y="hd2"/>
                </a:cxn>
                <a:cxn ang="5400000">
                  <a:pos x="wd2" y="hd2"/>
                </a:cxn>
                <a:cxn ang="10800000">
                  <a:pos x="wd2" y="hd2"/>
                </a:cxn>
                <a:cxn ang="16200000">
                  <a:pos x="wd2" y="hd2"/>
                </a:cxn>
              </a:cxnLst>
              <a:rect l="0" t="0" r="r" b="b"/>
              <a:pathLst>
                <a:path w="21517" h="21600" fill="norm" stroke="1" extrusionOk="0">
                  <a:moveTo>
                    <a:pt x="11910" y="3447"/>
                  </a:moveTo>
                  <a:cubicBezTo>
                    <a:pt x="13831" y="3447"/>
                    <a:pt x="15422" y="5039"/>
                    <a:pt x="15422" y="6962"/>
                  </a:cubicBezTo>
                  <a:cubicBezTo>
                    <a:pt x="15422" y="7890"/>
                    <a:pt x="15090" y="8686"/>
                    <a:pt x="14428" y="9349"/>
                  </a:cubicBezTo>
                  <a:cubicBezTo>
                    <a:pt x="15952" y="10277"/>
                    <a:pt x="17145" y="11935"/>
                    <a:pt x="17145" y="13924"/>
                  </a:cubicBezTo>
                  <a:cubicBezTo>
                    <a:pt x="17078" y="14520"/>
                    <a:pt x="16747" y="14852"/>
                    <a:pt x="16217" y="14852"/>
                  </a:cubicBezTo>
                  <a:lnTo>
                    <a:pt x="7536" y="14852"/>
                  </a:lnTo>
                  <a:cubicBezTo>
                    <a:pt x="7006" y="14852"/>
                    <a:pt x="6676" y="14387"/>
                    <a:pt x="6676" y="13924"/>
                  </a:cubicBezTo>
                  <a:cubicBezTo>
                    <a:pt x="6676" y="11935"/>
                    <a:pt x="7801" y="10277"/>
                    <a:pt x="9458" y="9349"/>
                  </a:cubicBezTo>
                  <a:cubicBezTo>
                    <a:pt x="8863" y="8686"/>
                    <a:pt x="8466" y="7823"/>
                    <a:pt x="8466" y="6962"/>
                  </a:cubicBezTo>
                  <a:cubicBezTo>
                    <a:pt x="8466" y="5039"/>
                    <a:pt x="9988" y="3447"/>
                    <a:pt x="11910" y="3447"/>
                  </a:cubicBezTo>
                  <a:close/>
                  <a:moveTo>
                    <a:pt x="11910" y="0"/>
                  </a:moveTo>
                  <a:cubicBezTo>
                    <a:pt x="6609" y="0"/>
                    <a:pt x="2304" y="4310"/>
                    <a:pt x="2304" y="9614"/>
                  </a:cubicBezTo>
                  <a:cubicBezTo>
                    <a:pt x="2304" y="11803"/>
                    <a:pt x="3032" y="13990"/>
                    <a:pt x="4556" y="15713"/>
                  </a:cubicBezTo>
                  <a:lnTo>
                    <a:pt x="3297" y="16974"/>
                  </a:lnTo>
                  <a:lnTo>
                    <a:pt x="1507" y="15118"/>
                  </a:lnTo>
                  <a:cubicBezTo>
                    <a:pt x="1343" y="14985"/>
                    <a:pt x="1109" y="14918"/>
                    <a:pt x="878" y="14918"/>
                  </a:cubicBezTo>
                  <a:cubicBezTo>
                    <a:pt x="647" y="14918"/>
                    <a:pt x="415" y="14985"/>
                    <a:pt x="249" y="15118"/>
                  </a:cubicBezTo>
                  <a:cubicBezTo>
                    <a:pt x="-83" y="15448"/>
                    <a:pt x="-83" y="16046"/>
                    <a:pt x="249" y="16378"/>
                  </a:cubicBezTo>
                  <a:lnTo>
                    <a:pt x="2701" y="18898"/>
                  </a:lnTo>
                  <a:lnTo>
                    <a:pt x="5219" y="21350"/>
                  </a:lnTo>
                  <a:cubicBezTo>
                    <a:pt x="5385" y="21516"/>
                    <a:pt x="5616" y="21600"/>
                    <a:pt x="5847" y="21600"/>
                  </a:cubicBezTo>
                  <a:cubicBezTo>
                    <a:pt x="6079" y="21600"/>
                    <a:pt x="6312" y="21516"/>
                    <a:pt x="6476" y="21350"/>
                  </a:cubicBezTo>
                  <a:cubicBezTo>
                    <a:pt x="6809" y="21019"/>
                    <a:pt x="6809" y="20421"/>
                    <a:pt x="6476" y="20091"/>
                  </a:cubicBezTo>
                  <a:lnTo>
                    <a:pt x="4621" y="18300"/>
                  </a:lnTo>
                  <a:lnTo>
                    <a:pt x="5881" y="17041"/>
                  </a:lnTo>
                  <a:cubicBezTo>
                    <a:pt x="7603" y="18433"/>
                    <a:pt x="9791" y="19295"/>
                    <a:pt x="11976" y="19295"/>
                  </a:cubicBezTo>
                  <a:cubicBezTo>
                    <a:pt x="17277" y="19295"/>
                    <a:pt x="21517" y="14985"/>
                    <a:pt x="21517" y="9747"/>
                  </a:cubicBezTo>
                  <a:cubicBezTo>
                    <a:pt x="21450" y="4310"/>
                    <a:pt x="17210" y="0"/>
                    <a:pt x="11910" y="0"/>
                  </a:cubicBezTo>
                  <a:close/>
                </a:path>
              </a:pathLst>
            </a:custGeom>
            <a:solidFill>
              <a:srgbClr val="00B0F0"/>
            </a:solidFill>
            <a:ln w="12700" cap="flat">
              <a:noFill/>
              <a:miter lim="400000"/>
            </a:ln>
            <a:effectLst/>
          </p:spPr>
          <p:txBody>
            <a:bodyPr wrap="square" lIns="45719" tIns="45719" rIns="45719" bIns="45719" numCol="1" anchor="ctr">
              <a:noAutofit/>
            </a:bodyPr>
            <a:lstStyle/>
            <a:p>
              <a:pPr/>
            </a:p>
          </p:txBody>
        </p:sp>
        <p:sp>
          <p:nvSpPr>
            <p:cNvPr id="925" name="Google Shape;8331;p85"/>
            <p:cNvSpPr/>
            <p:nvPr/>
          </p:nvSpPr>
          <p:spPr>
            <a:xfrm>
              <a:off x="-1" y="196274"/>
              <a:ext cx="91782" cy="91704"/>
            </a:xfrm>
            <a:custGeom>
              <a:avLst/>
              <a:gdLst/>
              <a:ahLst/>
              <a:cxnLst>
                <a:cxn ang="0">
                  <a:pos x="wd2" y="hd2"/>
                </a:cxn>
                <a:cxn ang="5400000">
                  <a:pos x="wd2" y="hd2"/>
                </a:cxn>
                <a:cxn ang="10800000">
                  <a:pos x="wd2" y="hd2"/>
                </a:cxn>
                <a:cxn ang="16200000">
                  <a:pos x="wd2" y="hd2"/>
                </a:cxn>
              </a:cxnLst>
              <a:rect l="0" t="0" r="r" b="b"/>
              <a:pathLst>
                <a:path w="21392" h="21600" fill="norm" stroke="1" extrusionOk="0">
                  <a:moveTo>
                    <a:pt x="12084" y="0"/>
                  </a:moveTo>
                  <a:lnTo>
                    <a:pt x="625" y="11472"/>
                  </a:lnTo>
                  <a:cubicBezTo>
                    <a:pt x="-208" y="12318"/>
                    <a:pt x="-208" y="13839"/>
                    <a:pt x="625" y="14680"/>
                  </a:cubicBezTo>
                  <a:lnTo>
                    <a:pt x="6938" y="21091"/>
                  </a:lnTo>
                  <a:cubicBezTo>
                    <a:pt x="7349" y="21429"/>
                    <a:pt x="7934" y="21600"/>
                    <a:pt x="8514" y="21600"/>
                  </a:cubicBezTo>
                  <a:cubicBezTo>
                    <a:pt x="9094" y="21600"/>
                    <a:pt x="9680" y="21429"/>
                    <a:pt x="10091" y="21091"/>
                  </a:cubicBezTo>
                  <a:lnTo>
                    <a:pt x="21392" y="9448"/>
                  </a:lnTo>
                  <a:lnTo>
                    <a:pt x="12084" y="0"/>
                  </a:lnTo>
                  <a:close/>
                </a:path>
              </a:pathLst>
            </a:custGeom>
            <a:solidFill>
              <a:srgbClr val="00B0F0"/>
            </a:solidFill>
            <a:ln w="12700" cap="flat">
              <a:noFill/>
              <a:miter lim="400000"/>
            </a:ln>
            <a:effectLst/>
          </p:spPr>
          <p:txBody>
            <a:bodyPr wrap="square" lIns="45719" tIns="45719" rIns="45719" bIns="45719" numCol="1" anchor="ctr">
              <a:noAutofit/>
            </a:bodyPr>
            <a:lstStyle/>
            <a:p>
              <a:pPr/>
            </a:p>
          </p:txBody>
        </p:sp>
      </p:gr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Default Theme">
  <a:themeElements>
    <a:clrScheme name="Default Theme">
      <a:dk1>
        <a:srgbClr val="000000"/>
      </a:dk1>
      <a:lt1>
        <a:srgbClr val="FFFFFF"/>
      </a:lt1>
      <a:dk2>
        <a:srgbClr val="A7A7A7"/>
      </a:dk2>
      <a:lt2>
        <a:srgbClr val="535353"/>
      </a:lt2>
      <a:accent1>
        <a:srgbClr val="629DD1"/>
      </a:accent1>
      <a:accent2>
        <a:srgbClr val="297FD5"/>
      </a:accent2>
      <a:accent3>
        <a:srgbClr val="7F8FA9"/>
      </a:accent3>
      <a:accent4>
        <a:srgbClr val="4A66AC"/>
      </a:accent4>
      <a:accent5>
        <a:srgbClr val="5AA2AE"/>
      </a:accent5>
      <a:accent6>
        <a:srgbClr val="9D90A0"/>
      </a:accent6>
      <a:hlink>
        <a:srgbClr val="0000FF"/>
      </a:hlink>
      <a:folHlink>
        <a:srgbClr val="FF00FF"/>
      </a:folHlink>
    </a:clrScheme>
    <a:fontScheme name="Default Theme">
      <a:majorFont>
        <a:latin typeface="Helvetica"/>
        <a:ea typeface="Helvetica"/>
        <a:cs typeface="Helvetica"/>
      </a:majorFont>
      <a:minorFont>
        <a:latin typeface="Arial"/>
        <a:ea typeface="Arial"/>
        <a:cs typeface="Arial"/>
      </a:minorFont>
    </a:fontScheme>
    <a:fmtScheme name="Default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Default Theme">
  <a:themeElements>
    <a:clrScheme name="Default Theme">
      <a:dk1>
        <a:srgbClr val="000000"/>
      </a:dk1>
      <a:lt1>
        <a:srgbClr val="FFFFFF"/>
      </a:lt1>
      <a:dk2>
        <a:srgbClr val="A7A7A7"/>
      </a:dk2>
      <a:lt2>
        <a:srgbClr val="535353"/>
      </a:lt2>
      <a:accent1>
        <a:srgbClr val="629DD1"/>
      </a:accent1>
      <a:accent2>
        <a:srgbClr val="297FD5"/>
      </a:accent2>
      <a:accent3>
        <a:srgbClr val="7F8FA9"/>
      </a:accent3>
      <a:accent4>
        <a:srgbClr val="4A66AC"/>
      </a:accent4>
      <a:accent5>
        <a:srgbClr val="5AA2AE"/>
      </a:accent5>
      <a:accent6>
        <a:srgbClr val="9D90A0"/>
      </a:accent6>
      <a:hlink>
        <a:srgbClr val="0000FF"/>
      </a:hlink>
      <a:folHlink>
        <a:srgbClr val="FF00FF"/>
      </a:folHlink>
    </a:clrScheme>
    <a:fontScheme name="Default Theme">
      <a:majorFont>
        <a:latin typeface="Helvetica"/>
        <a:ea typeface="Helvetica"/>
        <a:cs typeface="Helvetica"/>
      </a:majorFont>
      <a:minorFont>
        <a:latin typeface="Arial"/>
        <a:ea typeface="Arial"/>
        <a:cs typeface="Arial"/>
      </a:minorFont>
    </a:fontScheme>
    <a:fmtScheme name="Default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