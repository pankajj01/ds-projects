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notesSlides/notesSlide6.xml" ContentType="application/vnd.openxmlformats-officedocument.presentationml.notesSlide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charts/chart97.xml" ContentType="application/vnd.openxmlformats-officedocument.drawingml.chart+xml"/>
  <Override PartName="/ppt/charts/chart98.xml" ContentType="application/vnd.openxmlformats-officedocument.drawingml.chart+xml"/>
  <Override PartName="/ppt/notesSlides/notesSlide7.xml" ContentType="application/vnd.openxmlformats-officedocument.presentationml.notesSlide+xml"/>
  <Override PartName="/ppt/charts/chart99.xml" ContentType="application/vnd.openxmlformats-officedocument.drawingml.chart+xml"/>
  <Override PartName="/ppt/charts/chart100.xml" ContentType="application/vnd.openxmlformats-officedocument.drawingml.chart+xml"/>
  <Override PartName="/ppt/charts/chart101.xml" ContentType="application/vnd.openxmlformats-officedocument.drawingml.chart+xml"/>
  <Override PartName="/ppt/charts/chart102.xml" ContentType="application/vnd.openxmlformats-officedocument.drawingml.chart+xml"/>
  <Override PartName="/ppt/charts/chart103.xml" ContentType="application/vnd.openxmlformats-officedocument.drawingml.chart+xml"/>
  <Override PartName="/ppt/charts/chart104.xml" ContentType="application/vnd.openxmlformats-officedocument.drawingml.chart+xml"/>
  <Override PartName="/ppt/charts/chart105.xml" ContentType="application/vnd.openxmlformats-officedocument.drawingml.chart+xml"/>
  <Override PartName="/ppt/charts/chart106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EEE"/>
          </a:solidFill>
        </a:fill>
      </a:tcStyle>
    </a:wholeTbl>
    <a:band2H>
      <a:tcTxStyle b="def" i="def"/>
      <a:tcStyle>
        <a:tcBdr/>
        <a:fill>
          <a:solidFill>
            <a:srgbClr val="EA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9525" cap="flat">
              <a:solidFill>
                <a:srgbClr val="9E9E9E"/>
              </a:solidFill>
              <a:prstDash val="solid"/>
              <a:round/>
            </a:ln>
          </a:left>
          <a:right>
            <a:ln w="9525" cap="flat">
              <a:solidFill>
                <a:srgbClr val="9E9E9E"/>
              </a:solidFill>
              <a:prstDash val="solid"/>
              <a:round/>
            </a:ln>
          </a:right>
          <a:top>
            <a:ln w="9525" cap="flat">
              <a:solidFill>
                <a:srgbClr val="9E9E9E"/>
              </a:solidFill>
              <a:prstDash val="solid"/>
              <a:round/>
            </a:ln>
          </a:top>
          <a:bottom>
            <a:ln w="9525" cap="flat">
              <a:solidFill>
                <a:srgbClr val="9E9E9E"/>
              </a:solidFill>
              <a:prstDash val="solid"/>
              <a:round/>
            </a:ln>
          </a:bottom>
          <a:insideH>
            <a:ln w="9525" cap="flat">
              <a:solidFill>
                <a:srgbClr val="9E9E9E"/>
              </a:solidFill>
              <a:prstDash val="solid"/>
              <a:round/>
            </a:ln>
          </a:insideH>
          <a:insideV>
            <a:ln w="9525" cap="flat">
              <a:solidFill>
                <a:srgbClr val="9E9E9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alpha val="20000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7DBE1"/>
          </a:solidFill>
        </a:fill>
      </a:tcStyle>
    </a:wholeTbl>
    <a:band2H>
      <a:tcTxStyle b="def" i="def"/>
      <a:tcStyle>
        <a:tcBdr/>
        <a:fill>
          <a:solidFill>
            <a:srgbClr val="ECEE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DBDF"/>
          </a:solidFill>
        </a:fill>
      </a:tcStyle>
    </a:wholeTbl>
    <a:band2H>
      <a:tcTxStyle b="def" i="def"/>
      <a:tcStyle>
        <a:tcBdr/>
        <a:fill>
          <a:solidFill>
            <a:srgbClr val="EFEE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_rels/chart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.xlsx"/></Relationships>

</file>

<file path=ppt/charts/_rels/chart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.xlsx"/></Relationships>

</file>

<file path=ppt/charts/_rels/chart1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.xlsx"/></Relationships>

</file>

<file path=ppt/charts/_rels/chart1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1.xlsx"/></Relationships>

</file>

<file path=ppt/charts/_rels/chart1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2.xlsx"/></Relationships>

</file>

<file path=ppt/charts/_rels/chart1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3.xlsx"/></Relationships>

</file>

<file path=ppt/charts/_rels/chart1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4.xlsx"/></Relationships>

</file>

<file path=ppt/charts/_rels/chart1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5.xlsx"/></Relationships>

</file>

<file path=ppt/charts/_rels/chart1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6.xlsx"/></Relationships>

</file>

<file path=ppt/charts/_rels/chart1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7.xlsx"/></Relationships>

</file>

<file path=ppt/charts/_rels/chart1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8.xlsx"/></Relationships>

</file>

<file path=ppt/charts/_rels/chart1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9.xlsx"/></Relationships>

</file>

<file path=ppt/charts/_rels/chart2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0.xlsx"/></Relationships>

</file>

<file path=ppt/charts/_rels/chart2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1.xlsx"/></Relationships>

</file>

<file path=ppt/charts/_rels/chart2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2.xlsx"/></Relationships>

</file>

<file path=ppt/charts/_rels/chart2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3.xlsx"/></Relationships>

</file>

<file path=ppt/charts/_rels/chart2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4.xlsx"/></Relationships>

</file>

<file path=ppt/charts/_rels/chart2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5.xlsx"/></Relationships>

</file>

<file path=ppt/charts/_rels/chart2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6.xlsx"/></Relationships>

</file>

<file path=ppt/charts/_rels/chart2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7.xlsx"/></Relationships>

</file>

<file path=ppt/charts/_rels/chart2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8.xlsx"/></Relationships>

</file>

<file path=ppt/charts/_rels/chart2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9.xlsx"/></Relationships>

</file>

<file path=ppt/charts/_rels/chart3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0.xlsx"/></Relationships>

</file>

<file path=ppt/charts/_rels/chart3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1.xlsx"/></Relationships>

</file>

<file path=ppt/charts/_rels/chart3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2.xlsx"/></Relationships>

</file>

<file path=ppt/charts/_rels/chart3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3.xlsx"/></Relationships>

</file>

<file path=ppt/charts/_rels/chart3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4.xlsx"/></Relationships>

</file>

<file path=ppt/charts/_rels/chart3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5.xlsx"/></Relationships>

</file>

<file path=ppt/charts/_rels/chart3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6.xlsx"/></Relationships>

</file>

<file path=ppt/charts/_rels/chart3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7.xlsx"/></Relationships>

</file>

<file path=ppt/charts/_rels/chart3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8.xlsx"/></Relationships>

</file>

<file path=ppt/charts/_rels/chart3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9.xlsx"/></Relationships>

</file>

<file path=ppt/charts/_rels/chart4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0.xlsx"/></Relationships>

</file>

<file path=ppt/charts/_rels/chart4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1.xlsx"/></Relationships>

</file>

<file path=ppt/charts/_rels/chart4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2.xlsx"/></Relationships>

</file>

<file path=ppt/charts/_rels/chart4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3.xlsx"/></Relationships>

</file>

<file path=ppt/charts/_rels/chart4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4.xlsx"/></Relationships>

</file>

<file path=ppt/charts/_rels/chart4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5.xlsx"/></Relationships>

</file>

<file path=ppt/charts/_rels/chart4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6.xlsx"/></Relationships>

</file>

<file path=ppt/charts/_rels/chart4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7.xlsx"/></Relationships>

</file>

<file path=ppt/charts/_rels/chart4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8.xlsx"/></Relationships>

</file>

<file path=ppt/charts/_rels/chart4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9.xlsx"/></Relationships>

</file>

<file path=ppt/charts/_rels/chart5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0.xlsx"/></Relationships>

</file>

<file path=ppt/charts/_rels/chart5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1.xlsx"/></Relationships>

</file>

<file path=ppt/charts/_rels/chart5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2.xlsx"/></Relationships>

</file>

<file path=ppt/charts/_rels/chart5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3.xlsx"/></Relationships>

</file>

<file path=ppt/charts/_rels/chart5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4.xlsx"/></Relationships>

</file>

<file path=ppt/charts/_rels/chart5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5.xlsx"/></Relationships>

</file>

<file path=ppt/charts/_rels/chart5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6.xlsx"/></Relationships>

</file>

<file path=ppt/charts/_rels/chart5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7.xlsx"/></Relationships>

</file>

<file path=ppt/charts/_rels/chart5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8.xlsx"/></Relationships>

</file>

<file path=ppt/charts/_rels/chart5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9.xlsx"/></Relationships>

</file>

<file path=ppt/charts/_rels/chart6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0.xlsx"/></Relationships>

</file>

<file path=ppt/charts/_rels/chart6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1.xlsx"/></Relationships>

</file>

<file path=ppt/charts/_rels/chart6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2.xlsx"/></Relationships>

</file>

<file path=ppt/charts/_rels/chart6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3.xlsx"/></Relationships>

</file>

<file path=ppt/charts/_rels/chart6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4.xlsx"/></Relationships>

</file>

<file path=ppt/charts/_rels/chart6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5.xlsx"/></Relationships>

</file>

<file path=ppt/charts/_rels/chart6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6.xlsx"/></Relationships>

</file>

<file path=ppt/charts/_rels/chart6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7.xlsx"/></Relationships>

</file>

<file path=ppt/charts/_rels/chart6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8.xlsx"/></Relationships>

</file>

<file path=ppt/charts/_rels/chart6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9.xlsx"/></Relationships>

</file>

<file path=ppt/charts/_rels/chart7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0.xlsx"/></Relationships>

</file>

<file path=ppt/charts/_rels/chart7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1.xlsx"/></Relationships>

</file>

<file path=ppt/charts/_rels/chart7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2.xlsx"/></Relationships>

</file>

<file path=ppt/charts/_rels/chart7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3.xlsx"/></Relationships>

</file>

<file path=ppt/charts/_rels/chart7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4.xlsx"/></Relationships>

</file>

<file path=ppt/charts/_rels/chart7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5.xlsx"/></Relationships>

</file>

<file path=ppt/charts/_rels/chart7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6.xlsx"/></Relationships>

</file>

<file path=ppt/charts/_rels/chart7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7.xlsx"/></Relationships>

</file>

<file path=ppt/charts/_rels/chart7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8.xlsx"/></Relationships>

</file>

<file path=ppt/charts/_rels/chart7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9.xlsx"/></Relationships>

</file>

<file path=ppt/charts/_rels/chart8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0.xlsx"/></Relationships>

</file>

<file path=ppt/charts/_rels/chart8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1.xlsx"/></Relationships>

</file>

<file path=ppt/charts/_rels/chart8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2.xlsx"/></Relationships>

</file>

<file path=ppt/charts/_rels/chart8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3.xlsx"/></Relationships>

</file>

<file path=ppt/charts/_rels/chart8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4.xlsx"/></Relationships>

</file>

<file path=ppt/charts/_rels/chart8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5.xlsx"/></Relationships>

</file>

<file path=ppt/charts/_rels/chart8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6.xlsx"/></Relationships>

</file>

<file path=ppt/charts/_rels/chart8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7.xlsx"/></Relationships>

</file>

<file path=ppt/charts/_rels/chart8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8.xlsx"/></Relationships>

</file>

<file path=ppt/charts/_rels/chart8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9.xlsx"/></Relationships>

</file>

<file path=ppt/charts/_rels/chart9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0.xlsx"/></Relationships>

</file>

<file path=ppt/charts/_rels/chart9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1.xlsx"/></Relationships>

</file>

<file path=ppt/charts/_rels/chart9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2.xlsx"/></Relationships>

</file>

<file path=ppt/charts/_rels/chart9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3.xlsx"/></Relationships>

</file>

<file path=ppt/charts/_rels/chart9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4.xlsx"/></Relationships>

</file>

<file path=ppt/charts/_rels/chart9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5.xlsx"/></Relationships>

</file>

<file path=ppt/charts/_rels/chart9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6.xlsx"/></Relationships>

</file>

<file path=ppt/charts/_rels/chart9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7.xlsx"/></Relationships>

</file>

<file path=ppt/charts/_rels/chart9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8.xlsx"/></Relationships>

</file>

<file path=ppt/charts/_rels/chart9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9.xlsx"/></Relationships>

</file>

<file path=ppt/charts/_rels/chart10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0.xlsx"/></Relationships>

</file>

<file path=ppt/charts/_rels/chart10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1.xlsx"/></Relationships>

</file>

<file path=ppt/charts/_rels/chart10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2.xlsx"/></Relationships>

</file>

<file path=ppt/charts/_rels/chart10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3.xlsx"/></Relationships>

</file>

<file path=ppt/charts/_rels/chart10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4.xlsx"/></Relationships>

</file>

<file path=ppt/charts/_rels/chart10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5.xlsx"/></Relationships>

</file>

<file path=ppt/charts/_rels/chart10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6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8994"/>
          <c:y val="0.131836"/>
          <c:w val="0.894407"/>
          <c:h val="0.68176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56.000000</c:v>
                </c:pt>
                <c:pt idx="1">
                  <c:v>55.000000</c:v>
                </c:pt>
                <c:pt idx="2">
                  <c:v>2056.000000</c:v>
                </c:pt>
                <c:pt idx="3">
                  <c:v>4070.000000</c:v>
                </c:pt>
                <c:pt idx="4">
                  <c:v>5219.000000</c:v>
                </c:pt>
                <c:pt idx="5">
                  <c:v>5064.000000</c:v>
                </c:pt>
                <c:pt idx="6">
                  <c:v>8622.000000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5000"/>
        <c:minorUnit val="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96181"/>
          <c:y val="0.133137"/>
          <c:w val="0.895259"/>
          <c:h val="0.69269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Napster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2588.000000</c:v>
                </c:pt>
                <c:pt idx="1">
                  <c:v>2239.000000</c:v>
                </c:pt>
                <c:pt idx="2">
                  <c:v>969.000000</c:v>
                </c:pt>
                <c:pt idx="3">
                  <c:v>2486.000000</c:v>
                </c:pt>
                <c:pt idx="4">
                  <c:v>4572.000000</c:v>
                </c:pt>
                <c:pt idx="5">
                  <c:v>5307.000000</c:v>
                </c:pt>
                <c:pt idx="6">
                  <c:v>3681.000000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15000"/>
        <c:minorUnit val="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7239"/>
          <c:y val="0.153846"/>
          <c:w val="0.897473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2.000000</c:v>
                </c:pt>
                <c:pt idx="1">
                  <c:v>3.000000</c:v>
                </c:pt>
                <c:pt idx="2">
                  <c:v>5.000000</c:v>
                </c:pt>
                <c:pt idx="3">
                  <c:v>8.000000</c:v>
                </c:pt>
                <c:pt idx="4">
                  <c:v>12.000000</c:v>
                </c:pt>
                <c:pt idx="5">
                  <c:v>11.000000</c:v>
                </c:pt>
                <c:pt idx="6">
                  <c:v>11.000000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6365"/>
          <c:y val="0.153846"/>
          <c:w val="0.89991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1855.000000</c:v>
                </c:pt>
                <c:pt idx="1">
                  <c:v>3151.000000</c:v>
                </c:pt>
                <c:pt idx="2">
                  <c:v>8043.000000</c:v>
                </c:pt>
                <c:pt idx="3">
                  <c:v>16347.000000</c:v>
                </c:pt>
                <c:pt idx="4">
                  <c:v>17720.000000</c:v>
                </c:pt>
                <c:pt idx="5">
                  <c:v>23650.000000</c:v>
                </c:pt>
                <c:pt idx="6">
                  <c:v>15969.000000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15000"/>
        <c:minorUnit val="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15389"/>
          <c:y val="0.129503"/>
          <c:w val="0.904701"/>
          <c:h val="0.70074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0.006128</c:v>
                </c:pt>
                <c:pt idx="1">
                  <c:v>0.021796</c:v>
                </c:pt>
                <c:pt idx="2">
                  <c:v>0.033680</c:v>
                </c:pt>
                <c:pt idx="3">
                  <c:v>0.091610</c:v>
                </c:pt>
                <c:pt idx="4">
                  <c:v>0.125821</c:v>
                </c:pt>
                <c:pt idx="5">
                  <c:v>0.229457</c:v>
                </c:pt>
                <c:pt idx="6">
                  <c:v>0.491509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5"/>
        <c:minorUnit val="0.0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2614"/>
          <c:y val="0.153846"/>
          <c:w val="0.89918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0.004216</c:v>
                </c:pt>
                <c:pt idx="1">
                  <c:v>0.012846</c:v>
                </c:pt>
                <c:pt idx="2">
                  <c:v>0.022007</c:v>
                </c:pt>
                <c:pt idx="3">
                  <c:v>0.047353</c:v>
                </c:pt>
                <c:pt idx="4">
                  <c:v>0.059413</c:v>
                </c:pt>
                <c:pt idx="5">
                  <c:v>0.074397</c:v>
                </c:pt>
                <c:pt idx="6">
                  <c:v>0.096980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25"/>
        <c:minorUnit val="0.0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1477"/>
          <c:y val="0.153846"/>
          <c:w val="0.900484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6.000000</c:v>
                </c:pt>
                <c:pt idx="1">
                  <c:v>13.000000</c:v>
                </c:pt>
                <c:pt idx="2">
                  <c:v>23.000000</c:v>
                </c:pt>
                <c:pt idx="3">
                  <c:v>48.000000</c:v>
                </c:pt>
                <c:pt idx="4">
                  <c:v>65.000000</c:v>
                </c:pt>
                <c:pt idx="5">
                  <c:v>71.000000</c:v>
                </c:pt>
                <c:pt idx="6">
                  <c:v>77.000000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102793"/>
          <c:y val="0.121802"/>
          <c:w val="0.88333"/>
          <c:h val="0.71779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0.000106</c:v>
                </c:pt>
                <c:pt idx="1">
                  <c:v>0.002365</c:v>
                </c:pt>
                <c:pt idx="2">
                  <c:v>0.007294</c:v>
                </c:pt>
                <c:pt idx="3">
                  <c:v>0.040558</c:v>
                </c:pt>
                <c:pt idx="4">
                  <c:v>0.142213</c:v>
                </c:pt>
                <c:pt idx="5">
                  <c:v>0.353762</c:v>
                </c:pt>
                <c:pt idx="6">
                  <c:v>0.453701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39607"/>
          <c:y val="0.127096"/>
          <c:w val="0.901871"/>
          <c:h val="0.70607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0.000006</c:v>
                </c:pt>
                <c:pt idx="1">
                  <c:v>0.000286</c:v>
                </c:pt>
                <c:pt idx="2">
                  <c:v>0.001454</c:v>
                </c:pt>
                <c:pt idx="3">
                  <c:v>0.015077</c:v>
                </c:pt>
                <c:pt idx="4">
                  <c:v>0.074244</c:v>
                </c:pt>
                <c:pt idx="5">
                  <c:v>0.297654</c:v>
                </c:pt>
                <c:pt idx="6">
                  <c:v>0.611279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75"/>
        <c:minorUnit val="0.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39607"/>
          <c:y val="0.153846"/>
          <c:w val="0.901871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9869.000000</c:v>
                </c:pt>
                <c:pt idx="1">
                  <c:v>20302.000000</c:v>
                </c:pt>
                <c:pt idx="2">
                  <c:v>33415.000000</c:v>
                </c:pt>
                <c:pt idx="3">
                  <c:v>62327.000000</c:v>
                </c:pt>
                <c:pt idx="4">
                  <c:v>87529.000000</c:v>
                </c:pt>
                <c:pt idx="5">
                  <c:v>141069.000000</c:v>
                </c:pt>
                <c:pt idx="6">
                  <c:v>225892.000000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75000"/>
        <c:minorUnit val="3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7426"/>
          <c:y val="0.153519"/>
          <c:w val="0.897163"/>
          <c:h val="0.64756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45.000000</c:v>
                </c:pt>
                <c:pt idx="1">
                  <c:v>81.000000</c:v>
                </c:pt>
                <c:pt idx="2">
                  <c:v>128.000000</c:v>
                </c:pt>
                <c:pt idx="3">
                  <c:v>200.000000</c:v>
                </c:pt>
                <c:pt idx="4">
                  <c:v>238.000000</c:v>
                </c:pt>
                <c:pt idx="5">
                  <c:v>270.000000</c:v>
                </c:pt>
                <c:pt idx="6">
                  <c:v>296.000000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7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75"/>
        <c:minorUnit val="37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3788"/>
          <c:y val="0.153846"/>
          <c:w val="0.89437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0.035137</c:v>
                </c:pt>
                <c:pt idx="1">
                  <c:v>0.028865</c:v>
                </c:pt>
                <c:pt idx="2">
                  <c:v>0.031294</c:v>
                </c:pt>
                <c:pt idx="3">
                  <c:v>0.033626</c:v>
                </c:pt>
                <c:pt idx="4">
                  <c:v>0.056173</c:v>
                </c:pt>
                <c:pt idx="5">
                  <c:v>0.157730</c:v>
                </c:pt>
                <c:pt idx="6">
                  <c:v>0.179594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45"/>
        <c:minorUnit val="0.02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3721"/>
          <c:y val="0.153846"/>
          <c:w val="0.896715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0.059733</c:v>
                </c:pt>
                <c:pt idx="1">
                  <c:v>0.094855</c:v>
                </c:pt>
                <c:pt idx="2">
                  <c:v>0.141602</c:v>
                </c:pt>
                <c:pt idx="3">
                  <c:v>0.220833</c:v>
                </c:pt>
                <c:pt idx="4">
                  <c:v>0.253408</c:v>
                </c:pt>
                <c:pt idx="5">
                  <c:v>0.294677</c:v>
                </c:pt>
                <c:pt idx="6">
                  <c:v>0.369498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0585"/>
          <c:y val="0.137891"/>
          <c:w val="0.89825"/>
          <c:h val="0.68217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0.002070</c:v>
                </c:pt>
                <c:pt idx="1">
                  <c:v>0.006717</c:v>
                </c:pt>
                <c:pt idx="2">
                  <c:v>0.013861</c:v>
                </c:pt>
                <c:pt idx="3">
                  <c:v>0.037601</c:v>
                </c:pt>
                <c:pt idx="4">
                  <c:v>0.085020</c:v>
                </c:pt>
                <c:pt idx="5">
                  <c:v>0.242712</c:v>
                </c:pt>
                <c:pt idx="6">
                  <c:v>0.264592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082"/>
          <c:y val="0.153846"/>
          <c:w val="0.904067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8059.000000</c:v>
                </c:pt>
                <c:pt idx="1">
                  <c:v>18040.000000</c:v>
                </c:pt>
                <c:pt idx="2">
                  <c:v>31795.000000</c:v>
                </c:pt>
                <c:pt idx="3">
                  <c:v>64393.000000</c:v>
                </c:pt>
                <c:pt idx="4">
                  <c:v>76471.000000</c:v>
                </c:pt>
                <c:pt idx="5">
                  <c:v>92341.000000</c:v>
                </c:pt>
                <c:pt idx="6">
                  <c:v>154080.000000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40000"/>
        <c:minorUnit val="20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385"/>
          <c:y val="0.153846"/>
          <c:w val="0.900206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0.243307</c:v>
                </c:pt>
                <c:pt idx="1">
                  <c:v>0.205436</c:v>
                </c:pt>
                <c:pt idx="2">
                  <c:v>0.174174</c:v>
                </c:pt>
                <c:pt idx="3">
                  <c:v>0.193116</c:v>
                </c:pt>
                <c:pt idx="4">
                  <c:v>0.196263</c:v>
                </c:pt>
                <c:pt idx="5">
                  <c:v>0.294255</c:v>
                </c:pt>
                <c:pt idx="6">
                  <c:v>0.304757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6714"/>
          <c:y val="0.153846"/>
          <c:w val="0.897534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0.025659</c:v>
                </c:pt>
                <c:pt idx="1">
                  <c:v>0.037531</c:v>
                </c:pt>
                <c:pt idx="2">
                  <c:v>0.054987</c:v>
                </c:pt>
                <c:pt idx="3">
                  <c:v>0.118877</c:v>
                </c:pt>
                <c:pt idx="4">
                  <c:v>0.146017</c:v>
                </c:pt>
                <c:pt idx="5">
                  <c:v>0.165165</c:v>
                </c:pt>
                <c:pt idx="6">
                  <c:v>0.237315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2488"/>
          <c:y val="0.153846"/>
          <c:w val="0.896859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963.000000</c:v>
                </c:pt>
                <c:pt idx="1">
                  <c:v>2301.000000</c:v>
                </c:pt>
                <c:pt idx="2">
                  <c:v>7208.000000</c:v>
                </c:pt>
                <c:pt idx="3">
                  <c:v>12936.000000</c:v>
                </c:pt>
                <c:pt idx="4">
                  <c:v>20242.000000</c:v>
                </c:pt>
                <c:pt idx="5">
                  <c:v>29438.000000</c:v>
                </c:pt>
                <c:pt idx="6">
                  <c:v>44372.000000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15000"/>
        <c:minorUnit val="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7981"/>
          <c:y val="0.143375"/>
          <c:w val="0.896217"/>
          <c:h val="0.67002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6.000000</c:v>
                </c:pt>
                <c:pt idx="1">
                  <c:v>9.000000</c:v>
                </c:pt>
                <c:pt idx="2">
                  <c:v>15.000000</c:v>
                </c:pt>
                <c:pt idx="3">
                  <c:v>37.000000</c:v>
                </c:pt>
                <c:pt idx="4">
                  <c:v>46.000000</c:v>
                </c:pt>
                <c:pt idx="5">
                  <c:v>47.000000</c:v>
                </c:pt>
                <c:pt idx="6">
                  <c:v>46.000000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6469"/>
          <c:y val="0.153846"/>
          <c:w val="0.894056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0.001048</c:v>
                </c:pt>
                <c:pt idx="1">
                  <c:v>0.000937</c:v>
                </c:pt>
                <c:pt idx="2">
                  <c:v>0.001609</c:v>
                </c:pt>
                <c:pt idx="3">
                  <c:v>0.002394</c:v>
                </c:pt>
                <c:pt idx="4">
                  <c:v>0.006413</c:v>
                </c:pt>
                <c:pt idx="5">
                  <c:v>0.022402</c:v>
                </c:pt>
                <c:pt idx="6">
                  <c:v>0.029257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7491"/>
          <c:y val="0.153846"/>
          <c:w val="0.89861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0.001048</c:v>
                </c:pt>
                <c:pt idx="1">
                  <c:v>0.002007</c:v>
                </c:pt>
                <c:pt idx="2">
                  <c:v>0.015105</c:v>
                </c:pt>
                <c:pt idx="3">
                  <c:v>0.027949</c:v>
                </c:pt>
                <c:pt idx="4">
                  <c:v>0.030560</c:v>
                </c:pt>
                <c:pt idx="5">
                  <c:v>0.022802</c:v>
                </c:pt>
                <c:pt idx="6">
                  <c:v>0.023158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5013"/>
          <c:y val="0.147406"/>
          <c:w val="0.903577"/>
          <c:h val="0.66110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0.025659</c:v>
                </c:pt>
                <c:pt idx="1">
                  <c:v>0.037531</c:v>
                </c:pt>
                <c:pt idx="2">
                  <c:v>0.054987</c:v>
                </c:pt>
                <c:pt idx="3">
                  <c:v>0.118877</c:v>
                </c:pt>
                <c:pt idx="4">
                  <c:v>0.146017</c:v>
                </c:pt>
                <c:pt idx="5">
                  <c:v>0.165165</c:v>
                </c:pt>
                <c:pt idx="6">
                  <c:v>0.237315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1685"/>
          <c:y val="0.147401"/>
          <c:w val="0.903966"/>
          <c:h val="0.66111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0.041564</c:v>
                </c:pt>
                <c:pt idx="1">
                  <c:v>0.124114</c:v>
                </c:pt>
                <c:pt idx="2">
                  <c:v>0.183213</c:v>
                </c:pt>
                <c:pt idx="3">
                  <c:v>0.245341</c:v>
                </c:pt>
                <c:pt idx="4">
                  <c:v>0.205659</c:v>
                </c:pt>
                <c:pt idx="5">
                  <c:v>0.154750</c:v>
                </c:pt>
                <c:pt idx="6">
                  <c:v>0.045359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2679"/>
          <c:y val="0.106173"/>
          <c:w val="0.899787"/>
          <c:h val="0.74128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0.003813</c:v>
                </c:pt>
                <c:pt idx="1">
                  <c:v>0.027293</c:v>
                </c:pt>
                <c:pt idx="2">
                  <c:v>0.084371</c:v>
                </c:pt>
                <c:pt idx="3">
                  <c:v>0.226059</c:v>
                </c:pt>
                <c:pt idx="4">
                  <c:v>0.291897</c:v>
                </c:pt>
                <c:pt idx="5">
                  <c:v>0.261758</c:v>
                </c:pt>
                <c:pt idx="6">
                  <c:v>0.104809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15"/>
        <c:minorUnit val="0.0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0204"/>
          <c:y val="0.133545"/>
          <c:w val="0.898913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1289.000000</c:v>
                </c:pt>
                <c:pt idx="1">
                  <c:v>2685.000000</c:v>
                </c:pt>
                <c:pt idx="2">
                  <c:v>5021.000000</c:v>
                </c:pt>
                <c:pt idx="3">
                  <c:v>10018.000000</c:v>
                </c:pt>
                <c:pt idx="4">
                  <c:v>21425.000000</c:v>
                </c:pt>
                <c:pt idx="5">
                  <c:v>45320.000000</c:v>
                </c:pt>
                <c:pt idx="6">
                  <c:v>58234.000000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995.000000</c:v>
                </c:pt>
                <c:pt idx="1">
                  <c:v>2385.000000</c:v>
                </c:pt>
                <c:pt idx="2">
                  <c:v>4994.000000</c:v>
                </c:pt>
                <c:pt idx="3">
                  <c:v>9993.000000</c:v>
                </c:pt>
                <c:pt idx="4">
                  <c:v>15392.000000</c:v>
                </c:pt>
                <c:pt idx="5">
                  <c:v>18344.000000</c:v>
                </c:pt>
                <c:pt idx="6">
                  <c:v>25059.000000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5000"/>
        <c:minorUnit val="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2871"/>
          <c:y val="0.143509"/>
          <c:w val="0.901489"/>
          <c:h val="0.6697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5.000000</c:v>
                </c:pt>
                <c:pt idx="1">
                  <c:v>10.000000</c:v>
                </c:pt>
                <c:pt idx="2">
                  <c:v>20.000000</c:v>
                </c:pt>
                <c:pt idx="3">
                  <c:v>35.000000</c:v>
                </c:pt>
                <c:pt idx="4">
                  <c:v>47.000000</c:v>
                </c:pt>
                <c:pt idx="5">
                  <c:v>45.000000</c:v>
                </c:pt>
                <c:pt idx="6">
                  <c:v>46.000000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8994"/>
          <c:y val="0.133545"/>
          <c:w val="0.89673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0.001723</c:v>
                </c:pt>
                <c:pt idx="1">
                  <c:v>0.001571</c:v>
                </c:pt>
                <c:pt idx="2">
                  <c:v>0.001738</c:v>
                </c:pt>
                <c:pt idx="3">
                  <c:v>0.002411</c:v>
                </c:pt>
                <c:pt idx="4">
                  <c:v>0.004051</c:v>
                </c:pt>
                <c:pt idx="5">
                  <c:v>0.010688</c:v>
                </c:pt>
                <c:pt idx="6">
                  <c:v>0.011712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7446"/>
          <c:y val="0.123018"/>
          <c:w val="0.900395"/>
          <c:h val="0.70221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0.000239</c:v>
                </c:pt>
                <c:pt idx="1">
                  <c:v>0.000658</c:v>
                </c:pt>
                <c:pt idx="2">
                  <c:v>0.002297</c:v>
                </c:pt>
                <c:pt idx="3">
                  <c:v>0.010026</c:v>
                </c:pt>
                <c:pt idx="4">
                  <c:v>0.013852</c:v>
                </c:pt>
                <c:pt idx="5">
                  <c:v>0.009995</c:v>
                </c:pt>
                <c:pt idx="6">
                  <c:v>0.008182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169"/>
          <c:y val="0.132919"/>
          <c:w val="0.902225"/>
          <c:h val="0.6792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0.007192</c:v>
                </c:pt>
                <c:pt idx="1">
                  <c:v>0.013560</c:v>
                </c:pt>
                <c:pt idx="2">
                  <c:v>0.027035</c:v>
                </c:pt>
                <c:pt idx="3">
                  <c:v>0.058420</c:v>
                </c:pt>
                <c:pt idx="4">
                  <c:v>0.078147</c:v>
                </c:pt>
                <c:pt idx="5">
                  <c:v>0.081390</c:v>
                </c:pt>
                <c:pt idx="6">
                  <c:v>0.115297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5452"/>
          <c:y val="0.141308"/>
          <c:w val="0.896513"/>
          <c:h val="0.67460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0.048865</c:v>
                </c:pt>
                <c:pt idx="1">
                  <c:v>0.102327</c:v>
                </c:pt>
                <c:pt idx="2">
                  <c:v>0.061952</c:v>
                </c:pt>
                <c:pt idx="3">
                  <c:v>0.082909</c:v>
                </c:pt>
                <c:pt idx="4">
                  <c:v>0.105050</c:v>
                </c:pt>
                <c:pt idx="5">
                  <c:v>0.143540</c:v>
                </c:pt>
                <c:pt idx="6">
                  <c:v>0.455358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7849"/>
          <c:y val="0.153846"/>
          <c:w val="0.900908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0.006567</c:v>
                </c:pt>
                <c:pt idx="1">
                  <c:v>0.004193</c:v>
                </c:pt>
                <c:pt idx="2">
                  <c:v>0.005004</c:v>
                </c:pt>
                <c:pt idx="3">
                  <c:v>0.007567</c:v>
                </c:pt>
                <c:pt idx="4">
                  <c:v>0.008976</c:v>
                </c:pt>
                <c:pt idx="5">
                  <c:v>0.013927</c:v>
                </c:pt>
                <c:pt idx="6">
                  <c:v>0.003780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36972"/>
          <c:y val="0.153846"/>
          <c:w val="0.902179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0.017230</c:v>
                </c:pt>
                <c:pt idx="1">
                  <c:v>0.019874</c:v>
                </c:pt>
                <c:pt idx="2">
                  <c:v>0.029703</c:v>
                </c:pt>
                <c:pt idx="3">
                  <c:v>0.043110</c:v>
                </c:pt>
                <c:pt idx="4">
                  <c:v>0.027486</c:v>
                </c:pt>
                <c:pt idx="5">
                  <c:v>0.018231</c:v>
                </c:pt>
                <c:pt idx="6">
                  <c:v>0.004451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6883"/>
          <c:y val="0.153846"/>
          <c:w val="0.903358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0.041364</c:v>
                </c:pt>
                <c:pt idx="1">
                  <c:v>0.042963</c:v>
                </c:pt>
                <c:pt idx="2">
                  <c:v>0.059192</c:v>
                </c:pt>
                <c:pt idx="3">
                  <c:v>0.102676</c:v>
                </c:pt>
                <c:pt idx="4">
                  <c:v>0.090157</c:v>
                </c:pt>
                <c:pt idx="5">
                  <c:v>0.086588</c:v>
                </c:pt>
                <c:pt idx="6">
                  <c:v>0.105661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2212"/>
          <c:y val="0.153039"/>
          <c:w val="0.899229"/>
          <c:h val="0.64862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Napster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0.000158</c:v>
                </c:pt>
                <c:pt idx="1">
                  <c:v>0.000298</c:v>
                </c:pt>
                <c:pt idx="2">
                  <c:v>0.072724</c:v>
                </c:pt>
                <c:pt idx="3">
                  <c:v>0.219550</c:v>
                </c:pt>
                <c:pt idx="4">
                  <c:v>0.174124</c:v>
                </c:pt>
                <c:pt idx="5">
                  <c:v>0.135239</c:v>
                </c:pt>
                <c:pt idx="6">
                  <c:v>0.397906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4374"/>
          <c:y val="0.136396"/>
          <c:w val="0.896639"/>
          <c:h val="0.6854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Napster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0.000114</c:v>
                </c:pt>
                <c:pt idx="1">
                  <c:v>0.000186</c:v>
                </c:pt>
                <c:pt idx="2">
                  <c:v>0.019594</c:v>
                </c:pt>
                <c:pt idx="3">
                  <c:v>0.151792</c:v>
                </c:pt>
                <c:pt idx="4">
                  <c:v>0.221396</c:v>
                </c:pt>
                <c:pt idx="5">
                  <c:v>0.199603</c:v>
                </c:pt>
                <c:pt idx="6">
                  <c:v>0.407316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5"/>
        <c:minorUnit val="0.0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034"/>
          <c:y val="0.132501"/>
          <c:w val="0.894773"/>
          <c:h val="0.69410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2.000000</c:v>
                </c:pt>
                <c:pt idx="1">
                  <c:v>2.000000</c:v>
                </c:pt>
                <c:pt idx="2">
                  <c:v>2.000000</c:v>
                </c:pt>
                <c:pt idx="3">
                  <c:v>6.000000</c:v>
                </c:pt>
                <c:pt idx="4">
                  <c:v>11.000000</c:v>
                </c:pt>
                <c:pt idx="5">
                  <c:v>10.000000</c:v>
                </c:pt>
                <c:pt idx="6">
                  <c:v>4.000000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33636"/>
          <c:y val="0.127642"/>
          <c:w val="0.891545"/>
          <c:h val="0.69149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0.001477</c:v>
                </c:pt>
                <c:pt idx="1">
                  <c:v>0.001569</c:v>
                </c:pt>
                <c:pt idx="2">
                  <c:v>0.001250</c:v>
                </c:pt>
                <c:pt idx="3">
                  <c:v>0.002247</c:v>
                </c:pt>
                <c:pt idx="4">
                  <c:v>0.005464</c:v>
                </c:pt>
                <c:pt idx="5">
                  <c:v>0.013584</c:v>
                </c:pt>
                <c:pt idx="6">
                  <c:v>0.003112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18109"/>
          <c:y val="0.133545"/>
          <c:w val="0.893348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0.000000</c:v>
                </c:pt>
                <c:pt idx="1">
                  <c:v>0.000000</c:v>
                </c:pt>
                <c:pt idx="2">
                  <c:v>0.001708</c:v>
                </c:pt>
                <c:pt idx="3">
                  <c:v>0.006840</c:v>
                </c:pt>
                <c:pt idx="4">
                  <c:v>0.009508</c:v>
                </c:pt>
                <c:pt idx="5">
                  <c:v>0.007099</c:v>
                </c:pt>
                <c:pt idx="6">
                  <c:v>0.001008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504"/>
          <c:y val="0.129444"/>
          <c:w val="0.89719"/>
          <c:h val="0.68731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Napster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0.044806</c:v>
                </c:pt>
                <c:pt idx="1">
                  <c:v>0.055425</c:v>
                </c:pt>
                <c:pt idx="2">
                  <c:v>0.024589</c:v>
                </c:pt>
                <c:pt idx="3">
                  <c:v>0.048679</c:v>
                </c:pt>
                <c:pt idx="4">
                  <c:v>0.049969</c:v>
                </c:pt>
                <c:pt idx="5">
                  <c:v>0.060682</c:v>
                </c:pt>
                <c:pt idx="6">
                  <c:v>0.099597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39236"/>
          <c:y val="0.130874"/>
          <c:w val="0.890894"/>
          <c:h val="0.6839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0.010691</c:v>
                </c:pt>
                <c:pt idx="1">
                  <c:v>0.027284</c:v>
                </c:pt>
                <c:pt idx="2">
                  <c:v>0.045034</c:v>
                </c:pt>
                <c:pt idx="3">
                  <c:v>0.172601</c:v>
                </c:pt>
                <c:pt idx="4">
                  <c:v>0.220590</c:v>
                </c:pt>
                <c:pt idx="5">
                  <c:v>0.187724</c:v>
                </c:pt>
                <c:pt idx="6">
                  <c:v>0.336076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34321"/>
          <c:y val="0.133545"/>
          <c:w val="0.891465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Napster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0.000104</c:v>
                </c:pt>
                <c:pt idx="1">
                  <c:v>0.000260</c:v>
                </c:pt>
                <c:pt idx="2">
                  <c:v>0.015970</c:v>
                </c:pt>
                <c:pt idx="3">
                  <c:v>0.121189</c:v>
                </c:pt>
                <c:pt idx="4">
                  <c:v>0.198601</c:v>
                </c:pt>
                <c:pt idx="5">
                  <c:v>0.163982</c:v>
                </c:pt>
                <c:pt idx="6">
                  <c:v>0.499895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15"/>
        <c:minorUnit val="0.0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2788"/>
          <c:y val="0.129494"/>
          <c:w val="0.898613"/>
          <c:h val="0.68719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3.000000</c:v>
                </c:pt>
                <c:pt idx="1">
                  <c:v>7.000000</c:v>
                </c:pt>
                <c:pt idx="2">
                  <c:v>13.000000</c:v>
                </c:pt>
                <c:pt idx="3">
                  <c:v>23.000000</c:v>
                </c:pt>
                <c:pt idx="4">
                  <c:v>46.000000</c:v>
                </c:pt>
                <c:pt idx="5">
                  <c:v>71.000000</c:v>
                </c:pt>
                <c:pt idx="6">
                  <c:v>61.000000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0.000000</c:v>
                </c:pt>
                <c:pt idx="1">
                  <c:v>0.000000</c:v>
                </c:pt>
                <c:pt idx="2">
                  <c:v>1.000000</c:v>
                </c:pt>
                <c:pt idx="3">
                  <c:v>3.000000</c:v>
                </c:pt>
                <c:pt idx="4">
                  <c:v>5.000000</c:v>
                </c:pt>
                <c:pt idx="5">
                  <c:v>5.000000</c:v>
                </c:pt>
                <c:pt idx="6">
                  <c:v>3.000000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20"/>
        <c:minorUnit val="1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2545"/>
          <c:y val="0.133294"/>
          <c:w val="0.892495"/>
          <c:h val="0.67838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0.006735</c:v>
                </c:pt>
                <c:pt idx="1">
                  <c:v>0.005747</c:v>
                </c:pt>
                <c:pt idx="2">
                  <c:v>0.005903</c:v>
                </c:pt>
                <c:pt idx="3">
                  <c:v>0.008555</c:v>
                </c:pt>
                <c:pt idx="4">
                  <c:v>0.019822</c:v>
                </c:pt>
                <c:pt idx="5">
                  <c:v>0.068690</c:v>
                </c:pt>
                <c:pt idx="6">
                  <c:v>0.059059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0.006567</c:v>
                </c:pt>
                <c:pt idx="1">
                  <c:v>0.004193</c:v>
                </c:pt>
                <c:pt idx="2">
                  <c:v>0.005004</c:v>
                </c:pt>
                <c:pt idx="3">
                  <c:v>0.007567</c:v>
                </c:pt>
                <c:pt idx="4">
                  <c:v>0.008976</c:v>
                </c:pt>
                <c:pt idx="5">
                  <c:v>0.013927</c:v>
                </c:pt>
                <c:pt idx="6">
                  <c:v>0.003780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2639"/>
          <c:y val="0.133545"/>
          <c:w val="0.892386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0.000000</c:v>
                </c:pt>
                <c:pt idx="1">
                  <c:v>0.000000</c:v>
                </c:pt>
                <c:pt idx="2">
                  <c:v>0.029869</c:v>
                </c:pt>
                <c:pt idx="3">
                  <c:v>0.041280</c:v>
                </c:pt>
                <c:pt idx="4">
                  <c:v>0.022005</c:v>
                </c:pt>
                <c:pt idx="5">
                  <c:v>0.029685</c:v>
                </c:pt>
                <c:pt idx="6">
                  <c:v>0.010931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24095"/>
          <c:y val="0.133545"/>
          <c:w val="0.892653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0.000203</c:v>
                </c:pt>
                <c:pt idx="1">
                  <c:v>0.000204</c:v>
                </c:pt>
                <c:pt idx="2">
                  <c:v>0.008927</c:v>
                </c:pt>
                <c:pt idx="3">
                  <c:v>0.032739</c:v>
                </c:pt>
                <c:pt idx="4">
                  <c:v>0.045631</c:v>
                </c:pt>
                <c:pt idx="5">
                  <c:v>0.042809</c:v>
                </c:pt>
                <c:pt idx="6">
                  <c:v>0.038524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0466"/>
          <c:y val="0.145669"/>
          <c:w val="0.897096"/>
          <c:h val="0.66494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0.078303</c:v>
                </c:pt>
                <c:pt idx="1">
                  <c:v>0.105969</c:v>
                </c:pt>
                <c:pt idx="2">
                  <c:v>0.141029</c:v>
                </c:pt>
                <c:pt idx="3">
                  <c:v>0.192132</c:v>
                </c:pt>
                <c:pt idx="4">
                  <c:v>0.159758</c:v>
                </c:pt>
                <c:pt idx="5">
                  <c:v>0.155570</c:v>
                </c:pt>
                <c:pt idx="6">
                  <c:v>0.222791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9171"/>
          <c:y val="0.14319"/>
          <c:w val="0.903091"/>
          <c:h val="0.67043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0.016350</c:v>
                </c:pt>
                <c:pt idx="1">
                  <c:v>0.043028</c:v>
                </c:pt>
                <c:pt idx="2">
                  <c:v>0.069453</c:v>
                </c:pt>
                <c:pt idx="3">
                  <c:v>0.150289</c:v>
                </c:pt>
                <c:pt idx="4">
                  <c:v>0.168234</c:v>
                </c:pt>
                <c:pt idx="5">
                  <c:v>0.229469</c:v>
                </c:pt>
                <c:pt idx="6">
                  <c:v>0.323176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0.000589</c:v>
                </c:pt>
                <c:pt idx="1">
                  <c:v>0.001847</c:v>
                </c:pt>
                <c:pt idx="2">
                  <c:v>0.006258</c:v>
                </c:pt>
                <c:pt idx="3">
                  <c:v>0.063302</c:v>
                </c:pt>
                <c:pt idx="4">
                  <c:v>0.173183</c:v>
                </c:pt>
                <c:pt idx="5">
                  <c:v>0.409967</c:v>
                </c:pt>
                <c:pt idx="6">
                  <c:v>0.344853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575"/>
          <c:y val="0.132911"/>
          <c:w val="0.90349"/>
          <c:h val="0.6931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0.000230</c:v>
                </c:pt>
                <c:pt idx="1">
                  <c:v>0.001667</c:v>
                </c:pt>
                <c:pt idx="2">
                  <c:v>0.006064</c:v>
                </c:pt>
                <c:pt idx="3">
                  <c:v>0.033313</c:v>
                </c:pt>
                <c:pt idx="4">
                  <c:v>0.089452</c:v>
                </c:pt>
                <c:pt idx="5">
                  <c:v>0.308360</c:v>
                </c:pt>
                <c:pt idx="6">
                  <c:v>0.560914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5"/>
        <c:minorUnit val="0.0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4539"/>
          <c:y val="0.118641"/>
          <c:w val="0.901894"/>
          <c:h val="0.71236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0.000605</c:v>
                </c:pt>
                <c:pt idx="1">
                  <c:v>0.003318</c:v>
                </c:pt>
                <c:pt idx="2">
                  <c:v>0.010016</c:v>
                </c:pt>
                <c:pt idx="3">
                  <c:v>0.043247</c:v>
                </c:pt>
                <c:pt idx="4">
                  <c:v>0.103531</c:v>
                </c:pt>
                <c:pt idx="5">
                  <c:v>0.298712</c:v>
                </c:pt>
                <c:pt idx="6">
                  <c:v>0.540570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0.000230</c:v>
                </c:pt>
                <c:pt idx="1">
                  <c:v>0.001667</c:v>
                </c:pt>
                <c:pt idx="2">
                  <c:v>0.006064</c:v>
                </c:pt>
                <c:pt idx="3">
                  <c:v>0.033313</c:v>
                </c:pt>
                <c:pt idx="4">
                  <c:v>0.089452</c:v>
                </c:pt>
                <c:pt idx="5">
                  <c:v>0.308360</c:v>
                </c:pt>
                <c:pt idx="6">
                  <c:v>0.560914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15"/>
        <c:minorUnit val="0.0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8233"/>
          <c:y val="0.153846"/>
          <c:w val="0.896188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0.012744</c:v>
                </c:pt>
                <c:pt idx="1">
                  <c:v>0.010410</c:v>
                </c:pt>
                <c:pt idx="2">
                  <c:v>0.048642</c:v>
                </c:pt>
                <c:pt idx="3">
                  <c:v>0.156810</c:v>
                </c:pt>
                <c:pt idx="4">
                  <c:v>0.233826</c:v>
                </c:pt>
                <c:pt idx="5">
                  <c:v>0.207131</c:v>
                </c:pt>
                <c:pt idx="6">
                  <c:v>0.660589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"/>
        <c:minorUnit val="0.1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3594"/>
          <c:y val="0.123791"/>
          <c:w val="0.901405"/>
          <c:h val="0.71339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0.991137</c:v>
                </c:pt>
                <c:pt idx="1">
                  <c:v>0.986405</c:v>
                </c:pt>
                <c:pt idx="2">
                  <c:v>0.227102</c:v>
                </c:pt>
                <c:pt idx="3">
                  <c:v>0.197128</c:v>
                </c:pt>
                <c:pt idx="4">
                  <c:v>0.164997</c:v>
                </c:pt>
                <c:pt idx="5">
                  <c:v>0.208494</c:v>
                </c:pt>
                <c:pt idx="6">
                  <c:v>0.896946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30758"/>
          <c:y val="0.144114"/>
          <c:w val="0.902905"/>
          <c:h val="0.6683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68D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68D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0.344312</c:v>
                </c:pt>
                <c:pt idx="1">
                  <c:v>0.303376</c:v>
                </c:pt>
                <c:pt idx="2">
                  <c:v>0.242911</c:v>
                </c:pt>
                <c:pt idx="3">
                  <c:v>0.296833</c:v>
                </c:pt>
                <c:pt idx="4">
                  <c:v>0.327172</c:v>
                </c:pt>
                <c:pt idx="5">
                  <c:v>0.404835</c:v>
                </c:pt>
                <c:pt idx="6">
                  <c:v>0.891756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25"/>
        <c:minorUnit val="0.1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0561"/>
          <c:y val="0.126041"/>
          <c:w val="0.898253"/>
          <c:h val="0.70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0.194968</c:v>
                </c:pt>
                <c:pt idx="1">
                  <c:v>0.259247</c:v>
                </c:pt>
                <c:pt idx="2">
                  <c:v>0.303645</c:v>
                </c:pt>
                <c:pt idx="3">
                  <c:v>0.351055</c:v>
                </c:pt>
                <c:pt idx="4">
                  <c:v>0.371323</c:v>
                </c:pt>
                <c:pt idx="5">
                  <c:v>0.329984</c:v>
                </c:pt>
                <c:pt idx="6">
                  <c:v>0.417626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"/>
        <c:minorUnit val="0.1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2614"/>
          <c:y val="0.153846"/>
          <c:w val="0.89918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0.004216</c:v>
                </c:pt>
                <c:pt idx="1">
                  <c:v>0.012846</c:v>
                </c:pt>
                <c:pt idx="2">
                  <c:v>0.022007</c:v>
                </c:pt>
                <c:pt idx="3">
                  <c:v>0.047353</c:v>
                </c:pt>
                <c:pt idx="4">
                  <c:v>0.059413</c:v>
                </c:pt>
                <c:pt idx="5">
                  <c:v>0.074397</c:v>
                </c:pt>
                <c:pt idx="6">
                  <c:v>0.096980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25"/>
        <c:minorUnit val="0.0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3721"/>
          <c:y val="0.153846"/>
          <c:w val="0.896715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0.059733</c:v>
                </c:pt>
                <c:pt idx="1">
                  <c:v>0.094855</c:v>
                </c:pt>
                <c:pt idx="2">
                  <c:v>0.141602</c:v>
                </c:pt>
                <c:pt idx="3">
                  <c:v>0.220833</c:v>
                </c:pt>
                <c:pt idx="4">
                  <c:v>0.253408</c:v>
                </c:pt>
                <c:pt idx="5">
                  <c:v>0.294677</c:v>
                </c:pt>
                <c:pt idx="6">
                  <c:v>0.369498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6714"/>
          <c:y val="0.153846"/>
          <c:w val="0.897534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0.025659</c:v>
                </c:pt>
                <c:pt idx="1">
                  <c:v>0.037531</c:v>
                </c:pt>
                <c:pt idx="2">
                  <c:v>0.054987</c:v>
                </c:pt>
                <c:pt idx="3">
                  <c:v>0.118877</c:v>
                </c:pt>
                <c:pt idx="4">
                  <c:v>0.146017</c:v>
                </c:pt>
                <c:pt idx="5">
                  <c:v>0.165165</c:v>
                </c:pt>
                <c:pt idx="6">
                  <c:v>0.237315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7491"/>
          <c:y val="0.153846"/>
          <c:w val="0.89861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0.001048</c:v>
                </c:pt>
                <c:pt idx="1">
                  <c:v>0.002007</c:v>
                </c:pt>
                <c:pt idx="2">
                  <c:v>0.015105</c:v>
                </c:pt>
                <c:pt idx="3">
                  <c:v>0.027949</c:v>
                </c:pt>
                <c:pt idx="4">
                  <c:v>0.030560</c:v>
                </c:pt>
                <c:pt idx="5">
                  <c:v>0.022802</c:v>
                </c:pt>
                <c:pt idx="6">
                  <c:v>0.023158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5013"/>
          <c:y val="0.147406"/>
          <c:w val="0.903577"/>
          <c:h val="0.66110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0.025659</c:v>
                </c:pt>
                <c:pt idx="1">
                  <c:v>0.037531</c:v>
                </c:pt>
                <c:pt idx="2">
                  <c:v>0.054987</c:v>
                </c:pt>
                <c:pt idx="3">
                  <c:v>0.118877</c:v>
                </c:pt>
                <c:pt idx="4">
                  <c:v>0.146017</c:v>
                </c:pt>
                <c:pt idx="5">
                  <c:v>0.165165</c:v>
                </c:pt>
                <c:pt idx="6">
                  <c:v>0.237315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7446"/>
          <c:y val="0.123018"/>
          <c:w val="0.900395"/>
          <c:h val="0.70221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Attention-Seeker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0.000239</c:v>
                </c:pt>
                <c:pt idx="1">
                  <c:v>0.000658</c:v>
                </c:pt>
                <c:pt idx="2">
                  <c:v>0.002297</c:v>
                </c:pt>
                <c:pt idx="3">
                  <c:v>0.010026</c:v>
                </c:pt>
                <c:pt idx="4">
                  <c:v>0.013852</c:v>
                </c:pt>
                <c:pt idx="5">
                  <c:v>0.009995</c:v>
                </c:pt>
                <c:pt idx="6">
                  <c:v>0.008182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169"/>
          <c:y val="0.132919"/>
          <c:w val="0.902225"/>
          <c:h val="0.6792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Promisor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0.007192</c:v>
                </c:pt>
                <c:pt idx="1">
                  <c:v>0.013560</c:v>
                </c:pt>
                <c:pt idx="2">
                  <c:v>0.027035</c:v>
                </c:pt>
                <c:pt idx="3">
                  <c:v>0.058420</c:v>
                </c:pt>
                <c:pt idx="4">
                  <c:v>0.078147</c:v>
                </c:pt>
                <c:pt idx="5">
                  <c:v>0.081390</c:v>
                </c:pt>
                <c:pt idx="6">
                  <c:v>0.115297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36972"/>
          <c:y val="0.153846"/>
          <c:w val="0.902179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0.017230</c:v>
                </c:pt>
                <c:pt idx="1">
                  <c:v>0.019874</c:v>
                </c:pt>
                <c:pt idx="2">
                  <c:v>0.029703</c:v>
                </c:pt>
                <c:pt idx="3">
                  <c:v>0.043110</c:v>
                </c:pt>
                <c:pt idx="4">
                  <c:v>0.027486</c:v>
                </c:pt>
                <c:pt idx="5">
                  <c:v>0.018231</c:v>
                </c:pt>
                <c:pt idx="6">
                  <c:v>0.004451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6883"/>
          <c:y val="0.153846"/>
          <c:w val="0.903358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0.041364</c:v>
                </c:pt>
                <c:pt idx="1">
                  <c:v>0.042963</c:v>
                </c:pt>
                <c:pt idx="2">
                  <c:v>0.059192</c:v>
                </c:pt>
                <c:pt idx="3">
                  <c:v>0.102676</c:v>
                </c:pt>
                <c:pt idx="4">
                  <c:v>0.090157</c:v>
                </c:pt>
                <c:pt idx="5">
                  <c:v>0.086588</c:v>
                </c:pt>
                <c:pt idx="6">
                  <c:v>0.105661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18109"/>
          <c:y val="0.133545"/>
          <c:w val="0.893348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Potentialist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0.000000</c:v>
                </c:pt>
                <c:pt idx="1">
                  <c:v>0.000000</c:v>
                </c:pt>
                <c:pt idx="2">
                  <c:v>0.001708</c:v>
                </c:pt>
                <c:pt idx="3">
                  <c:v>0.006840</c:v>
                </c:pt>
                <c:pt idx="4">
                  <c:v>0.009508</c:v>
                </c:pt>
                <c:pt idx="5">
                  <c:v>0.007099</c:v>
                </c:pt>
                <c:pt idx="6">
                  <c:v>0.001008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504"/>
          <c:y val="0.129444"/>
          <c:w val="0.89719"/>
          <c:h val="0.68731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Napster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0.044806</c:v>
                </c:pt>
                <c:pt idx="1">
                  <c:v>0.055425</c:v>
                </c:pt>
                <c:pt idx="2">
                  <c:v>0.024589</c:v>
                </c:pt>
                <c:pt idx="3">
                  <c:v>0.048679</c:v>
                </c:pt>
                <c:pt idx="4">
                  <c:v>0.049969</c:v>
                </c:pt>
                <c:pt idx="5">
                  <c:v>0.060682</c:v>
                </c:pt>
                <c:pt idx="6">
                  <c:v>0.099597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2639"/>
          <c:y val="0.133545"/>
          <c:w val="0.892386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0.000000</c:v>
                </c:pt>
                <c:pt idx="1">
                  <c:v>0.000000</c:v>
                </c:pt>
                <c:pt idx="2">
                  <c:v>0.029869</c:v>
                </c:pt>
                <c:pt idx="3">
                  <c:v>0.041280</c:v>
                </c:pt>
                <c:pt idx="4">
                  <c:v>0.022005</c:v>
                </c:pt>
                <c:pt idx="5">
                  <c:v>0.029685</c:v>
                </c:pt>
                <c:pt idx="6">
                  <c:v>0.010931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125"/>
        <c:minorUnit val="0.0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24095"/>
          <c:y val="0.133545"/>
          <c:w val="0.892653"/>
          <c:h val="0.67780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0.018830</c:v>
                </c:pt>
                <c:pt idx="1">
                  <c:v>0.021199</c:v>
                </c:pt>
                <c:pt idx="2">
                  <c:v>0.029632</c:v>
                </c:pt>
                <c:pt idx="3">
                  <c:v>0.060590</c:v>
                </c:pt>
                <c:pt idx="4">
                  <c:v>0.088433</c:v>
                </c:pt>
                <c:pt idx="5">
                  <c:v>0.125932</c:v>
                </c:pt>
                <c:pt idx="6">
                  <c:v>0.151438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Hibernator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0.000203</c:v>
                </c:pt>
                <c:pt idx="1">
                  <c:v>0.000204</c:v>
                </c:pt>
                <c:pt idx="2">
                  <c:v>0.008927</c:v>
                </c:pt>
                <c:pt idx="3">
                  <c:v>0.032739</c:v>
                </c:pt>
                <c:pt idx="4">
                  <c:v>0.045631</c:v>
                </c:pt>
                <c:pt idx="5">
                  <c:v>0.042809</c:v>
                </c:pt>
                <c:pt idx="6">
                  <c:v>0.038524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04"/>
        <c:minorUnit val="0.02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0466"/>
          <c:y val="0.145669"/>
          <c:w val="0.897096"/>
          <c:h val="0.664947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0.007284</c:v>
                </c:pt>
                <c:pt idx="1">
                  <c:v>0.007808</c:v>
                </c:pt>
                <c:pt idx="2">
                  <c:v>0.011657</c:v>
                </c:pt>
                <c:pt idx="3">
                  <c:v>0.024702</c:v>
                </c:pt>
                <c:pt idx="4">
                  <c:v>0.031148</c:v>
                </c:pt>
                <c:pt idx="5">
                  <c:v>0.041767</c:v>
                </c:pt>
                <c:pt idx="6">
                  <c:v>0.039742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Loyalist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0.078303</c:v>
                </c:pt>
                <c:pt idx="1">
                  <c:v>0.105969</c:v>
                </c:pt>
                <c:pt idx="2">
                  <c:v>0.141029</c:v>
                </c:pt>
                <c:pt idx="3">
                  <c:v>0.192132</c:v>
                </c:pt>
                <c:pt idx="4">
                  <c:v>0.159758</c:v>
                </c:pt>
                <c:pt idx="5">
                  <c:v>0.155570</c:v>
                </c:pt>
                <c:pt idx="6">
                  <c:v>0.222791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7945"/>
          <c:y val="0.147928"/>
          <c:w val="0.903234"/>
          <c:h val="0.659945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0.923401</c:v>
                </c:pt>
                <c:pt idx="1">
                  <c:v>0.945128</c:v>
                </c:pt>
                <c:pt idx="2">
                  <c:v>0.936526</c:v>
                </c:pt>
                <c:pt idx="3">
                  <c:v>0.934241</c:v>
                </c:pt>
                <c:pt idx="4">
                  <c:v>0.919767</c:v>
                </c:pt>
                <c:pt idx="5">
                  <c:v>0.914578</c:v>
                </c:pt>
                <c:pt idx="6">
                  <c:v>0.947216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4895"/>
          <c:y val="0.153846"/>
          <c:w val="0.89424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0.242015</c:v>
                </c:pt>
                <c:pt idx="1">
                  <c:v>0.286978</c:v>
                </c:pt>
                <c:pt idx="2">
                  <c:v>0.320963</c:v>
                </c:pt>
                <c:pt idx="3">
                  <c:v>0.426384</c:v>
                </c:pt>
                <c:pt idx="4">
                  <c:v>0.500036</c:v>
                </c:pt>
                <c:pt idx="5">
                  <c:v>0.526411</c:v>
                </c:pt>
                <c:pt idx="6">
                  <c:v>0.634244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"/>
        <c:minorUnit val="0.1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1877"/>
          <c:y val="0.149764"/>
          <c:w val="0.898099"/>
          <c:h val="0.655879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0.228890</c:v>
                </c:pt>
                <c:pt idx="1">
                  <c:v>0.248222</c:v>
                </c:pt>
                <c:pt idx="2">
                  <c:v>0.258908</c:v>
                </c:pt>
                <c:pt idx="3">
                  <c:v>0.289271</c:v>
                </c:pt>
                <c:pt idx="4">
                  <c:v>0.368425</c:v>
                </c:pt>
                <c:pt idx="5">
                  <c:v>0.458042</c:v>
                </c:pt>
                <c:pt idx="6">
                  <c:v>0.788240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0.273433</c:v>
                </c:pt>
                <c:pt idx="1">
                  <c:v>0.336243</c:v>
                </c:pt>
                <c:pt idx="2">
                  <c:v>0.397283</c:v>
                </c:pt>
                <c:pt idx="3">
                  <c:v>0.531377</c:v>
                </c:pt>
                <c:pt idx="4">
                  <c:v>0.538635</c:v>
                </c:pt>
                <c:pt idx="5">
                  <c:v>0.499066</c:v>
                </c:pt>
                <c:pt idx="6">
                  <c:v>0.645257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"/>
        <c:minorUnit val="0.1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1077"/>
          <c:y val="0.137733"/>
          <c:w val="0.899362"/>
          <c:h val="0.6825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0.097681</c:v>
                </c:pt>
                <c:pt idx="1">
                  <c:v>0.149350</c:v>
                </c:pt>
                <c:pt idx="2">
                  <c:v>0.175268</c:v>
                </c:pt>
                <c:pt idx="3">
                  <c:v>0.189633</c:v>
                </c:pt>
                <c:pt idx="4">
                  <c:v>0.245634</c:v>
                </c:pt>
                <c:pt idx="5">
                  <c:v>0.401638</c:v>
                </c:pt>
                <c:pt idx="6">
                  <c:v>0.499093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566"/>
          <c:y val="0.153846"/>
          <c:w val="0.903501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0.280952</c:v>
                </c:pt>
                <c:pt idx="1">
                  <c:v>0.418701</c:v>
                </c:pt>
                <c:pt idx="2">
                  <c:v>0.421994</c:v>
                </c:pt>
                <c:pt idx="3">
                  <c:v>0.451803</c:v>
                </c:pt>
                <c:pt idx="4">
                  <c:v>0.458666</c:v>
                </c:pt>
                <c:pt idx="5">
                  <c:v>0.558323</c:v>
                </c:pt>
                <c:pt idx="6">
                  <c:v>0.606422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75"/>
        <c:minorUnit val="0.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2159"/>
          <c:y val="0.133199"/>
          <c:w val="0.898066"/>
          <c:h val="0.69256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0.012162</c:v>
                </c:pt>
                <c:pt idx="1">
                  <c:v>0.017158</c:v>
                </c:pt>
                <c:pt idx="2">
                  <c:v>0.029143</c:v>
                </c:pt>
                <c:pt idx="3">
                  <c:v>0.050658</c:v>
                </c:pt>
                <c:pt idx="4">
                  <c:v>0.080808</c:v>
                </c:pt>
                <c:pt idx="5">
                  <c:v>0.140319</c:v>
                </c:pt>
                <c:pt idx="6">
                  <c:v>0.233846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782"/>
          <c:y val="0.136885"/>
          <c:w val="0.896236"/>
          <c:h val="0.68439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0.011983</c:v>
                </c:pt>
                <c:pt idx="1">
                  <c:v>0.022582</c:v>
                </c:pt>
                <c:pt idx="2">
                  <c:v>0.036737</c:v>
                </c:pt>
                <c:pt idx="3">
                  <c:v>0.057649</c:v>
                </c:pt>
                <c:pt idx="4">
                  <c:v>0.080349</c:v>
                </c:pt>
                <c:pt idx="5">
                  <c:v>0.115792</c:v>
                </c:pt>
                <c:pt idx="6">
                  <c:v>0.162494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782"/>
          <c:y val="0.140256"/>
          <c:w val="0.896236"/>
          <c:h val="0.67693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68D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68D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0.060651</c:v>
                </c:pt>
                <c:pt idx="1">
                  <c:v>0.066644</c:v>
                </c:pt>
                <c:pt idx="2">
                  <c:v>0.097910</c:v>
                </c:pt>
                <c:pt idx="3">
                  <c:v>0.113591</c:v>
                </c:pt>
                <c:pt idx="4">
                  <c:v>0.108121</c:v>
                </c:pt>
                <c:pt idx="5">
                  <c:v>0.128735</c:v>
                </c:pt>
                <c:pt idx="6">
                  <c:v>0.186870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1442"/>
          <c:y val="0.153846"/>
          <c:w val="0.89815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0.115953</c:v>
                </c:pt>
                <c:pt idx="1">
                  <c:v>0.131242</c:v>
                </c:pt>
                <c:pt idx="2">
                  <c:v>0.030498</c:v>
                </c:pt>
                <c:pt idx="3">
                  <c:v>0.040178</c:v>
                </c:pt>
                <c:pt idx="4">
                  <c:v>0.057231</c:v>
                </c:pt>
                <c:pt idx="5">
                  <c:v>0.089105</c:v>
                </c:pt>
                <c:pt idx="6">
                  <c:v>0.183794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5411"/>
          <c:y val="0.153846"/>
          <c:w val="0.897686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0.031870</c:v>
                </c:pt>
                <c:pt idx="1">
                  <c:v>0.039873</c:v>
                </c:pt>
                <c:pt idx="2">
                  <c:v>0.048159</c:v>
                </c:pt>
                <c:pt idx="3">
                  <c:v>0.061016</c:v>
                </c:pt>
                <c:pt idx="4">
                  <c:v>0.099917</c:v>
                </c:pt>
                <c:pt idx="5">
                  <c:v>0.199563</c:v>
                </c:pt>
                <c:pt idx="6">
                  <c:v>0.289018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0.001940</c:v>
                </c:pt>
                <c:pt idx="1">
                  <c:v>0.001548</c:v>
                </c:pt>
                <c:pt idx="2">
                  <c:v>0.009860</c:v>
                </c:pt>
                <c:pt idx="3">
                  <c:v>0.016005</c:v>
                </c:pt>
                <c:pt idx="4">
                  <c:v>0.034162</c:v>
                </c:pt>
                <c:pt idx="5">
                  <c:v>0.020592</c:v>
                </c:pt>
                <c:pt idx="6">
                  <c:v>0.267308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75785"/>
          <c:y val="0.153846"/>
          <c:w val="0.897643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0.724526</c:v>
                </c:pt>
                <c:pt idx="1">
                  <c:v>0.836956</c:v>
                </c:pt>
                <c:pt idx="2">
                  <c:v>0.880985</c:v>
                </c:pt>
                <c:pt idx="3">
                  <c:v>0.899836</c:v>
                </c:pt>
                <c:pt idx="4">
                  <c:v>0.912735</c:v>
                </c:pt>
                <c:pt idx="5">
                  <c:v>0.921638</c:v>
                </c:pt>
                <c:pt idx="6">
                  <c:v>0.838632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8611"/>
          <c:y val="0.148245"/>
          <c:w val="0.898481"/>
          <c:h val="0.65924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0.357891</c:v>
                </c:pt>
                <c:pt idx="1">
                  <c:v>0.502986</c:v>
                </c:pt>
                <c:pt idx="2">
                  <c:v>0.629376</c:v>
                </c:pt>
                <c:pt idx="3">
                  <c:v>0.741665</c:v>
                </c:pt>
                <c:pt idx="4">
                  <c:v>0.806074</c:v>
                </c:pt>
                <c:pt idx="5">
                  <c:v>0.813532</c:v>
                </c:pt>
                <c:pt idx="6">
                  <c:v>0.746776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25"/>
        <c:minorUnit val="0.1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905801"/>
          <c:y val="0.153671"/>
          <c:w val="0.894134"/>
          <c:h val="0.647228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0.775949</c:v>
                </c:pt>
                <c:pt idx="1">
                  <c:v>0.804435</c:v>
                </c:pt>
                <c:pt idx="2">
                  <c:v>0.754129</c:v>
                </c:pt>
                <c:pt idx="3">
                  <c:v>0.881796</c:v>
                </c:pt>
                <c:pt idx="4">
                  <c:v>0.879320</c:v>
                </c:pt>
                <c:pt idx="5">
                  <c:v>0.854068</c:v>
                </c:pt>
                <c:pt idx="6">
                  <c:v>0.715097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25"/>
        <c:minorUnit val="0.1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0503"/>
          <c:y val="0.153846"/>
          <c:w val="0.899429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0.780550</c:v>
                </c:pt>
                <c:pt idx="1">
                  <c:v>0.844396</c:v>
                </c:pt>
                <c:pt idx="2">
                  <c:v>0.860100</c:v>
                </c:pt>
                <c:pt idx="3">
                  <c:v>0.896502</c:v>
                </c:pt>
                <c:pt idx="4">
                  <c:v>0.919502</c:v>
                </c:pt>
                <c:pt idx="5">
                  <c:v>0.928779</c:v>
                </c:pt>
                <c:pt idx="6">
                  <c:v>0.873871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7138"/>
          <c:y val="0.12743"/>
          <c:w val="0.898653"/>
          <c:h val="0.70533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0.021058</c:v>
                </c:pt>
                <c:pt idx="1">
                  <c:v>0.051367</c:v>
                </c:pt>
                <c:pt idx="2">
                  <c:v>0.095523</c:v>
                </c:pt>
                <c:pt idx="3">
                  <c:v>0.184948</c:v>
                </c:pt>
                <c:pt idx="4">
                  <c:v>0.214738</c:v>
                </c:pt>
                <c:pt idx="5">
                  <c:v>0.182184</c:v>
                </c:pt>
                <c:pt idx="6">
                  <c:v>0.035407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75"/>
        <c:minorUnit val="0.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0029"/>
          <c:y val="0.153846"/>
          <c:w val="0.900653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0.000000</c:v>
                </c:pt>
                <c:pt idx="1">
                  <c:v>0.002614</c:v>
                </c:pt>
                <c:pt idx="2">
                  <c:v>0.362789</c:v>
                </c:pt>
                <c:pt idx="3">
                  <c:v>0.463585</c:v>
                </c:pt>
                <c:pt idx="4">
                  <c:v>0.552376</c:v>
                </c:pt>
                <c:pt idx="5">
                  <c:v>0.491960</c:v>
                </c:pt>
                <c:pt idx="6">
                  <c:v>0.051862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75"/>
        <c:minorUnit val="0.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2554"/>
          <c:y val="0.152735"/>
          <c:w val="0.900358"/>
          <c:h val="0.649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0.408820</c:v>
                </c:pt>
                <c:pt idx="1">
                  <c:v>0.513803</c:v>
                </c:pt>
                <c:pt idx="2">
                  <c:v>0.573331</c:v>
                </c:pt>
                <c:pt idx="3">
                  <c:v>0.562122</c:v>
                </c:pt>
                <c:pt idx="4">
                  <c:v>0.640600</c:v>
                </c:pt>
                <c:pt idx="5">
                  <c:v>0.668676</c:v>
                </c:pt>
                <c:pt idx="6">
                  <c:v>0.338503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0.000106</c:v>
                </c:pt>
                <c:pt idx="1">
                  <c:v>0.000153</c:v>
                </c:pt>
                <c:pt idx="2">
                  <c:v>0.060845</c:v>
                </c:pt>
                <c:pt idx="3">
                  <c:v>0.160106</c:v>
                </c:pt>
                <c:pt idx="4">
                  <c:v>0.241798</c:v>
                </c:pt>
                <c:pt idx="5">
                  <c:v>0.248099</c:v>
                </c:pt>
                <c:pt idx="6">
                  <c:v>0.065573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75"/>
        <c:minorUnit val="0.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0474"/>
          <c:y val="0.144478"/>
          <c:w val="0.899432"/>
          <c:h val="0.667584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0.125088</c:v>
                </c:pt>
                <c:pt idx="1">
                  <c:v>0.197500</c:v>
                </c:pt>
                <c:pt idx="2">
                  <c:v>0.244781</c:v>
                </c:pt>
                <c:pt idx="3">
                  <c:v>0.314161</c:v>
                </c:pt>
                <c:pt idx="4">
                  <c:v>0.388863</c:v>
                </c:pt>
                <c:pt idx="5">
                  <c:v>0.517887</c:v>
                </c:pt>
                <c:pt idx="6">
                  <c:v>0.661599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75"/>
        <c:minorUnit val="0.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9037"/>
          <c:y val="0.134611"/>
          <c:w val="0.896094"/>
          <c:h val="0.68943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0.071664</c:v>
                </c:pt>
                <c:pt idx="1">
                  <c:v>0.134974</c:v>
                </c:pt>
                <c:pt idx="2">
                  <c:v>0.189194</c:v>
                </c:pt>
                <c:pt idx="3">
                  <c:v>0.259036</c:v>
                </c:pt>
                <c:pt idx="4">
                  <c:v>0.323351</c:v>
                </c:pt>
                <c:pt idx="5">
                  <c:v>0.396336</c:v>
                </c:pt>
                <c:pt idx="6">
                  <c:v>0.494675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6891"/>
          <c:y val="0.153846"/>
          <c:w val="0.9010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0.046026</c:v>
                </c:pt>
                <c:pt idx="1">
                  <c:v>0.080340</c:v>
                </c:pt>
                <c:pt idx="2">
                  <c:v>0.102811</c:v>
                </c:pt>
                <c:pt idx="3">
                  <c:v>0.163108</c:v>
                </c:pt>
                <c:pt idx="4">
                  <c:v>0.234813</c:v>
                </c:pt>
                <c:pt idx="5">
                  <c:v>0.339164</c:v>
                </c:pt>
                <c:pt idx="6">
                  <c:v>0.437947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25"/>
        <c:minorUnit val="0.0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0388"/>
          <c:y val="0.14578"/>
          <c:w val="0.904117"/>
          <c:h val="0.66470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0.026300</c:v>
                </c:pt>
                <c:pt idx="1">
                  <c:v>0.053415</c:v>
                </c:pt>
                <c:pt idx="2">
                  <c:v>0.086857</c:v>
                </c:pt>
                <c:pt idx="3">
                  <c:v>0.128295</c:v>
                </c:pt>
                <c:pt idx="4">
                  <c:v>0.193867</c:v>
                </c:pt>
                <c:pt idx="5">
                  <c:v>0.278552</c:v>
                </c:pt>
                <c:pt idx="6">
                  <c:v>0.336250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1"/>
        <c:minorUnit val="0.0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90294"/>
          <c:y val="0.153846"/>
          <c:w val="0.895947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0.053907</c:v>
                </c:pt>
                <c:pt idx="1">
                  <c:v>0.064682</c:v>
                </c:pt>
                <c:pt idx="2">
                  <c:v>0.108662</c:v>
                </c:pt>
                <c:pt idx="3">
                  <c:v>0.149312</c:v>
                </c:pt>
                <c:pt idx="4">
                  <c:v>0.188958</c:v>
                </c:pt>
                <c:pt idx="5">
                  <c:v>0.236098</c:v>
                </c:pt>
                <c:pt idx="6">
                  <c:v>0.121614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9079"/>
          <c:y val="0.153846"/>
          <c:w val="0.896089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0.038405</c:v>
                </c:pt>
                <c:pt idx="1">
                  <c:v>0.026275</c:v>
                </c:pt>
                <c:pt idx="2">
                  <c:v>0.036887</c:v>
                </c:pt>
                <c:pt idx="3">
                  <c:v>0.051216</c:v>
                </c:pt>
                <c:pt idx="4">
                  <c:v>0.095903</c:v>
                </c:pt>
                <c:pt idx="5">
                  <c:v>0.136248</c:v>
                </c:pt>
                <c:pt idx="6">
                  <c:v>0.033352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44196"/>
          <c:y val="0.153846"/>
          <c:w val="0.901335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0.033880</c:v>
                </c:pt>
                <c:pt idx="1">
                  <c:v>0.052716</c:v>
                </c:pt>
                <c:pt idx="2">
                  <c:v>0.074175</c:v>
                </c:pt>
                <c:pt idx="3">
                  <c:v>0.098060</c:v>
                </c:pt>
                <c:pt idx="4">
                  <c:v>0.174779</c:v>
                </c:pt>
                <c:pt idx="5">
                  <c:v>0.290397</c:v>
                </c:pt>
                <c:pt idx="6">
                  <c:v>0.253471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0.001549</c:v>
                </c:pt>
                <c:pt idx="1">
                  <c:v>0.001200</c:v>
                </c:pt>
                <c:pt idx="2">
                  <c:v>0.015223</c:v>
                </c:pt>
                <c:pt idx="3">
                  <c:v>0.035921</c:v>
                </c:pt>
                <c:pt idx="4">
                  <c:v>0.090859</c:v>
                </c:pt>
                <c:pt idx="5">
                  <c:v>0.059202</c:v>
                </c:pt>
                <c:pt idx="6">
                  <c:v>0.090078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9348"/>
          <c:y val="0.140256"/>
          <c:w val="0.90307"/>
          <c:h val="0.67693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0.087140</c:v>
                </c:pt>
                <c:pt idx="1">
                  <c:v>0.118600</c:v>
                </c:pt>
                <c:pt idx="2">
                  <c:v>0.146734</c:v>
                </c:pt>
                <c:pt idx="3">
                  <c:v>0.156051</c:v>
                </c:pt>
                <c:pt idx="4">
                  <c:v>0.166884</c:v>
                </c:pt>
                <c:pt idx="5">
                  <c:v>0.183906</c:v>
                </c:pt>
                <c:pt idx="6">
                  <c:v>0.213279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75"/>
        <c:minorUnit val="0.03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10935"/>
          <c:y val="0.133212"/>
          <c:w val="0.905222"/>
          <c:h val="0.69253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92D05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0.011053</c:v>
                </c:pt>
                <c:pt idx="1">
                  <c:v>0.018655</c:v>
                </c:pt>
                <c:pt idx="2">
                  <c:v>0.027673</c:v>
                </c:pt>
                <c:pt idx="3">
                  <c:v>0.041149</c:v>
                </c:pt>
                <c:pt idx="4">
                  <c:v>0.046308</c:v>
                </c:pt>
                <c:pt idx="5">
                  <c:v>0.047695</c:v>
                </c:pt>
                <c:pt idx="6">
                  <c:v>0.053938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0058"/>
          <c:y val="0.150061"/>
          <c:w val="0.900649"/>
          <c:h val="0.65522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0.003774</c:v>
                </c:pt>
                <c:pt idx="1">
                  <c:v>0.006188</c:v>
                </c:pt>
                <c:pt idx="2">
                  <c:v>0.009912</c:v>
                </c:pt>
                <c:pt idx="3">
                  <c:v>0.023011</c:v>
                </c:pt>
                <c:pt idx="4">
                  <c:v>0.027759</c:v>
                </c:pt>
                <c:pt idx="5">
                  <c:v>0.030852</c:v>
                </c:pt>
                <c:pt idx="6">
                  <c:v>0.036716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39805"/>
          <c:y val="0.140256"/>
          <c:w val="0.901848"/>
          <c:h val="0.676933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0.006873</c:v>
                </c:pt>
                <c:pt idx="1">
                  <c:v>0.013189</c:v>
                </c:pt>
                <c:pt idx="2">
                  <c:v>0.021232</c:v>
                </c:pt>
                <c:pt idx="3">
                  <c:v>0.029816</c:v>
                </c:pt>
                <c:pt idx="4">
                  <c:v>0.034156</c:v>
                </c:pt>
                <c:pt idx="5">
                  <c:v>0.032579</c:v>
                </c:pt>
                <c:pt idx="6">
                  <c:v>0.037752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50975"/>
          <c:y val="0.153846"/>
          <c:w val="0.900542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FF93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FF93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0.010441</c:v>
                </c:pt>
                <c:pt idx="1">
                  <c:v>0.010558</c:v>
                </c:pt>
                <c:pt idx="2">
                  <c:v>0.013025</c:v>
                </c:pt>
                <c:pt idx="3">
                  <c:v>0.014961</c:v>
                </c:pt>
                <c:pt idx="4">
                  <c:v>0.019111</c:v>
                </c:pt>
                <c:pt idx="5">
                  <c:v>0.049441</c:v>
                </c:pt>
                <c:pt idx="6">
                  <c:v>0.084605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225"/>
        <c:minorUnit val="0.01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29157"/>
          <c:y val="0.153548"/>
          <c:w val="0.903092"/>
          <c:h val="0.64750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0.012555</c:v>
                </c:pt>
                <c:pt idx="1">
                  <c:v>0.017124</c:v>
                </c:pt>
                <c:pt idx="2">
                  <c:v>0.005700</c:v>
                </c:pt>
                <c:pt idx="3">
                  <c:v>0.006891</c:v>
                </c:pt>
                <c:pt idx="4">
                  <c:v>0.009282</c:v>
                </c:pt>
                <c:pt idx="5">
                  <c:v>0.011674</c:v>
                </c:pt>
                <c:pt idx="6">
                  <c:v>0.020409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60681"/>
          <c:y val="0.153846"/>
          <c:w val="0.899408"/>
          <c:h val="0.646841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tx>
          <c:spPr>
            <a:noFill/>
            <a:ln w="28575" cap="rnd">
              <a:solidFill>
                <a:srgbClr val="80808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0.007491</c:v>
                </c:pt>
                <c:pt idx="1">
                  <c:v>0.011636</c:v>
                </c:pt>
                <c:pt idx="2">
                  <c:v>0.016088</c:v>
                </c:pt>
                <c:pt idx="3">
                  <c:v>0.020099</c:v>
                </c:pt>
                <c:pt idx="4">
                  <c:v>0.033516</c:v>
                </c:pt>
                <c:pt idx="5">
                  <c:v>0.053355</c:v>
                </c:pt>
                <c:pt idx="6">
                  <c:v>0.069750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Champions</c:v>
                </c:pt>
              </c:strCache>
            </c:strRef>
          </c:tx>
          <c:spPr>
            <a:noFill/>
            <a:ln w="28575" cap="rnd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none"/>
            <c:size val="4"/>
            <c:spPr>
              <a:noFill/>
              <a:ln w="28575" cap="rnd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0%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2yr</c:v>
                </c:pt>
                <c:pt idx="5">
                  <c:v>5yr</c:v>
                </c:pt>
                <c:pt idx="6">
                  <c:v>&gt;5yr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0.000653</c:v>
                </c:pt>
                <c:pt idx="1">
                  <c:v>0.000688</c:v>
                </c:pt>
                <c:pt idx="2">
                  <c:v>0.001138</c:v>
                </c:pt>
                <c:pt idx="3">
                  <c:v>0.003686</c:v>
                </c:pt>
                <c:pt idx="4">
                  <c:v>0.005481</c:v>
                </c:pt>
                <c:pt idx="5">
                  <c:v>0.011859</c:v>
                </c:pt>
                <c:pt idx="6">
                  <c:v>0.044959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595959"/>
                </a:solidFill>
                <a:latin typeface="Open Sans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600" u="none">
                <a:solidFill>
                  <a:srgbClr val="000000"/>
                </a:solidFill>
                <a:latin typeface="Open Sans"/>
              </a:defRPr>
            </a:pPr>
          </a:p>
        </c:txPr>
        <c:crossAx val="2094734552"/>
        <c:crosses val="autoZero"/>
        <c:crossBetween val="between"/>
        <c:majorUnit val="0.0175"/>
        <c:minorUnit val="0.0087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6566"/>
          <c:y val="0.0930437"/>
          <c:w val="0.979343"/>
          <c:h val="0.7675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cluster1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3923.000000</c:v>
                </c:pt>
                <c:pt idx="1">
                  <c:v>24152.000000</c:v>
                </c:pt>
                <c:pt idx="2">
                  <c:v>12028.000000</c:v>
                </c:pt>
                <c:pt idx="3">
                  <c:v>45372.000000</c:v>
                </c:pt>
                <c:pt idx="4">
                  <c:v>65394.000000</c:v>
                </c:pt>
                <c:pt idx="5">
                  <c:v>15812.000000</c:v>
                </c:pt>
                <c:pt idx="6">
                  <c:v>12872.000000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49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7500"/>
        <c:minorUnit val="8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5555"/>
          <c:y val="0.0893007"/>
          <c:w val="0.979445"/>
          <c:h val="0.7764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cluster3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2612.000000</c:v>
                </c:pt>
                <c:pt idx="1">
                  <c:v>9774.000000</c:v>
                </c:pt>
                <c:pt idx="2">
                  <c:v>3943.000000</c:v>
                </c:pt>
                <c:pt idx="3">
                  <c:v>29223.000000</c:v>
                </c:pt>
                <c:pt idx="4">
                  <c:v>56842.000000</c:v>
                </c:pt>
                <c:pt idx="5">
                  <c:v>10778.000000</c:v>
                </c:pt>
                <c:pt idx="6">
                  <c:v>5974.000000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27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5000"/>
        <c:minorUnit val="7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5555"/>
          <c:y val="0.0895318"/>
          <c:w val="0.979445"/>
          <c:h val="0.7922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cluster6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2337.000000</c:v>
                </c:pt>
                <c:pt idx="1">
                  <c:v>4958.000000</c:v>
                </c:pt>
                <c:pt idx="2">
                  <c:v>2350.000000</c:v>
                </c:pt>
                <c:pt idx="3">
                  <c:v>12609.000000</c:v>
                </c:pt>
                <c:pt idx="4">
                  <c:v>32011.000000</c:v>
                </c:pt>
                <c:pt idx="5">
                  <c:v>9859.000000</c:v>
                </c:pt>
                <c:pt idx="6">
                  <c:v>3862.000000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72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0000"/>
        <c:minorUnit val="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5555"/>
          <c:y val="0.0870897"/>
          <c:w val="0.979445"/>
          <c:h val="0.7975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cluster5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1665.000000</c:v>
                </c:pt>
                <c:pt idx="1">
                  <c:v>3871.000000</c:v>
                </c:pt>
                <c:pt idx="2">
                  <c:v>1656.000000</c:v>
                </c:pt>
                <c:pt idx="3">
                  <c:v>1924.000000</c:v>
                </c:pt>
                <c:pt idx="4">
                  <c:v>17970.000000</c:v>
                </c:pt>
                <c:pt idx="5">
                  <c:v>6032.000000</c:v>
                </c:pt>
                <c:pt idx="6">
                  <c:v>603.000000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50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0000"/>
        <c:minorUnit val="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6938"/>
          <c:y val="0.0888941"/>
          <c:w val="0.979306"/>
          <c:h val="0.7936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cluster2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789.000000</c:v>
                </c:pt>
                <c:pt idx="1">
                  <c:v>3075.000000</c:v>
                </c:pt>
                <c:pt idx="2">
                  <c:v>1546.000000</c:v>
                </c:pt>
                <c:pt idx="3">
                  <c:v>6075.000000</c:v>
                </c:pt>
                <c:pt idx="4">
                  <c:v>28345.000000</c:v>
                </c:pt>
                <c:pt idx="5">
                  <c:v>19429.000000</c:v>
                </c:pt>
                <c:pt idx="6">
                  <c:v>9807.000000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37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0000"/>
        <c:minorUnit val="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7968"/>
          <c:y val="0.0911413"/>
          <c:w val="0.979203"/>
          <c:h val="0.7887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cluster4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645.000000</c:v>
                </c:pt>
                <c:pt idx="1">
                  <c:v>1761.000000</c:v>
                </c:pt>
                <c:pt idx="2">
                  <c:v>876.000000</c:v>
                </c:pt>
                <c:pt idx="3">
                  <c:v>1823.000000</c:v>
                </c:pt>
                <c:pt idx="4">
                  <c:v>11376.000000</c:v>
                </c:pt>
                <c:pt idx="5">
                  <c:v>2909.000000</c:v>
                </c:pt>
                <c:pt idx="6">
                  <c:v>2607.000000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29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0000"/>
        <c:minorUnit val="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155555"/>
          <c:y val="0.0865442"/>
          <c:w val="0.979445"/>
          <c:h val="0.7987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cluster0</c:v>
                </c:pt>
              </c:strCache>
            </c:strRef>
          </c:tx>
          <c:spPr>
            <a:solidFill>
              <a:srgbClr val="F68D00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Sheet1!$B$2:$H$2</c:f>
              <c:numCache>
                <c:ptCount val="7"/>
                <c:pt idx="0">
                  <c:v>692.000000</c:v>
                </c:pt>
                <c:pt idx="1">
                  <c:v>1886.000000</c:v>
                </c:pt>
                <c:pt idx="2">
                  <c:v>1187.000000</c:v>
                </c:pt>
                <c:pt idx="3">
                  <c:v>5441.000000</c:v>
                </c:pt>
                <c:pt idx="4">
                  <c:v>14473.000000</c:v>
                </c:pt>
                <c:pt idx="5">
                  <c:v>3326.000000</c:v>
                </c:pt>
                <c:pt idx="6">
                  <c:v>6095.000000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Sheet1!$B$1:$H$1</c:f>
              <c:strCache>
                <c:ptCount val="7"/>
                <c:pt idx="0">
                  <c:v>Mobile Prepaid</c:v>
                </c:pt>
                <c:pt idx="1">
                  <c:v>Retail &amp; Shopping</c:v>
                </c:pt>
                <c:pt idx="2">
                  <c:v>Food</c:v>
                </c:pt>
                <c:pt idx="3">
                  <c:v>Wallet In</c:v>
                </c:pt>
                <c:pt idx="4">
                  <c:v>Financial Service</c:v>
                </c:pt>
                <c:pt idx="5">
                  <c:v>Utility</c:v>
                </c:pt>
                <c:pt idx="6">
                  <c:v>Online</c:v>
                </c:pt>
              </c:strCache>
            </c:strRef>
          </c:cat>
          <c:val>
            <c:numRef>
              <c:f>Sheet1!$B$3:$H$3</c:f>
              <c:numCache>
                <c:ptCount val="7"/>
                <c:pt idx="0">
                  <c:v>2096.916694</c:v>
                </c:pt>
                <c:pt idx="1">
                  <c:v>8932.101996</c:v>
                </c:pt>
                <c:pt idx="2">
                  <c:v>4452.274745</c:v>
                </c:pt>
                <c:pt idx="3">
                  <c:v>21902.356576</c:v>
                </c:pt>
                <c:pt idx="4">
                  <c:v>39958.580545</c:v>
                </c:pt>
                <c:pt idx="5">
                  <c:v>11062.096868</c:v>
                </c:pt>
                <c:pt idx="6">
                  <c:v>6238.244747</c:v>
                </c:pt>
              </c:numCache>
            </c:numRef>
          </c:val>
        </c:ser>
        <c:gapWidth val="126"/>
        <c:overlap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numFmt formatCode="&quot; &quot;#,##0&quot; &quot;;&quot; '-&quot;#,##0&quot; &quot;;&quot; '-&quot;??&quot; &quot;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000000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10000"/>
        <c:minorUnit val="5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882756"/>
          <c:y val="0.100329"/>
          <c:w val="0.874777"/>
          <c:h val="0.730674"/>
        </c:manualLayout>
      </c:layout>
      <c:bubbl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Count_Active_3M_with_p2p%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04040"/>
                    </a:solidFill>
                    <a:latin typeface="Open Sans"/>
                  </a:defRPr>
                </a:pPr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0"/>
            <c:showLeaderLines val="0"/>
          </c:dLbls>
          <c:xVal>
            <c:numRef>
              <c:f>Sheet1!$B$2:$H$2</c:f>
              <c:numCache>
                <c:ptCount val="7"/>
                <c:pt idx="0">
                  <c:v>359759.000000</c:v>
                </c:pt>
                <c:pt idx="1">
                  <c:v>223869.000000</c:v>
                </c:pt>
                <c:pt idx="2">
                  <c:v>80916.000000</c:v>
                </c:pt>
                <c:pt idx="3">
                  <c:v>54222.000000</c:v>
                </c:pt>
                <c:pt idx="4">
                  <c:v>23012.000000</c:v>
                </c:pt>
                <c:pt idx="5">
                  <c:v>12146.000000</c:v>
                </c:pt>
                <c:pt idx="6">
                  <c:v>8085.000000</c:v>
                </c:pt>
              </c:numCache>
            </c:numRef>
          </c:xVal>
          <c:yVal>
            <c:numRef>
              <c:f>Sheet1!$B$3:$H$3</c:f>
              <c:numCache>
                <c:ptCount val="7"/>
                <c:pt idx="0">
                  <c:v>1.000000</c:v>
                </c:pt>
                <c:pt idx="1">
                  <c:v>0.950000</c:v>
                </c:pt>
                <c:pt idx="2">
                  <c:v>0.920000</c:v>
                </c:pt>
                <c:pt idx="3">
                  <c:v>0.970000</c:v>
                </c:pt>
                <c:pt idx="4">
                  <c:v>0.990000</c:v>
                </c:pt>
                <c:pt idx="5">
                  <c:v>0.120000</c:v>
                </c:pt>
                <c:pt idx="6">
                  <c:v>0.080000</c:v>
                </c:pt>
              </c:numCache>
            </c:numRef>
          </c:yVal>
          <c:bubbleSize>
            <c:numRef>
              <c:f>Sheet1!$B$4:$H$4</c:f>
              <c:numCache>
                <c:ptCount val="7"/>
                <c:pt idx="0">
                  <c:v>0.100000</c:v>
                </c:pt>
                <c:pt idx="1">
                  <c:v>0.070000</c:v>
                </c:pt>
                <c:pt idx="2">
                  <c:v>0.130000</c:v>
                </c:pt>
                <c:pt idx="3">
                  <c:v>0.200000</c:v>
                </c:pt>
                <c:pt idx="4">
                  <c:v>0.120000</c:v>
                </c:pt>
                <c:pt idx="5">
                  <c:v>0.200000</c:v>
                </c:pt>
                <c:pt idx="6">
                  <c:v>0.190000</c:v>
                </c:pt>
              </c:numCache>
            </c:numRef>
          </c:bubbleSize>
          <c:bubble3D val="0"/>
        </c:ser>
        <c:bubbleScale val="100"/>
        <c:showNegBubbles val="0"/>
        <c:axId val="2094734552"/>
        <c:axId val="2094734553"/>
      </c:bubbleChart>
      <c:val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1" i="0" strike="noStrike" sz="900" u="none">
                    <a:solidFill>
                      <a:srgbClr val="FF9300"/>
                    </a:solidFill>
                    <a:latin typeface="Open Sans"/>
                  </a:defRPr>
                </a:pPr>
                <a:r>
                  <a:rPr b="1" i="0" strike="noStrike" sz="900" u="none">
                    <a:solidFill>
                      <a:srgbClr val="FF9300"/>
                    </a:solidFill>
                    <a:latin typeface="Open Sans"/>
                  </a:rPr>
                  <a:t>Monetary (M)
Average Transaction Amount in the Last 12 Months</a:t>
                </a:r>
              </a:p>
            </c:rich>
          </c:tx>
          <c:layout/>
          <c:overlay val="1"/>
        </c:title>
        <c:numFmt formatCode="#,##0" sourceLinked="0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3"/>
        <c:crosses val="autoZero"/>
        <c:crossBetween val="between"/>
        <c:majorUnit val="100000"/>
        <c:minorUnit val="50000"/>
      </c:val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b="1" i="0" strike="noStrike" sz="900" u="none">
                    <a:solidFill>
                      <a:srgbClr val="00B0F0"/>
                    </a:solidFill>
                    <a:latin typeface="Open Sans"/>
                  </a:defRPr>
                </a:pPr>
                <a:r>
                  <a:rPr b="1" i="0" strike="noStrike" sz="900" u="none">
                    <a:solidFill>
                      <a:srgbClr val="00B0F0"/>
                    </a:solidFill>
                    <a:latin typeface="Open Sans"/>
                  </a:rPr>
                  <a:t>Recency (R)
%Active in the last 3 Months</a:t>
                </a:r>
              </a:p>
            </c:rich>
          </c:tx>
          <c:layout/>
          <c:overlay val="1"/>
        </c:title>
        <c:numFmt formatCode="0%" sourceLinked="0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595959"/>
                </a:solidFill>
                <a:latin typeface="Arial"/>
              </a:defRPr>
            </a:pPr>
          </a:p>
        </c:txPr>
        <c:crossAx val="2094734552"/>
        <c:crosses val="autoZero"/>
        <c:crossBetween val="between"/>
        <c:majorUnit val="0.25"/>
        <c:minorUnit val="0.1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" name="Shape 7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3" name="Shape 2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pPr/>
            <a:r>
              <a:t>Update CL of Low and Low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2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7" name="Shape 2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lvl1pPr>
          </a:lstStyle>
          <a:p>
            <a:pPr/>
            <a:r>
              <a:t>Update CL of Low and Low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4" name="Shape 2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Champion – High : food, mobile prepaid, gas &amp; petrol, wallet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Attention seeker : Mobile prepaid, food, Gas &amp; Petrol, Wallet, Financial Services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Potentialist – Utility(15% active), financial services (14%), Online(59% active), food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Napster – Online (47%), Mobile prepaid, food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Hibernator – Online (34%), Mobile prepaid, KYC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7" name="Shape 3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Champion – High : food, mobile prepaid, gas &amp; petrol, wallet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Attention seeker : Mobile prepaid, food, Gas &amp; Petrol, Wallet, Financial Services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Potentialist – Utility(15% active), financial services (14%), Online(59% active), food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Napster – Online (47%), Mobile prepaid, food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Hibernator – Online (34%), Mobile prepaid, KYC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4" name="Shape 3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Attention-seeker/ napster: high spend than avg. for customer with vintage 6m to 2 yr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Loyalist- drop in rent% after 12m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Potentilist- drop in rent% after 12m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1" name="Shape 4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Attention-seeker/ napster: high spend than avg. for customer with vintage 6m to 2 yr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Loyalist- drop in rent% after 12m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Potentilist- drop in rent% after 12m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6" name="Shape 4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Attention-seeker/ napster: high spend than avg. for customer with vintage 6m to 2 yr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Loyalist- drop in rent% after 12m</a:t>
            </a:r>
          </a:p>
          <a:p>
            <a:pPr marL="457200" indent="-298450">
              <a:buClr>
                <a:srgbClr val="000000"/>
              </a:buClr>
              <a:buSzPts val="1100"/>
              <a:buFont typeface="Arial"/>
              <a:buChar char="●"/>
              <a:defRPr sz="1100"/>
            </a:pPr>
            <a:r>
              <a:t>Potentilist- drop in rent% after 12m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26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Box 13"/>
          <p:cNvSpPr txBox="1"/>
          <p:nvPr/>
        </p:nvSpPr>
        <p:spPr>
          <a:xfrm>
            <a:off x="72428" y="4989615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28" name="Google Shape;114;p18" descr="Google Shape;114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" y="4873752"/>
            <a:ext cx="8891580" cy="273417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itle Text"/>
          <p:cNvSpPr txBox="1"/>
          <p:nvPr>
            <p:ph type="title"/>
          </p:nvPr>
        </p:nvSpPr>
        <p:spPr>
          <a:xfrm>
            <a:off x="457200" y="400050"/>
            <a:ext cx="8229600" cy="742801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25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xfrm>
            <a:off x="8736383" y="4636127"/>
            <a:ext cx="306021" cy="289254"/>
          </a:xfrm>
          <a:prstGeom prst="rect">
            <a:avLst/>
          </a:prstGeom>
        </p:spPr>
        <p:txBody>
          <a:bodyPr lIns="33649" tIns="33649" rIns="33649" bIns="33649" anchor="t"/>
          <a:lstStyle>
            <a:lvl1pPr algn="r">
              <a:defRPr sz="16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8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Box 13"/>
          <p:cNvSpPr txBox="1"/>
          <p:nvPr/>
        </p:nvSpPr>
        <p:spPr>
          <a:xfrm>
            <a:off x="72428" y="4989615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40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xfrm>
            <a:off x="8472458" y="4740402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50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Box 13"/>
          <p:cNvSpPr txBox="1"/>
          <p:nvPr/>
        </p:nvSpPr>
        <p:spPr>
          <a:xfrm>
            <a:off x="72428" y="4989615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5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0" sz="3200"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xfrm>
            <a:off x="8472458" y="4740402"/>
            <a:ext cx="259490" cy="23923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62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Box 13"/>
          <p:cNvSpPr txBox="1"/>
          <p:nvPr/>
        </p:nvSpPr>
        <p:spPr>
          <a:xfrm>
            <a:off x="72428" y="4989615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64" name="Google Shape;89;p13"/>
          <p:cNvSpPr/>
          <p:nvPr/>
        </p:nvSpPr>
        <p:spPr>
          <a:xfrm>
            <a:off x="578924" y="1844516"/>
            <a:ext cx="1015801" cy="1"/>
          </a:xfrm>
          <a:prstGeom prst="line">
            <a:avLst/>
          </a:prstGeom>
          <a:ln w="66675">
            <a:solidFill>
              <a:srgbClr val="FF93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8990865" y="4873185"/>
            <a:ext cx="127001" cy="127001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600">
                <a:solidFill>
                  <a:srgbClr val="333333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/>
          <p:nvPr/>
        </p:nvSpPr>
        <p:spPr>
          <a:xfrm>
            <a:off x="0" y="165588"/>
            <a:ext cx="9144000" cy="1713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</a:p>
        </p:txBody>
      </p:sp>
      <p:pic>
        <p:nvPicPr>
          <p:cNvPr id="3" name="Google Shape;12;p1" descr="Google Shape;12;p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13"/>
          <p:cNvSpPr txBox="1"/>
          <p:nvPr/>
        </p:nvSpPr>
        <p:spPr>
          <a:xfrm>
            <a:off x="72428" y="4989615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pic>
        <p:nvPicPr>
          <p:cNvPr id="5" name="Google Shape;17;p3" descr="Google Shape;17;p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873752"/>
            <a:ext cx="9144000" cy="281179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457201" y="400050"/>
            <a:ext cx="8229601" cy="74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457201" y="1200150"/>
            <a:ext cx="8229601" cy="365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8" y="4989615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*Strictly Internal and Confidential</a:t>
            </a:r>
            <a:r>
              <a:rPr sz="700"/>
              <a:t> </a:t>
            </a:r>
          </a:p>
        </p:txBody>
      </p:sp>
      <p:sp>
        <p:nvSpPr>
          <p:cNvPr id="9" name="Slide Number"/>
          <p:cNvSpPr txBox="1"/>
          <p:nvPr>
            <p:ph type="sldNum" sz="quarter" idx="2"/>
          </p:nvPr>
        </p:nvSpPr>
        <p:spPr>
          <a:xfrm>
            <a:off x="65532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>
              <a:defRPr sz="11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700" u="none">
          <a:solidFill>
            <a:srgbClr val="242852"/>
          </a:solidFill>
          <a:uFillTx/>
          <a:latin typeface="Open Sans Semibold"/>
          <a:ea typeface="Open Sans Semibold"/>
          <a:cs typeface="Open Sans Semibold"/>
          <a:sym typeface="Open Sans Semibold"/>
        </a:defRPr>
      </a:lvl9pPr>
    </p:titleStyle>
    <p:bodyStyle>
      <a:lvl1pPr marL="457165" marR="0" indent="-358113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1pPr>
      <a:lvl2pPr marL="981636" marR="0" indent="-403831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2pPr>
      <a:lvl3pPr marL="1481979" marR="0" indent="-441926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3pPr>
      <a:lvl4pPr marL="1993751" marR="0" indent="-495263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4pPr>
      <a:lvl5pPr marL="2512597" marR="0" indent="-544244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5pPr>
      <a:lvl6pPr marL="3033118" marR="0" indent="-63299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6pPr>
      <a:lvl7pPr marL="3490284" marR="0" indent="-63299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7pPr>
      <a:lvl8pPr marL="3947450" marR="0" indent="-63299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8pPr>
      <a:lvl9pPr marL="4404615" marR="0" indent="-632998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chemeClr val="accent1"/>
        </a:buClr>
        <a:buSzPts val="24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Open Sans Light"/>
          <a:ea typeface="Open Sans Light"/>
          <a:cs typeface="Open Sans Light"/>
          <a:sym typeface="Open Sans Ligh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Relationship Id="rId11" Type="http://schemas.openxmlformats.org/officeDocument/2006/relationships/chart" Target="../charts/chart9.xml"/><Relationship Id="rId12" Type="http://schemas.openxmlformats.org/officeDocument/2006/relationships/chart" Target="../charts/chart10.xml"/><Relationship Id="rId13" Type="http://schemas.openxmlformats.org/officeDocument/2006/relationships/chart" Target="../charts/chart11.xml"/><Relationship Id="rId14" Type="http://schemas.openxmlformats.org/officeDocument/2006/relationships/chart" Target="../charts/chart12.xml"/><Relationship Id="rId15" Type="http://schemas.openxmlformats.org/officeDocument/2006/relationships/chart" Target="../charts/chart13.xml"/><Relationship Id="rId16" Type="http://schemas.openxmlformats.org/officeDocument/2006/relationships/chart" Target="../charts/chart14.xml"/><Relationship Id="rId17" Type="http://schemas.openxmlformats.org/officeDocument/2006/relationships/chart" Target="../charts/chart15.xml"/><Relationship Id="rId18" Type="http://schemas.openxmlformats.org/officeDocument/2006/relationships/chart" Target="../charts/chart16.xml"/><Relationship Id="rId19" Type="http://schemas.openxmlformats.org/officeDocument/2006/relationships/chart" Target="../charts/chart17.xml"/><Relationship Id="rId20" Type="http://schemas.openxmlformats.org/officeDocument/2006/relationships/chart" Target="../charts/chart18.xml"/><Relationship Id="rId21" Type="http://schemas.openxmlformats.org/officeDocument/2006/relationships/chart" Target="../charts/chart19.xml"/><Relationship Id="rId22" Type="http://schemas.openxmlformats.org/officeDocument/2006/relationships/chart" Target="../charts/chart20.xml"/><Relationship Id="rId23" Type="http://schemas.openxmlformats.org/officeDocument/2006/relationships/chart" Target="../charts/chart21.xml"/><Relationship Id="rId24" Type="http://schemas.openxmlformats.org/officeDocument/2006/relationships/chart" Target="../charts/chart22.xml"/><Relationship Id="rId25" Type="http://schemas.openxmlformats.org/officeDocument/2006/relationships/chart" Target="../charts/chart23.xml"/><Relationship Id="rId26" Type="http://schemas.openxmlformats.org/officeDocument/2006/relationships/chart" Target="../charts/chart24.xml"/><Relationship Id="rId27" Type="http://schemas.openxmlformats.org/officeDocument/2006/relationships/chart" Target="../charts/chart25.xml"/><Relationship Id="rId28" Type="http://schemas.openxmlformats.org/officeDocument/2006/relationships/chart" Target="../charts/chart26.xml"/><Relationship Id="rId29" Type="http://schemas.openxmlformats.org/officeDocument/2006/relationships/chart" Target="../charts/chart27.xml"/><Relationship Id="rId30" Type="http://schemas.openxmlformats.org/officeDocument/2006/relationships/chart" Target="../charts/chart28.xml"/><Relationship Id="rId31" Type="http://schemas.openxmlformats.org/officeDocument/2006/relationships/chart" Target="../charts/chart29.xml"/><Relationship Id="rId32" Type="http://schemas.openxmlformats.org/officeDocument/2006/relationships/chart" Target="../charts/chart30.xml"/><Relationship Id="rId33" Type="http://schemas.openxmlformats.org/officeDocument/2006/relationships/chart" Target="../charts/chart31.xml"/><Relationship Id="rId34" Type="http://schemas.openxmlformats.org/officeDocument/2006/relationships/chart" Target="../charts/chart32.xml"/><Relationship Id="rId35" Type="http://schemas.openxmlformats.org/officeDocument/2006/relationships/chart" Target="../charts/chart33.xml"/><Relationship Id="rId36" Type="http://schemas.openxmlformats.org/officeDocument/2006/relationships/chart" Target="../charts/chart34.xml"/><Relationship Id="rId37" Type="http://schemas.openxmlformats.org/officeDocument/2006/relationships/chart" Target="../charts/chart35.xml"/><Relationship Id="rId38" Type="http://schemas.openxmlformats.org/officeDocument/2006/relationships/chart" Target="../charts/chart36.xml"/><Relationship Id="rId39" Type="http://schemas.openxmlformats.org/officeDocument/2006/relationships/chart" Target="../charts/chart37.xml"/><Relationship Id="rId40" Type="http://schemas.openxmlformats.org/officeDocument/2006/relationships/chart" Target="../charts/chart38.xml"/><Relationship Id="rId41" Type="http://schemas.openxmlformats.org/officeDocument/2006/relationships/chart" Target="../charts/chart39.xml"/><Relationship Id="rId42" Type="http://schemas.openxmlformats.org/officeDocument/2006/relationships/chart" Target="../charts/chart40.xml"/><Relationship Id="rId43" Type="http://schemas.openxmlformats.org/officeDocument/2006/relationships/chart" Target="../charts/chart41.xml"/><Relationship Id="rId44" Type="http://schemas.openxmlformats.org/officeDocument/2006/relationships/chart" Target="../charts/chart42.xml"/><Relationship Id="rId45" Type="http://schemas.openxmlformats.org/officeDocument/2006/relationships/chart" Target="../charts/chart43.xml"/><Relationship Id="rId46" Type="http://schemas.openxmlformats.org/officeDocument/2006/relationships/chart" Target="../charts/chart44.xml"/><Relationship Id="rId47" Type="http://schemas.openxmlformats.org/officeDocument/2006/relationships/chart" Target="../charts/chart45.xml"/><Relationship Id="rId48" Type="http://schemas.openxmlformats.org/officeDocument/2006/relationships/chart" Target="../charts/chart46.xml"/><Relationship Id="rId49" Type="http://schemas.openxmlformats.org/officeDocument/2006/relationships/chart" Target="../charts/chart47.xml"/><Relationship Id="rId50" Type="http://schemas.openxmlformats.org/officeDocument/2006/relationships/chart" Target="../charts/chart48.xml"/><Relationship Id="rId51" Type="http://schemas.openxmlformats.org/officeDocument/2006/relationships/chart" Target="../charts/chart4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0.xml"/><Relationship Id="rId4" Type="http://schemas.openxmlformats.org/officeDocument/2006/relationships/chart" Target="../charts/chart51.xml"/><Relationship Id="rId5" Type="http://schemas.openxmlformats.org/officeDocument/2006/relationships/chart" Target="../charts/chart52.xml"/><Relationship Id="rId6" Type="http://schemas.openxmlformats.org/officeDocument/2006/relationships/chart" Target="../charts/chart53.xml"/><Relationship Id="rId7" Type="http://schemas.openxmlformats.org/officeDocument/2006/relationships/chart" Target="../charts/chart54.xml"/><Relationship Id="rId8" Type="http://schemas.openxmlformats.org/officeDocument/2006/relationships/chart" Target="../charts/chart55.xml"/><Relationship Id="rId9" Type="http://schemas.openxmlformats.org/officeDocument/2006/relationships/chart" Target="../charts/chart56.xml"/><Relationship Id="rId10" Type="http://schemas.openxmlformats.org/officeDocument/2006/relationships/chart" Target="../charts/chart57.xml"/><Relationship Id="rId11" Type="http://schemas.openxmlformats.org/officeDocument/2006/relationships/chart" Target="../charts/chart58.xml"/><Relationship Id="rId12" Type="http://schemas.openxmlformats.org/officeDocument/2006/relationships/chart" Target="../charts/chart59.xml"/><Relationship Id="rId13" Type="http://schemas.openxmlformats.org/officeDocument/2006/relationships/chart" Target="../charts/chart60.xml"/><Relationship Id="rId14" Type="http://schemas.openxmlformats.org/officeDocument/2006/relationships/chart" Target="../charts/chart61.xml"/><Relationship Id="rId15" Type="http://schemas.openxmlformats.org/officeDocument/2006/relationships/chart" Target="../charts/chart62.xml"/><Relationship Id="rId16" Type="http://schemas.openxmlformats.org/officeDocument/2006/relationships/chart" Target="../charts/chart63.xml"/><Relationship Id="rId17" Type="http://schemas.openxmlformats.org/officeDocument/2006/relationships/chart" Target="../charts/chart64.xml"/><Relationship Id="rId18" Type="http://schemas.openxmlformats.org/officeDocument/2006/relationships/chart" Target="../charts/chart65.xml"/><Relationship Id="rId19" Type="http://schemas.openxmlformats.org/officeDocument/2006/relationships/chart" Target="../charts/chart66.xml"/><Relationship Id="rId20" Type="http://schemas.openxmlformats.org/officeDocument/2006/relationships/chart" Target="../charts/chart67.xml"/><Relationship Id="rId21" Type="http://schemas.openxmlformats.org/officeDocument/2006/relationships/chart" Target="../charts/chart68.xml"/><Relationship Id="rId22" Type="http://schemas.openxmlformats.org/officeDocument/2006/relationships/chart" Target="../charts/chart69.xml"/><Relationship Id="rId23" Type="http://schemas.openxmlformats.org/officeDocument/2006/relationships/chart" Target="../charts/chart70.xml"/><Relationship Id="rId24" Type="http://schemas.openxmlformats.org/officeDocument/2006/relationships/chart" Target="../charts/chart71.xml"/><Relationship Id="rId25" Type="http://schemas.openxmlformats.org/officeDocument/2006/relationships/chart" Target="../charts/chart72.xml"/><Relationship Id="rId26" Type="http://schemas.openxmlformats.org/officeDocument/2006/relationships/chart" Target="../charts/chart73.xml"/><Relationship Id="rId27" Type="http://schemas.openxmlformats.org/officeDocument/2006/relationships/chart" Target="../charts/chart74.xml"/><Relationship Id="rId28" Type="http://schemas.openxmlformats.org/officeDocument/2006/relationships/chart" Target="../charts/chart75.xml"/><Relationship Id="rId29" Type="http://schemas.openxmlformats.org/officeDocument/2006/relationships/chart" Target="../charts/chart76.xml"/><Relationship Id="rId30" Type="http://schemas.openxmlformats.org/officeDocument/2006/relationships/chart" Target="../charts/chart77.xml"/><Relationship Id="rId31" Type="http://schemas.openxmlformats.org/officeDocument/2006/relationships/chart" Target="../charts/chart78.xml"/><Relationship Id="rId32" Type="http://schemas.openxmlformats.org/officeDocument/2006/relationships/chart" Target="../charts/chart79.xml"/><Relationship Id="rId33" Type="http://schemas.openxmlformats.org/officeDocument/2006/relationships/chart" Target="../charts/chart80.xml"/><Relationship Id="rId34" Type="http://schemas.openxmlformats.org/officeDocument/2006/relationships/chart" Target="../charts/chart81.xml"/><Relationship Id="rId35" Type="http://schemas.openxmlformats.org/officeDocument/2006/relationships/chart" Target="../charts/chart82.xml"/><Relationship Id="rId36" Type="http://schemas.openxmlformats.org/officeDocument/2006/relationships/chart" Target="../charts/chart83.xml"/><Relationship Id="rId37" Type="http://schemas.openxmlformats.org/officeDocument/2006/relationships/chart" Target="../charts/chart84.xml"/><Relationship Id="rId38" Type="http://schemas.openxmlformats.org/officeDocument/2006/relationships/chart" Target="../charts/chart85.xml"/><Relationship Id="rId39" Type="http://schemas.openxmlformats.org/officeDocument/2006/relationships/chart" Target="../charts/chart86.xml"/><Relationship Id="rId40" Type="http://schemas.openxmlformats.org/officeDocument/2006/relationships/chart" Target="../charts/chart87.xml"/><Relationship Id="rId41" Type="http://schemas.openxmlformats.org/officeDocument/2006/relationships/chart" Target="../charts/chart88.xml"/><Relationship Id="rId42" Type="http://schemas.openxmlformats.org/officeDocument/2006/relationships/chart" Target="../charts/chart89.xml"/><Relationship Id="rId43" Type="http://schemas.openxmlformats.org/officeDocument/2006/relationships/chart" Target="../charts/chart90.xml"/><Relationship Id="rId44" Type="http://schemas.openxmlformats.org/officeDocument/2006/relationships/chart" Target="../charts/chart91.xml"/><Relationship Id="rId45" Type="http://schemas.openxmlformats.org/officeDocument/2006/relationships/chart" Target="../charts/chart92.xml"/><Relationship Id="rId46" Type="http://schemas.openxmlformats.org/officeDocument/2006/relationships/chart" Target="../charts/chart93.xml"/><Relationship Id="rId47" Type="http://schemas.openxmlformats.org/officeDocument/2006/relationships/chart" Target="../charts/chart94.xml"/><Relationship Id="rId48" Type="http://schemas.openxmlformats.org/officeDocument/2006/relationships/chart" Target="../charts/chart95.xml"/><Relationship Id="rId49" Type="http://schemas.openxmlformats.org/officeDocument/2006/relationships/chart" Target="../charts/chart96.xml"/><Relationship Id="rId50" Type="http://schemas.openxmlformats.org/officeDocument/2006/relationships/chart" Target="../charts/chart97.xml"/><Relationship Id="rId51" Type="http://schemas.openxmlformats.org/officeDocument/2006/relationships/chart" Target="../charts/chart98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slide" Target="slide12.xml"/><Relationship Id="rId11" Type="http://schemas.openxmlformats.org/officeDocument/2006/relationships/chart" Target="../charts/chart9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9.png"/><Relationship Id="rId9" Type="http://schemas.openxmlformats.org/officeDocument/2006/relationships/slide" Target="slide12.xml"/><Relationship Id="rId10" Type="http://schemas.openxmlformats.org/officeDocument/2006/relationships/chart" Target="../charts/chart100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slide" Target="slide12.xml"/><Relationship Id="rId7" Type="http://schemas.openxmlformats.org/officeDocument/2006/relationships/chart" Target="../charts/chart10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slide" Target="slide12.xml"/><Relationship Id="rId8" Type="http://schemas.openxmlformats.org/officeDocument/2006/relationships/chart" Target="../charts/chart10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slide" Target="slide12.xml"/><Relationship Id="rId8" Type="http://schemas.openxmlformats.org/officeDocument/2006/relationships/chart" Target="../charts/chart103.xml"/><Relationship Id="rId9" Type="http://schemas.openxmlformats.org/officeDocument/2006/relationships/image" Target="../media/image1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slide" Target="slide12.xml"/><Relationship Id="rId6" Type="http://schemas.openxmlformats.org/officeDocument/2006/relationships/chart" Target="../charts/chart104.xml"/><Relationship Id="rId7" Type="http://schemas.openxmlformats.org/officeDocument/2006/relationships/image" Target="../media/image7.png"/><Relationship Id="rId8" Type="http://schemas.openxmlformats.org/officeDocument/2006/relationships/image" Target="../media/image17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slide" Target="slide12.xml"/><Relationship Id="rId4" Type="http://schemas.openxmlformats.org/officeDocument/2006/relationships/chart" Target="../charts/chart105.xml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6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5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3.png"/><Relationship Id="rId9" Type="http://schemas.openxmlformats.org/officeDocument/2006/relationships/image" Target="../media/image29.png"/><Relationship Id="rId10" Type="http://schemas.openxmlformats.org/officeDocument/2006/relationships/image" Target="../media/image19.png"/><Relationship Id="rId11" Type="http://schemas.openxmlformats.org/officeDocument/2006/relationships/image" Target="../media/image4.png"/><Relationship Id="rId12" Type="http://schemas.openxmlformats.org/officeDocument/2006/relationships/image" Target="../media/image14.png"/><Relationship Id="rId13" Type="http://schemas.openxmlformats.org/officeDocument/2006/relationships/image" Target="../media/image30.png"/><Relationship Id="rId14" Type="http://schemas.openxmlformats.org/officeDocument/2006/relationships/image" Target="../media/image7.png"/><Relationship Id="rId15" Type="http://schemas.openxmlformats.org/officeDocument/2006/relationships/image" Target="../media/image31.png"/><Relationship Id="rId16" Type="http://schemas.openxmlformats.org/officeDocument/2006/relationships/image" Target="../media/image17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36;p22"/>
          <p:cNvSpPr txBox="1"/>
          <p:nvPr>
            <p:ph type="title" idx="4294967295"/>
          </p:nvPr>
        </p:nvSpPr>
        <p:spPr>
          <a:xfrm>
            <a:off x="507615" y="422053"/>
            <a:ext cx="6697737" cy="1406401"/>
          </a:xfrm>
          <a:prstGeom prst="rect">
            <a:avLst/>
          </a:prstGeom>
        </p:spPr>
        <p:txBody>
          <a:bodyPr lIns="44424" tIns="44424" rIns="44424" bIns="44424"/>
          <a:lstStyle/>
          <a:p>
            <a:pPr>
              <a:defRPr sz="33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Central Data Science</a:t>
            </a:r>
            <a:br/>
            <a:r>
              <a:rPr sz="2100">
                <a:solidFill>
                  <a:srgbClr val="0070C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 Valued Partner to Business</a:t>
            </a:r>
            <a:br>
              <a:rPr sz="2100">
                <a:solidFill>
                  <a:srgbClr val="0070C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</a:br>
            <a:r>
              <a:rPr sz="2100">
                <a:solidFill>
                  <a:srgbClr val="00B0F0"/>
                </a:solidFill>
              </a:rPr>
              <a:t>Mission | Vision</a:t>
            </a:r>
          </a:p>
        </p:txBody>
      </p:sp>
      <p:sp>
        <p:nvSpPr>
          <p:cNvPr id="75" name="Google Shape;136;p22"/>
          <p:cNvSpPr txBox="1"/>
          <p:nvPr/>
        </p:nvSpPr>
        <p:spPr>
          <a:xfrm>
            <a:off x="458867" y="2220528"/>
            <a:ext cx="8790317" cy="62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4424" tIns="44424" rIns="44424" bIns="44424" anchor="ctr">
            <a:spAutoFit/>
          </a:bodyPr>
          <a:lstStyle>
            <a:lvl1pPr>
              <a:defRPr b="1" sz="35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Global Cluster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/>
          <p:cNvSpPr txBox="1"/>
          <p:nvPr/>
        </p:nvSpPr>
        <p:spPr>
          <a:xfrm>
            <a:off x="-7556" y="144587"/>
            <a:ext cx="815942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pc="-150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Understanding Our Customers </a:t>
            </a:r>
            <a:r>
              <a:rPr spc="0"/>
              <a:t>: </a:t>
            </a:r>
            <a:r>
              <a:t>Current Portfolio &amp; </a:t>
            </a:r>
            <a:r>
              <a:rPr>
                <a:solidFill>
                  <a:srgbClr val="00B0F0"/>
                </a:solidFill>
              </a:rPr>
              <a:t>What-Next</a:t>
            </a:r>
            <a:r>
              <a:t>?</a:t>
            </a:r>
          </a:p>
        </p:txBody>
      </p:sp>
      <p:sp>
        <p:nvSpPr>
          <p:cNvPr id="78" name="TextBox 1"/>
          <p:cNvSpPr txBox="1"/>
          <p:nvPr/>
        </p:nvSpPr>
        <p:spPr>
          <a:xfrm>
            <a:off x="638313" y="930565"/>
            <a:ext cx="7868296" cy="381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Understanding our ‘Customers’ better</a:t>
            </a:r>
            <a:endParaRPr sz="1200"/>
          </a:p>
          <a:p>
            <a:pPr lvl="5" marL="71913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Who are my ‘Good’ and ‘Not-so-Good’ customers?</a:t>
            </a:r>
          </a:p>
          <a:p>
            <a:pPr lvl="5" marL="71913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What unique cohorts and patterns exist within?</a:t>
            </a:r>
          </a:p>
          <a:p>
            <a:pPr lvl="5" marL="71913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How do we ‘</a:t>
            </a:r>
            <a:r>
              <a:rPr>
                <a:solidFill>
                  <a:srgbClr val="00B0F0"/>
                </a:solidFill>
              </a:rPr>
              <a:t>partition/ segment</a:t>
            </a:r>
            <a:r>
              <a:t>’ our customers for</a:t>
            </a:r>
            <a:r>
              <a:rPr>
                <a:solidFill>
                  <a:srgbClr val="00B0F0"/>
                </a:solidFill>
              </a:rPr>
              <a:t> maximum impact</a:t>
            </a:r>
            <a:r>
              <a:t>?</a:t>
            </a:r>
          </a:p>
          <a:p>
            <a:pPr lvl="5" marL="292100" indent="-29210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Are there inherent differences in behavior</a:t>
            </a:r>
          </a:p>
          <a:p>
            <a:pPr marL="71913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Uniqueness, Patterns and Affinities</a:t>
            </a: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Which customer have ‘affinity’ to what category?</a:t>
            </a:r>
          </a:p>
          <a:p>
            <a:pPr marL="71913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What ‘clicks’/ ‘works for whom?</a:t>
            </a:r>
          </a:p>
          <a:p>
            <a:pPr marL="71913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Category ‘</a:t>
            </a:r>
            <a:r>
              <a:rPr>
                <a:solidFill>
                  <a:srgbClr val="00B0F0"/>
                </a:solidFill>
              </a:rPr>
              <a:t>Relevance’ &amp; ‘Recommendation</a:t>
            </a:r>
            <a:r>
              <a:t>’ {Next Best Need/Action/Product/Service…}</a:t>
            </a: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Who is ‘doing’ what? Who ‘can’ do what?</a:t>
            </a:r>
          </a:p>
          <a:p>
            <a:pPr marL="76358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Does ‘Pareto Rule’ exist?</a:t>
            </a:r>
          </a:p>
          <a:p>
            <a:pPr marL="76358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Who are our </a:t>
            </a:r>
            <a:r>
              <a:rPr>
                <a:solidFill>
                  <a:srgbClr val="00B0F0"/>
                </a:solidFill>
              </a:rPr>
              <a:t>Heavy-Lifters</a:t>
            </a:r>
            <a:r>
              <a:t>? Keep Motivated…</a:t>
            </a:r>
          </a:p>
          <a:p>
            <a:pPr marL="76358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Who are ‘</a:t>
            </a:r>
            <a:r>
              <a:rPr>
                <a:solidFill>
                  <a:srgbClr val="00B0F0"/>
                </a:solidFill>
              </a:rPr>
              <a:t>Promising’ &amp; ‘Potential</a:t>
            </a:r>
            <a:r>
              <a:t>’? Take to next Level…</a:t>
            </a:r>
          </a:p>
          <a:p>
            <a:pPr marL="763587" indent="-284162">
              <a:buClr>
                <a:srgbClr val="FF9300"/>
              </a:buClr>
              <a:buSzPct val="100000"/>
              <a:buChar char="▪"/>
              <a:defRPr b="1" sz="12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Who’s ‘</a:t>
            </a:r>
            <a:r>
              <a:rPr>
                <a:solidFill>
                  <a:srgbClr val="00B0F0"/>
                </a:solidFill>
              </a:rPr>
              <a:t>Dozing-Off</a:t>
            </a:r>
            <a:r>
              <a:t>’? ‘Re-engage…</a:t>
            </a: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</a:p>
          <a:p>
            <a:pPr marL="285750" indent="-285750">
              <a:buClr>
                <a:srgbClr val="FF9300"/>
              </a:buClr>
              <a:buSzPct val="100000"/>
              <a:buChar char="▪"/>
              <a:defRPr b="1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Value/ Behavior/Affinity/ Look-Alike based ‘</a:t>
            </a:r>
            <a:r>
              <a:rPr>
                <a:solidFill>
                  <a:srgbClr val="00B0F0"/>
                </a:solidFill>
              </a:rPr>
              <a:t>Targeting and Conversion Strategy</a:t>
            </a:r>
            <a:r>
              <a:t>’</a:t>
            </a:r>
          </a:p>
        </p:txBody>
      </p:sp>
      <p:sp>
        <p:nvSpPr>
          <p:cNvPr id="79" name="Straight Connector 2"/>
          <p:cNvSpPr/>
          <p:nvPr/>
        </p:nvSpPr>
        <p:spPr>
          <a:xfrm>
            <a:off x="-7838" y="660943"/>
            <a:ext cx="9162000" cy="12426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Diagram 1"/>
          <p:cNvGrpSpPr/>
          <p:nvPr/>
        </p:nvGrpSpPr>
        <p:grpSpPr>
          <a:xfrm>
            <a:off x="2368296" y="892912"/>
            <a:ext cx="6274044" cy="3764759"/>
            <a:chOff x="0" y="0"/>
            <a:chExt cx="6274043" cy="3764757"/>
          </a:xfrm>
        </p:grpSpPr>
        <p:grpSp>
          <p:nvGrpSpPr>
            <p:cNvPr id="83" name="Group"/>
            <p:cNvGrpSpPr/>
            <p:nvPr/>
          </p:nvGrpSpPr>
          <p:grpSpPr>
            <a:xfrm>
              <a:off x="751900" y="1276048"/>
              <a:ext cx="900584" cy="773100"/>
              <a:chOff x="0" y="0"/>
              <a:chExt cx="900582" cy="773099"/>
            </a:xfrm>
          </p:grpSpPr>
          <p:sp>
            <p:nvSpPr>
              <p:cNvPr id="81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0070C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2" name="Utilities"/>
              <p:cNvSpPr txBox="1"/>
              <p:nvPr/>
            </p:nvSpPr>
            <p:spPr>
              <a:xfrm>
                <a:off x="139472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Utilities</a:t>
                </a:r>
              </a:p>
            </p:txBody>
          </p:sp>
        </p:grpSp>
        <p:sp>
          <p:nvSpPr>
            <p:cNvPr id="84" name="Shape"/>
            <p:cNvSpPr/>
            <p:nvPr/>
          </p:nvSpPr>
          <p:spPr>
            <a:xfrm>
              <a:off x="773389" y="1621661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" name="Shape"/>
            <p:cNvSpPr/>
            <p:nvPr/>
          </p:nvSpPr>
          <p:spPr>
            <a:xfrm>
              <a:off x="0" y="876495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2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" name="Shape"/>
            <p:cNvSpPr/>
            <p:nvPr/>
          </p:nvSpPr>
          <p:spPr>
            <a:xfrm>
              <a:off x="593903" y="1519033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89" name="Group"/>
            <p:cNvGrpSpPr/>
            <p:nvPr/>
          </p:nvGrpSpPr>
          <p:grpSpPr>
            <a:xfrm>
              <a:off x="1526718" y="846297"/>
              <a:ext cx="900583" cy="773100"/>
              <a:chOff x="0" y="0"/>
              <a:chExt cx="900582" cy="773099"/>
            </a:xfrm>
          </p:grpSpPr>
          <p:sp>
            <p:nvSpPr>
              <p:cNvPr id="87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072C6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88" name="Recharge"/>
              <p:cNvSpPr txBox="1"/>
              <p:nvPr/>
            </p:nvSpPr>
            <p:spPr>
              <a:xfrm>
                <a:off x="139472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Recharge</a:t>
                </a:r>
              </a:p>
            </p:txBody>
          </p:sp>
        </p:grpSp>
        <p:sp>
          <p:nvSpPr>
            <p:cNvPr id="90" name="Shape"/>
            <p:cNvSpPr/>
            <p:nvPr/>
          </p:nvSpPr>
          <p:spPr>
            <a:xfrm>
              <a:off x="2146064" y="1515260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" name="Shape"/>
            <p:cNvSpPr/>
            <p:nvPr/>
          </p:nvSpPr>
          <p:spPr>
            <a:xfrm>
              <a:off x="2323818" y="1302096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3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" name="Shape"/>
            <p:cNvSpPr/>
            <p:nvPr/>
          </p:nvSpPr>
          <p:spPr>
            <a:xfrm>
              <a:off x="2323021" y="1618642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5" name="Group"/>
            <p:cNvGrpSpPr/>
            <p:nvPr/>
          </p:nvGrpSpPr>
          <p:grpSpPr>
            <a:xfrm>
              <a:off x="751900" y="421451"/>
              <a:ext cx="900584" cy="773100"/>
              <a:chOff x="0" y="0"/>
              <a:chExt cx="900582" cy="773099"/>
            </a:xfrm>
          </p:grpSpPr>
          <p:sp>
            <p:nvSpPr>
              <p:cNvPr id="93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00B0F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94" name="Banking Footprint"/>
              <p:cNvSpPr txBox="1"/>
              <p:nvPr/>
            </p:nvSpPr>
            <p:spPr>
              <a:xfrm>
                <a:off x="139472" y="267582"/>
                <a:ext cx="621637" cy="2379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Banking Footprint</a:t>
                </a:r>
              </a:p>
            </p:txBody>
          </p:sp>
        </p:grpSp>
        <p:sp>
          <p:nvSpPr>
            <p:cNvPr id="96" name="Shape"/>
            <p:cNvSpPr/>
            <p:nvPr/>
          </p:nvSpPr>
          <p:spPr>
            <a:xfrm>
              <a:off x="1364928" y="432015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7" name="Shape"/>
            <p:cNvSpPr/>
            <p:nvPr/>
          </p:nvSpPr>
          <p:spPr>
            <a:xfrm>
              <a:off x="1549632" y="19256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4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8" name="Shape"/>
            <p:cNvSpPr/>
            <p:nvPr/>
          </p:nvSpPr>
          <p:spPr>
            <a:xfrm>
              <a:off x="1551996" y="334293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1" name="Group"/>
            <p:cNvGrpSpPr/>
            <p:nvPr/>
          </p:nvGrpSpPr>
          <p:grpSpPr>
            <a:xfrm>
              <a:off x="2300901" y="419941"/>
              <a:ext cx="900584" cy="773100"/>
              <a:chOff x="0" y="0"/>
              <a:chExt cx="900582" cy="773099"/>
            </a:xfrm>
          </p:grpSpPr>
          <p:sp>
            <p:nvSpPr>
              <p:cNvPr id="99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FF930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0" name="Post-paid"/>
              <p:cNvSpPr txBox="1"/>
              <p:nvPr/>
            </p:nvSpPr>
            <p:spPr>
              <a:xfrm>
                <a:off x="139472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Post-paid</a:t>
                </a:r>
              </a:p>
            </p:txBody>
          </p:sp>
        </p:grpSp>
        <p:sp>
          <p:nvSpPr>
            <p:cNvPr id="102" name="Shape"/>
            <p:cNvSpPr/>
            <p:nvPr/>
          </p:nvSpPr>
          <p:spPr>
            <a:xfrm>
              <a:off x="3080142" y="762158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" name="Shape"/>
            <p:cNvSpPr/>
            <p:nvPr/>
          </p:nvSpPr>
          <p:spPr>
            <a:xfrm>
              <a:off x="3098633" y="882155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5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" name="Shape"/>
            <p:cNvSpPr/>
            <p:nvPr/>
          </p:nvSpPr>
          <p:spPr>
            <a:xfrm>
              <a:off x="3251411" y="868181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07" name="Group"/>
            <p:cNvGrpSpPr/>
            <p:nvPr/>
          </p:nvGrpSpPr>
          <p:grpSpPr>
            <a:xfrm>
              <a:off x="3075719" y="0"/>
              <a:ext cx="900583" cy="773100"/>
              <a:chOff x="0" y="0"/>
              <a:chExt cx="900582" cy="773099"/>
            </a:xfrm>
          </p:grpSpPr>
          <p:sp>
            <p:nvSpPr>
              <p:cNvPr id="105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072C6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06" name="Wallet"/>
              <p:cNvSpPr txBox="1"/>
              <p:nvPr/>
            </p:nvSpPr>
            <p:spPr>
              <a:xfrm>
                <a:off x="139472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Wallet</a:t>
                </a:r>
              </a:p>
            </p:txBody>
          </p:sp>
        </p:grpSp>
        <p:sp>
          <p:nvSpPr>
            <p:cNvPr id="108" name="Shape"/>
            <p:cNvSpPr/>
            <p:nvPr/>
          </p:nvSpPr>
          <p:spPr>
            <a:xfrm>
              <a:off x="3854959" y="346367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Shape"/>
            <p:cNvSpPr/>
            <p:nvPr/>
          </p:nvSpPr>
          <p:spPr>
            <a:xfrm>
              <a:off x="3873451" y="458818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6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0" name="Shape"/>
            <p:cNvSpPr/>
            <p:nvPr/>
          </p:nvSpPr>
          <p:spPr>
            <a:xfrm>
              <a:off x="4030020" y="448239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13" name="Group"/>
            <p:cNvGrpSpPr/>
            <p:nvPr/>
          </p:nvGrpSpPr>
          <p:grpSpPr>
            <a:xfrm>
              <a:off x="3850535" y="1284349"/>
              <a:ext cx="900583" cy="773100"/>
              <a:chOff x="0" y="0"/>
              <a:chExt cx="900582" cy="773099"/>
            </a:xfrm>
          </p:grpSpPr>
          <p:sp>
            <p:nvSpPr>
              <p:cNvPr id="111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FF930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2" name="Loans/ Cards"/>
              <p:cNvSpPr txBox="1"/>
              <p:nvPr/>
            </p:nvSpPr>
            <p:spPr>
              <a:xfrm>
                <a:off x="139472" y="267582"/>
                <a:ext cx="621637" cy="2379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Loans/ Cards</a:t>
                </a:r>
              </a:p>
            </p:txBody>
          </p:sp>
        </p:grpSp>
        <p:sp>
          <p:nvSpPr>
            <p:cNvPr id="114" name="Shape"/>
            <p:cNvSpPr/>
            <p:nvPr/>
          </p:nvSpPr>
          <p:spPr>
            <a:xfrm>
              <a:off x="4028756" y="1961613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5" name="Shape"/>
            <p:cNvSpPr/>
            <p:nvPr/>
          </p:nvSpPr>
          <p:spPr>
            <a:xfrm>
              <a:off x="3098633" y="1735244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7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6" name="Shape"/>
            <p:cNvSpPr/>
            <p:nvPr/>
          </p:nvSpPr>
          <p:spPr>
            <a:xfrm>
              <a:off x="3861911" y="2046883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19" name="Group"/>
            <p:cNvGrpSpPr/>
            <p:nvPr/>
          </p:nvGrpSpPr>
          <p:grpSpPr>
            <a:xfrm>
              <a:off x="1526085" y="1702781"/>
              <a:ext cx="900583" cy="773100"/>
              <a:chOff x="0" y="0"/>
              <a:chExt cx="900582" cy="773099"/>
            </a:xfrm>
          </p:grpSpPr>
          <p:sp>
            <p:nvSpPr>
              <p:cNvPr id="117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072C62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 b="1"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18" name="Bureau"/>
              <p:cNvSpPr txBox="1"/>
              <p:nvPr/>
            </p:nvSpPr>
            <p:spPr>
              <a:xfrm>
                <a:off x="139473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Bureau</a:t>
                </a:r>
              </a:p>
            </p:txBody>
          </p:sp>
        </p:grpSp>
        <p:sp>
          <p:nvSpPr>
            <p:cNvPr id="120" name="Shape"/>
            <p:cNvSpPr/>
            <p:nvPr/>
          </p:nvSpPr>
          <p:spPr>
            <a:xfrm>
              <a:off x="1551364" y="2045375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1" name="Shape"/>
            <p:cNvSpPr/>
            <p:nvPr/>
          </p:nvSpPr>
          <p:spPr>
            <a:xfrm>
              <a:off x="774183" y="2160090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8"/>
              <a:srcRect l="0" t="0" r="0" b="0"/>
              <a:stretch>
                <a:fillRect/>
              </a:stretch>
            </a:blipFill>
            <a:ln w="25400" cap="flat">
              <a:solidFill>
                <a:srgbClr val="00B0F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2" name="Shape"/>
            <p:cNvSpPr/>
            <p:nvPr/>
          </p:nvSpPr>
          <p:spPr>
            <a:xfrm>
              <a:off x="1364296" y="2143474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25" name="Group"/>
            <p:cNvGrpSpPr/>
            <p:nvPr/>
          </p:nvGrpSpPr>
          <p:grpSpPr>
            <a:xfrm>
              <a:off x="4621560" y="1717496"/>
              <a:ext cx="900583" cy="773100"/>
              <a:chOff x="0" y="0"/>
              <a:chExt cx="900582" cy="773099"/>
            </a:xfrm>
          </p:grpSpPr>
          <p:sp>
            <p:nvSpPr>
              <p:cNvPr id="123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0070C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lnSpc>
                    <a:spcPct val="90000"/>
                  </a:lnSpc>
                  <a:spcBef>
                    <a:spcPts val="500"/>
                  </a:spcBef>
                  <a:defRPr b="1"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24" name="Merchant"/>
              <p:cNvSpPr txBox="1"/>
              <p:nvPr/>
            </p:nvSpPr>
            <p:spPr>
              <a:xfrm>
                <a:off x="139472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35560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Merchant</a:t>
                </a:r>
              </a:p>
            </p:txBody>
          </p:sp>
        </p:grpSp>
        <p:sp>
          <p:nvSpPr>
            <p:cNvPr id="126" name="Shape"/>
            <p:cNvSpPr/>
            <p:nvPr/>
          </p:nvSpPr>
          <p:spPr>
            <a:xfrm>
              <a:off x="4799780" y="2394760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7" name="Shape"/>
            <p:cNvSpPr/>
            <p:nvPr/>
          </p:nvSpPr>
          <p:spPr>
            <a:xfrm>
              <a:off x="3869659" y="2168391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9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8" name="Shape"/>
            <p:cNvSpPr/>
            <p:nvPr/>
          </p:nvSpPr>
          <p:spPr>
            <a:xfrm>
              <a:off x="4632936" y="2480032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31" name="Group"/>
            <p:cNvGrpSpPr/>
            <p:nvPr/>
          </p:nvGrpSpPr>
          <p:grpSpPr>
            <a:xfrm>
              <a:off x="4624720" y="8301"/>
              <a:ext cx="900583" cy="773100"/>
              <a:chOff x="0" y="0"/>
              <a:chExt cx="900582" cy="773099"/>
            </a:xfrm>
          </p:grpSpPr>
          <p:sp>
            <p:nvSpPr>
              <p:cNvPr id="129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00B0F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0" name="Cashback"/>
              <p:cNvSpPr txBox="1"/>
              <p:nvPr/>
            </p:nvSpPr>
            <p:spPr>
              <a:xfrm>
                <a:off x="139473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Cashback</a:t>
                </a:r>
              </a:p>
            </p:txBody>
          </p:sp>
        </p:grpSp>
        <p:sp>
          <p:nvSpPr>
            <p:cNvPr id="132" name="Shape"/>
            <p:cNvSpPr/>
            <p:nvPr/>
          </p:nvSpPr>
          <p:spPr>
            <a:xfrm>
              <a:off x="5247227" y="688206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3" name="Shape"/>
            <p:cNvSpPr/>
            <p:nvPr/>
          </p:nvSpPr>
          <p:spPr>
            <a:xfrm>
              <a:off x="4647635" y="889324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10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4" name="Shape"/>
            <p:cNvSpPr/>
            <p:nvPr/>
          </p:nvSpPr>
          <p:spPr>
            <a:xfrm>
              <a:off x="5247227" y="866294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37" name="Group"/>
            <p:cNvGrpSpPr/>
            <p:nvPr/>
          </p:nvGrpSpPr>
          <p:grpSpPr>
            <a:xfrm>
              <a:off x="2297741" y="2135929"/>
              <a:ext cx="900583" cy="773100"/>
              <a:chOff x="0" y="0"/>
              <a:chExt cx="900582" cy="773099"/>
            </a:xfrm>
          </p:grpSpPr>
          <p:sp>
            <p:nvSpPr>
              <p:cNvPr id="135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>
                <a:solidFill>
                  <a:srgbClr val="072C62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36" name="Insurance"/>
              <p:cNvSpPr txBox="1"/>
              <p:nvPr/>
            </p:nvSpPr>
            <p:spPr>
              <a:xfrm>
                <a:off x="139473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Insurance</a:t>
                </a:r>
              </a:p>
            </p:txBody>
          </p:sp>
        </p:grpSp>
        <p:sp>
          <p:nvSpPr>
            <p:cNvPr id="138" name="Shape"/>
            <p:cNvSpPr/>
            <p:nvPr/>
          </p:nvSpPr>
          <p:spPr>
            <a:xfrm>
              <a:off x="2475963" y="2813193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9" name="Shape"/>
            <p:cNvSpPr/>
            <p:nvPr/>
          </p:nvSpPr>
          <p:spPr>
            <a:xfrm>
              <a:off x="1545840" y="2586823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11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0" name="Shape"/>
            <p:cNvSpPr/>
            <p:nvPr/>
          </p:nvSpPr>
          <p:spPr>
            <a:xfrm>
              <a:off x="2309117" y="2898463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43" name="Group"/>
            <p:cNvGrpSpPr/>
            <p:nvPr/>
          </p:nvGrpSpPr>
          <p:grpSpPr>
            <a:xfrm>
              <a:off x="3844847" y="2991658"/>
              <a:ext cx="900583" cy="773100"/>
              <a:chOff x="0" y="0"/>
              <a:chExt cx="900582" cy="773099"/>
            </a:xfrm>
          </p:grpSpPr>
          <p:sp>
            <p:nvSpPr>
              <p:cNvPr id="141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FF930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2" name="Convenience"/>
              <p:cNvSpPr txBox="1"/>
              <p:nvPr/>
            </p:nvSpPr>
            <p:spPr>
              <a:xfrm>
                <a:off x="139472" y="279460"/>
                <a:ext cx="621637" cy="2141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355600">
                  <a:lnSpc>
                    <a:spcPct val="90000"/>
                  </a:lnSpc>
                  <a:spcBef>
                    <a:spcPts val="300"/>
                  </a:spcBef>
                  <a:defRPr b="1" sz="8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Convenience</a:t>
                </a:r>
              </a:p>
            </p:txBody>
          </p:sp>
        </p:grpSp>
        <p:sp>
          <p:nvSpPr>
            <p:cNvPr id="144" name="Shape"/>
            <p:cNvSpPr/>
            <p:nvPr/>
          </p:nvSpPr>
          <p:spPr>
            <a:xfrm>
              <a:off x="3866335" y="3335760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5" name="Shape"/>
            <p:cNvSpPr/>
            <p:nvPr/>
          </p:nvSpPr>
          <p:spPr>
            <a:xfrm>
              <a:off x="3092945" y="2590973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12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6" name="Shape"/>
            <p:cNvSpPr/>
            <p:nvPr/>
          </p:nvSpPr>
          <p:spPr>
            <a:xfrm>
              <a:off x="3689378" y="3232380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49" name="Group"/>
            <p:cNvGrpSpPr/>
            <p:nvPr/>
          </p:nvGrpSpPr>
          <p:grpSpPr>
            <a:xfrm>
              <a:off x="4622192" y="2572471"/>
              <a:ext cx="900583" cy="773100"/>
              <a:chOff x="0" y="0"/>
              <a:chExt cx="900582" cy="773099"/>
            </a:xfrm>
          </p:grpSpPr>
          <p:sp>
            <p:nvSpPr>
              <p:cNvPr id="147" name="Shape"/>
              <p:cNvSpPr/>
              <p:nvPr/>
            </p:nvSpPr>
            <p:spPr>
              <a:xfrm>
                <a:off x="-1" y="-1"/>
                <a:ext cx="900584" cy="773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lnTo>
                      <a:pt x="4636" y="0"/>
                    </a:lnTo>
                    <a:lnTo>
                      <a:pt x="16964" y="0"/>
                    </a:lnTo>
                    <a:lnTo>
                      <a:pt x="21600" y="10800"/>
                    </a:lnTo>
                    <a:lnTo>
                      <a:pt x="16964" y="21600"/>
                    </a:lnTo>
                    <a:lnTo>
                      <a:pt x="4636" y="21600"/>
                    </a:lnTo>
                    <a:close/>
                  </a:path>
                </a:pathLst>
              </a:custGeom>
              <a:solidFill>
                <a:srgbClr val="00B0F0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0005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48" name="Travel"/>
              <p:cNvSpPr txBox="1"/>
              <p:nvPr/>
            </p:nvSpPr>
            <p:spPr>
              <a:xfrm>
                <a:off x="139472" y="323049"/>
                <a:ext cx="621637" cy="127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 defTabSz="400050">
                  <a:lnSpc>
                    <a:spcPct val="90000"/>
                  </a:lnSpc>
                  <a:spcBef>
                    <a:spcPts val="300"/>
                  </a:spcBef>
                  <a:defRPr b="1"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Travel</a:t>
                </a:r>
              </a:p>
            </p:txBody>
          </p:sp>
        </p:grpSp>
        <p:sp>
          <p:nvSpPr>
            <p:cNvPr id="150" name="Shape"/>
            <p:cNvSpPr/>
            <p:nvPr/>
          </p:nvSpPr>
          <p:spPr>
            <a:xfrm>
              <a:off x="5408384" y="2911668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1" name="Shape"/>
            <p:cNvSpPr/>
            <p:nvPr/>
          </p:nvSpPr>
          <p:spPr>
            <a:xfrm>
              <a:off x="5419292" y="2176690"/>
              <a:ext cx="854752" cy="717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536" y="0"/>
                  </a:lnTo>
                  <a:lnTo>
                    <a:pt x="17064" y="0"/>
                  </a:lnTo>
                  <a:lnTo>
                    <a:pt x="21600" y="10800"/>
                  </a:lnTo>
                  <a:lnTo>
                    <a:pt x="17064" y="21600"/>
                  </a:lnTo>
                  <a:lnTo>
                    <a:pt x="4536" y="21600"/>
                  </a:lnTo>
                  <a:close/>
                </a:path>
              </a:pathLst>
            </a:custGeom>
            <a:blipFill rotWithShape="1">
              <a:blip r:embed="rId13"/>
              <a:srcRect l="0" t="0" r="0" b="0"/>
              <a:stretch>
                <a:fillRect/>
              </a:stretch>
            </a:blipFill>
            <a:ln w="25400" cap="flat">
              <a:solidFill>
                <a:srgbClr val="FF93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" name="Shape"/>
            <p:cNvSpPr/>
            <p:nvPr/>
          </p:nvSpPr>
          <p:spPr>
            <a:xfrm>
              <a:off x="5575229" y="2826398"/>
              <a:ext cx="104910" cy="90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4661" y="0"/>
                  </a:lnTo>
                  <a:lnTo>
                    <a:pt x="16939" y="0"/>
                  </a:lnTo>
                  <a:lnTo>
                    <a:pt x="21600" y="10800"/>
                  </a:lnTo>
                  <a:lnTo>
                    <a:pt x="16939" y="21600"/>
                  </a:lnTo>
                  <a:lnTo>
                    <a:pt x="4661" y="21600"/>
                  </a:lnTo>
                  <a:close/>
                </a:path>
              </a:pathLst>
            </a:cu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56" name="Rounded Rectangle 2"/>
          <p:cNvGrpSpPr/>
          <p:nvPr/>
        </p:nvGrpSpPr>
        <p:grpSpPr>
          <a:xfrm>
            <a:off x="34598" y="3640513"/>
            <a:ext cx="3118801" cy="1186929"/>
            <a:chOff x="0" y="0"/>
            <a:chExt cx="3118799" cy="1186928"/>
          </a:xfrm>
        </p:grpSpPr>
        <p:sp>
          <p:nvSpPr>
            <p:cNvPr id="154" name="Rounded Rectangle"/>
            <p:cNvSpPr/>
            <p:nvPr/>
          </p:nvSpPr>
          <p:spPr>
            <a:xfrm>
              <a:off x="0" y="0"/>
              <a:ext cx="3118800" cy="1186929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rgbClr val="C4BCC6"/>
              </a:solidFill>
              <a:prstDash val="sys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i="1" sz="1200">
                  <a:solidFill>
                    <a:srgbClr val="00B0F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155" name="70+ Attributes covering multiple dimensions of customer’s Profile/ Preferences…"/>
            <p:cNvSpPr txBox="1"/>
            <p:nvPr/>
          </p:nvSpPr>
          <p:spPr>
            <a:xfrm>
              <a:off x="116360" y="20694"/>
              <a:ext cx="2886080" cy="1145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1800">
                  <a:solidFill>
                    <a:srgbClr val="FF93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70+ </a:t>
              </a:r>
              <a:r>
                <a:rPr sz="1400"/>
                <a:t>Attributes </a:t>
              </a:r>
              <a:r>
                <a:rPr sz="1400">
                  <a:solidFill>
                    <a:srgbClr val="242852"/>
                  </a:solidFill>
                </a:rPr>
                <a:t>covering multiple dimensions of customer’s </a:t>
              </a:r>
              <a:r>
                <a:rPr sz="1400">
                  <a:solidFill>
                    <a:srgbClr val="00B0F0"/>
                  </a:solidFill>
                </a:rPr>
                <a:t>Profile/ Preferences 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i="1" sz="700">
                  <a:solidFill>
                    <a:srgbClr val="FF93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>
                <a:defRPr b="1" i="1">
                  <a:solidFill>
                    <a:srgbClr val="24285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#user-centric@</a:t>
              </a:r>
              <a:r>
                <a:rPr sz="1600">
                  <a:solidFill>
                    <a:srgbClr val="00B0F0"/>
                  </a:solidFill>
                </a:rPr>
                <a:t>360°</a:t>
              </a:r>
            </a:p>
          </p:txBody>
        </p:sp>
      </p:grpSp>
      <p:sp>
        <p:nvSpPr>
          <p:cNvPr id="157" name="Title 1"/>
          <p:cNvSpPr txBox="1"/>
          <p:nvPr/>
        </p:nvSpPr>
        <p:spPr>
          <a:xfrm>
            <a:off x="-7555" y="144587"/>
            <a:ext cx="8271338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Data Coverage &amp; </a:t>
            </a:r>
            <a:r>
              <a:rPr>
                <a:solidFill>
                  <a:srgbClr val="FF9300"/>
                </a:solidFill>
              </a:rPr>
              <a:t>Quality</a:t>
            </a:r>
            <a:r>
              <a:t>: Intelligence In.. </a:t>
            </a:r>
            <a:r>
              <a:rPr>
                <a:solidFill>
                  <a:srgbClr val="00B0F0"/>
                </a:solidFill>
              </a:rPr>
              <a:t>Intelligence</a:t>
            </a:r>
            <a:r>
              <a:t> Out..</a:t>
            </a:r>
          </a:p>
        </p:txBody>
      </p:sp>
      <p:sp>
        <p:nvSpPr>
          <p:cNvPr id="158" name="Straight Connector 3"/>
          <p:cNvSpPr/>
          <p:nvPr/>
        </p:nvSpPr>
        <p:spPr>
          <a:xfrm>
            <a:off x="-7838" y="660943"/>
            <a:ext cx="9162000" cy="12426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1"/>
          <p:cNvSpPr txBox="1"/>
          <p:nvPr/>
        </p:nvSpPr>
        <p:spPr>
          <a:xfrm>
            <a:off x="9539" y="144587"/>
            <a:ext cx="8690080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Optimal</a:t>
            </a:r>
            <a:r>
              <a:rPr>
                <a:solidFill>
                  <a:srgbClr val="242852"/>
                </a:solidFill>
              </a:rPr>
              <a:t> Behavior </a:t>
            </a:r>
            <a:r>
              <a:rPr>
                <a:solidFill>
                  <a:srgbClr val="00B0F0"/>
                </a:solidFill>
              </a:rPr>
              <a:t>Differentiation</a:t>
            </a:r>
            <a:r>
              <a:rPr>
                <a:solidFill>
                  <a:srgbClr val="242852"/>
                </a:solidFill>
              </a:rPr>
              <a:t> for ‘</a:t>
            </a:r>
            <a:r>
              <a:rPr>
                <a:solidFill>
                  <a:srgbClr val="00B0F0"/>
                </a:solidFill>
              </a:rPr>
              <a:t>Relevant</a:t>
            </a:r>
            <a:r>
              <a:rPr>
                <a:solidFill>
                  <a:srgbClr val="242852"/>
                </a:solidFill>
              </a:rPr>
              <a:t>’ treatment</a:t>
            </a:r>
          </a:p>
        </p:txBody>
      </p:sp>
      <p:grpSp>
        <p:nvGrpSpPr>
          <p:cNvPr id="191" name="Diagram 2"/>
          <p:cNvGrpSpPr/>
          <p:nvPr/>
        </p:nvGrpSpPr>
        <p:grpSpPr>
          <a:xfrm>
            <a:off x="76146" y="2169168"/>
            <a:ext cx="8981647" cy="1183994"/>
            <a:chOff x="0" y="0"/>
            <a:chExt cx="8981646" cy="1183993"/>
          </a:xfrm>
        </p:grpSpPr>
        <p:grpSp>
          <p:nvGrpSpPr>
            <p:cNvPr id="163" name="Group"/>
            <p:cNvGrpSpPr/>
            <p:nvPr/>
          </p:nvGrpSpPr>
          <p:grpSpPr>
            <a:xfrm>
              <a:off x="338622" y="0"/>
              <a:ext cx="1354488" cy="1183994"/>
              <a:chOff x="0" y="0"/>
              <a:chExt cx="1354487" cy="1183993"/>
            </a:xfrm>
          </p:grpSpPr>
          <p:sp>
            <p:nvSpPr>
              <p:cNvPr id="161" name="Arrow"/>
              <p:cNvSpPr/>
              <p:nvPr/>
            </p:nvSpPr>
            <p:spPr>
              <a:xfrm>
                <a:off x="0" y="0"/>
                <a:ext cx="1354488" cy="1183994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solidFill>
                <a:srgbClr val="73FEFF"/>
              </a:solidFill>
              <a:ln w="25400" cap="flat">
                <a:solidFill>
                  <a:srgbClr val="D1DEEE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88950">
                  <a:lnSpc>
                    <a:spcPct val="90000"/>
                  </a:lnSpc>
                  <a:spcBef>
                    <a:spcPts val="500"/>
                  </a:spcBef>
                </a:pPr>
              </a:p>
            </p:txBody>
          </p:sp>
          <p:sp>
            <p:nvSpPr>
              <p:cNvPr id="162" name="Data Intel"/>
              <p:cNvSpPr txBox="1"/>
              <p:nvPr/>
            </p:nvSpPr>
            <p:spPr>
              <a:xfrm>
                <a:off x="359576" y="428166"/>
                <a:ext cx="632374" cy="3276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85" tIns="6985" rIns="6985" bIns="6985" numCol="1" anchor="ctr">
                <a:spAutoFit/>
              </a:bodyPr>
              <a:lstStyle>
                <a:lvl1pPr algn="ctr" defTabSz="488950">
                  <a:lnSpc>
                    <a:spcPct val="90000"/>
                  </a:lnSpc>
                  <a:spcBef>
                    <a:spcPts val="400"/>
                  </a:spcBef>
                  <a:defRPr b="1" sz="1100">
                    <a:solidFill>
                      <a:srgbClr val="072C6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Data Intel</a:t>
                </a:r>
              </a:p>
            </p:txBody>
          </p:sp>
        </p:grpSp>
        <p:grpSp>
          <p:nvGrpSpPr>
            <p:cNvPr id="166" name="Group"/>
            <p:cNvGrpSpPr/>
            <p:nvPr/>
          </p:nvGrpSpPr>
          <p:grpSpPr>
            <a:xfrm>
              <a:off x="0" y="253375"/>
              <a:ext cx="677245" cy="677245"/>
              <a:chOff x="0" y="0"/>
              <a:chExt cx="677244" cy="677244"/>
            </a:xfrm>
          </p:grpSpPr>
          <p:sp>
            <p:nvSpPr>
              <p:cNvPr id="164" name="Circle"/>
              <p:cNvSpPr/>
              <p:nvPr/>
            </p:nvSpPr>
            <p:spPr>
              <a:xfrm>
                <a:off x="-1" y="-1"/>
                <a:ext cx="677246" cy="677246"/>
              </a:xfrm>
              <a:prstGeom prst="ellipse">
                <a:avLst/>
              </a:prstGeom>
              <a:solidFill>
                <a:srgbClr val="73FEF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5" name="1"/>
              <p:cNvSpPr txBox="1"/>
              <p:nvPr/>
            </p:nvSpPr>
            <p:spPr>
              <a:xfrm>
                <a:off x="99179" y="173521"/>
                <a:ext cx="478885" cy="330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2700" tIns="12700" rIns="12700" bIns="12700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b="1" sz="2000">
                    <a:solidFill>
                      <a:srgbClr val="072C62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169" name="Group"/>
            <p:cNvGrpSpPr/>
            <p:nvPr/>
          </p:nvGrpSpPr>
          <p:grpSpPr>
            <a:xfrm>
              <a:off x="2022373" y="0"/>
              <a:ext cx="1354489" cy="1183994"/>
              <a:chOff x="0" y="0"/>
              <a:chExt cx="1354487" cy="1183993"/>
            </a:xfrm>
          </p:grpSpPr>
          <p:sp>
            <p:nvSpPr>
              <p:cNvPr id="167" name="Arrow"/>
              <p:cNvSpPr/>
              <p:nvPr/>
            </p:nvSpPr>
            <p:spPr>
              <a:xfrm>
                <a:off x="0" y="0"/>
                <a:ext cx="1354488" cy="1183994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solidFill>
                <a:srgbClr val="00B0F0">
                  <a:alpha val="90000"/>
                </a:srgbClr>
              </a:solidFill>
              <a:ln w="25400" cap="flat">
                <a:solidFill>
                  <a:srgbClr val="D1DEEE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88950">
                  <a:lnSpc>
                    <a:spcPct val="90000"/>
                  </a:lnSpc>
                  <a:spcBef>
                    <a:spcPts val="500"/>
                  </a:spcBef>
                </a:pPr>
              </a:p>
            </p:txBody>
          </p:sp>
          <p:sp>
            <p:nvSpPr>
              <p:cNvPr id="168" name="Machine Learning"/>
              <p:cNvSpPr txBox="1"/>
              <p:nvPr/>
            </p:nvSpPr>
            <p:spPr>
              <a:xfrm>
                <a:off x="359577" y="428166"/>
                <a:ext cx="632374" cy="3276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85" tIns="6985" rIns="6985" bIns="6985" numCol="1" anchor="ctr">
                <a:spAutoFit/>
              </a:bodyPr>
              <a:lstStyle>
                <a:lvl1pPr algn="ctr" defTabSz="488950">
                  <a:lnSpc>
                    <a:spcPct val="90000"/>
                  </a:lnSpc>
                  <a:spcBef>
                    <a:spcPts val="400"/>
                  </a:spcBef>
                  <a:defRPr b="1" sz="11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Machine Learning</a:t>
                </a:r>
              </a:p>
            </p:txBody>
          </p:sp>
        </p:grpSp>
        <p:grpSp>
          <p:nvGrpSpPr>
            <p:cNvPr id="172" name="Group"/>
            <p:cNvGrpSpPr/>
            <p:nvPr/>
          </p:nvGrpSpPr>
          <p:grpSpPr>
            <a:xfrm>
              <a:off x="1675204" y="253375"/>
              <a:ext cx="677245" cy="677245"/>
              <a:chOff x="0" y="0"/>
              <a:chExt cx="677244" cy="677244"/>
            </a:xfrm>
          </p:grpSpPr>
          <p:sp>
            <p:nvSpPr>
              <p:cNvPr id="170" name="Circle"/>
              <p:cNvSpPr/>
              <p:nvPr/>
            </p:nvSpPr>
            <p:spPr>
              <a:xfrm>
                <a:off x="-1" y="-1"/>
                <a:ext cx="677246" cy="677246"/>
              </a:xfrm>
              <a:prstGeom prst="ellipse">
                <a:avLst/>
              </a:prstGeom>
              <a:solidFill>
                <a:srgbClr val="00B0F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1" name="2"/>
              <p:cNvSpPr txBox="1"/>
              <p:nvPr/>
            </p:nvSpPr>
            <p:spPr>
              <a:xfrm>
                <a:off x="99179" y="173521"/>
                <a:ext cx="478885" cy="330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2700" tIns="12700" rIns="12700" bIns="12700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b="1" sz="20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175" name="Group"/>
            <p:cNvGrpSpPr/>
            <p:nvPr/>
          </p:nvGrpSpPr>
          <p:grpSpPr>
            <a:xfrm>
              <a:off x="3919794" y="0"/>
              <a:ext cx="1354489" cy="1183994"/>
              <a:chOff x="0" y="0"/>
              <a:chExt cx="1354487" cy="1183993"/>
            </a:xfrm>
          </p:grpSpPr>
          <p:sp>
            <p:nvSpPr>
              <p:cNvPr id="173" name="Arrow"/>
              <p:cNvSpPr/>
              <p:nvPr/>
            </p:nvSpPr>
            <p:spPr>
              <a:xfrm>
                <a:off x="0" y="0"/>
                <a:ext cx="1354488" cy="1183994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solidFill>
                <a:schemeClr val="accent2">
                  <a:alpha val="90000"/>
                </a:schemeClr>
              </a:solidFill>
              <a:ln w="25400" cap="flat">
                <a:solidFill>
                  <a:srgbClr val="D1DEEE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500"/>
                  </a:spcBef>
                </a:pPr>
              </a:p>
            </p:txBody>
          </p:sp>
          <p:sp>
            <p:nvSpPr>
              <p:cNvPr id="174" name="Profile Mapping"/>
              <p:cNvSpPr txBox="1"/>
              <p:nvPr/>
            </p:nvSpPr>
            <p:spPr>
              <a:xfrm>
                <a:off x="359576" y="428166"/>
                <a:ext cx="632374" cy="3276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85" tIns="6985" rIns="6985" bIns="6985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b="1" sz="11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Profile Mapping</a:t>
                </a:r>
              </a:p>
            </p:txBody>
          </p:sp>
        </p:grpSp>
        <p:grpSp>
          <p:nvGrpSpPr>
            <p:cNvPr id="178" name="Group"/>
            <p:cNvGrpSpPr/>
            <p:nvPr/>
          </p:nvGrpSpPr>
          <p:grpSpPr>
            <a:xfrm>
              <a:off x="3546985" y="253375"/>
              <a:ext cx="677245" cy="677245"/>
              <a:chOff x="0" y="0"/>
              <a:chExt cx="677244" cy="677244"/>
            </a:xfrm>
          </p:grpSpPr>
          <p:sp>
            <p:nvSpPr>
              <p:cNvPr id="176" name="Circle"/>
              <p:cNvSpPr/>
              <p:nvPr/>
            </p:nvSpPr>
            <p:spPr>
              <a:xfrm>
                <a:off x="-1" y="-1"/>
                <a:ext cx="677246" cy="67724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7" name="3"/>
              <p:cNvSpPr txBox="1"/>
              <p:nvPr/>
            </p:nvSpPr>
            <p:spPr>
              <a:xfrm>
                <a:off x="99179" y="173521"/>
                <a:ext cx="478885" cy="330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2700" tIns="12700" rIns="12700" bIns="12700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b="1" sz="20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181" name="Group"/>
            <p:cNvGrpSpPr/>
            <p:nvPr/>
          </p:nvGrpSpPr>
          <p:grpSpPr>
            <a:xfrm>
              <a:off x="5537182" y="0"/>
              <a:ext cx="1709434" cy="1183994"/>
              <a:chOff x="0" y="0"/>
              <a:chExt cx="1709432" cy="1183993"/>
            </a:xfrm>
          </p:grpSpPr>
          <p:sp>
            <p:nvSpPr>
              <p:cNvPr id="179" name="Arrow"/>
              <p:cNvSpPr/>
              <p:nvPr/>
            </p:nvSpPr>
            <p:spPr>
              <a:xfrm>
                <a:off x="0" y="0"/>
                <a:ext cx="1709433" cy="1183994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solidFill>
                <a:srgbClr val="0E58C4">
                  <a:alpha val="90000"/>
                </a:srgbClr>
              </a:solidFill>
              <a:ln w="25400" cap="flat">
                <a:solidFill>
                  <a:srgbClr val="D1DEEE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488950">
                  <a:lnSpc>
                    <a:spcPct val="90000"/>
                  </a:lnSpc>
                  <a:spcBef>
                    <a:spcPts val="500"/>
                  </a:spcBef>
                </a:pPr>
              </a:p>
            </p:txBody>
          </p:sp>
          <p:sp>
            <p:nvSpPr>
              <p:cNvPr id="180" name="Output Validation"/>
              <p:cNvSpPr txBox="1"/>
              <p:nvPr/>
            </p:nvSpPr>
            <p:spPr>
              <a:xfrm>
                <a:off x="448313" y="428166"/>
                <a:ext cx="839737" cy="3276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85" tIns="6985" rIns="6985" bIns="6985" numCol="1" anchor="ctr">
                <a:spAutoFit/>
              </a:bodyPr>
              <a:lstStyle>
                <a:lvl1pPr defTabSz="488950">
                  <a:lnSpc>
                    <a:spcPct val="90000"/>
                  </a:lnSpc>
                  <a:spcBef>
                    <a:spcPts val="400"/>
                  </a:spcBef>
                  <a:defRPr b="1" sz="11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Output Validation</a:t>
                </a:r>
              </a:p>
            </p:txBody>
          </p:sp>
        </p:grpSp>
        <p:grpSp>
          <p:nvGrpSpPr>
            <p:cNvPr id="184" name="Group"/>
            <p:cNvGrpSpPr/>
            <p:nvPr/>
          </p:nvGrpSpPr>
          <p:grpSpPr>
            <a:xfrm>
              <a:off x="5264923" y="253375"/>
              <a:ext cx="677245" cy="677245"/>
              <a:chOff x="0" y="0"/>
              <a:chExt cx="677244" cy="677244"/>
            </a:xfrm>
          </p:grpSpPr>
          <p:sp>
            <p:nvSpPr>
              <p:cNvPr id="182" name="Circle"/>
              <p:cNvSpPr/>
              <p:nvPr/>
            </p:nvSpPr>
            <p:spPr>
              <a:xfrm>
                <a:off x="-1" y="-1"/>
                <a:ext cx="677246" cy="677246"/>
              </a:xfrm>
              <a:prstGeom prst="ellipse">
                <a:avLst/>
              </a:prstGeom>
              <a:solidFill>
                <a:srgbClr val="0E58C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3" name="4"/>
              <p:cNvSpPr txBox="1"/>
              <p:nvPr/>
            </p:nvSpPr>
            <p:spPr>
              <a:xfrm>
                <a:off x="99179" y="173521"/>
                <a:ext cx="478885" cy="330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2700" tIns="12700" rIns="12700" bIns="12700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b="1" sz="20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187" name="Group"/>
            <p:cNvGrpSpPr/>
            <p:nvPr/>
          </p:nvGrpSpPr>
          <p:grpSpPr>
            <a:xfrm>
              <a:off x="7627158" y="0"/>
              <a:ext cx="1354489" cy="1183994"/>
              <a:chOff x="0" y="0"/>
              <a:chExt cx="1354487" cy="1183993"/>
            </a:xfrm>
          </p:grpSpPr>
          <p:sp>
            <p:nvSpPr>
              <p:cNvPr id="185" name="Arrow"/>
              <p:cNvSpPr/>
              <p:nvPr/>
            </p:nvSpPr>
            <p:spPr>
              <a:xfrm>
                <a:off x="0" y="0"/>
                <a:ext cx="1354488" cy="1183994"/>
              </a:xfrm>
              <a:prstGeom prst="rightArrow">
                <a:avLst>
                  <a:gd name="adj1" fmla="val 70000"/>
                  <a:gd name="adj2" fmla="val 50000"/>
                </a:avLst>
              </a:prstGeom>
              <a:solidFill>
                <a:srgbClr val="005493">
                  <a:alpha val="90000"/>
                </a:srgbClr>
              </a:solidFill>
              <a:ln w="25400" cap="flat">
                <a:solidFill>
                  <a:srgbClr val="D1DEEE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488950">
                  <a:lnSpc>
                    <a:spcPct val="90000"/>
                  </a:lnSpc>
                  <a:spcBef>
                    <a:spcPts val="500"/>
                  </a:spcBef>
                </a:pPr>
              </a:p>
            </p:txBody>
          </p:sp>
          <p:sp>
            <p:nvSpPr>
              <p:cNvPr id="186" name="Target Defn."/>
              <p:cNvSpPr txBox="1"/>
              <p:nvPr/>
            </p:nvSpPr>
            <p:spPr>
              <a:xfrm>
                <a:off x="359578" y="428166"/>
                <a:ext cx="632374" cy="3276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6985" tIns="6985" rIns="6985" bIns="6985" numCol="1" anchor="ctr">
                <a:spAutoFit/>
              </a:bodyPr>
              <a:lstStyle>
                <a:lvl1pPr algn="ctr" defTabSz="488950">
                  <a:lnSpc>
                    <a:spcPct val="90000"/>
                  </a:lnSpc>
                  <a:spcBef>
                    <a:spcPts val="400"/>
                  </a:spcBef>
                  <a:defRPr b="1" sz="11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Target Defn.</a:t>
                </a:r>
              </a:p>
            </p:txBody>
          </p:sp>
        </p:grpSp>
        <p:grpSp>
          <p:nvGrpSpPr>
            <p:cNvPr id="190" name="Group"/>
            <p:cNvGrpSpPr/>
            <p:nvPr/>
          </p:nvGrpSpPr>
          <p:grpSpPr>
            <a:xfrm>
              <a:off x="7288536" y="253375"/>
              <a:ext cx="677245" cy="677245"/>
              <a:chOff x="0" y="0"/>
              <a:chExt cx="677244" cy="677244"/>
            </a:xfrm>
          </p:grpSpPr>
          <p:sp>
            <p:nvSpPr>
              <p:cNvPr id="188" name="Circle"/>
              <p:cNvSpPr/>
              <p:nvPr/>
            </p:nvSpPr>
            <p:spPr>
              <a:xfrm>
                <a:off x="-1" y="-1"/>
                <a:ext cx="677246" cy="677246"/>
              </a:xfrm>
              <a:prstGeom prst="ellipse">
                <a:avLst/>
              </a:prstGeom>
              <a:solidFill>
                <a:srgbClr val="00549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9000">
                  <a:lnSpc>
                    <a:spcPct val="90000"/>
                  </a:lnSpc>
                  <a:spcBef>
                    <a:spcPts val="5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9" name="5"/>
              <p:cNvSpPr txBox="1"/>
              <p:nvPr/>
            </p:nvSpPr>
            <p:spPr>
              <a:xfrm>
                <a:off x="99179" y="173521"/>
                <a:ext cx="478885" cy="330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2700" tIns="12700" rIns="12700" bIns="12700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b="1" sz="20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</p:grpSp>
      <p:grpSp>
        <p:nvGrpSpPr>
          <p:cNvPr id="194" name="Rounded Rectangle 9"/>
          <p:cNvGrpSpPr/>
          <p:nvPr/>
        </p:nvGrpSpPr>
        <p:grpSpPr>
          <a:xfrm>
            <a:off x="171754" y="3462268"/>
            <a:ext cx="1710512" cy="1202595"/>
            <a:chOff x="0" y="0"/>
            <a:chExt cx="1710511" cy="1202594"/>
          </a:xfrm>
        </p:grpSpPr>
        <p:sp>
          <p:nvSpPr>
            <p:cNvPr id="192" name="Rounded Rectangle"/>
            <p:cNvSpPr/>
            <p:nvPr/>
          </p:nvSpPr>
          <p:spPr>
            <a:xfrm>
              <a:off x="0" y="0"/>
              <a:ext cx="1710512" cy="1202595"/>
            </a:xfrm>
            <a:prstGeom prst="roundRect">
              <a:avLst>
                <a:gd name="adj" fmla="val 31344"/>
              </a:avLst>
            </a:prstGeom>
            <a:noFill/>
            <a:ln w="25400" cap="flat">
              <a:solidFill>
                <a:srgbClr val="73FE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3" name="Data Discovery…"/>
            <p:cNvSpPr txBox="1"/>
            <p:nvPr/>
          </p:nvSpPr>
          <p:spPr>
            <a:xfrm>
              <a:off x="168821" y="174577"/>
              <a:ext cx="1372869" cy="853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Data Discovery</a:t>
              </a:r>
              <a:endParaRPr>
                <a:solidFill>
                  <a:srgbClr val="FFFFFF"/>
                </a:solidFill>
              </a:endParaRPr>
            </a:p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Data Massaging</a:t>
              </a:r>
              <a:endParaRPr>
                <a:solidFill>
                  <a:srgbClr val="FFFFFF"/>
                </a:solidFill>
              </a:endParaRPr>
            </a:p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Feature Engineering</a:t>
              </a:r>
              <a:endParaRPr>
                <a:solidFill>
                  <a:srgbClr val="FFFFFF"/>
                </a:solidFill>
              </a:endParaRPr>
            </a:p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Base definition</a:t>
              </a:r>
            </a:p>
          </p:txBody>
        </p:sp>
      </p:grpSp>
      <p:grpSp>
        <p:nvGrpSpPr>
          <p:cNvPr id="197" name="Rounded Rectangle 10"/>
          <p:cNvGrpSpPr/>
          <p:nvPr/>
        </p:nvGrpSpPr>
        <p:grpSpPr>
          <a:xfrm>
            <a:off x="180038" y="904619"/>
            <a:ext cx="8794135" cy="1122660"/>
            <a:chOff x="0" y="0"/>
            <a:chExt cx="8794133" cy="1122658"/>
          </a:xfrm>
        </p:grpSpPr>
        <p:sp>
          <p:nvSpPr>
            <p:cNvPr id="195" name="Rounded Rectangle"/>
            <p:cNvSpPr/>
            <p:nvPr/>
          </p:nvSpPr>
          <p:spPr>
            <a:xfrm>
              <a:off x="0" y="0"/>
              <a:ext cx="8794134" cy="1122659"/>
            </a:xfrm>
            <a:prstGeom prst="roundRect">
              <a:avLst>
                <a:gd name="adj" fmla="val 16667"/>
              </a:avLst>
            </a:prstGeom>
            <a:noFill/>
            <a:ln w="25400" cap="flat">
              <a:solidFill>
                <a:srgbClr val="D8D3D9"/>
              </a:solidFill>
              <a:prstDash val="sys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Phase 1 : Focusing on the 12.8 Crore+ Last 12 Months Active Base…"/>
            <p:cNvSpPr txBox="1"/>
            <p:nvPr/>
          </p:nvSpPr>
          <p:spPr>
            <a:xfrm>
              <a:off x="113223" y="71109"/>
              <a:ext cx="8567688" cy="980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200"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Phase 1 : Focusing on the </a:t>
              </a:r>
              <a:r>
                <a:rPr>
                  <a:solidFill>
                    <a:srgbClr val="00B0F0"/>
                  </a:solidFill>
                </a:rPr>
                <a:t>12.8 Crore+ Last 12 Months Active Base</a:t>
              </a:r>
              <a:endParaRPr>
                <a:solidFill>
                  <a:srgbClr val="FFFFFF"/>
                </a:solidFill>
              </a:endParaR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200">
                  <a:solidFill>
                    <a:srgbClr val="0070C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200"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Coverage on Major data dimensions e.g., App </a:t>
              </a:r>
              <a:r>
                <a:rPr i="1">
                  <a:solidFill>
                    <a:srgbClr val="00B0F0"/>
                  </a:solidFill>
                </a:rPr>
                <a:t>activity, Category penetration &amp; spends, Off-Us/ Bureau</a:t>
              </a:r>
              <a:endParaRPr>
                <a:solidFill>
                  <a:srgbClr val="FFFFFF"/>
                </a:solidFill>
              </a:endParaR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200"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200"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Robust, Scientific, Machine Learning based accurate predictions and </a:t>
              </a:r>
              <a:r>
                <a:rPr>
                  <a:solidFill>
                    <a:srgbClr val="00B0F0"/>
                  </a:solidFill>
                </a:rPr>
                <a:t>treatment</a:t>
              </a:r>
              <a:r>
                <a:t> alignment</a:t>
              </a:r>
            </a:p>
          </p:txBody>
        </p:sp>
      </p:grpSp>
      <p:grpSp>
        <p:nvGrpSpPr>
          <p:cNvPr id="200" name="Rounded Rectangle 11"/>
          <p:cNvGrpSpPr/>
          <p:nvPr/>
        </p:nvGrpSpPr>
        <p:grpSpPr>
          <a:xfrm>
            <a:off x="1946972" y="3462268"/>
            <a:ext cx="1710512" cy="1202595"/>
            <a:chOff x="0" y="0"/>
            <a:chExt cx="1710511" cy="1202594"/>
          </a:xfrm>
        </p:grpSpPr>
        <p:sp>
          <p:nvSpPr>
            <p:cNvPr id="198" name="Rounded Rectangle"/>
            <p:cNvSpPr/>
            <p:nvPr/>
          </p:nvSpPr>
          <p:spPr>
            <a:xfrm>
              <a:off x="0" y="0"/>
              <a:ext cx="1710512" cy="1202595"/>
            </a:xfrm>
            <a:prstGeom prst="roundRect">
              <a:avLst>
                <a:gd name="adj" fmla="val 31344"/>
              </a:avLst>
            </a:prstGeom>
            <a:noFill/>
            <a:ln w="25400" cap="flat">
              <a:solidFill>
                <a:srgbClr val="00B0F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i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199" name="Unsupervised Learning…"/>
            <p:cNvSpPr txBox="1"/>
            <p:nvPr/>
          </p:nvSpPr>
          <p:spPr>
            <a:xfrm>
              <a:off x="168821" y="187277"/>
              <a:ext cx="1372869" cy="828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Unsupervised Learning</a:t>
              </a:r>
              <a:endParaRPr>
                <a:solidFill>
                  <a:srgbClr val="FFFFFF"/>
                </a:solidFill>
              </a:endParaRPr>
            </a:p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Purity of Similarity</a:t>
              </a:r>
              <a:endParaRPr>
                <a:solidFill>
                  <a:srgbClr val="FFFFFF"/>
                </a:solidFill>
              </a:endParaRPr>
            </a:p>
            <a:p>
              <a: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Parameter Tuning </a:t>
              </a:r>
              <a:r>
                <a:rPr sz="800"/>
                <a:t>(</a:t>
              </a:r>
              <a:r>
                <a:rPr i="1" sz="800"/>
                <a:t>right ‘k’)</a:t>
              </a:r>
            </a:p>
          </p:txBody>
        </p:sp>
      </p:grpSp>
      <p:grpSp>
        <p:nvGrpSpPr>
          <p:cNvPr id="203" name="Rounded Rectangle 12"/>
          <p:cNvGrpSpPr/>
          <p:nvPr/>
        </p:nvGrpSpPr>
        <p:grpSpPr>
          <a:xfrm>
            <a:off x="3722189" y="3462268"/>
            <a:ext cx="1710512" cy="1202595"/>
            <a:chOff x="0" y="0"/>
            <a:chExt cx="1710511" cy="1202594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1710512" cy="1202595"/>
            </a:xfrm>
            <a:prstGeom prst="roundRect">
              <a:avLst>
                <a:gd name="adj" fmla="val 31344"/>
              </a:avLst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2" name="Diving Deeper into each one…"/>
            <p:cNvSpPr txBox="1"/>
            <p:nvPr/>
          </p:nvSpPr>
          <p:spPr>
            <a:xfrm>
              <a:off x="168821" y="98377"/>
              <a:ext cx="1372869" cy="1005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Diving Deeper into each one</a:t>
              </a:r>
              <a:endParaRPr>
                <a:solidFill>
                  <a:srgbClr val="FFFFFF"/>
                </a:solidFill>
              </a:endParaR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Defining Uniqueness</a:t>
              </a:r>
              <a:endParaRPr>
                <a:solidFill>
                  <a:srgbClr val="FFFFFF"/>
                </a:solidFill>
              </a:endParaR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Affinity/ Association</a:t>
              </a:r>
            </a:p>
          </p:txBody>
        </p:sp>
      </p:grpSp>
      <p:grpSp>
        <p:nvGrpSpPr>
          <p:cNvPr id="206" name="Rounded Rectangle 13"/>
          <p:cNvGrpSpPr/>
          <p:nvPr/>
        </p:nvGrpSpPr>
        <p:grpSpPr>
          <a:xfrm>
            <a:off x="5497407" y="3462268"/>
            <a:ext cx="1710512" cy="1202595"/>
            <a:chOff x="0" y="0"/>
            <a:chExt cx="1710511" cy="1202594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1710512" cy="1202595"/>
            </a:xfrm>
            <a:prstGeom prst="roundRect">
              <a:avLst>
                <a:gd name="adj" fmla="val 31344"/>
              </a:avLst>
            </a:prstGeom>
            <a:noFill/>
            <a:ln w="25400" cap="flat">
              <a:solidFill>
                <a:srgbClr val="0E58C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5" name="70+ vars reduction to 2-3 PCA/ t-SNE/ UMAP to validate via advanced visualization"/>
            <p:cNvSpPr txBox="1"/>
            <p:nvPr/>
          </p:nvSpPr>
          <p:spPr>
            <a:xfrm>
              <a:off x="168821" y="174577"/>
              <a:ext cx="1372869" cy="853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marL="138112" indent="-138112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pPr/>
              <a:r>
                <a:t>70+ vars reduction to 2-3 PCA/ t-SNE/ UMAP to validate via advanced visualization</a:t>
              </a:r>
            </a:p>
          </p:txBody>
        </p:sp>
      </p:grpSp>
      <p:grpSp>
        <p:nvGrpSpPr>
          <p:cNvPr id="209" name="Rounded Rectangle 14"/>
          <p:cNvGrpSpPr/>
          <p:nvPr/>
        </p:nvGrpSpPr>
        <p:grpSpPr>
          <a:xfrm>
            <a:off x="7272626" y="3462268"/>
            <a:ext cx="1710512" cy="1202595"/>
            <a:chOff x="0" y="0"/>
            <a:chExt cx="1710511" cy="1202594"/>
          </a:xfrm>
        </p:grpSpPr>
        <p:sp>
          <p:nvSpPr>
            <p:cNvPr id="207" name="Rounded Rectangle"/>
            <p:cNvSpPr/>
            <p:nvPr/>
          </p:nvSpPr>
          <p:spPr>
            <a:xfrm>
              <a:off x="0" y="0"/>
              <a:ext cx="1710512" cy="1202595"/>
            </a:xfrm>
            <a:prstGeom prst="roundRect">
              <a:avLst>
                <a:gd name="adj" fmla="val 31344"/>
              </a:avLst>
            </a:prstGeom>
            <a:noFill/>
            <a:ln w="25400" cap="flat">
              <a:solidFill>
                <a:srgbClr val="00549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8" name="Objectivity/ Supervised…"/>
            <p:cNvSpPr txBox="1"/>
            <p:nvPr/>
          </p:nvSpPr>
          <p:spPr>
            <a:xfrm>
              <a:off x="168821" y="174577"/>
              <a:ext cx="1372869" cy="853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Objectivity/ Supervised</a:t>
              </a:r>
              <a:endParaRPr>
                <a:solidFill>
                  <a:srgbClr val="FFFFFF"/>
                </a:solidFill>
              </a:endParaR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RFM Overlay</a:t>
              </a:r>
              <a:endParaRPr>
                <a:solidFill>
                  <a:srgbClr val="FFFFFF"/>
                </a:solidFill>
              </a:endParaRPr>
            </a:p>
            <a:p>
              <a:pPr marL="285750" indent="-285750">
                <a:buClr>
                  <a:srgbClr val="000000"/>
                </a:buClr>
                <a:buSzPct val="100000"/>
                <a:buFont typeface="Arial"/>
                <a:buChar char="•"/>
                <a:defRPr b="1" sz="1000">
                  <a:solidFill>
                    <a:srgbClr val="00206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Final Tier Assignment</a:t>
              </a:r>
            </a:p>
          </p:txBody>
        </p:sp>
      </p:grpSp>
      <p:grpSp>
        <p:nvGrpSpPr>
          <p:cNvPr id="212" name="Oval 4"/>
          <p:cNvGrpSpPr/>
          <p:nvPr/>
        </p:nvGrpSpPr>
        <p:grpSpPr>
          <a:xfrm>
            <a:off x="2943766" y="2119259"/>
            <a:ext cx="505655" cy="504001"/>
            <a:chOff x="0" y="0"/>
            <a:chExt cx="505654" cy="504000"/>
          </a:xfrm>
        </p:grpSpPr>
        <p:sp>
          <p:nvSpPr>
            <p:cNvPr id="210" name="Circle"/>
            <p:cNvSpPr/>
            <p:nvPr/>
          </p:nvSpPr>
          <p:spPr>
            <a:xfrm>
              <a:off x="-1" y="-1"/>
              <a:ext cx="505656" cy="504002"/>
            </a:xfrm>
            <a:prstGeom prst="ellipse">
              <a:avLst/>
            </a:prstGeom>
            <a:solidFill>
              <a:srgbClr val="FF9300"/>
            </a:solidFill>
            <a:ln w="25400" cap="flat">
              <a:solidFill>
                <a:srgbClr val="487399"/>
              </a:solidFill>
              <a:prstDash val="sysDot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1" name="7"/>
            <p:cNvSpPr txBox="1"/>
            <p:nvPr/>
          </p:nvSpPr>
          <p:spPr>
            <a:xfrm>
              <a:off x="132470" y="98329"/>
              <a:ext cx="240713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213" name="TextBox 5"/>
          <p:cNvSpPr txBox="1"/>
          <p:nvPr/>
        </p:nvSpPr>
        <p:spPr>
          <a:xfrm>
            <a:off x="3213606" y="2259945"/>
            <a:ext cx="76917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1000">
                <a:solidFill>
                  <a:srgbClr val="072C6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Clusters</a:t>
            </a:r>
          </a:p>
        </p:txBody>
      </p:sp>
      <p:sp>
        <p:nvSpPr>
          <p:cNvPr id="214" name="Straight Connector 1"/>
          <p:cNvSpPr/>
          <p:nvPr/>
        </p:nvSpPr>
        <p:spPr>
          <a:xfrm>
            <a:off x="-7838" y="660943"/>
            <a:ext cx="9162000" cy="12426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2"/>
          <p:cNvSpPr txBox="1"/>
          <p:nvPr/>
        </p:nvSpPr>
        <p:spPr>
          <a:xfrm>
            <a:off x="2938733" y="646407"/>
            <a:ext cx="278359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Retention Rate Band</a:t>
            </a:r>
          </a:p>
        </p:txBody>
      </p:sp>
      <p:graphicFrame>
        <p:nvGraphicFramePr>
          <p:cNvPr id="217" name="Table 15"/>
          <p:cNvGraphicFramePr/>
          <p:nvPr/>
        </p:nvGraphicFramePr>
        <p:xfrm>
          <a:off x="197888" y="969893"/>
          <a:ext cx="8738343" cy="19535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583032"/>
                <a:gridCol w="879330"/>
                <a:gridCol w="879330"/>
                <a:gridCol w="879330"/>
                <a:gridCol w="879330"/>
                <a:gridCol w="879330"/>
                <a:gridCol w="879330"/>
                <a:gridCol w="879330"/>
              </a:tblGrid>
              <a:tr h="22526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{Cluster } –  ( %Pop | %Spends 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(&lt;= 15%)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(&lt;=30%)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(&lt;=50%)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(&lt;= 75%)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 (&lt;=90%)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6 (&lt;=99%)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 (&gt; 99%)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{Champion} (10% | 47%)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{Loyalist} (7% | 19%)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{Promisor} (13% | 13%)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{Attention-Seeker} (20% | 13%)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{Potentialist} (12% | 03%)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{Napster} (20% | 03%)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4689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{Hibernator} (19% | 02%)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8" name="Rectangle 28"/>
          <p:cNvSpPr/>
          <p:nvPr/>
        </p:nvSpPr>
        <p:spPr>
          <a:xfrm>
            <a:off x="5400226" y="885257"/>
            <a:ext cx="3612999" cy="2122785"/>
          </a:xfrm>
          <a:prstGeom prst="rect">
            <a:avLst/>
          </a:prstGeom>
          <a:ln w="254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Rectangle 36"/>
          <p:cNvSpPr/>
          <p:nvPr/>
        </p:nvSpPr>
        <p:spPr>
          <a:xfrm>
            <a:off x="2780204" y="1177428"/>
            <a:ext cx="2620022" cy="1745977"/>
          </a:xfrm>
          <a:prstGeom prst="rect">
            <a:avLst/>
          </a:prstGeom>
          <a:solidFill>
            <a:srgbClr val="000000">
              <a:alpha val="44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Rectangle 39"/>
          <p:cNvSpPr txBox="1"/>
          <p:nvPr/>
        </p:nvSpPr>
        <p:spPr>
          <a:xfrm>
            <a:off x="8224239" y="1356267"/>
            <a:ext cx="74326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*2,776 Cr. </a:t>
            </a:r>
          </a:p>
        </p:txBody>
      </p:sp>
      <p:sp>
        <p:nvSpPr>
          <p:cNvPr id="221" name="Rectangle 40"/>
          <p:cNvSpPr txBox="1"/>
          <p:nvPr/>
        </p:nvSpPr>
        <p:spPr>
          <a:xfrm>
            <a:off x="7266171" y="1779776"/>
            <a:ext cx="85232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 *</a:t>
            </a:r>
            <a:r>
              <a:rPr sz="1000">
                <a:latin typeface="Open Sans"/>
                <a:ea typeface="Open Sans"/>
                <a:cs typeface="Open Sans"/>
                <a:sym typeface="Open Sans"/>
              </a:rPr>
              <a:t>1,529 Cr.</a:t>
            </a:r>
          </a:p>
        </p:txBody>
      </p:sp>
      <p:sp>
        <p:nvSpPr>
          <p:cNvPr id="222" name="Rectangle 41"/>
          <p:cNvSpPr txBox="1"/>
          <p:nvPr/>
        </p:nvSpPr>
        <p:spPr>
          <a:xfrm>
            <a:off x="6384183" y="1883649"/>
            <a:ext cx="81037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*1,065 Cr.</a:t>
            </a:r>
          </a:p>
        </p:txBody>
      </p:sp>
      <p:sp>
        <p:nvSpPr>
          <p:cNvPr id="223" name="Rectangle 42"/>
          <p:cNvSpPr txBox="1"/>
          <p:nvPr/>
        </p:nvSpPr>
        <p:spPr>
          <a:xfrm>
            <a:off x="5460251" y="2096260"/>
            <a:ext cx="83554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*1,217 Cr.</a:t>
            </a:r>
          </a:p>
        </p:txBody>
      </p:sp>
      <p:grpSp>
        <p:nvGrpSpPr>
          <p:cNvPr id="248" name="Diagram 43"/>
          <p:cNvGrpSpPr/>
          <p:nvPr/>
        </p:nvGrpSpPr>
        <p:grpSpPr>
          <a:xfrm>
            <a:off x="1930913" y="3049452"/>
            <a:ext cx="7082307" cy="1744690"/>
            <a:chOff x="0" y="0"/>
            <a:chExt cx="7082305" cy="1744688"/>
          </a:xfrm>
        </p:grpSpPr>
        <p:grpSp>
          <p:nvGrpSpPr>
            <p:cNvPr id="226" name="Group"/>
            <p:cNvGrpSpPr/>
            <p:nvPr/>
          </p:nvGrpSpPr>
          <p:grpSpPr>
            <a:xfrm>
              <a:off x="0" y="10906"/>
              <a:ext cx="1698594" cy="201601"/>
              <a:chOff x="0" y="0"/>
              <a:chExt cx="1698593" cy="201600"/>
            </a:xfrm>
          </p:grpSpPr>
          <p:sp>
            <p:nvSpPr>
              <p:cNvPr id="224" name="Rectangle"/>
              <p:cNvSpPr/>
              <p:nvPr/>
            </p:nvSpPr>
            <p:spPr>
              <a:xfrm>
                <a:off x="0" y="-1"/>
                <a:ext cx="1698594" cy="201602"/>
              </a:xfrm>
              <a:prstGeom prst="rect">
                <a:avLst/>
              </a:prstGeom>
              <a:solidFill>
                <a:srgbClr val="80808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lnSpc>
                    <a:spcPct val="90000"/>
                  </a:lnSpc>
                  <a:spcBef>
                    <a:spcPts val="500"/>
                  </a:spcBef>
                  <a:defRPr sz="8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25" name="Low Retention and Spend"/>
              <p:cNvSpPr txBox="1"/>
              <p:nvPr/>
            </p:nvSpPr>
            <p:spPr>
              <a:xfrm>
                <a:off x="24384" y="4788"/>
                <a:ext cx="1649827" cy="1920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2511" tIns="32511" rIns="32511" bIns="32511" numCol="1" anchor="ctr">
                <a:spAutoFit/>
              </a:bodyPr>
              <a:lstStyle>
                <a:lvl1pPr algn="ctr" defTabSz="355600">
                  <a:lnSpc>
                    <a:spcPct val="90000"/>
                  </a:lnSpc>
                  <a:spcBef>
                    <a:spcPts val="300"/>
                  </a:spcBef>
                  <a:defRPr sz="8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Low Retention and Spend</a:t>
                </a:r>
              </a:p>
            </p:txBody>
          </p:sp>
        </p:grpSp>
        <p:grpSp>
          <p:nvGrpSpPr>
            <p:cNvPr id="229" name="Group"/>
            <p:cNvGrpSpPr/>
            <p:nvPr/>
          </p:nvGrpSpPr>
          <p:grpSpPr>
            <a:xfrm>
              <a:off x="0" y="212508"/>
              <a:ext cx="1698594" cy="1531196"/>
              <a:chOff x="0" y="0"/>
              <a:chExt cx="1698593" cy="1531195"/>
            </a:xfrm>
          </p:grpSpPr>
          <p:sp>
            <p:nvSpPr>
              <p:cNvPr id="227" name="Rectangle"/>
              <p:cNvSpPr/>
              <p:nvPr/>
            </p:nvSpPr>
            <p:spPr>
              <a:xfrm>
                <a:off x="0" y="-1"/>
                <a:ext cx="1698594" cy="1531197"/>
              </a:xfrm>
              <a:prstGeom prst="rect">
                <a:avLst/>
              </a:prstGeom>
              <a:solidFill>
                <a:srgbClr val="CBCBCF">
                  <a:alpha val="90000"/>
                </a:srgbClr>
              </a:solidFill>
              <a:ln w="25400" cap="flat">
                <a:solidFill>
                  <a:srgbClr val="CBCBCF">
                    <a:alpha val="90000"/>
                  </a:srgbClr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ts val="200"/>
                  </a:spcBef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28" name="Below average target group…"/>
              <p:cNvSpPr txBox="1"/>
              <p:nvPr/>
            </p:nvSpPr>
            <p:spPr>
              <a:xfrm>
                <a:off x="0" y="0"/>
                <a:ext cx="1684371" cy="8752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2671" tIns="42671" rIns="42671" bIns="42671" numCol="1" anchor="t">
                <a:spAutoFit/>
              </a:bodyPr>
              <a:lstStyle/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Below average target group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Expected low penetration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Push on: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Utility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Entertainment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Mobile</a:t>
                </a:r>
                <a:r>
                  <a:rPr sz="500"/>
                  <a:t> </a:t>
                </a:r>
                <a:r>
                  <a:t>Prepaid</a:t>
                </a:r>
              </a:p>
            </p:txBody>
          </p:sp>
        </p:grpSp>
        <p:grpSp>
          <p:nvGrpSpPr>
            <p:cNvPr id="232" name="Group"/>
            <p:cNvGrpSpPr/>
            <p:nvPr/>
          </p:nvGrpSpPr>
          <p:grpSpPr>
            <a:xfrm>
              <a:off x="1786852" y="0"/>
              <a:ext cx="1698595" cy="201601"/>
              <a:chOff x="0" y="0"/>
              <a:chExt cx="1698593" cy="201600"/>
            </a:xfrm>
          </p:grpSpPr>
          <p:sp>
            <p:nvSpPr>
              <p:cNvPr id="230" name="Rectangle"/>
              <p:cNvSpPr/>
              <p:nvPr/>
            </p:nvSpPr>
            <p:spPr>
              <a:xfrm>
                <a:off x="0" y="-1"/>
                <a:ext cx="1698594" cy="201602"/>
              </a:xfrm>
              <a:prstGeom prst="rect">
                <a:avLst/>
              </a:prstGeom>
              <a:solidFill>
                <a:srgbClr val="FFFF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lnSpc>
                    <a:spcPct val="90000"/>
                  </a:lnSpc>
                  <a:spcBef>
                    <a:spcPts val="500"/>
                  </a:spcBef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31" name="Moderate Retention and  Spend"/>
              <p:cNvSpPr txBox="1"/>
              <p:nvPr/>
            </p:nvSpPr>
            <p:spPr>
              <a:xfrm>
                <a:off x="24384" y="4788"/>
                <a:ext cx="1649827" cy="1920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2511" tIns="32511" rIns="32511" bIns="32511" numCol="1" anchor="ctr">
                <a:spAutoFit/>
              </a:bodyPr>
              <a:lstStyle>
                <a:lvl1pPr algn="ctr" defTabSz="355600">
                  <a:lnSpc>
                    <a:spcPct val="90000"/>
                  </a:lnSpc>
                  <a:spcBef>
                    <a:spcPts val="300"/>
                  </a:spcBef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Moderate Retention and  Spend</a:t>
                </a:r>
              </a:p>
            </p:txBody>
          </p:sp>
        </p:grpSp>
        <p:grpSp>
          <p:nvGrpSpPr>
            <p:cNvPr id="235" name="Group"/>
            <p:cNvGrpSpPr/>
            <p:nvPr/>
          </p:nvGrpSpPr>
          <p:grpSpPr>
            <a:xfrm>
              <a:off x="1770715" y="197440"/>
              <a:ext cx="1698595" cy="1531197"/>
              <a:chOff x="0" y="0"/>
              <a:chExt cx="1698593" cy="1531195"/>
            </a:xfrm>
          </p:grpSpPr>
          <p:sp>
            <p:nvSpPr>
              <p:cNvPr id="233" name="Rectangle"/>
              <p:cNvSpPr/>
              <p:nvPr/>
            </p:nvSpPr>
            <p:spPr>
              <a:xfrm>
                <a:off x="0" y="-1"/>
                <a:ext cx="1698594" cy="1531197"/>
              </a:xfrm>
              <a:prstGeom prst="rect">
                <a:avLst/>
              </a:prstGeom>
              <a:gradFill flip="none" rotWithShape="1">
                <a:gsLst>
                  <a:gs pos="0">
                    <a:srgbClr val="FFFF9C"/>
                  </a:gs>
                  <a:gs pos="50000">
                    <a:srgbClr val="FFFFC3"/>
                  </a:gs>
                  <a:gs pos="100000">
                    <a:srgbClr val="FFFFE2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ts val="200"/>
                  </a:spcBef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34" name="Potential target group…"/>
              <p:cNvSpPr txBox="1"/>
              <p:nvPr/>
            </p:nvSpPr>
            <p:spPr>
              <a:xfrm>
                <a:off x="0" y="0"/>
                <a:ext cx="1684371" cy="138734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2671" tIns="42671" rIns="42671" bIns="42671" numCol="1" anchor="t">
                <a:spAutoFit/>
              </a:bodyPr>
              <a:lstStyle/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Potential target group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Expected low to moderate penetration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Push on: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Utility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Financial Service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PP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Rent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Entertainment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Mobile Prepaid</a:t>
                </a:r>
              </a:p>
            </p:txBody>
          </p:sp>
        </p:grpSp>
        <p:grpSp>
          <p:nvGrpSpPr>
            <p:cNvPr id="238" name="Group"/>
            <p:cNvGrpSpPr/>
            <p:nvPr/>
          </p:nvGrpSpPr>
          <p:grpSpPr>
            <a:xfrm>
              <a:off x="3610769" y="8793"/>
              <a:ext cx="1698595" cy="201601"/>
              <a:chOff x="0" y="0"/>
              <a:chExt cx="1698593" cy="201600"/>
            </a:xfrm>
          </p:grpSpPr>
          <p:sp>
            <p:nvSpPr>
              <p:cNvPr id="236" name="Rectangle"/>
              <p:cNvSpPr/>
              <p:nvPr/>
            </p:nvSpPr>
            <p:spPr>
              <a:xfrm>
                <a:off x="0" y="-1"/>
                <a:ext cx="1698594" cy="201602"/>
              </a:xfrm>
              <a:prstGeom prst="rect">
                <a:avLst/>
              </a:prstGeom>
              <a:solidFill>
                <a:srgbClr val="92D0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lnSpc>
                    <a:spcPct val="90000"/>
                  </a:lnSpc>
                  <a:spcBef>
                    <a:spcPts val="500"/>
                  </a:spcBef>
                  <a:defRPr sz="8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37" name="High Retention and Spend"/>
              <p:cNvSpPr txBox="1"/>
              <p:nvPr/>
            </p:nvSpPr>
            <p:spPr>
              <a:xfrm>
                <a:off x="24384" y="4788"/>
                <a:ext cx="1649827" cy="1920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2511" tIns="32511" rIns="32511" bIns="32511" numCol="1" anchor="ctr">
                <a:spAutoFit/>
              </a:bodyPr>
              <a:lstStyle>
                <a:lvl1pPr algn="ctr" defTabSz="355600">
                  <a:lnSpc>
                    <a:spcPct val="90000"/>
                  </a:lnSpc>
                  <a:spcBef>
                    <a:spcPts val="300"/>
                  </a:spcBef>
                  <a:defRPr sz="8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High Retention and Spend </a:t>
                </a:r>
              </a:p>
            </p:txBody>
          </p:sp>
        </p:grpSp>
        <p:grpSp>
          <p:nvGrpSpPr>
            <p:cNvPr id="241" name="Group"/>
            <p:cNvGrpSpPr/>
            <p:nvPr/>
          </p:nvGrpSpPr>
          <p:grpSpPr>
            <a:xfrm>
              <a:off x="3590947" y="212507"/>
              <a:ext cx="1698595" cy="1531197"/>
              <a:chOff x="0" y="0"/>
              <a:chExt cx="1698593" cy="1531195"/>
            </a:xfrm>
          </p:grpSpPr>
          <p:sp>
            <p:nvSpPr>
              <p:cNvPr id="239" name="Rectangle"/>
              <p:cNvSpPr/>
              <p:nvPr/>
            </p:nvSpPr>
            <p:spPr>
              <a:xfrm>
                <a:off x="0" y="-1"/>
                <a:ext cx="1698594" cy="1531197"/>
              </a:xfrm>
              <a:prstGeom prst="rect">
                <a:avLst/>
              </a:prstGeom>
              <a:gradFill flip="none" rotWithShape="1">
                <a:gsLst>
                  <a:gs pos="0">
                    <a:srgbClr val="BDF395"/>
                  </a:gs>
                  <a:gs pos="50000">
                    <a:srgbClr val="D5F6BE"/>
                  </a:gs>
                  <a:gs pos="100000">
                    <a:srgbClr val="EAFADF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ts val="200"/>
                  </a:spcBef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40" name="Most Potential target group with moderate spend…"/>
              <p:cNvSpPr txBox="1"/>
              <p:nvPr/>
            </p:nvSpPr>
            <p:spPr>
              <a:xfrm>
                <a:off x="0" y="0"/>
                <a:ext cx="1684371" cy="12364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2671" tIns="42671" rIns="42671" bIns="42671" numCol="1" anchor="t">
                <a:spAutoFit/>
              </a:bodyPr>
              <a:lstStyle/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Most Potential target group with moderate spend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Expected moderate to high penetration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Target on: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Utility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Financial Service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PP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Rent</a:t>
                </a:r>
              </a:p>
            </p:txBody>
          </p:sp>
        </p:grpSp>
        <p:grpSp>
          <p:nvGrpSpPr>
            <p:cNvPr id="244" name="Group"/>
            <p:cNvGrpSpPr/>
            <p:nvPr/>
          </p:nvGrpSpPr>
          <p:grpSpPr>
            <a:xfrm>
              <a:off x="5380891" y="5946"/>
              <a:ext cx="1698595" cy="201602"/>
              <a:chOff x="0" y="0"/>
              <a:chExt cx="1698593" cy="201600"/>
            </a:xfrm>
          </p:grpSpPr>
          <p:sp>
            <p:nvSpPr>
              <p:cNvPr id="242" name="Rectangle"/>
              <p:cNvSpPr/>
              <p:nvPr/>
            </p:nvSpPr>
            <p:spPr>
              <a:xfrm>
                <a:off x="0" y="-1"/>
                <a:ext cx="1698594" cy="201602"/>
              </a:xfrm>
              <a:prstGeom prst="rect">
                <a:avLst/>
              </a:prstGeom>
              <a:solidFill>
                <a:srgbClr val="00B05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355600">
                  <a:lnSpc>
                    <a:spcPct val="90000"/>
                  </a:lnSpc>
                  <a:spcBef>
                    <a:spcPts val="500"/>
                  </a:spcBef>
                  <a:defRPr sz="8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43" name="Very High Retention and Spend"/>
              <p:cNvSpPr txBox="1"/>
              <p:nvPr/>
            </p:nvSpPr>
            <p:spPr>
              <a:xfrm>
                <a:off x="24384" y="4788"/>
                <a:ext cx="1649827" cy="19202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32511" tIns="32511" rIns="32511" bIns="32511" numCol="1" anchor="ctr">
                <a:spAutoFit/>
              </a:bodyPr>
              <a:lstStyle>
                <a:lvl1pPr algn="ctr" defTabSz="355600">
                  <a:lnSpc>
                    <a:spcPct val="90000"/>
                  </a:lnSpc>
                  <a:spcBef>
                    <a:spcPts val="300"/>
                  </a:spcBef>
                  <a:defRPr sz="80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defRPr>
                </a:lvl1pPr>
              </a:lstStyle>
              <a:p>
                <a:pPr/>
                <a:r>
                  <a:t>Very High Retention and Spend </a:t>
                </a:r>
              </a:p>
            </p:txBody>
          </p:sp>
        </p:grpSp>
        <p:grpSp>
          <p:nvGrpSpPr>
            <p:cNvPr id="247" name="Group"/>
            <p:cNvGrpSpPr/>
            <p:nvPr/>
          </p:nvGrpSpPr>
          <p:grpSpPr>
            <a:xfrm>
              <a:off x="5383711" y="213493"/>
              <a:ext cx="1698595" cy="1531196"/>
              <a:chOff x="0" y="0"/>
              <a:chExt cx="1698593" cy="1531195"/>
            </a:xfrm>
          </p:grpSpPr>
          <p:sp>
            <p:nvSpPr>
              <p:cNvPr id="245" name="Rectangle"/>
              <p:cNvSpPr/>
              <p:nvPr/>
            </p:nvSpPr>
            <p:spPr>
              <a:xfrm>
                <a:off x="0" y="-1"/>
                <a:ext cx="1698594" cy="1531197"/>
              </a:xfrm>
              <a:prstGeom prst="rect">
                <a:avLst/>
              </a:prstGeom>
              <a:gradFill flip="none" rotWithShape="1">
                <a:gsLst>
                  <a:gs pos="0">
                    <a:srgbClr val="8DDE9D"/>
                  </a:gs>
                  <a:gs pos="50000">
                    <a:srgbClr val="BAE9C3"/>
                  </a:gs>
                  <a:gs pos="100000">
                    <a:srgbClr val="DEF3E2"/>
                  </a:gs>
                </a:gsLst>
                <a:path path="circle">
                  <a:fillToRect l="37721" t="-19636" r="62278" b="119636"/>
                </a:path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ts val="200"/>
                  </a:spcBef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</a:p>
            </p:txBody>
          </p:sp>
          <p:sp>
            <p:nvSpPr>
              <p:cNvPr id="246" name="Premium target group…"/>
              <p:cNvSpPr txBox="1"/>
              <p:nvPr/>
            </p:nvSpPr>
            <p:spPr>
              <a:xfrm>
                <a:off x="0" y="0"/>
                <a:ext cx="1684371" cy="114046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2671" tIns="42671" rIns="42671" bIns="42671" numCol="1" anchor="t">
                <a:spAutoFit/>
              </a:bodyPr>
              <a:lstStyle/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Premium target group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Most consistent spending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Expected high penetration</a:t>
                </a:r>
              </a:p>
              <a:p>
                <a:pPr lvl="1" marL="5715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Target on: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Utility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Financial Service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PP</a:t>
                </a:r>
              </a:p>
              <a:p>
                <a:pPr lvl="2" marL="114300" indent="-57150" defTabSz="355600">
                  <a:lnSpc>
                    <a:spcPct val="90000"/>
                  </a:lnSpc>
                  <a:spcBef>
                    <a:spcPts val="100"/>
                  </a:spcBef>
                  <a:buClr>
                    <a:srgbClr val="000000"/>
                  </a:buClr>
                  <a:buSzPct val="100000"/>
                  <a:buFont typeface="Arial"/>
                  <a:buChar char="•"/>
                  <a:defRPr sz="800">
                    <a:latin typeface="Open Sans"/>
                    <a:ea typeface="Open Sans"/>
                    <a:cs typeface="Open Sans"/>
                    <a:sym typeface="Open Sans"/>
                  </a:defRPr>
                </a:pPr>
                <a:r>
                  <a:t>Rent</a:t>
                </a:r>
              </a:p>
            </p:txBody>
          </p:sp>
        </p:grpSp>
      </p:grpSp>
      <p:graphicFrame>
        <p:nvGraphicFramePr>
          <p:cNvPr id="249" name="Table 1"/>
          <p:cNvGraphicFramePr/>
          <p:nvPr/>
        </p:nvGraphicFramePr>
        <p:xfrm>
          <a:off x="138312" y="3122704"/>
          <a:ext cx="1690488" cy="152613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756935"/>
                <a:gridCol w="933552"/>
              </a:tblGrid>
              <a:tr h="144024">
                <a:tc gridSpan="2"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CAMPAIGN EFFECT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2"/>
                      </a:solidFill>
                    </a:lnT>
                    <a:lnB w="12700">
                      <a:solidFill>
                        <a:schemeClr val="accent2"/>
                      </a:solidFill>
                    </a:lnB>
                    <a:solidFill>
                      <a:schemeClr val="accent2"/>
                    </a:solidFill>
                  </a:tcPr>
                </a:tc>
                <a:tc hMerge="1">
                  <a:tcPr/>
                </a:tc>
              </a:tr>
              <a:tr h="24722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Conversion rate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2"/>
                      </a:solidFill>
                    </a:lnT>
                    <a:lnB w="12700">
                      <a:miter lim="400000"/>
                    </a:lnB>
                    <a:solidFill>
                      <a:srgbClr val="504652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 uplift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chemeClr val="accent2"/>
                      </a:solidFill>
                    </a:lnT>
                    <a:lnB w="12700">
                      <a:miter lim="400000"/>
                    </a:lnB>
                    <a:solidFill>
                      <a:srgbClr val="504652">
                        <a:alpha val="20000"/>
                      </a:srgbClr>
                    </a:solidFill>
                  </a:tcPr>
                </a:tc>
              </a:tr>
              <a:tr h="2269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0.10%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 8,59,54,03,577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269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0.50%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42,97,70,17,884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269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85,95,40,35,769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269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1,71,90,80,71,538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2697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chemeClr val="accent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3,43,76,18,91,234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chemeClr val="accent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0" name="TextBox 2"/>
          <p:cNvSpPr txBox="1"/>
          <p:nvPr/>
        </p:nvSpPr>
        <p:spPr>
          <a:xfrm>
            <a:off x="7883433" y="2838388"/>
            <a:ext cx="1084072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6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*@ 1% conversion rate</a:t>
            </a:r>
          </a:p>
        </p:txBody>
      </p:sp>
      <p:sp>
        <p:nvSpPr>
          <p:cNvPr id="251" name="Title 1"/>
          <p:cNvSpPr txBox="1"/>
          <p:nvPr/>
        </p:nvSpPr>
        <p:spPr>
          <a:xfrm>
            <a:off x="161936" y="200047"/>
            <a:ext cx="8365344" cy="55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i="1" sz="24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Explore </a:t>
            </a:r>
            <a:r>
              <a:rPr>
                <a:solidFill>
                  <a:srgbClr val="00B0F0"/>
                </a:solidFill>
              </a:rPr>
              <a:t>Exploit </a:t>
            </a:r>
            <a:r>
              <a:t>Engage!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1"/>
          <p:cNvSpPr txBox="1"/>
          <p:nvPr/>
        </p:nvSpPr>
        <p:spPr>
          <a:xfrm>
            <a:off x="9536" y="47647"/>
            <a:ext cx="8365344" cy="55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i="1" sz="24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Rent </a:t>
            </a:r>
            <a:r>
              <a:rPr>
                <a:solidFill>
                  <a:srgbClr val="00B0F0"/>
                </a:solidFill>
              </a:rPr>
              <a:t>and</a:t>
            </a:r>
            <a:r>
              <a:t> PP</a:t>
            </a:r>
          </a:p>
        </p:txBody>
      </p:sp>
      <p:sp>
        <p:nvSpPr>
          <p:cNvPr id="256" name="TextBox 12"/>
          <p:cNvSpPr txBox="1"/>
          <p:nvPr/>
        </p:nvSpPr>
        <p:spPr>
          <a:xfrm>
            <a:off x="2938733" y="646407"/>
            <a:ext cx="2808927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Retention Rate Band</a:t>
            </a:r>
          </a:p>
        </p:txBody>
      </p:sp>
      <p:graphicFrame>
        <p:nvGraphicFramePr>
          <p:cNvPr id="257" name="Table 15"/>
          <p:cNvGraphicFramePr/>
          <p:nvPr/>
        </p:nvGraphicFramePr>
        <p:xfrm>
          <a:off x="197888" y="977578"/>
          <a:ext cx="8815338" cy="167718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05791"/>
                <a:gridCol w="887078"/>
                <a:gridCol w="887078"/>
                <a:gridCol w="908564"/>
                <a:gridCol w="865592"/>
                <a:gridCol w="887078"/>
                <a:gridCol w="887078"/>
                <a:gridCol w="887078"/>
              </a:tblGrid>
              <a:tr h="17170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{Cluster } –  ( %Pop | %Spends 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(&lt;= 15%)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(&lt;=30%)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(&lt;=50%)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(&lt;= 75%)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 (&lt;=90%)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6 (&lt;=99%)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 (&gt; 99%)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{Champion} (10% | 47%)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{Loyalist} (7% | 19%)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{Promisor} (13% | 13%)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{Attention-Seeker} (20% | 13%)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{Potentialist} (12% | 03%)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{Napster} (20% | 03%)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{Hibernator} (19% | 02%)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Penetration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8" name="Rectangle 28"/>
          <p:cNvSpPr/>
          <p:nvPr/>
        </p:nvSpPr>
        <p:spPr>
          <a:xfrm>
            <a:off x="5493847" y="885257"/>
            <a:ext cx="3519379" cy="1573633"/>
          </a:xfrm>
          <a:prstGeom prst="rect">
            <a:avLst/>
          </a:prstGeom>
          <a:ln w="254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ectangle 36"/>
          <p:cNvSpPr/>
          <p:nvPr/>
        </p:nvSpPr>
        <p:spPr>
          <a:xfrm>
            <a:off x="2811825" y="1139044"/>
            <a:ext cx="2682023" cy="1319846"/>
          </a:xfrm>
          <a:prstGeom prst="rect">
            <a:avLst/>
          </a:prstGeom>
          <a:solidFill>
            <a:srgbClr val="000000">
              <a:alpha val="44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39"/>
          <p:cNvSpPr txBox="1"/>
          <p:nvPr/>
        </p:nvSpPr>
        <p:spPr>
          <a:xfrm>
            <a:off x="8183546" y="1287334"/>
            <a:ext cx="74326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*1,862 Cr. </a:t>
            </a:r>
          </a:p>
        </p:txBody>
      </p:sp>
      <p:sp>
        <p:nvSpPr>
          <p:cNvPr id="261" name="Rectangle 40"/>
          <p:cNvSpPr txBox="1"/>
          <p:nvPr/>
        </p:nvSpPr>
        <p:spPr>
          <a:xfrm>
            <a:off x="7270520" y="1533555"/>
            <a:ext cx="8523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 *</a:t>
            </a:r>
            <a:r>
              <a:rPr sz="1000">
                <a:latin typeface="Open Sans"/>
                <a:ea typeface="Open Sans"/>
                <a:cs typeface="Open Sans"/>
                <a:sym typeface="Open Sans"/>
              </a:rPr>
              <a:t>776 Cr.</a:t>
            </a:r>
          </a:p>
        </p:txBody>
      </p:sp>
      <p:sp>
        <p:nvSpPr>
          <p:cNvPr id="262" name="Rectangle 41"/>
          <p:cNvSpPr txBox="1"/>
          <p:nvPr/>
        </p:nvSpPr>
        <p:spPr>
          <a:xfrm>
            <a:off x="6387761" y="1733545"/>
            <a:ext cx="81037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*609 Cr.</a:t>
            </a:r>
          </a:p>
        </p:txBody>
      </p:sp>
      <p:sp>
        <p:nvSpPr>
          <p:cNvPr id="263" name="Rectangle 42"/>
          <p:cNvSpPr txBox="1"/>
          <p:nvPr/>
        </p:nvSpPr>
        <p:spPr>
          <a:xfrm>
            <a:off x="5539568" y="1841331"/>
            <a:ext cx="835543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*773 Cr.</a:t>
            </a:r>
          </a:p>
        </p:txBody>
      </p:sp>
      <p:sp>
        <p:nvSpPr>
          <p:cNvPr id="264" name="TextBox 2"/>
          <p:cNvSpPr txBox="1"/>
          <p:nvPr/>
        </p:nvSpPr>
        <p:spPr>
          <a:xfrm>
            <a:off x="8075533" y="708990"/>
            <a:ext cx="1084072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6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*@ 1% conversion rate</a:t>
            </a:r>
          </a:p>
        </p:txBody>
      </p:sp>
      <p:sp>
        <p:nvSpPr>
          <p:cNvPr id="265" name="TextBox 3"/>
          <p:cNvSpPr txBox="1"/>
          <p:nvPr/>
        </p:nvSpPr>
        <p:spPr>
          <a:xfrm>
            <a:off x="290475" y="662116"/>
            <a:ext cx="846522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pPr/>
            <a:r>
              <a:t>Rent</a:t>
            </a:r>
          </a:p>
        </p:txBody>
      </p:sp>
      <p:sp>
        <p:nvSpPr>
          <p:cNvPr id="266" name="TextBox 27"/>
          <p:cNvSpPr txBox="1"/>
          <p:nvPr/>
        </p:nvSpPr>
        <p:spPr>
          <a:xfrm>
            <a:off x="2898040" y="2774580"/>
            <a:ext cx="280892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Retention Rate Band</a:t>
            </a:r>
          </a:p>
        </p:txBody>
      </p:sp>
      <p:graphicFrame>
        <p:nvGraphicFramePr>
          <p:cNvPr id="267" name="Table 29"/>
          <p:cNvGraphicFramePr/>
          <p:nvPr/>
        </p:nvGraphicFramePr>
        <p:xfrm>
          <a:off x="157194" y="3098065"/>
          <a:ext cx="8815338" cy="167718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05791"/>
                <a:gridCol w="887078"/>
                <a:gridCol w="887078"/>
                <a:gridCol w="887078"/>
                <a:gridCol w="887078"/>
                <a:gridCol w="887078"/>
                <a:gridCol w="887078"/>
                <a:gridCol w="887078"/>
              </a:tblGrid>
              <a:tr h="17170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{Cluster } –  ( %Pop | %Spends 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(&lt;= 15%)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(&lt;=30%)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 (&lt;=50%)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(&lt;= 75%)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 (&lt;=90%)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6 (&lt;=99%)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 (&gt; 99%)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14406B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{Champion} (10% | 47%)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{Loyalist} (7% | 19%)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{Promisor} (13% | 13%)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{Attention-Seeker} (20% | 13%)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{Potentialist} (12% | 03%)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{Napster} (20% | 03%)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{Hibernator} (19% | 02%) 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808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900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1881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Penetration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23%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8" name="Rectangle 30"/>
          <p:cNvSpPr/>
          <p:nvPr/>
        </p:nvSpPr>
        <p:spPr>
          <a:xfrm>
            <a:off x="5407378" y="3013429"/>
            <a:ext cx="3565154" cy="1584837"/>
          </a:xfrm>
          <a:prstGeom prst="rect">
            <a:avLst/>
          </a:prstGeom>
          <a:ln w="25400">
            <a:solidFill>
              <a:srgbClr val="FF000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Rectangle 31"/>
          <p:cNvSpPr/>
          <p:nvPr/>
        </p:nvSpPr>
        <p:spPr>
          <a:xfrm>
            <a:off x="2771130" y="3267216"/>
            <a:ext cx="2629096" cy="1319846"/>
          </a:xfrm>
          <a:prstGeom prst="rect">
            <a:avLst/>
          </a:prstGeom>
          <a:solidFill>
            <a:srgbClr val="000000">
              <a:alpha val="44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Rectangle 32"/>
          <p:cNvSpPr txBox="1"/>
          <p:nvPr/>
        </p:nvSpPr>
        <p:spPr>
          <a:xfrm>
            <a:off x="8142852" y="3415505"/>
            <a:ext cx="743265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*380 Cr. </a:t>
            </a:r>
          </a:p>
        </p:txBody>
      </p:sp>
      <p:sp>
        <p:nvSpPr>
          <p:cNvPr id="271" name="Rectangle 33"/>
          <p:cNvSpPr txBox="1"/>
          <p:nvPr/>
        </p:nvSpPr>
        <p:spPr>
          <a:xfrm>
            <a:off x="7229826" y="3661726"/>
            <a:ext cx="8523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t> *</a:t>
            </a:r>
            <a:r>
              <a:rPr sz="1000">
                <a:latin typeface="Open Sans"/>
                <a:ea typeface="Open Sans"/>
                <a:cs typeface="Open Sans"/>
                <a:sym typeface="Open Sans"/>
              </a:rPr>
              <a:t>245 Cr.</a:t>
            </a:r>
          </a:p>
        </p:txBody>
      </p:sp>
      <p:sp>
        <p:nvSpPr>
          <p:cNvPr id="272" name="Rectangle 34"/>
          <p:cNvSpPr txBox="1"/>
          <p:nvPr/>
        </p:nvSpPr>
        <p:spPr>
          <a:xfrm>
            <a:off x="6347067" y="3861718"/>
            <a:ext cx="81037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*123 Cr.</a:t>
            </a:r>
          </a:p>
        </p:txBody>
      </p:sp>
      <p:sp>
        <p:nvSpPr>
          <p:cNvPr id="273" name="Rectangle 35"/>
          <p:cNvSpPr txBox="1"/>
          <p:nvPr/>
        </p:nvSpPr>
        <p:spPr>
          <a:xfrm>
            <a:off x="5498874" y="3969503"/>
            <a:ext cx="835543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*58 Cr.</a:t>
            </a:r>
          </a:p>
        </p:txBody>
      </p:sp>
      <p:sp>
        <p:nvSpPr>
          <p:cNvPr id="274" name="TextBox 37"/>
          <p:cNvSpPr txBox="1"/>
          <p:nvPr/>
        </p:nvSpPr>
        <p:spPr>
          <a:xfrm>
            <a:off x="8034839" y="2837162"/>
            <a:ext cx="1084072" cy="180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6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*@ 1% conversion rate</a:t>
            </a:r>
          </a:p>
        </p:txBody>
      </p:sp>
      <p:sp>
        <p:nvSpPr>
          <p:cNvPr id="275" name="TextBox 38"/>
          <p:cNvSpPr txBox="1"/>
          <p:nvPr/>
        </p:nvSpPr>
        <p:spPr>
          <a:xfrm>
            <a:off x="249782" y="2790288"/>
            <a:ext cx="84652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pPr/>
            <a:r>
              <a:t>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 txBox="1"/>
          <p:nvPr/>
        </p:nvSpPr>
        <p:spPr>
          <a:xfrm>
            <a:off x="9539" y="74739"/>
            <a:ext cx="8245941" cy="64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33">
              <a:defRPr b="1" spc="-150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Customer Tiering - </a:t>
            </a:r>
            <a:r>
              <a:rPr>
                <a:solidFill>
                  <a:srgbClr val="00B0F0"/>
                </a:solidFill>
              </a:rPr>
              <a:t>Summary</a:t>
            </a:r>
          </a:p>
        </p:txBody>
      </p:sp>
      <p:sp>
        <p:nvSpPr>
          <p:cNvPr id="280" name="Straight Connector 3"/>
          <p:cNvSpPr/>
          <p:nvPr/>
        </p:nvSpPr>
        <p:spPr>
          <a:xfrm>
            <a:off x="-12300" y="618293"/>
            <a:ext cx="9180002" cy="13502"/>
          </a:xfrm>
          <a:prstGeom prst="line">
            <a:avLst/>
          </a:prstGeom>
          <a:ln w="3810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281" name="Table 15"/>
          <p:cNvGraphicFramePr/>
          <p:nvPr/>
        </p:nvGraphicFramePr>
        <p:xfrm>
          <a:off x="139229" y="887468"/>
          <a:ext cx="8882370" cy="388562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46321"/>
                <a:gridCol w="685388"/>
                <a:gridCol w="1107237"/>
                <a:gridCol w="1107237"/>
                <a:gridCol w="1107237"/>
                <a:gridCol w="1107237"/>
                <a:gridCol w="1107237"/>
                <a:gridCol w="1107237"/>
                <a:gridCol w="1107237"/>
              </a:tblGrid>
              <a:tr h="420088">
                <a:tc gridSpan="2"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34290" marR="34290" marT="34290" marB="34290" anchor="ctr" anchorCtr="0" horzOverflow="overflow"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Hibernator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00668B"/>
                        </a:gs>
                        <a:gs pos="50000">
                          <a:srgbClr val="0093C9"/>
                        </a:gs>
                        <a:gs pos="100000">
                          <a:srgbClr val="00B0F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Napster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00416F"/>
                        </a:gs>
                        <a:gs pos="50000">
                          <a:srgbClr val="005EA1"/>
                        </a:gs>
                        <a:gs pos="100000">
                          <a:srgbClr val="0070C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Potentialist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Attention-Seeker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Promisor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Loyalist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858483"/>
                        </a:gs>
                        <a:gs pos="50000">
                          <a:srgbClr val="C0BFBD"/>
                        </a:gs>
                        <a:gs pos="100000">
                          <a:srgbClr val="E5E4E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342E23"/>
                        </a:gs>
                        <a:gs pos="100000">
                          <a:srgbClr val="5A503D"/>
                        </a:gs>
                      </a:gsLst>
                      <a:lin ang="0" scaled="0"/>
                    </a:gradFill>
                  </a:tcPr>
                </a:tc>
              </a:tr>
              <a:tr h="184249">
                <a:tc rowSpan="3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RFM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Avg. Spend</a:t>
                      </a:r>
                    </a:p>
                  </a:txBody>
                  <a:tcPr marL="34290" marR="34290" marT="34290" marB="3429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₹8,085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₹12,146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₹23,012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₹54,222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₹80,916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₹223,869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₹359,759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306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Avg. Tran.</a:t>
                      </a:r>
                    </a:p>
                  </a:txBody>
                  <a:tcPr marL="34290" marR="34290" marT="34290" marB="3429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63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95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338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9487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3M % Active</a:t>
                      </a:r>
                    </a:p>
                  </a:txBody>
                  <a:tcPr marL="34290" marR="34290" marT="34290" marB="3429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95%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272689">
                <a:tc rowSpan="4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Spend last 12M/ Active customer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&amp; Shopping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₹1,886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₹1,761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₹3,075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₹3,871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₹4,958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₹9,774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₹24,152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272689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Financial Service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₹14,473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₹11,376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₹28,345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₹17,970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₹32,011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₹56,842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₹65,394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272689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₹3,326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₹2,909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₹19,429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₹6,032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₹9,859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₹10,778 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₹15,812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57525">
                <a:tc v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Online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₹6,095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₹2,607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₹9,807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₹603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₹3,862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₹5,974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₹12,872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5648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Bureau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PP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Prepaid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Merchants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46%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KYC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75%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Electricity Bill</a:t>
                      </a:r>
                    </a:p>
                  </a:txBody>
                  <a:tcPr marL="34290" marR="34290" marT="34290" marB="34290" anchor="ctr" anchorCtr="0" horzOverflow="overflow"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37%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228724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Rent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12700" marR="12700" marT="12700" marB="1270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902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Gas &amp; Petrol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40%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71%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84249">
                <a:tc gridSpan="2"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12700">
                      <a:miter lim="400000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EA8A8A"/>
                        </a:gs>
                        <a:gs pos="78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73%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69%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94%</a:t>
                      </a:r>
                    </a:p>
                  </a:txBody>
                  <a:tcPr marL="6350" marR="6350" marT="6350" marB="6350" anchor="b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</a:tbl>
          </a:graphicData>
        </a:graphic>
      </p:graphicFrame>
      <p:graphicFrame>
        <p:nvGraphicFramePr>
          <p:cNvPr id="282" name="Table 4"/>
          <p:cNvGraphicFramePr/>
          <p:nvPr/>
        </p:nvGraphicFramePr>
        <p:xfrm>
          <a:off x="91959" y="674402"/>
          <a:ext cx="8661595" cy="216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082700"/>
                <a:gridCol w="1082699"/>
                <a:gridCol w="1082699"/>
                <a:gridCol w="1082699"/>
                <a:gridCol w="1082699"/>
                <a:gridCol w="1082699"/>
                <a:gridCol w="1082699"/>
                <a:gridCol w="1082699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00B0F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Customers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itle 1"/>
          <p:cNvSpPr txBox="1"/>
          <p:nvPr/>
        </p:nvSpPr>
        <p:spPr>
          <a:xfrm>
            <a:off x="9539" y="74739"/>
            <a:ext cx="8245941" cy="640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33">
              <a:defRPr b="1" spc="-150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Customer Tiering - </a:t>
            </a:r>
            <a:r>
              <a:rPr>
                <a:solidFill>
                  <a:srgbClr val="00B0F0"/>
                </a:solidFill>
              </a:rPr>
              <a:t>Summary</a:t>
            </a:r>
          </a:p>
        </p:txBody>
      </p:sp>
      <p:sp>
        <p:nvSpPr>
          <p:cNvPr id="287" name="Straight Connector 3"/>
          <p:cNvSpPr/>
          <p:nvPr/>
        </p:nvSpPr>
        <p:spPr>
          <a:xfrm>
            <a:off x="-12300" y="618293"/>
            <a:ext cx="9180002" cy="13502"/>
          </a:xfrm>
          <a:prstGeom prst="line">
            <a:avLst/>
          </a:prstGeom>
          <a:ln w="3810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288" name="Table 15"/>
          <p:cNvGraphicFramePr/>
          <p:nvPr/>
        </p:nvGraphicFramePr>
        <p:xfrm>
          <a:off x="399922" y="1008327"/>
          <a:ext cx="8621491" cy="26803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098471"/>
                <a:gridCol w="1074717"/>
                <a:gridCol w="1074717"/>
                <a:gridCol w="1074717"/>
                <a:gridCol w="1074717"/>
                <a:gridCol w="1074717"/>
                <a:gridCol w="1074717"/>
                <a:gridCol w="1074717"/>
              </a:tblGrid>
              <a:tr h="268038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Hibernator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668B"/>
                        </a:gs>
                        <a:gs pos="50000">
                          <a:srgbClr val="0093C9"/>
                        </a:gs>
                        <a:gs pos="100000">
                          <a:srgbClr val="00B0F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Napster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416F"/>
                        </a:gs>
                        <a:gs pos="50000">
                          <a:srgbClr val="005EA1"/>
                        </a:gs>
                        <a:gs pos="100000">
                          <a:srgbClr val="0070C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Potentialist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Attention-Seeker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Promisor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Loyalist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858483"/>
                        </a:gs>
                        <a:gs pos="50000">
                          <a:srgbClr val="C0BFBD"/>
                        </a:gs>
                        <a:gs pos="100000">
                          <a:srgbClr val="E5E4E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342E23"/>
                        </a:gs>
                        <a:gs pos="100000">
                          <a:srgbClr val="5A503D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289" name="Table 2"/>
          <p:cNvGraphicFramePr/>
          <p:nvPr/>
        </p:nvGraphicFramePr>
        <p:xfrm>
          <a:off x="399925" y="1362502"/>
          <a:ext cx="8621488" cy="32402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103970"/>
                <a:gridCol w="1081441"/>
                <a:gridCol w="1073931"/>
                <a:gridCol w="1081441"/>
                <a:gridCol w="1058911"/>
                <a:gridCol w="1081440"/>
                <a:gridCol w="1081441"/>
                <a:gridCol w="1058913"/>
              </a:tblGrid>
              <a:tr h="197119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Trust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87%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89%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Convenience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99%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Future_CLTV_N12M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ARPU_CLTV_L12M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27%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Digital Savvy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67%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2834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Marketing and Engagement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56%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Life Style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Budget Conscious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Deal Seeker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37%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Affluence Score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Foodie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Health Spenders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Shopaholic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Games &amp; Ent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Frequent Traveller</a:t>
                      </a:r>
                    </a:p>
                  </a:txBody>
                  <a:tcPr marL="6350" marR="6350" marT="6350" marB="635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71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Risk</a:t>
                      </a:r>
                    </a:p>
                  </a:txBody>
                  <a:tcPr marL="6350" marR="6350" marT="6350" marB="6350" anchor="b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</a:tbl>
          </a:graphicData>
        </a:graphic>
      </p:graphicFrame>
      <p:sp>
        <p:nvSpPr>
          <p:cNvPr id="290" name="Rectangle 10"/>
          <p:cNvSpPr/>
          <p:nvPr/>
        </p:nvSpPr>
        <p:spPr>
          <a:xfrm>
            <a:off x="7241189" y="1360768"/>
            <a:ext cx="328632" cy="1296698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12"/>
          <p:cNvSpPr/>
          <p:nvPr/>
        </p:nvSpPr>
        <p:spPr>
          <a:xfrm>
            <a:off x="2895362" y="2343631"/>
            <a:ext cx="411988" cy="258677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17"/>
          <p:cNvSpPr/>
          <p:nvPr/>
        </p:nvSpPr>
        <p:spPr>
          <a:xfrm>
            <a:off x="1822163" y="1377609"/>
            <a:ext cx="391079" cy="380634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Rectangle 21"/>
          <p:cNvSpPr/>
          <p:nvPr/>
        </p:nvSpPr>
        <p:spPr>
          <a:xfrm>
            <a:off x="3969827" y="2343630"/>
            <a:ext cx="432135" cy="258677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Rectangle 22"/>
          <p:cNvSpPr/>
          <p:nvPr/>
        </p:nvSpPr>
        <p:spPr>
          <a:xfrm>
            <a:off x="5110196" y="2820437"/>
            <a:ext cx="338098" cy="369526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Rectangle 25"/>
          <p:cNvSpPr/>
          <p:nvPr/>
        </p:nvSpPr>
        <p:spPr>
          <a:xfrm>
            <a:off x="2889181" y="1370527"/>
            <a:ext cx="403645" cy="356961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Rectangle 26"/>
          <p:cNvSpPr/>
          <p:nvPr/>
        </p:nvSpPr>
        <p:spPr>
          <a:xfrm>
            <a:off x="3985450" y="1360768"/>
            <a:ext cx="375396" cy="787752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Rectangle 30"/>
          <p:cNvSpPr/>
          <p:nvPr/>
        </p:nvSpPr>
        <p:spPr>
          <a:xfrm>
            <a:off x="6121686" y="2812574"/>
            <a:ext cx="422623" cy="572394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Rectangle 32"/>
          <p:cNvSpPr/>
          <p:nvPr/>
        </p:nvSpPr>
        <p:spPr>
          <a:xfrm>
            <a:off x="7262339" y="2812574"/>
            <a:ext cx="308530" cy="572394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33"/>
          <p:cNvSpPr/>
          <p:nvPr/>
        </p:nvSpPr>
        <p:spPr>
          <a:xfrm>
            <a:off x="8255482" y="1367411"/>
            <a:ext cx="420840" cy="3235325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Rectangle 34"/>
          <p:cNvSpPr/>
          <p:nvPr/>
        </p:nvSpPr>
        <p:spPr>
          <a:xfrm>
            <a:off x="5077900" y="1364816"/>
            <a:ext cx="338098" cy="1292650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Rectangle 35"/>
          <p:cNvSpPr/>
          <p:nvPr/>
        </p:nvSpPr>
        <p:spPr>
          <a:xfrm>
            <a:off x="6133053" y="1364152"/>
            <a:ext cx="416573" cy="1293314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7"/>
          <p:cNvSpPr txBox="1"/>
          <p:nvPr/>
        </p:nvSpPr>
        <p:spPr>
          <a:xfrm rot="16200000">
            <a:off x="-708991" y="2517376"/>
            <a:ext cx="175273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*Top 3 Persona Bin%</a:t>
            </a:r>
          </a:p>
        </p:txBody>
      </p:sp>
      <p:sp>
        <p:nvSpPr>
          <p:cNvPr id="303" name="Rectangle 24"/>
          <p:cNvSpPr/>
          <p:nvPr/>
        </p:nvSpPr>
        <p:spPr>
          <a:xfrm>
            <a:off x="1808500" y="2343631"/>
            <a:ext cx="395299" cy="258677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Rectangle 37"/>
          <p:cNvSpPr/>
          <p:nvPr/>
        </p:nvSpPr>
        <p:spPr>
          <a:xfrm>
            <a:off x="7199510" y="4402951"/>
            <a:ext cx="411988" cy="204889"/>
          </a:xfrm>
          <a:prstGeom prst="rect">
            <a:avLst/>
          </a:prstGeom>
          <a:ln w="25400">
            <a:solidFill>
              <a:srgbClr val="00B0F0"/>
            </a:solidFill>
            <a:prstDash val="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4"/>
          <p:cNvSpPr txBox="1"/>
          <p:nvPr/>
        </p:nvSpPr>
        <p:spPr>
          <a:xfrm>
            <a:off x="252111" y="4602734"/>
            <a:ext cx="5059960" cy="19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700">
                <a:latin typeface="Open Sans"/>
                <a:ea typeface="Open Sans"/>
                <a:cs typeface="Open Sans"/>
                <a:sym typeface="Open Sans"/>
              </a:defRPr>
            </a:pPr>
            <a:r>
              <a:t>Percentage of Customer having score above 70</a:t>
            </a:r>
            <a:r>
              <a:rPr baseline="30000"/>
              <a:t>th</a:t>
            </a:r>
            <a:r>
              <a:t>  percentile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42"/>
          <p:cNvSpPr/>
          <p:nvPr/>
        </p:nvSpPr>
        <p:spPr>
          <a:xfrm>
            <a:off x="5516955" y="194637"/>
            <a:ext cx="641871" cy="4679577"/>
          </a:xfrm>
          <a:prstGeom prst="rect">
            <a:avLst/>
          </a:prstGeom>
          <a:gradFill>
            <a:gsLst>
              <a:gs pos="0">
                <a:srgbClr val="FFFF9C"/>
              </a:gs>
              <a:gs pos="50000">
                <a:srgbClr val="FFFFC3"/>
              </a:gs>
              <a:gs pos="100000">
                <a:srgbClr val="FFFFE2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ectangle 103"/>
          <p:cNvSpPr/>
          <p:nvPr/>
        </p:nvSpPr>
        <p:spPr>
          <a:xfrm>
            <a:off x="778425" y="194637"/>
            <a:ext cx="641870" cy="4679577"/>
          </a:xfrm>
          <a:prstGeom prst="rect">
            <a:avLst/>
          </a:prstGeom>
          <a:gradFill>
            <a:gsLst>
              <a:gs pos="0">
                <a:srgbClr val="EA8A8A"/>
              </a:gs>
              <a:gs pos="50000">
                <a:srgbClr val="F0B9B9"/>
              </a:gs>
              <a:gs pos="100000">
                <a:srgbClr val="F7DDDD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11" name="Chart 119"/>
          <p:cNvGraphicFramePr/>
          <p:nvPr/>
        </p:nvGraphicFramePr>
        <p:xfrm>
          <a:off x="394008" y="1607733"/>
          <a:ext cx="1166838" cy="5590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2" name="Rectangle 45"/>
          <p:cNvSpPr/>
          <p:nvPr/>
        </p:nvSpPr>
        <p:spPr>
          <a:xfrm>
            <a:off x="1914307" y="184408"/>
            <a:ext cx="641871" cy="4679576"/>
          </a:xfrm>
          <a:prstGeom prst="rect">
            <a:avLst/>
          </a:prstGeom>
          <a:gradFill>
            <a:gsLst>
              <a:gs pos="0">
                <a:srgbClr val="EA8A8A"/>
              </a:gs>
              <a:gs pos="50000">
                <a:srgbClr val="F0B9B9"/>
              </a:gs>
              <a:gs pos="100000">
                <a:srgbClr val="F7DDDD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13" name="Chart 107"/>
          <p:cNvGraphicFramePr/>
          <p:nvPr/>
        </p:nvGraphicFramePr>
        <p:xfrm>
          <a:off x="1551950" y="1499504"/>
          <a:ext cx="1133700" cy="66773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14" name="Rectangle 44"/>
          <p:cNvSpPr/>
          <p:nvPr/>
        </p:nvSpPr>
        <p:spPr>
          <a:xfrm>
            <a:off x="3003623" y="194637"/>
            <a:ext cx="641870" cy="4679577"/>
          </a:xfrm>
          <a:prstGeom prst="rect">
            <a:avLst/>
          </a:prstGeom>
          <a:gradFill>
            <a:gsLst>
              <a:gs pos="0">
                <a:srgbClr val="FFD89C"/>
              </a:gs>
              <a:gs pos="50000">
                <a:srgbClr val="FFE6C3"/>
              </a:gs>
              <a:gs pos="100000">
                <a:srgbClr val="FFF2E2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15" name="Chart 97"/>
          <p:cNvGraphicFramePr/>
          <p:nvPr/>
        </p:nvGraphicFramePr>
        <p:xfrm>
          <a:off x="2707383" y="2242423"/>
          <a:ext cx="1158180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316" name="Chart 95"/>
          <p:cNvGraphicFramePr/>
          <p:nvPr/>
        </p:nvGraphicFramePr>
        <p:xfrm>
          <a:off x="2686406" y="1638520"/>
          <a:ext cx="1186411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317" name="Chart 93"/>
          <p:cNvGraphicFramePr/>
          <p:nvPr/>
        </p:nvGraphicFramePr>
        <p:xfrm>
          <a:off x="2656595" y="883866"/>
          <a:ext cx="1246033" cy="6864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18" name="Rectangle 4"/>
          <p:cNvSpPr/>
          <p:nvPr/>
        </p:nvSpPr>
        <p:spPr>
          <a:xfrm>
            <a:off x="8091290" y="200693"/>
            <a:ext cx="641871" cy="4679577"/>
          </a:xfrm>
          <a:prstGeom prst="rect">
            <a:avLst/>
          </a:prstGeom>
          <a:gradFill>
            <a:gsLst>
              <a:gs pos="0">
                <a:srgbClr val="8DDE9D"/>
              </a:gs>
              <a:gs pos="50000">
                <a:srgbClr val="BAE9C3"/>
              </a:gs>
              <a:gs pos="100000">
                <a:srgbClr val="DEF3E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19" name="Chart 22"/>
          <p:cNvGraphicFramePr/>
          <p:nvPr/>
        </p:nvGraphicFramePr>
        <p:xfrm>
          <a:off x="7759124" y="3467830"/>
          <a:ext cx="1177817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20" name="Rectangle 28"/>
          <p:cNvSpPr/>
          <p:nvPr/>
        </p:nvSpPr>
        <p:spPr>
          <a:xfrm>
            <a:off x="6786201" y="200693"/>
            <a:ext cx="641871" cy="4679577"/>
          </a:xfrm>
          <a:prstGeom prst="rect">
            <a:avLst/>
          </a:prstGeom>
          <a:gradFill>
            <a:gsLst>
              <a:gs pos="0">
                <a:srgbClr val="BDF395"/>
              </a:gs>
              <a:gs pos="50000">
                <a:srgbClr val="D5F6BE"/>
              </a:gs>
              <a:gs pos="100000">
                <a:srgbClr val="EAFADF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21" name="Chart 54"/>
          <p:cNvGraphicFramePr/>
          <p:nvPr/>
        </p:nvGraphicFramePr>
        <p:xfrm>
          <a:off x="6433363" y="2184199"/>
          <a:ext cx="1193222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322" name="Chart 6"/>
          <p:cNvGraphicFramePr/>
          <p:nvPr/>
        </p:nvGraphicFramePr>
        <p:xfrm>
          <a:off x="7760554" y="246488"/>
          <a:ext cx="1235492" cy="7298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3" name="TextBox 8"/>
          <p:cNvSpPr txBox="1"/>
          <p:nvPr/>
        </p:nvSpPr>
        <p:spPr>
          <a:xfrm>
            <a:off x="33869" y="1132077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Spend%</a:t>
            </a:r>
          </a:p>
        </p:txBody>
      </p:sp>
      <p:graphicFrame>
        <p:nvGraphicFramePr>
          <p:cNvPr id="324" name="Chart 9"/>
          <p:cNvGraphicFramePr/>
          <p:nvPr/>
        </p:nvGraphicFramePr>
        <p:xfrm>
          <a:off x="7839999" y="893837"/>
          <a:ext cx="1210091" cy="69946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325" name="Chart 10"/>
          <p:cNvGraphicFramePr/>
          <p:nvPr/>
        </p:nvGraphicFramePr>
        <p:xfrm>
          <a:off x="7796941" y="1550520"/>
          <a:ext cx="1210091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326" name="Chart 11"/>
          <p:cNvGraphicFramePr/>
          <p:nvPr/>
        </p:nvGraphicFramePr>
        <p:xfrm>
          <a:off x="7758603" y="2139164"/>
          <a:ext cx="1216441" cy="57908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327" name="TextBox 13"/>
          <p:cNvSpPr txBox="1"/>
          <p:nvPr/>
        </p:nvSpPr>
        <p:spPr>
          <a:xfrm>
            <a:off x="20151" y="2270744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Avg, Txn</a:t>
            </a:r>
          </a:p>
        </p:txBody>
      </p:sp>
      <p:graphicFrame>
        <p:nvGraphicFramePr>
          <p:cNvPr id="328" name="Chart 18"/>
          <p:cNvGraphicFramePr/>
          <p:nvPr/>
        </p:nvGraphicFramePr>
        <p:xfrm>
          <a:off x="7785954" y="2841367"/>
          <a:ext cx="1124159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4"/>
          </a:graphicData>
        </a:graphic>
      </p:graphicFrame>
      <p:sp>
        <p:nvSpPr>
          <p:cNvPr id="329" name="TextBox 19"/>
          <p:cNvSpPr txBox="1"/>
          <p:nvPr/>
        </p:nvSpPr>
        <p:spPr>
          <a:xfrm>
            <a:off x="77161" y="2915342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PP</a:t>
            </a:r>
          </a:p>
        </p:txBody>
      </p:sp>
      <p:sp>
        <p:nvSpPr>
          <p:cNvPr id="330" name="TextBox 23"/>
          <p:cNvSpPr txBox="1"/>
          <p:nvPr/>
        </p:nvSpPr>
        <p:spPr>
          <a:xfrm>
            <a:off x="33869" y="3527202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Rent</a:t>
            </a:r>
          </a:p>
        </p:txBody>
      </p:sp>
      <p:graphicFrame>
        <p:nvGraphicFramePr>
          <p:cNvPr id="331" name="Chart 25"/>
          <p:cNvGraphicFramePr/>
          <p:nvPr/>
        </p:nvGraphicFramePr>
        <p:xfrm>
          <a:off x="7816156" y="4197458"/>
          <a:ext cx="1149685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332" name="TextBox 26"/>
          <p:cNvSpPr txBox="1"/>
          <p:nvPr/>
        </p:nvSpPr>
        <p:spPr>
          <a:xfrm>
            <a:off x="-36455" y="4109289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Entertainment</a:t>
            </a:r>
          </a:p>
        </p:txBody>
      </p:sp>
      <p:sp>
        <p:nvSpPr>
          <p:cNvPr id="333" name="Rectangle 43"/>
          <p:cNvSpPr/>
          <p:nvPr/>
        </p:nvSpPr>
        <p:spPr>
          <a:xfrm>
            <a:off x="4239912" y="194637"/>
            <a:ext cx="641871" cy="4679577"/>
          </a:xfrm>
          <a:prstGeom prst="rect">
            <a:avLst/>
          </a:prstGeom>
          <a:gradFill>
            <a:gsLst>
              <a:gs pos="0">
                <a:srgbClr val="FFFF9C"/>
              </a:gs>
              <a:gs pos="50000">
                <a:srgbClr val="FFFFC3"/>
              </a:gs>
              <a:gs pos="100000">
                <a:srgbClr val="FFFFE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34" name="Chart 48"/>
          <p:cNvGraphicFramePr/>
          <p:nvPr/>
        </p:nvGraphicFramePr>
        <p:xfrm>
          <a:off x="6407469" y="326176"/>
          <a:ext cx="1167032" cy="64471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6"/>
          </a:graphicData>
        </a:graphic>
      </p:graphicFrame>
      <p:graphicFrame>
        <p:nvGraphicFramePr>
          <p:cNvPr id="335" name="Chart 52"/>
          <p:cNvGraphicFramePr/>
          <p:nvPr/>
        </p:nvGraphicFramePr>
        <p:xfrm>
          <a:off x="6430647" y="1590118"/>
          <a:ext cx="1237788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7"/>
          </a:graphicData>
        </a:graphic>
      </p:graphicFrame>
      <p:graphicFrame>
        <p:nvGraphicFramePr>
          <p:cNvPr id="336" name="Chart 56"/>
          <p:cNvGraphicFramePr/>
          <p:nvPr/>
        </p:nvGraphicFramePr>
        <p:xfrm>
          <a:off x="6497423" y="2829796"/>
          <a:ext cx="1189906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8"/>
          </a:graphicData>
        </a:graphic>
      </p:graphicFrame>
      <p:graphicFrame>
        <p:nvGraphicFramePr>
          <p:cNvPr id="337" name="Chart 59"/>
          <p:cNvGraphicFramePr/>
          <p:nvPr/>
        </p:nvGraphicFramePr>
        <p:xfrm>
          <a:off x="6546155" y="4149891"/>
          <a:ext cx="1158874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9"/>
          </a:graphicData>
        </a:graphic>
      </p:graphicFrame>
      <p:graphicFrame>
        <p:nvGraphicFramePr>
          <p:cNvPr id="338" name="Chart 71"/>
          <p:cNvGraphicFramePr/>
          <p:nvPr/>
        </p:nvGraphicFramePr>
        <p:xfrm>
          <a:off x="5271204" y="1574423"/>
          <a:ext cx="1151292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0"/>
          </a:graphicData>
        </a:graphic>
      </p:graphicFrame>
      <p:graphicFrame>
        <p:nvGraphicFramePr>
          <p:cNvPr id="339" name="Chart 72"/>
          <p:cNvGraphicFramePr/>
          <p:nvPr/>
        </p:nvGraphicFramePr>
        <p:xfrm>
          <a:off x="5280993" y="2109254"/>
          <a:ext cx="1144170" cy="620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1"/>
          </a:graphicData>
        </a:graphic>
      </p:graphicFrame>
      <p:graphicFrame>
        <p:nvGraphicFramePr>
          <p:cNvPr id="340" name="Chart 73"/>
          <p:cNvGraphicFramePr/>
          <p:nvPr/>
        </p:nvGraphicFramePr>
        <p:xfrm>
          <a:off x="5314117" y="2841708"/>
          <a:ext cx="1120834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2"/>
          </a:graphicData>
        </a:graphic>
      </p:graphicFrame>
      <p:graphicFrame>
        <p:nvGraphicFramePr>
          <p:cNvPr id="341" name="Chart 74"/>
          <p:cNvGraphicFramePr/>
          <p:nvPr/>
        </p:nvGraphicFramePr>
        <p:xfrm>
          <a:off x="5309106" y="3505212"/>
          <a:ext cx="1171195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3"/>
          </a:graphicData>
        </a:graphic>
      </p:graphicFrame>
      <p:graphicFrame>
        <p:nvGraphicFramePr>
          <p:cNvPr id="342" name="Chart 75"/>
          <p:cNvGraphicFramePr/>
          <p:nvPr/>
        </p:nvGraphicFramePr>
        <p:xfrm>
          <a:off x="5231100" y="4112864"/>
          <a:ext cx="1231497" cy="6030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4"/>
          </a:graphicData>
        </a:graphic>
      </p:graphicFrame>
      <p:graphicFrame>
        <p:nvGraphicFramePr>
          <p:cNvPr id="343" name="Chart 80"/>
          <p:cNvGraphicFramePr/>
          <p:nvPr/>
        </p:nvGraphicFramePr>
        <p:xfrm>
          <a:off x="3906706" y="361530"/>
          <a:ext cx="1236485" cy="6031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5"/>
          </a:graphicData>
        </a:graphic>
      </p:graphicFrame>
      <p:graphicFrame>
        <p:nvGraphicFramePr>
          <p:cNvPr id="344" name="Chart 81"/>
          <p:cNvGraphicFramePr/>
          <p:nvPr/>
        </p:nvGraphicFramePr>
        <p:xfrm>
          <a:off x="3872372" y="884157"/>
          <a:ext cx="1229483" cy="69421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6"/>
          </a:graphicData>
        </a:graphic>
      </p:graphicFrame>
      <p:graphicFrame>
        <p:nvGraphicFramePr>
          <p:cNvPr id="345" name="Chart 82"/>
          <p:cNvGraphicFramePr/>
          <p:nvPr/>
        </p:nvGraphicFramePr>
        <p:xfrm>
          <a:off x="3892793" y="1622281"/>
          <a:ext cx="1218850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7"/>
          </a:graphicData>
        </a:graphic>
      </p:graphicFrame>
      <p:graphicFrame>
        <p:nvGraphicFramePr>
          <p:cNvPr id="346" name="Chart 83"/>
          <p:cNvGraphicFramePr/>
          <p:nvPr/>
        </p:nvGraphicFramePr>
        <p:xfrm>
          <a:off x="3944101" y="2103080"/>
          <a:ext cx="1205405" cy="61947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8"/>
          </a:graphicData>
        </a:graphic>
      </p:graphicFrame>
      <p:graphicFrame>
        <p:nvGraphicFramePr>
          <p:cNvPr id="347" name="Chart 84"/>
          <p:cNvGraphicFramePr/>
          <p:nvPr/>
        </p:nvGraphicFramePr>
        <p:xfrm>
          <a:off x="3952662" y="2874090"/>
          <a:ext cx="1193089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9"/>
          </a:graphicData>
        </a:graphic>
      </p:graphicFrame>
      <p:graphicFrame>
        <p:nvGraphicFramePr>
          <p:cNvPr id="348" name="Chart 85"/>
          <p:cNvGraphicFramePr/>
          <p:nvPr/>
        </p:nvGraphicFramePr>
        <p:xfrm>
          <a:off x="3958198" y="3426044"/>
          <a:ext cx="1236987" cy="5991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0"/>
          </a:graphicData>
        </a:graphic>
      </p:graphicFrame>
      <p:graphicFrame>
        <p:nvGraphicFramePr>
          <p:cNvPr id="349" name="Chart 86"/>
          <p:cNvGraphicFramePr/>
          <p:nvPr/>
        </p:nvGraphicFramePr>
        <p:xfrm>
          <a:off x="3932199" y="4157418"/>
          <a:ext cx="1260142" cy="55452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1"/>
          </a:graphicData>
        </a:graphic>
      </p:graphicFrame>
      <p:graphicFrame>
        <p:nvGraphicFramePr>
          <p:cNvPr id="350" name="Chart 90"/>
          <p:cNvGraphicFramePr/>
          <p:nvPr/>
        </p:nvGraphicFramePr>
        <p:xfrm>
          <a:off x="2756816" y="319046"/>
          <a:ext cx="1147437" cy="62912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2"/>
          </a:graphicData>
        </a:graphic>
      </p:graphicFrame>
      <p:graphicFrame>
        <p:nvGraphicFramePr>
          <p:cNvPr id="351" name="Chart 98"/>
          <p:cNvGraphicFramePr/>
          <p:nvPr/>
        </p:nvGraphicFramePr>
        <p:xfrm>
          <a:off x="2737444" y="2831652"/>
          <a:ext cx="1198328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3"/>
          </a:graphicData>
        </a:graphic>
      </p:graphicFrame>
      <p:graphicFrame>
        <p:nvGraphicFramePr>
          <p:cNvPr id="352" name="Chart 99"/>
          <p:cNvGraphicFramePr/>
          <p:nvPr/>
        </p:nvGraphicFramePr>
        <p:xfrm>
          <a:off x="2756816" y="3497277"/>
          <a:ext cx="1213900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4"/>
          </a:graphicData>
        </a:graphic>
      </p:graphicFrame>
      <p:graphicFrame>
        <p:nvGraphicFramePr>
          <p:cNvPr id="353" name="Chart 101"/>
          <p:cNvGraphicFramePr/>
          <p:nvPr/>
        </p:nvGraphicFramePr>
        <p:xfrm>
          <a:off x="2711774" y="4149890"/>
          <a:ext cx="1228711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5"/>
          </a:graphicData>
        </a:graphic>
      </p:graphicFrame>
      <p:graphicFrame>
        <p:nvGraphicFramePr>
          <p:cNvPr id="354" name="Chart 104"/>
          <p:cNvGraphicFramePr/>
          <p:nvPr/>
        </p:nvGraphicFramePr>
        <p:xfrm>
          <a:off x="1530401" y="365207"/>
          <a:ext cx="1178365" cy="58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6"/>
          </a:graphicData>
        </a:graphic>
      </p:graphicFrame>
      <p:graphicFrame>
        <p:nvGraphicFramePr>
          <p:cNvPr id="355" name="Chart 105"/>
          <p:cNvGraphicFramePr/>
          <p:nvPr/>
        </p:nvGraphicFramePr>
        <p:xfrm>
          <a:off x="1538989" y="892674"/>
          <a:ext cx="1148836" cy="65177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7"/>
          </a:graphicData>
        </a:graphic>
      </p:graphicFrame>
      <p:graphicFrame>
        <p:nvGraphicFramePr>
          <p:cNvPr id="356" name="Chart 108"/>
          <p:cNvGraphicFramePr/>
          <p:nvPr/>
        </p:nvGraphicFramePr>
        <p:xfrm>
          <a:off x="1623183" y="2080323"/>
          <a:ext cx="1128464" cy="6709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8"/>
          </a:graphicData>
        </a:graphic>
      </p:graphicFrame>
      <p:graphicFrame>
        <p:nvGraphicFramePr>
          <p:cNvPr id="357" name="Chart 109"/>
          <p:cNvGraphicFramePr/>
          <p:nvPr/>
        </p:nvGraphicFramePr>
        <p:xfrm>
          <a:off x="1575844" y="2815299"/>
          <a:ext cx="1136041" cy="5774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9"/>
          </a:graphicData>
        </a:graphic>
      </p:graphicFrame>
      <p:graphicFrame>
        <p:nvGraphicFramePr>
          <p:cNvPr id="358" name="Chart 110"/>
          <p:cNvGraphicFramePr/>
          <p:nvPr/>
        </p:nvGraphicFramePr>
        <p:xfrm>
          <a:off x="1612085" y="3514365"/>
          <a:ext cx="1155254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0"/>
          </a:graphicData>
        </a:graphic>
      </p:graphicFrame>
      <p:graphicFrame>
        <p:nvGraphicFramePr>
          <p:cNvPr id="359" name="Chart 113"/>
          <p:cNvGraphicFramePr/>
          <p:nvPr/>
        </p:nvGraphicFramePr>
        <p:xfrm>
          <a:off x="1553227" y="4128265"/>
          <a:ext cx="1198420" cy="56941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1"/>
          </a:graphicData>
        </a:graphic>
      </p:graphicFrame>
      <p:graphicFrame>
        <p:nvGraphicFramePr>
          <p:cNvPr id="360" name="Chart 115"/>
          <p:cNvGraphicFramePr/>
          <p:nvPr/>
        </p:nvGraphicFramePr>
        <p:xfrm>
          <a:off x="423479" y="387069"/>
          <a:ext cx="1129268" cy="56319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2"/>
          </a:graphicData>
        </a:graphic>
      </p:graphicFrame>
      <p:graphicFrame>
        <p:nvGraphicFramePr>
          <p:cNvPr id="361" name="Chart 116"/>
          <p:cNvGraphicFramePr/>
          <p:nvPr/>
        </p:nvGraphicFramePr>
        <p:xfrm>
          <a:off x="417538" y="1042039"/>
          <a:ext cx="1135209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3"/>
          </a:graphicData>
        </a:graphic>
      </p:graphicFrame>
      <p:graphicFrame>
        <p:nvGraphicFramePr>
          <p:cNvPr id="362" name="Chart 120"/>
          <p:cNvGraphicFramePr/>
          <p:nvPr/>
        </p:nvGraphicFramePr>
        <p:xfrm>
          <a:off x="417538" y="2172586"/>
          <a:ext cx="1215243" cy="5691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4"/>
          </a:graphicData>
        </a:graphic>
      </p:graphicFrame>
      <p:graphicFrame>
        <p:nvGraphicFramePr>
          <p:cNvPr id="363" name="Chart 121"/>
          <p:cNvGraphicFramePr/>
          <p:nvPr/>
        </p:nvGraphicFramePr>
        <p:xfrm>
          <a:off x="452408" y="2839783"/>
          <a:ext cx="1146090" cy="55296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5"/>
          </a:graphicData>
        </a:graphic>
      </p:graphicFrame>
      <p:graphicFrame>
        <p:nvGraphicFramePr>
          <p:cNvPr id="364" name="Chart 122"/>
          <p:cNvGraphicFramePr/>
          <p:nvPr/>
        </p:nvGraphicFramePr>
        <p:xfrm>
          <a:off x="460254" y="3495529"/>
          <a:ext cx="1144928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6"/>
          </a:graphicData>
        </a:graphic>
      </p:graphicFrame>
      <p:graphicFrame>
        <p:nvGraphicFramePr>
          <p:cNvPr id="365" name="Chart 123"/>
          <p:cNvGraphicFramePr/>
          <p:nvPr/>
        </p:nvGraphicFramePr>
        <p:xfrm>
          <a:off x="430854" y="4157974"/>
          <a:ext cx="1147771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7"/>
          </a:graphicData>
        </a:graphic>
      </p:graphicFrame>
      <p:sp>
        <p:nvSpPr>
          <p:cNvPr id="366" name="TextBox 127"/>
          <p:cNvSpPr txBox="1"/>
          <p:nvPr/>
        </p:nvSpPr>
        <p:spPr>
          <a:xfrm>
            <a:off x="-5552" y="1754810"/>
            <a:ext cx="60165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800">
                <a:latin typeface="Open Sans"/>
                <a:ea typeface="Open Sans"/>
                <a:cs typeface="Open Sans"/>
                <a:sym typeface="Open Sans"/>
              </a:defRPr>
            </a:pPr>
            <a:r>
              <a:t>Avg, </a:t>
            </a:r>
          </a:p>
          <a:p>
            <a:pPr>
              <a:defRPr b="1" sz="800">
                <a:latin typeface="Open Sans"/>
                <a:ea typeface="Open Sans"/>
                <a:cs typeface="Open Sans"/>
                <a:sym typeface="Open Sans"/>
              </a:defRPr>
            </a:pPr>
            <a:r>
              <a:t>Amount</a:t>
            </a:r>
          </a:p>
        </p:txBody>
      </p:sp>
      <p:sp>
        <p:nvSpPr>
          <p:cNvPr id="367" name="TextBox 128"/>
          <p:cNvSpPr txBox="1"/>
          <p:nvPr/>
        </p:nvSpPr>
        <p:spPr>
          <a:xfrm>
            <a:off x="-5551" y="541052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Customer%</a:t>
            </a:r>
          </a:p>
        </p:txBody>
      </p:sp>
      <p:graphicFrame>
        <p:nvGraphicFramePr>
          <p:cNvPr id="368" name="Table 1"/>
          <p:cNvGraphicFramePr/>
          <p:nvPr/>
        </p:nvGraphicFramePr>
        <p:xfrm>
          <a:off x="512190" y="-31177"/>
          <a:ext cx="8447390" cy="2230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206770"/>
                <a:gridCol w="1206770"/>
                <a:gridCol w="1100704"/>
                <a:gridCol w="1312836"/>
                <a:gridCol w="1206770"/>
                <a:gridCol w="1206770"/>
                <a:gridCol w="1206770"/>
              </a:tblGrid>
              <a:tr h="223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Hibernator (19%)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668B"/>
                        </a:gs>
                        <a:gs pos="50000">
                          <a:srgbClr val="0093C9"/>
                        </a:gs>
                        <a:gs pos="100000">
                          <a:srgbClr val="00B0F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Napster (20%)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416F"/>
                        </a:gs>
                        <a:gs pos="50000">
                          <a:srgbClr val="005EA1"/>
                        </a:gs>
                        <a:gs pos="100000">
                          <a:srgbClr val="0070C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Potentialist (12%)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Attention-Seeker (20%)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Promisor (13%)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Loyalist (7%)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858483"/>
                        </a:gs>
                        <a:gs pos="50000">
                          <a:srgbClr val="C0BFBD"/>
                        </a:gs>
                        <a:gs pos="100000">
                          <a:srgbClr val="E5E4E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 (10%)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342E23"/>
                        </a:gs>
                        <a:gs pos="100000">
                          <a:srgbClr val="5A503D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369" name="Chart 58"/>
          <p:cNvGraphicFramePr/>
          <p:nvPr/>
        </p:nvGraphicFramePr>
        <p:xfrm>
          <a:off x="6486458" y="3439243"/>
          <a:ext cx="1153935" cy="6102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8"/>
          </a:graphicData>
        </a:graphic>
      </p:graphicFrame>
      <p:graphicFrame>
        <p:nvGraphicFramePr>
          <p:cNvPr id="370" name="Chart 65"/>
          <p:cNvGraphicFramePr/>
          <p:nvPr/>
        </p:nvGraphicFramePr>
        <p:xfrm>
          <a:off x="5184573" y="324546"/>
          <a:ext cx="1225322" cy="6208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9"/>
          </a:graphicData>
        </a:graphic>
      </p:graphicFrame>
      <p:graphicFrame>
        <p:nvGraphicFramePr>
          <p:cNvPr id="371" name="Chart 66"/>
          <p:cNvGraphicFramePr/>
          <p:nvPr/>
        </p:nvGraphicFramePr>
        <p:xfrm>
          <a:off x="6497225" y="917437"/>
          <a:ext cx="1230398" cy="6688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0"/>
          </a:graphicData>
        </a:graphic>
      </p:graphicFrame>
      <p:graphicFrame>
        <p:nvGraphicFramePr>
          <p:cNvPr id="372" name="Chart 67"/>
          <p:cNvGraphicFramePr/>
          <p:nvPr/>
        </p:nvGraphicFramePr>
        <p:xfrm>
          <a:off x="5197615" y="958729"/>
          <a:ext cx="1255891" cy="62126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1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76"/>
          <p:cNvSpPr/>
          <p:nvPr/>
        </p:nvSpPr>
        <p:spPr>
          <a:xfrm>
            <a:off x="5516955" y="194637"/>
            <a:ext cx="641871" cy="4679577"/>
          </a:xfrm>
          <a:prstGeom prst="rect">
            <a:avLst/>
          </a:prstGeom>
          <a:gradFill>
            <a:gsLst>
              <a:gs pos="0">
                <a:srgbClr val="FFFF9C"/>
              </a:gs>
              <a:gs pos="50000">
                <a:srgbClr val="FFFFC3"/>
              </a:gs>
              <a:gs pos="100000">
                <a:srgbClr val="FFFFE2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Rectangle 28"/>
          <p:cNvSpPr/>
          <p:nvPr/>
        </p:nvSpPr>
        <p:spPr>
          <a:xfrm>
            <a:off x="6786781" y="200693"/>
            <a:ext cx="641871" cy="4679577"/>
          </a:xfrm>
          <a:prstGeom prst="rect">
            <a:avLst/>
          </a:prstGeom>
          <a:gradFill>
            <a:gsLst>
              <a:gs pos="0">
                <a:srgbClr val="BDF395"/>
              </a:gs>
              <a:gs pos="50000">
                <a:srgbClr val="D5F6BE"/>
              </a:gs>
              <a:gs pos="100000">
                <a:srgbClr val="EAFADF"/>
              </a:gs>
            </a:gsLst>
            <a:lin ang="162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Rectangle 44"/>
          <p:cNvSpPr/>
          <p:nvPr/>
        </p:nvSpPr>
        <p:spPr>
          <a:xfrm>
            <a:off x="3003583" y="184408"/>
            <a:ext cx="641871" cy="4689807"/>
          </a:xfrm>
          <a:prstGeom prst="rect">
            <a:avLst/>
          </a:prstGeom>
          <a:gradFill>
            <a:gsLst>
              <a:gs pos="0">
                <a:srgbClr val="FFD89C"/>
              </a:gs>
              <a:gs pos="50000">
                <a:srgbClr val="FFE6C3"/>
              </a:gs>
              <a:gs pos="100000">
                <a:srgbClr val="FFF2E2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Rectangle 103"/>
          <p:cNvSpPr/>
          <p:nvPr/>
        </p:nvSpPr>
        <p:spPr>
          <a:xfrm>
            <a:off x="778425" y="194637"/>
            <a:ext cx="641870" cy="4679577"/>
          </a:xfrm>
          <a:prstGeom prst="rect">
            <a:avLst/>
          </a:prstGeom>
          <a:gradFill>
            <a:gsLst>
              <a:gs pos="0">
                <a:srgbClr val="EA8A8A"/>
              </a:gs>
              <a:gs pos="50000">
                <a:srgbClr val="F0B9B9"/>
              </a:gs>
              <a:gs pos="100000">
                <a:srgbClr val="F7DDDD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80" name="Chart 145"/>
          <p:cNvGraphicFramePr/>
          <p:nvPr/>
        </p:nvGraphicFramePr>
        <p:xfrm>
          <a:off x="414552" y="1647525"/>
          <a:ext cx="1143844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1" name="Rectangle 45"/>
          <p:cNvSpPr/>
          <p:nvPr/>
        </p:nvSpPr>
        <p:spPr>
          <a:xfrm>
            <a:off x="1914307" y="184408"/>
            <a:ext cx="641871" cy="4679576"/>
          </a:xfrm>
          <a:prstGeom prst="rect">
            <a:avLst/>
          </a:prstGeom>
          <a:gradFill>
            <a:gsLst>
              <a:gs pos="0">
                <a:srgbClr val="EA8A8A"/>
              </a:gs>
              <a:gs pos="50000">
                <a:srgbClr val="F0B9B9"/>
              </a:gs>
              <a:gs pos="100000">
                <a:srgbClr val="F7DDDD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82" name="Chart 144"/>
          <p:cNvGraphicFramePr/>
          <p:nvPr/>
        </p:nvGraphicFramePr>
        <p:xfrm>
          <a:off x="1544682" y="1474831"/>
          <a:ext cx="1204372" cy="718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83" name="Chart 143"/>
          <p:cNvGraphicFramePr/>
          <p:nvPr/>
        </p:nvGraphicFramePr>
        <p:xfrm>
          <a:off x="2733692" y="1581411"/>
          <a:ext cx="1222981" cy="616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84" name="Rectangle 43"/>
          <p:cNvSpPr/>
          <p:nvPr/>
        </p:nvSpPr>
        <p:spPr>
          <a:xfrm>
            <a:off x="4239912" y="194637"/>
            <a:ext cx="641871" cy="4679577"/>
          </a:xfrm>
          <a:prstGeom prst="rect">
            <a:avLst/>
          </a:prstGeom>
          <a:gradFill>
            <a:gsLst>
              <a:gs pos="0">
                <a:srgbClr val="FFFF9C"/>
              </a:gs>
              <a:gs pos="50000">
                <a:srgbClr val="FFFFC3"/>
              </a:gs>
              <a:gs pos="100000">
                <a:srgbClr val="FFFFE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85" name="Chart 142"/>
          <p:cNvGraphicFramePr/>
          <p:nvPr/>
        </p:nvGraphicFramePr>
        <p:xfrm>
          <a:off x="4007124" y="1501487"/>
          <a:ext cx="1167064" cy="7053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86" name="Rectangle 4"/>
          <p:cNvSpPr/>
          <p:nvPr/>
        </p:nvSpPr>
        <p:spPr>
          <a:xfrm>
            <a:off x="8091290" y="200693"/>
            <a:ext cx="641871" cy="4679577"/>
          </a:xfrm>
          <a:prstGeom prst="rect">
            <a:avLst/>
          </a:prstGeom>
          <a:gradFill>
            <a:gsLst>
              <a:gs pos="0">
                <a:srgbClr val="8DDE9D"/>
              </a:gs>
              <a:gs pos="50000">
                <a:srgbClr val="BAE9C3"/>
              </a:gs>
              <a:gs pos="100000">
                <a:srgbClr val="DEF3E2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TextBox 8"/>
          <p:cNvSpPr txBox="1"/>
          <p:nvPr/>
        </p:nvSpPr>
        <p:spPr>
          <a:xfrm>
            <a:off x="33869" y="1132077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Utility</a:t>
            </a:r>
          </a:p>
        </p:txBody>
      </p:sp>
      <p:sp>
        <p:nvSpPr>
          <p:cNvPr id="388" name="TextBox 13"/>
          <p:cNvSpPr txBox="1"/>
          <p:nvPr/>
        </p:nvSpPr>
        <p:spPr>
          <a:xfrm>
            <a:off x="20151" y="2270744"/>
            <a:ext cx="895188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800">
                <a:latin typeface="Open Sans"/>
                <a:ea typeface="Open Sans"/>
                <a:cs typeface="Open Sans"/>
                <a:sym typeface="Open Sans"/>
              </a:defRPr>
            </a:pPr>
            <a:r>
              <a:t>Financial </a:t>
            </a:r>
          </a:p>
          <a:p>
            <a:pPr>
              <a:defRPr b="1" sz="800">
                <a:latin typeface="Open Sans"/>
                <a:ea typeface="Open Sans"/>
                <a:cs typeface="Open Sans"/>
                <a:sym typeface="Open Sans"/>
              </a:defRPr>
            </a:pPr>
            <a:r>
              <a:t>Service</a:t>
            </a:r>
          </a:p>
        </p:txBody>
      </p:sp>
      <p:sp>
        <p:nvSpPr>
          <p:cNvPr id="389" name="TextBox 19"/>
          <p:cNvSpPr txBox="1"/>
          <p:nvPr/>
        </p:nvSpPr>
        <p:spPr>
          <a:xfrm>
            <a:off x="77161" y="2915342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Travel</a:t>
            </a:r>
          </a:p>
        </p:txBody>
      </p:sp>
      <p:graphicFrame>
        <p:nvGraphicFramePr>
          <p:cNvPr id="390" name="Chart 22"/>
          <p:cNvGraphicFramePr/>
          <p:nvPr/>
        </p:nvGraphicFramePr>
        <p:xfrm>
          <a:off x="7759124" y="3467830"/>
          <a:ext cx="1177817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91" name="TextBox 23"/>
          <p:cNvSpPr txBox="1"/>
          <p:nvPr/>
        </p:nvSpPr>
        <p:spPr>
          <a:xfrm>
            <a:off x="33869" y="3527202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Rent</a:t>
            </a:r>
          </a:p>
        </p:txBody>
      </p:sp>
      <p:graphicFrame>
        <p:nvGraphicFramePr>
          <p:cNvPr id="392" name="Chart 25"/>
          <p:cNvGraphicFramePr/>
          <p:nvPr/>
        </p:nvGraphicFramePr>
        <p:xfrm>
          <a:off x="7816156" y="4197458"/>
          <a:ext cx="1149685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3" name="TextBox 26"/>
          <p:cNvSpPr txBox="1"/>
          <p:nvPr/>
        </p:nvSpPr>
        <p:spPr>
          <a:xfrm>
            <a:off x="-36455" y="4109289"/>
            <a:ext cx="89518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Entertainment</a:t>
            </a:r>
          </a:p>
        </p:txBody>
      </p:sp>
      <p:graphicFrame>
        <p:nvGraphicFramePr>
          <p:cNvPr id="394" name="Chart 59"/>
          <p:cNvGraphicFramePr/>
          <p:nvPr/>
        </p:nvGraphicFramePr>
        <p:xfrm>
          <a:off x="6555272" y="4149891"/>
          <a:ext cx="1158874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395" name="Chart 74"/>
          <p:cNvGraphicFramePr/>
          <p:nvPr/>
        </p:nvGraphicFramePr>
        <p:xfrm>
          <a:off x="5309106" y="3505212"/>
          <a:ext cx="1171195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396" name="Chart 75"/>
          <p:cNvGraphicFramePr/>
          <p:nvPr/>
        </p:nvGraphicFramePr>
        <p:xfrm>
          <a:off x="5247394" y="4113505"/>
          <a:ext cx="1231497" cy="6030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397" name="Chart 85"/>
          <p:cNvGraphicFramePr/>
          <p:nvPr/>
        </p:nvGraphicFramePr>
        <p:xfrm>
          <a:off x="3958198" y="3426044"/>
          <a:ext cx="1236987" cy="59915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398" name="Chart 86"/>
          <p:cNvGraphicFramePr/>
          <p:nvPr/>
        </p:nvGraphicFramePr>
        <p:xfrm>
          <a:off x="3932199" y="4157418"/>
          <a:ext cx="1260142" cy="55452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graphicFrame>
        <p:nvGraphicFramePr>
          <p:cNvPr id="399" name="Chart 99"/>
          <p:cNvGraphicFramePr/>
          <p:nvPr/>
        </p:nvGraphicFramePr>
        <p:xfrm>
          <a:off x="2756816" y="3497277"/>
          <a:ext cx="1213900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4"/>
          </a:graphicData>
        </a:graphic>
      </p:graphicFrame>
      <p:graphicFrame>
        <p:nvGraphicFramePr>
          <p:cNvPr id="400" name="Chart 101"/>
          <p:cNvGraphicFramePr/>
          <p:nvPr/>
        </p:nvGraphicFramePr>
        <p:xfrm>
          <a:off x="2733692" y="4148605"/>
          <a:ext cx="1228712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5"/>
          </a:graphicData>
        </a:graphic>
      </p:graphicFrame>
      <p:graphicFrame>
        <p:nvGraphicFramePr>
          <p:cNvPr id="401" name="Chart 110"/>
          <p:cNvGraphicFramePr/>
          <p:nvPr/>
        </p:nvGraphicFramePr>
        <p:xfrm>
          <a:off x="1612085" y="3514365"/>
          <a:ext cx="1155254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6"/>
          </a:graphicData>
        </a:graphic>
      </p:graphicFrame>
      <p:graphicFrame>
        <p:nvGraphicFramePr>
          <p:cNvPr id="402" name="Chart 113"/>
          <p:cNvGraphicFramePr/>
          <p:nvPr/>
        </p:nvGraphicFramePr>
        <p:xfrm>
          <a:off x="1553227" y="4128265"/>
          <a:ext cx="1198420" cy="56941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7"/>
          </a:graphicData>
        </a:graphic>
      </p:graphicFrame>
      <p:graphicFrame>
        <p:nvGraphicFramePr>
          <p:cNvPr id="403" name="Chart 122"/>
          <p:cNvGraphicFramePr/>
          <p:nvPr/>
        </p:nvGraphicFramePr>
        <p:xfrm>
          <a:off x="460254" y="3495529"/>
          <a:ext cx="1144928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8"/>
          </a:graphicData>
        </a:graphic>
      </p:graphicFrame>
      <p:graphicFrame>
        <p:nvGraphicFramePr>
          <p:cNvPr id="404" name="Chart 123"/>
          <p:cNvGraphicFramePr/>
          <p:nvPr/>
        </p:nvGraphicFramePr>
        <p:xfrm>
          <a:off x="430854" y="4157974"/>
          <a:ext cx="1147771" cy="5519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9"/>
          </a:graphicData>
        </a:graphic>
      </p:graphicFrame>
      <p:sp>
        <p:nvSpPr>
          <p:cNvPr id="405" name="TextBox 127"/>
          <p:cNvSpPr txBox="1"/>
          <p:nvPr/>
        </p:nvSpPr>
        <p:spPr>
          <a:xfrm>
            <a:off x="-5552" y="1754810"/>
            <a:ext cx="601657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Online</a:t>
            </a:r>
          </a:p>
        </p:txBody>
      </p:sp>
      <p:sp>
        <p:nvSpPr>
          <p:cNvPr id="406" name="TextBox 128"/>
          <p:cNvSpPr txBox="1"/>
          <p:nvPr/>
        </p:nvSpPr>
        <p:spPr>
          <a:xfrm>
            <a:off x="-5551" y="541052"/>
            <a:ext cx="895188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800">
                <a:latin typeface="Open Sans"/>
                <a:ea typeface="Open Sans"/>
                <a:cs typeface="Open Sans"/>
                <a:sym typeface="Open Sans"/>
              </a:defRPr>
            </a:pPr>
            <a:r>
              <a:t>Mobile </a:t>
            </a:r>
          </a:p>
          <a:p>
            <a:pPr>
              <a:defRPr b="1" sz="800">
                <a:latin typeface="Open Sans"/>
                <a:ea typeface="Open Sans"/>
                <a:cs typeface="Open Sans"/>
                <a:sym typeface="Open Sans"/>
              </a:defRPr>
            </a:pPr>
            <a:r>
              <a:t>Prepaid</a:t>
            </a:r>
          </a:p>
        </p:txBody>
      </p:sp>
      <p:graphicFrame>
        <p:nvGraphicFramePr>
          <p:cNvPr id="407" name="Chart 58"/>
          <p:cNvGraphicFramePr/>
          <p:nvPr/>
        </p:nvGraphicFramePr>
        <p:xfrm>
          <a:off x="6521698" y="3422370"/>
          <a:ext cx="1153935" cy="6102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0"/>
          </a:graphicData>
        </a:graphic>
      </p:graphicFrame>
      <p:graphicFrame>
        <p:nvGraphicFramePr>
          <p:cNvPr id="408" name="Chart 139"/>
          <p:cNvGraphicFramePr/>
          <p:nvPr/>
        </p:nvGraphicFramePr>
        <p:xfrm>
          <a:off x="7815218" y="1616228"/>
          <a:ext cx="1227135" cy="600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1"/>
          </a:graphicData>
        </a:graphic>
      </p:graphicFrame>
      <p:graphicFrame>
        <p:nvGraphicFramePr>
          <p:cNvPr id="409" name="Chart 140"/>
          <p:cNvGraphicFramePr/>
          <p:nvPr/>
        </p:nvGraphicFramePr>
        <p:xfrm>
          <a:off x="6646405" y="1627166"/>
          <a:ext cx="1122783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2"/>
          </a:graphicData>
        </a:graphic>
      </p:graphicFrame>
      <p:graphicFrame>
        <p:nvGraphicFramePr>
          <p:cNvPr id="410" name="Chart 141"/>
          <p:cNvGraphicFramePr/>
          <p:nvPr/>
        </p:nvGraphicFramePr>
        <p:xfrm>
          <a:off x="5378313" y="1617442"/>
          <a:ext cx="1165303" cy="59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3"/>
          </a:graphicData>
        </a:graphic>
      </p:graphicFrame>
      <p:graphicFrame>
        <p:nvGraphicFramePr>
          <p:cNvPr id="411" name="Chart 146"/>
          <p:cNvGraphicFramePr/>
          <p:nvPr/>
        </p:nvGraphicFramePr>
        <p:xfrm>
          <a:off x="7826447" y="2144166"/>
          <a:ext cx="1179918" cy="6454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4"/>
          </a:graphicData>
        </a:graphic>
      </p:graphicFrame>
      <p:graphicFrame>
        <p:nvGraphicFramePr>
          <p:cNvPr id="412" name="Chart 147"/>
          <p:cNvGraphicFramePr/>
          <p:nvPr/>
        </p:nvGraphicFramePr>
        <p:xfrm>
          <a:off x="6538656" y="2269216"/>
          <a:ext cx="1230531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5"/>
          </a:graphicData>
        </a:graphic>
      </p:graphicFrame>
      <p:graphicFrame>
        <p:nvGraphicFramePr>
          <p:cNvPr id="413" name="Chart 148"/>
          <p:cNvGraphicFramePr/>
          <p:nvPr/>
        </p:nvGraphicFramePr>
        <p:xfrm>
          <a:off x="5327000" y="2136762"/>
          <a:ext cx="1164926" cy="6674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6"/>
          </a:graphicData>
        </a:graphic>
      </p:graphicFrame>
      <p:graphicFrame>
        <p:nvGraphicFramePr>
          <p:cNvPr id="414" name="Chart 149"/>
          <p:cNvGraphicFramePr/>
          <p:nvPr/>
        </p:nvGraphicFramePr>
        <p:xfrm>
          <a:off x="4006384" y="2160267"/>
          <a:ext cx="1144377" cy="64945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7"/>
          </a:graphicData>
        </a:graphic>
      </p:graphicFrame>
      <p:graphicFrame>
        <p:nvGraphicFramePr>
          <p:cNvPr id="415" name="Chart 150"/>
          <p:cNvGraphicFramePr/>
          <p:nvPr/>
        </p:nvGraphicFramePr>
        <p:xfrm>
          <a:off x="2776604" y="2169733"/>
          <a:ext cx="1144377" cy="63384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8"/>
          </a:graphicData>
        </a:graphic>
      </p:graphicFrame>
      <p:graphicFrame>
        <p:nvGraphicFramePr>
          <p:cNvPr id="416" name="Chart 151"/>
          <p:cNvGraphicFramePr/>
          <p:nvPr/>
        </p:nvGraphicFramePr>
        <p:xfrm>
          <a:off x="1640352" y="2269930"/>
          <a:ext cx="1165884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9"/>
          </a:graphicData>
        </a:graphic>
      </p:graphicFrame>
      <p:graphicFrame>
        <p:nvGraphicFramePr>
          <p:cNvPr id="417" name="Chart 152"/>
          <p:cNvGraphicFramePr/>
          <p:nvPr/>
        </p:nvGraphicFramePr>
        <p:xfrm>
          <a:off x="503290" y="2245036"/>
          <a:ext cx="1160598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0"/>
          </a:graphicData>
        </a:graphic>
      </p:graphicFrame>
      <p:graphicFrame>
        <p:nvGraphicFramePr>
          <p:cNvPr id="418" name="Table 72"/>
          <p:cNvGraphicFramePr/>
          <p:nvPr/>
        </p:nvGraphicFramePr>
        <p:xfrm>
          <a:off x="512190" y="-31177"/>
          <a:ext cx="8447390" cy="22304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206770"/>
                <a:gridCol w="1206770"/>
                <a:gridCol w="1100704"/>
                <a:gridCol w="1312836"/>
                <a:gridCol w="1206770"/>
                <a:gridCol w="1206770"/>
                <a:gridCol w="1206770"/>
              </a:tblGrid>
              <a:tr h="223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Hibernator (19%)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668B"/>
                        </a:gs>
                        <a:gs pos="50000">
                          <a:srgbClr val="0093C9"/>
                        </a:gs>
                        <a:gs pos="100000">
                          <a:srgbClr val="00B0F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Napster (20%)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416F"/>
                        </a:gs>
                        <a:gs pos="50000">
                          <a:srgbClr val="005EA1"/>
                        </a:gs>
                        <a:gs pos="100000">
                          <a:srgbClr val="0070C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Potentialist (12%)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Attention-Seeker (20%)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Promisor (13%)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Loyalist (7%)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858483"/>
                        </a:gs>
                        <a:gs pos="50000">
                          <a:srgbClr val="C0BFBD"/>
                        </a:gs>
                        <a:gs pos="100000">
                          <a:srgbClr val="E5E4E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 (10%)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342E23"/>
                        </a:gs>
                        <a:gs pos="100000">
                          <a:srgbClr val="5A503D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419" name="Chart 77"/>
          <p:cNvGraphicFramePr/>
          <p:nvPr/>
        </p:nvGraphicFramePr>
        <p:xfrm>
          <a:off x="7750010" y="325166"/>
          <a:ext cx="1160103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1"/>
          </a:graphicData>
        </a:graphic>
      </p:graphicFrame>
      <p:graphicFrame>
        <p:nvGraphicFramePr>
          <p:cNvPr id="420" name="Chart 78"/>
          <p:cNvGraphicFramePr/>
          <p:nvPr/>
        </p:nvGraphicFramePr>
        <p:xfrm>
          <a:off x="6480647" y="272669"/>
          <a:ext cx="1169685" cy="5996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2"/>
          </a:graphicData>
        </a:graphic>
      </p:graphicFrame>
      <p:graphicFrame>
        <p:nvGraphicFramePr>
          <p:cNvPr id="421" name="Chart 79"/>
          <p:cNvGraphicFramePr/>
          <p:nvPr/>
        </p:nvGraphicFramePr>
        <p:xfrm>
          <a:off x="5259308" y="291569"/>
          <a:ext cx="1121660" cy="57850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3"/>
          </a:graphicData>
        </a:graphic>
      </p:graphicFrame>
      <p:graphicFrame>
        <p:nvGraphicFramePr>
          <p:cNvPr id="422" name="Chart 82"/>
          <p:cNvGraphicFramePr/>
          <p:nvPr/>
        </p:nvGraphicFramePr>
        <p:xfrm>
          <a:off x="3934840" y="306233"/>
          <a:ext cx="1180706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4"/>
          </a:graphicData>
        </a:graphic>
      </p:graphicFrame>
      <p:graphicFrame>
        <p:nvGraphicFramePr>
          <p:cNvPr id="423" name="Chart 83"/>
          <p:cNvGraphicFramePr/>
          <p:nvPr/>
        </p:nvGraphicFramePr>
        <p:xfrm>
          <a:off x="2766742" y="164668"/>
          <a:ext cx="1171671" cy="69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5"/>
          </a:graphicData>
        </a:graphic>
      </p:graphicFrame>
      <p:graphicFrame>
        <p:nvGraphicFramePr>
          <p:cNvPr id="424" name="Chart 87"/>
          <p:cNvGraphicFramePr/>
          <p:nvPr/>
        </p:nvGraphicFramePr>
        <p:xfrm>
          <a:off x="1572085" y="283585"/>
          <a:ext cx="1195255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6"/>
          </a:graphicData>
        </a:graphic>
      </p:graphicFrame>
      <p:graphicFrame>
        <p:nvGraphicFramePr>
          <p:cNvPr id="425" name="Chart 91"/>
          <p:cNvGraphicFramePr/>
          <p:nvPr/>
        </p:nvGraphicFramePr>
        <p:xfrm>
          <a:off x="456872" y="274019"/>
          <a:ext cx="1191715" cy="58205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7"/>
          </a:graphicData>
        </a:graphic>
      </p:graphicFrame>
      <p:graphicFrame>
        <p:nvGraphicFramePr>
          <p:cNvPr id="426" name="Chart 95"/>
          <p:cNvGraphicFramePr/>
          <p:nvPr/>
        </p:nvGraphicFramePr>
        <p:xfrm>
          <a:off x="7768941" y="831154"/>
          <a:ext cx="1180745" cy="61531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8"/>
          </a:graphicData>
        </a:graphic>
      </p:graphicFrame>
      <p:graphicFrame>
        <p:nvGraphicFramePr>
          <p:cNvPr id="427" name="Chart 96"/>
          <p:cNvGraphicFramePr/>
          <p:nvPr/>
        </p:nvGraphicFramePr>
        <p:xfrm>
          <a:off x="6577928" y="808679"/>
          <a:ext cx="1142811" cy="660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9"/>
          </a:graphicData>
        </a:graphic>
      </p:graphicFrame>
      <p:graphicFrame>
        <p:nvGraphicFramePr>
          <p:cNvPr id="428" name="Chart 97"/>
          <p:cNvGraphicFramePr/>
          <p:nvPr/>
        </p:nvGraphicFramePr>
        <p:xfrm>
          <a:off x="5284070" y="922776"/>
          <a:ext cx="1199683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0"/>
          </a:graphicData>
        </a:graphic>
      </p:graphicFrame>
      <p:graphicFrame>
        <p:nvGraphicFramePr>
          <p:cNvPr id="429" name="Chart 100"/>
          <p:cNvGraphicFramePr/>
          <p:nvPr/>
        </p:nvGraphicFramePr>
        <p:xfrm>
          <a:off x="3979741" y="846761"/>
          <a:ext cx="1238439" cy="6098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1"/>
          </a:graphicData>
        </a:graphic>
      </p:graphicFrame>
      <p:graphicFrame>
        <p:nvGraphicFramePr>
          <p:cNvPr id="430" name="Chart 102"/>
          <p:cNvGraphicFramePr/>
          <p:nvPr/>
        </p:nvGraphicFramePr>
        <p:xfrm>
          <a:off x="2819212" y="892881"/>
          <a:ext cx="1141197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2"/>
          </a:graphicData>
        </a:graphic>
      </p:graphicFrame>
      <p:graphicFrame>
        <p:nvGraphicFramePr>
          <p:cNvPr id="431" name="Chart 107"/>
          <p:cNvGraphicFramePr/>
          <p:nvPr/>
        </p:nvGraphicFramePr>
        <p:xfrm>
          <a:off x="1657611" y="908646"/>
          <a:ext cx="1142756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3"/>
          </a:graphicData>
        </a:graphic>
      </p:graphicFrame>
      <p:graphicFrame>
        <p:nvGraphicFramePr>
          <p:cNvPr id="432" name="Chart 108"/>
          <p:cNvGraphicFramePr/>
          <p:nvPr/>
        </p:nvGraphicFramePr>
        <p:xfrm>
          <a:off x="474989" y="906492"/>
          <a:ext cx="1203514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4"/>
          </a:graphicData>
        </a:graphic>
      </p:graphicFrame>
      <p:graphicFrame>
        <p:nvGraphicFramePr>
          <p:cNvPr id="433" name="Chart 65"/>
          <p:cNvGraphicFramePr/>
          <p:nvPr/>
        </p:nvGraphicFramePr>
        <p:xfrm>
          <a:off x="7759124" y="2897210"/>
          <a:ext cx="1225060" cy="63384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5"/>
          </a:graphicData>
        </a:graphic>
      </p:graphicFrame>
      <p:graphicFrame>
        <p:nvGraphicFramePr>
          <p:cNvPr id="434" name="Chart 66"/>
          <p:cNvGraphicFramePr/>
          <p:nvPr/>
        </p:nvGraphicFramePr>
        <p:xfrm>
          <a:off x="6516312" y="2859429"/>
          <a:ext cx="1252876" cy="66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6"/>
          </a:graphicData>
        </a:graphic>
      </p:graphicFrame>
      <p:graphicFrame>
        <p:nvGraphicFramePr>
          <p:cNvPr id="435" name="Chart 67"/>
          <p:cNvGraphicFramePr/>
          <p:nvPr/>
        </p:nvGraphicFramePr>
        <p:xfrm>
          <a:off x="5284506" y="2934363"/>
          <a:ext cx="1195213" cy="59242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7"/>
          </a:graphicData>
        </a:graphic>
      </p:graphicFrame>
      <p:graphicFrame>
        <p:nvGraphicFramePr>
          <p:cNvPr id="436" name="Chart 68"/>
          <p:cNvGraphicFramePr/>
          <p:nvPr/>
        </p:nvGraphicFramePr>
        <p:xfrm>
          <a:off x="3939623" y="2899236"/>
          <a:ext cx="1209806" cy="63384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8"/>
          </a:graphicData>
        </a:graphic>
      </p:graphicFrame>
      <p:graphicFrame>
        <p:nvGraphicFramePr>
          <p:cNvPr id="437" name="Chart 69"/>
          <p:cNvGraphicFramePr/>
          <p:nvPr/>
        </p:nvGraphicFramePr>
        <p:xfrm>
          <a:off x="2681389" y="2979587"/>
          <a:ext cx="1193926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9"/>
          </a:graphicData>
        </a:graphic>
      </p:graphicFrame>
      <p:graphicFrame>
        <p:nvGraphicFramePr>
          <p:cNvPr id="438" name="Chart 70"/>
          <p:cNvGraphicFramePr/>
          <p:nvPr/>
        </p:nvGraphicFramePr>
        <p:xfrm>
          <a:off x="1474531" y="2938994"/>
          <a:ext cx="1225343" cy="57897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0"/>
          </a:graphicData>
        </a:graphic>
      </p:graphicFrame>
      <p:graphicFrame>
        <p:nvGraphicFramePr>
          <p:cNvPr id="439" name="Chart 71"/>
          <p:cNvGraphicFramePr/>
          <p:nvPr/>
        </p:nvGraphicFramePr>
        <p:xfrm>
          <a:off x="327580" y="2957209"/>
          <a:ext cx="1180462" cy="57785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1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3" name="Table 2"/>
          <p:cNvGraphicFramePr/>
          <p:nvPr/>
        </p:nvGraphicFramePr>
        <p:xfrm>
          <a:off x="-2" y="316488"/>
          <a:ext cx="9144004" cy="422366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94487"/>
                <a:gridCol w="1126596"/>
                <a:gridCol w="1196814"/>
                <a:gridCol w="1279408"/>
                <a:gridCol w="1136415"/>
                <a:gridCol w="1121363"/>
                <a:gridCol w="1298000"/>
                <a:gridCol w="1290919"/>
              </a:tblGrid>
              <a:tr h="255073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Vintage Less than 12M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59%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7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12700">
                      <a:solidFill>
                        <a:srgbClr val="000000"/>
                      </a:solidFill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20325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Engage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(2.6)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(2.5)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(1.1)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(0.5)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(0.3)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(6.9)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Investment (2.1)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(0.4)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Loans  (0.4)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PP Repayment (0.4)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services (8.8)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(4.4)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(3.7)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Cable and Broadband (3.6)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(3.5)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(4.6)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(0.8)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(0.5)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(0.2)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(0.2)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(4.3)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Investment (2.3)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repayment (1.4)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Loans  (1.3)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(0.6)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(12.1)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(8.9)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services (7.3)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(6.6)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Business Services (4.2)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(8)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(3.2)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(1.4)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(1.2)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(0.6)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(5.4)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Loans  (2.5)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repayment (2.1)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(1.6)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Investment (1.5)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(12.6)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(11.9)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(11.5)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services (8)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Cable and Broadband (7.6)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(12.4)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(1.9)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(0.8)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(0.8)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(0.7)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repayment (2.4)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(2.3)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PP Repayment (0.4)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Loans  (0.2)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(4.4)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(3.3)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(1.3)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Individual Services (1.2)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Healthcare (1.1)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(23.9)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(6.9)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(2.7)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(2.1)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(6.3)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(3.5)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PP Repayment (2.7)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repayment (2.6)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Loans  (0.8)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(12.7)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(9.2)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(9)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(6.6)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Transport (4.3)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(30.5)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(8)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(6)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(3.5)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(2.9)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PP Repayment (31.3)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(18.2)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repayment (12.1)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(9.6)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BFSI (4.4)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(8.7)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(7.2)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(6.8)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(5.7)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services (4.5)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Electricity (38.9)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(12.2)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Cylinder (8.8)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(6.2)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(4.3)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Services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PP Repayment (17.6)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CC repayment (12.5)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Insurance (11.6)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repayment (8.1)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BFSI (2.1)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Transport (13.3)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Food    (12.6)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Digital Goods (12.3)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Telecom Service Provider (11.3)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Retail and Shopping (8.2)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  <a:tr h="1936036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Explore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3175">
                      <a:solidFill>
                        <a:srgbClr val="000000"/>
                      </a:solidFill>
                      <a:prstDash val="dash"/>
                    </a:lnR>
                    <a:lnT w="3175">
                      <a:solidFill>
                        <a:srgbClr val="000000"/>
                      </a:solidFill>
                      <a:prstDash val="dash"/>
                    </a:lnT>
                    <a:lnB w="3175">
                      <a:solidFill>
                        <a:srgbClr val="00000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(0.3)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(0.2)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(0.1)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Mutual Fund (0.01)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(0.01)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Parking and Tolls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0000"/>
                      </a:solidFill>
                      <a:prstDash val="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(0.2)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(0.1)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(0.1)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(0.1)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Mutual Fund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 (0.01)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Chit Funds (0.01)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Parking and Tolls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EA8A8A"/>
                        </a:gs>
                        <a:gs pos="50000">
                          <a:srgbClr val="F0B9B9"/>
                        </a:gs>
                        <a:gs pos="100000">
                          <a:srgbClr val="F7DDDD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(0.6)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(0.5)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(0.4)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(0.1)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AMC  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 (0.01)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Chit Funds (0.01)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Parking and Tolls (0.08)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(0.01)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D89C"/>
                        </a:gs>
                        <a:gs pos="50000">
                          <a:srgbClr val="FFE6C3"/>
                        </a:gs>
                        <a:gs pos="100000">
                          <a:srgbClr val="FFF2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(0.7)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(0.4)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(0.3)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(0.2)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(0.04)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Stock Trade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Chit Funds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RIA  (0.01)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ATM Cash disbursements (0.01)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(0.03)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(2.1)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(1.7)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(1.3)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(0.3)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(0.04)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Stock Trade (0.04)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Chit Funds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RIA  (0.01)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(0.05)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FFFF9C"/>
                        </a:gs>
                        <a:gs pos="50000">
                          <a:srgbClr val="FFFFC3"/>
                        </a:gs>
                        <a:gs pos="100000">
                          <a:srgbClr val="FFFF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Recharges (2.9)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(1.3)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(0.9)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(0.6)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(0.5)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Stock Trade (0.05)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 (0.05)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Chit Funds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RIA  (0.01)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ATM Cash disbursements (0.01)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(0.06)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R w="3175">
                      <a:solidFill>
                        <a:srgbClr val="002060"/>
                      </a:solidFill>
                      <a:prstDash val="lgDash"/>
                    </a:lnR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BDF395"/>
                        </a:gs>
                        <a:gs pos="50000">
                          <a:srgbClr val="D5F6BE"/>
                        </a:gs>
                        <a:gs pos="100000">
                          <a:srgbClr val="EAFADF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Utilities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 (4.3)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Paytm Utility (3.9)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Gas &amp; Petrol (3)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(1.4)</a:t>
                      </a:r>
                    </a:p>
                    <a:p>
                      <a:pPr lvl="2"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(1.1)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Financial Services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LOAN  (0.19)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Stock Trade (0.13)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Chit Funds (0.09)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RIA  (0.06)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ATM Cash disbursements (0.02)</a:t>
                      </a:r>
                    </a:p>
                    <a:p>
                      <a:pPr>
                        <a:defRPr b="1"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Online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Internet Service Provider (0.14)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Water (0.08)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LPG and PNG (0.02)</a:t>
                      </a:r>
                    </a:p>
                    <a:p>
                      <a:pPr marL="171450" indent="-171450">
                        <a:buClr>
                          <a:srgbClr val="000000"/>
                        </a:buClr>
                        <a:buSzPct val="100000"/>
                        <a:buFont typeface="Arial"/>
                        <a:buChar char="•"/>
                        <a:defRPr sz="700"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Metro (0.01)</a:t>
                      </a:r>
                    </a:p>
                  </a:txBody>
                  <a:tcPr marL="6350" marR="6350" marT="6350" marB="6350" anchor="t" anchorCtr="0" horzOverflow="overflow">
                    <a:lnL w="3175">
                      <a:solidFill>
                        <a:srgbClr val="002060"/>
                      </a:solidFill>
                      <a:prstDash val="lgDash"/>
                    </a:lnL>
                    <a:lnT w="3175">
                      <a:solidFill>
                        <a:srgbClr val="002060"/>
                      </a:solidFill>
                      <a:prstDash val="lgDash"/>
                    </a:lnT>
                    <a:lnB w="3175">
                      <a:solidFill>
                        <a:srgbClr val="002060"/>
                      </a:solidFill>
                      <a:prstDash val="lgDash"/>
                    </a:lnB>
                    <a:gradFill flip="none" rotWithShape="1">
                      <a:gsLst>
                        <a:gs pos="0">
                          <a:srgbClr val="8DDE9D"/>
                        </a:gs>
                        <a:gs pos="50000">
                          <a:srgbClr val="BAE9C3"/>
                        </a:gs>
                        <a:gs pos="100000">
                          <a:srgbClr val="DEF3E2"/>
                        </a:gs>
                      </a:gsLst>
                      <a:path path="circle">
                        <a:fillToRect l="37721" t="-19636" r="62278" b="119636"/>
                      </a:path>
                    </a:gradFill>
                  </a:tcPr>
                </a:tc>
              </a:tr>
            </a:tbl>
          </a:graphicData>
        </a:graphic>
      </p:graphicFrame>
      <p:graphicFrame>
        <p:nvGraphicFramePr>
          <p:cNvPr id="444" name="Table 3"/>
          <p:cNvGraphicFramePr/>
          <p:nvPr/>
        </p:nvGraphicFramePr>
        <p:xfrm>
          <a:off x="665873" y="-14128"/>
          <a:ext cx="8478128" cy="2230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155243"/>
                <a:gridCol w="1198709"/>
                <a:gridCol w="1283234"/>
                <a:gridCol w="1144921"/>
                <a:gridCol w="1121869"/>
                <a:gridCol w="1275549"/>
                <a:gridCol w="1298602"/>
              </a:tblGrid>
              <a:tr h="2230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Hibernator (19%)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668B"/>
                        </a:gs>
                        <a:gs pos="50000">
                          <a:srgbClr val="0093C9"/>
                        </a:gs>
                        <a:gs pos="100000">
                          <a:srgbClr val="00B0F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Napster (20%)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00416F"/>
                        </a:gs>
                        <a:gs pos="50000">
                          <a:srgbClr val="005EA1"/>
                        </a:gs>
                        <a:gs pos="100000">
                          <a:srgbClr val="0070C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Potentialist (12%)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Attention-Seeker (20%)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Promisor (13%)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Loyalist (7%)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858483"/>
                        </a:gs>
                        <a:gs pos="50000">
                          <a:srgbClr val="C0BFBD"/>
                        </a:gs>
                        <a:gs pos="100000">
                          <a:srgbClr val="E5E4E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 (10%)</a:t>
                      </a:r>
                    </a:p>
                  </a:txBody>
                  <a:tcPr marL="34290" marR="34290" marT="34290" marB="34290" anchor="ctr" anchorCtr="0" horzOverflow="overflow">
                    <a:lnB w="38100">
                      <a:solidFill>
                        <a:srgbClr val="FFFFFF"/>
                      </a:solidFill>
                    </a:lnB>
                    <a:gradFill flip="none" rotWithShape="1">
                      <a:gsLst>
                        <a:gs pos="0">
                          <a:srgbClr val="342E23"/>
                        </a:gs>
                        <a:gs pos="100000">
                          <a:srgbClr val="5A503D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itle 1"/>
          <p:cNvSpPr txBox="1"/>
          <p:nvPr/>
        </p:nvSpPr>
        <p:spPr>
          <a:xfrm>
            <a:off x="9538" y="42989"/>
            <a:ext cx="8550348" cy="70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55">
              <a:defRPr b="1" spc="-150"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Top 2 Clusters (17% of 12 Month Active Base) Contributes to </a:t>
            </a:r>
            <a:r>
              <a:rPr>
                <a:solidFill>
                  <a:srgbClr val="00B0F0"/>
                </a:solidFill>
              </a:rPr>
              <a:t>66% of Paytm Spends</a:t>
            </a:r>
            <a:endParaRPr spc="-100" sz="1200">
              <a:solidFill>
                <a:srgbClr val="242852"/>
              </a:solidFill>
              <a:latin typeface="+mn-lt"/>
              <a:ea typeface="+mn-ea"/>
              <a:cs typeface="+mn-cs"/>
              <a:sym typeface="Arial"/>
            </a:endParaRPr>
          </a:p>
          <a:p>
            <a:pPr defTabSz="914355">
              <a:defRPr b="1" spc="-150" sz="16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Significant base </a:t>
            </a:r>
            <a:r>
              <a:rPr>
                <a:solidFill>
                  <a:srgbClr val="00B0F0"/>
                </a:solidFill>
              </a:rPr>
              <a:t>(39% in bottom two clusters)</a:t>
            </a:r>
            <a:r>
              <a:rPr>
                <a:solidFill>
                  <a:srgbClr val="FF9300"/>
                </a:solidFill>
              </a:rPr>
              <a:t> </a:t>
            </a:r>
            <a:r>
              <a:t>that contribute to mere </a:t>
            </a:r>
            <a:r>
              <a:rPr>
                <a:solidFill>
                  <a:srgbClr val="FF9300"/>
                </a:solidFill>
              </a:rPr>
              <a:t>5% Spends</a:t>
            </a:r>
          </a:p>
        </p:txBody>
      </p:sp>
      <p:graphicFrame>
        <p:nvGraphicFramePr>
          <p:cNvPr id="449" name="Table 98"/>
          <p:cNvGraphicFramePr/>
          <p:nvPr/>
        </p:nvGraphicFramePr>
        <p:xfrm>
          <a:off x="415876" y="1049103"/>
          <a:ext cx="8320992" cy="302134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577320"/>
                <a:gridCol w="638908"/>
                <a:gridCol w="1388963"/>
                <a:gridCol w="1178950"/>
                <a:gridCol w="1178950"/>
                <a:gridCol w="1178950"/>
                <a:gridCol w="1178950"/>
              </a:tblGrid>
              <a:tr h="362673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 GLOBAL_CLUSTER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Tiers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#Customers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%Customers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C00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defRPr>
                      </a:pPr>
                      <a:r>
                        <a:t>R</a:t>
                      </a:r>
                      <a:r>
                        <a:rPr sz="800">
                          <a:solidFill>
                            <a:srgbClr val="FFFFFF"/>
                          </a:solidFill>
                        </a:rPr>
                        <a:t> - % Active 3M 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C00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defRPr>
                      </a:pPr>
                      <a:r>
                        <a:t>F</a:t>
                      </a:r>
                      <a:r>
                        <a:rPr sz="800">
                          <a:solidFill>
                            <a:srgbClr val="FFFFFF"/>
                          </a:solidFill>
                        </a:rPr>
                        <a:t> - # Txns L12 </a:t>
                      </a:r>
                      <a:endParaRPr sz="800">
                        <a:solidFill>
                          <a:srgbClr val="FFFFFF"/>
                        </a:solidFill>
                      </a:endParaRPr>
                    </a:p>
                    <a:p>
                      <a:pPr algn="ctr">
                        <a:defRPr sz="600">
                          <a:latin typeface="Open Sans Light"/>
                          <a:ea typeface="Open Sans Light"/>
                          <a:cs typeface="Open Sans Light"/>
                          <a:sym typeface="Open Sans Light"/>
                        </a:defRPr>
                      </a:pPr>
                      <a:r>
                        <a:t>(without UPI P2P)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FFC00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defRPr>
                      </a:pPr>
                      <a:r>
                        <a:t>M</a:t>
                      </a:r>
                      <a:r>
                        <a:rPr b="1" sz="800">
                          <a:solidFill>
                            <a:srgbClr val="FFFFFF"/>
                          </a:solidFill>
                        </a:rPr>
                        <a:t> - </a:t>
                      </a:r>
                      <a:r>
                        <a:rPr sz="800">
                          <a:solidFill>
                            <a:srgbClr val="FFFFFF"/>
                          </a:solidFill>
                        </a:rPr>
                        <a:t>₹ </a:t>
                      </a:r>
                      <a:r>
                        <a:rPr b="1" sz="800">
                          <a:solidFill>
                            <a:srgbClr val="FFFFFF"/>
                          </a:solidFill>
                        </a:rPr>
                        <a:t>Spends L12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  <a:p>
                      <a:pPr algn="ctr">
                        <a:defRPr sz="700">
                          <a:latin typeface="Open Sans Light"/>
                          <a:ea typeface="Open Sans Light"/>
                          <a:cs typeface="Open Sans Light"/>
                          <a:sym typeface="Open Sans Light"/>
                        </a:defRPr>
                      </a:pPr>
                      <a:r>
                        <a:t>(without UPI P2P)</a:t>
                      </a:r>
                    </a:p>
                  </a:txBody>
                  <a:tcPr marL="9525" marR="9525" marT="9525" marB="9525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84C81"/>
                    </a:solidFill>
                  </a:tcPr>
                </a:tc>
              </a:tr>
              <a:tr h="36267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1.CHAMPION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1. Black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13,462,328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100%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338
(273)  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 359,759
(167,529)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6267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2.LOYALIST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1. Black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8,785,171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7%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95%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95
(69)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₹223869 
(111,294)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6267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3.PROMISOR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2. Gold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16,185,677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13%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92%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63
(45)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₹80,916
(31,699)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6267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4.ATTENTION-SEEKER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2. Gold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25,476,692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20%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97%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50
(32)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₹54,222
(10,833)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6267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5.POTENTIALIST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2. Gold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15,304,357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12%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99%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11
(9)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₹23,012
(14,772)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6267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6.NAPSTER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3. Blue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25,631,008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20%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12%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9
(6) 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₹12,146
(3,589)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26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7.HIBERNATOR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3. Blue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23,919,895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19%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8%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5
(4)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₹8,085
(5,791)</a:t>
                      </a:r>
                    </a:p>
                  </a:txBody>
                  <a:tcPr marL="12700" marR="12700" marT="12700" marB="1270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50" name="TextBox 16"/>
          <p:cNvSpPr txBox="1"/>
          <p:nvPr/>
        </p:nvSpPr>
        <p:spPr>
          <a:xfrm>
            <a:off x="304280" y="4448966"/>
            <a:ext cx="6108189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*Top three clusters are consumed in most of our campaigns</a:t>
            </a:r>
          </a:p>
        </p:txBody>
      </p:sp>
      <p:sp>
        <p:nvSpPr>
          <p:cNvPr id="451" name="Straight Connector 1"/>
          <p:cNvSpPr/>
          <p:nvPr/>
        </p:nvSpPr>
        <p:spPr>
          <a:xfrm>
            <a:off x="-7838" y="660943"/>
            <a:ext cx="9162000" cy="12426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Rectangle 2"/>
          <p:cNvSpPr/>
          <p:nvPr/>
        </p:nvSpPr>
        <p:spPr>
          <a:xfrm>
            <a:off x="376547" y="1445342"/>
            <a:ext cx="8393829" cy="1032387"/>
          </a:xfrm>
          <a:prstGeom prst="rect">
            <a:avLst/>
          </a:prstGeom>
          <a:ln w="28575">
            <a:solidFill>
              <a:srgbClr val="00B050"/>
            </a:solidFill>
            <a:prstDash val="sysDot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Rectangle 3"/>
          <p:cNvSpPr/>
          <p:nvPr/>
        </p:nvSpPr>
        <p:spPr>
          <a:xfrm>
            <a:off x="376547" y="2526888"/>
            <a:ext cx="8393829" cy="712985"/>
          </a:xfrm>
          <a:prstGeom prst="rect">
            <a:avLst/>
          </a:prstGeom>
          <a:ln w="28575">
            <a:solidFill>
              <a:srgbClr val="FFC000"/>
            </a:solidFill>
            <a:prstDash val="sysDot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Rectangle 4"/>
          <p:cNvSpPr/>
          <p:nvPr/>
        </p:nvSpPr>
        <p:spPr>
          <a:xfrm>
            <a:off x="376547" y="3264594"/>
            <a:ext cx="8393829" cy="805856"/>
          </a:xfrm>
          <a:prstGeom prst="rect">
            <a:avLst/>
          </a:prstGeom>
          <a:ln w="28575">
            <a:solidFill>
              <a:srgbClr val="C00000"/>
            </a:solidFill>
            <a:prstDash val="sysDot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itle 1"/>
          <p:cNvSpPr txBox="1"/>
          <p:nvPr/>
        </p:nvSpPr>
        <p:spPr>
          <a:xfrm>
            <a:off x="9538" y="144588"/>
            <a:ext cx="811148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 defTabSz="914378"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Category Penetration across clusters</a:t>
            </a:r>
          </a:p>
        </p:txBody>
      </p:sp>
      <p:graphicFrame>
        <p:nvGraphicFramePr>
          <p:cNvPr id="457" name="Table 2"/>
          <p:cNvGraphicFramePr/>
          <p:nvPr/>
        </p:nvGraphicFramePr>
        <p:xfrm>
          <a:off x="155943" y="837174"/>
          <a:ext cx="8874644" cy="394997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22698"/>
                <a:gridCol w="893135"/>
                <a:gridCol w="893135"/>
                <a:gridCol w="893135"/>
                <a:gridCol w="893135"/>
                <a:gridCol w="893135"/>
                <a:gridCol w="893135"/>
                <a:gridCol w="893135"/>
              </a:tblGrid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{Cluster } –  ( %Pop | %Spends )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 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Rent Payer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Prepaid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Gas &amp; Petrol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KYC Complete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{Champion} (10% | 47%)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88%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71%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94%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75%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{Loyalist} (7% | 19%)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46%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77%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40%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69%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67%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{Promisor} (13%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2"/>
                          </a:solidFill>
                        </a:rPr>
                        <a:t>81%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2"/>
                          </a:solidFill>
                        </a:rPr>
                        <a:t>25%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2"/>
                          </a:solidFill>
                        </a:rPr>
                        <a:t>73%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2"/>
                          </a:solidFill>
                        </a:rPr>
                        <a:t>80%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{Attention-Seeker} (20%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89%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27%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21%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{Potentialist} (12%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6%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{Napster} (20%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31%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{Hibernator} (19% | 02%)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2439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Last 12M Active Portfolio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</a:tr>
            </a:tbl>
          </a:graphicData>
        </a:graphic>
      </p:graphicFrame>
      <p:sp>
        <p:nvSpPr>
          <p:cNvPr id="458" name="Straight Connector 12"/>
          <p:cNvSpPr/>
          <p:nvPr/>
        </p:nvSpPr>
        <p:spPr>
          <a:xfrm>
            <a:off x="236302" y="740978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45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1373864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46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1839117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46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2769622"/>
            <a:ext cx="297070" cy="303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462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77" y="3700129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463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77" y="4165379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464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3234875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sp>
        <p:nvSpPr>
          <p:cNvPr id="465" name="Plus 10"/>
          <p:cNvSpPr/>
          <p:nvPr/>
        </p:nvSpPr>
        <p:spPr>
          <a:xfrm>
            <a:off x="262384" y="1322530"/>
            <a:ext cx="154032" cy="150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343"/>
                </a:moveTo>
                <a:lnTo>
                  <a:pt x="7432" y="7343"/>
                </a:lnTo>
                <a:lnTo>
                  <a:pt x="7432" y="0"/>
                </a:lnTo>
                <a:lnTo>
                  <a:pt x="14168" y="0"/>
                </a:lnTo>
                <a:lnTo>
                  <a:pt x="14168" y="7343"/>
                </a:lnTo>
                <a:lnTo>
                  <a:pt x="21600" y="7343"/>
                </a:lnTo>
                <a:lnTo>
                  <a:pt x="21600" y="14257"/>
                </a:lnTo>
                <a:lnTo>
                  <a:pt x="14168" y="14257"/>
                </a:lnTo>
                <a:lnTo>
                  <a:pt x="14168" y="21600"/>
                </a:lnTo>
                <a:lnTo>
                  <a:pt x="7432" y="21600"/>
                </a:lnTo>
                <a:lnTo>
                  <a:pt x="7432" y="14257"/>
                </a:lnTo>
                <a:lnTo>
                  <a:pt x="0" y="14257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rgbClr val="242852"/>
            </a:solidFill>
          </a:ln>
        </p:spPr>
        <p:txBody>
          <a:bodyPr lIns="45719" rIns="45719" anchor="ctr"/>
          <a:lstStyle/>
          <a:p>
            <a:pPr algn="ctr" defTabSz="914378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66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2304370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itle 1"/>
          <p:cNvSpPr txBox="1"/>
          <p:nvPr/>
        </p:nvSpPr>
        <p:spPr>
          <a:xfrm>
            <a:off x="9536" y="144587"/>
            <a:ext cx="8365344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 u="sng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Champion</a:t>
            </a:r>
            <a:r>
              <a:rPr u="none">
                <a:solidFill>
                  <a:srgbClr val="242852"/>
                </a:solidFill>
              </a:rPr>
              <a:t> – Super Prime, Max Categories, Max Spends</a:t>
            </a:r>
          </a:p>
        </p:txBody>
      </p:sp>
      <p:sp>
        <p:nvSpPr>
          <p:cNvPr id="469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472" name="Rounded Rectangle 186"/>
          <p:cNvGrpSpPr/>
          <p:nvPr/>
        </p:nvGrpSpPr>
        <p:grpSpPr>
          <a:xfrm>
            <a:off x="3140843" y="1301665"/>
            <a:ext cx="4440151" cy="1996441"/>
            <a:chOff x="0" y="0"/>
            <a:chExt cx="4440149" cy="1996439"/>
          </a:xfrm>
        </p:grpSpPr>
        <p:sp>
          <p:nvSpPr>
            <p:cNvPr id="470" name="Rounded Rectangle"/>
            <p:cNvSpPr/>
            <p:nvPr/>
          </p:nvSpPr>
          <p:spPr>
            <a:xfrm>
              <a:off x="0" y="147148"/>
              <a:ext cx="4440150" cy="1702144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25000"/>
                </a:lnSpc>
                <a:defRPr b="1" sz="700">
                  <a:solidFill>
                    <a:srgbClr val="FF00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471" name="Key Attributes…"/>
            <p:cNvSpPr txBox="1"/>
            <p:nvPr/>
          </p:nvSpPr>
          <p:spPr>
            <a:xfrm>
              <a:off x="138336" y="-1"/>
              <a:ext cx="4163477" cy="1996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 sz="11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2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Non-Merchant - 71%; Full KYC – 75%; Grocery/Food – 99%; Bureau – 38%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Mobile per-paid -88%; Gas &amp; Petrol – 71%; Wallet In – 94%; ; Entertainment – 32%</a:t>
              </a: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PP - 15%; Rent - 8%; Most Frequent category – Retail and Shopping , Food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Bureau max high line all loan above 1 Lac – 10%;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 20%  have at least 80% UPI txn on PG in last 12M </a:t>
              </a: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61 P2M txn in last 3M; 50% has at least 5 Wallet txn in last 3M; 50% have at least Rs. 350 P2M avg. spend in last 3M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CC bill payment 12M – 30% ; PP GMV at least Rs. 3,649 for last 3M 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90% have Online P2M txn in last 3M</a:t>
              </a:r>
              <a:endParaRPr>
                <a:solidFill>
                  <a:srgbClr val="FF0000"/>
                </a:solidFill>
              </a:endParaRPr>
            </a:p>
          </p:txBody>
        </p:sp>
      </p:grpSp>
      <p:pic>
        <p:nvPicPr>
          <p:cNvPr id="4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18397" y="859204"/>
            <a:ext cx="575937" cy="57593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474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47%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5" name="Table 66"/>
          <p:cNvGraphicFramePr/>
          <p:nvPr/>
        </p:nvGraphicFramePr>
        <p:xfrm>
          <a:off x="155934" y="1497371"/>
          <a:ext cx="2802325" cy="108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6" name="Round Same-side Corner of Rectangle 69"/>
          <p:cNvSpPr/>
          <p:nvPr/>
        </p:nvSpPr>
        <p:spPr>
          <a:xfrm rot="10800000">
            <a:off x="155935" y="3183942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pic>
        <p:nvPicPr>
          <p:cNvPr id="47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1" name="Group 26"/>
          <p:cNvGrpSpPr/>
          <p:nvPr/>
        </p:nvGrpSpPr>
        <p:grpSpPr>
          <a:xfrm>
            <a:off x="7713884" y="1181380"/>
            <a:ext cx="487236" cy="456303"/>
            <a:chOff x="0" y="0"/>
            <a:chExt cx="487234" cy="456302"/>
          </a:xfrm>
        </p:grpSpPr>
        <p:sp>
          <p:nvSpPr>
            <p:cNvPr id="478" name="Hexagon 28"/>
            <p:cNvSpPr/>
            <p:nvPr/>
          </p:nvSpPr>
          <p:spPr>
            <a:xfrm rot="6512486">
              <a:off x="191501" y="22531"/>
              <a:ext cx="207356" cy="222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23B"/>
                </a:gs>
                <a:gs pos="100000">
                  <a:srgbClr val="00D05E"/>
                </a:gs>
              </a:gsLst>
              <a:lin ang="108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79" name="Hexagon 29"/>
            <p:cNvSpPr/>
            <p:nvPr/>
          </p:nvSpPr>
          <p:spPr>
            <a:xfrm rot="6512486">
              <a:off x="34615" y="140938"/>
              <a:ext cx="207356" cy="222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23B"/>
                </a:gs>
                <a:gs pos="100000">
                  <a:srgbClr val="00D05E"/>
                </a:gs>
              </a:gsLst>
              <a:lin ang="108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80" name="Hexagon 30"/>
            <p:cNvSpPr/>
            <p:nvPr/>
          </p:nvSpPr>
          <p:spPr>
            <a:xfrm rot="6512486">
              <a:off x="245264" y="211589"/>
              <a:ext cx="207356" cy="222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823B"/>
                </a:gs>
                <a:gs pos="100000">
                  <a:srgbClr val="00D05E"/>
                </a:gs>
              </a:gsLst>
              <a:lin ang="10800000" scaled="0"/>
            </a:gra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484" name="Curved Down Arrow 27"/>
          <p:cNvGrpSpPr/>
          <p:nvPr/>
        </p:nvGrpSpPr>
        <p:grpSpPr>
          <a:xfrm>
            <a:off x="8121239" y="1155313"/>
            <a:ext cx="739046" cy="804335"/>
            <a:chOff x="0" y="0"/>
            <a:chExt cx="739045" cy="804333"/>
          </a:xfrm>
        </p:grpSpPr>
        <p:sp>
          <p:nvSpPr>
            <p:cNvPr id="482" name="Shape"/>
            <p:cNvSpPr/>
            <p:nvPr/>
          </p:nvSpPr>
          <p:spPr>
            <a:xfrm flipH="1" rot="3043118">
              <a:off x="-20504" y="243796"/>
              <a:ext cx="780053" cy="316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03" y="21600"/>
                  </a:moveTo>
                  <a:lnTo>
                    <a:pt x="17215" y="16200"/>
                  </a:lnTo>
                  <a:lnTo>
                    <a:pt x="18311" y="16200"/>
                  </a:lnTo>
                  <a:lnTo>
                    <a:pt x="18311" y="16200"/>
                  </a:lnTo>
                  <a:cubicBezTo>
                    <a:pt x="17250" y="6663"/>
                    <a:pt x="13545" y="0"/>
                    <a:pt x="9303" y="0"/>
                  </a:cubicBezTo>
                  <a:lnTo>
                    <a:pt x="11496" y="0"/>
                  </a:lnTo>
                  <a:cubicBezTo>
                    <a:pt x="15738" y="0"/>
                    <a:pt x="19443" y="6663"/>
                    <a:pt x="20504" y="16200"/>
                  </a:cubicBezTo>
                  <a:lnTo>
                    <a:pt x="21600" y="16200"/>
                  </a:lnTo>
                  <a:close/>
                  <a:moveTo>
                    <a:pt x="10400" y="151"/>
                  </a:moveTo>
                  <a:lnTo>
                    <a:pt x="10400" y="151"/>
                  </a:lnTo>
                  <a:cubicBezTo>
                    <a:pt x="5718" y="1440"/>
                    <a:pt x="2193" y="10655"/>
                    <a:pt x="2193" y="21600"/>
                  </a:cubicBezTo>
                  <a:lnTo>
                    <a:pt x="0" y="21600"/>
                  </a:lnTo>
                  <a:cubicBezTo>
                    <a:pt x="0" y="9671"/>
                    <a:pt x="4165" y="0"/>
                    <a:pt x="9303" y="0"/>
                  </a:cubicBezTo>
                  <a:cubicBezTo>
                    <a:pt x="9670" y="0"/>
                    <a:pt x="10036" y="50"/>
                    <a:pt x="10400" y="151"/>
                  </a:cubicBezTo>
                  <a:close/>
                </a:path>
              </a:pathLst>
            </a:custGeom>
            <a:solidFill>
              <a:srgbClr val="00B05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83" name="Shape"/>
            <p:cNvSpPr/>
            <p:nvPr/>
          </p:nvSpPr>
          <p:spPr>
            <a:xfrm flipH="1" rot="3043118">
              <a:off x="309787" y="400342"/>
              <a:ext cx="375565" cy="316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51"/>
                  </a:moveTo>
                  <a:lnTo>
                    <a:pt x="21600" y="151"/>
                  </a:lnTo>
                  <a:cubicBezTo>
                    <a:pt x="11877" y="1440"/>
                    <a:pt x="4554" y="10655"/>
                    <a:pt x="4554" y="21600"/>
                  </a:cubicBezTo>
                  <a:lnTo>
                    <a:pt x="0" y="21600"/>
                  </a:lnTo>
                  <a:cubicBezTo>
                    <a:pt x="0" y="9671"/>
                    <a:pt x="8651" y="0"/>
                    <a:pt x="19323" y="0"/>
                  </a:cubicBezTo>
                  <a:cubicBezTo>
                    <a:pt x="20084" y="0"/>
                    <a:pt x="20844" y="50"/>
                    <a:pt x="21600" y="15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485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48811" y="85917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479290" y="85917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40244" y="877172"/>
            <a:ext cx="540001" cy="54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291991" y="85917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913922" y="85917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" name="Picture 9" descr="Picture 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109767" y="871387"/>
            <a:ext cx="576001" cy="576002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Rectangle 31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>
                <a:solidFill>
                  <a:srgbClr val="072C62"/>
                </a:solidFill>
              </a:rPr>
              <a:t> </a:t>
            </a:r>
            <a:r>
              <a:rPr i="0">
                <a:solidFill>
                  <a:srgbClr val="072C62"/>
                </a:solidFill>
              </a:rPr>
              <a:t>L12 Active</a:t>
            </a:r>
          </a:p>
        </p:txBody>
      </p:sp>
      <p:sp>
        <p:nvSpPr>
          <p:cNvPr id="492" name="TextBox 32"/>
          <p:cNvSpPr txBox="1"/>
          <p:nvPr/>
        </p:nvSpPr>
        <p:spPr>
          <a:xfrm>
            <a:off x="7472018" y="821243"/>
            <a:ext cx="154391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00B0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Champion (1/7)</a:t>
            </a:r>
          </a:p>
        </p:txBody>
      </p:sp>
      <p:sp>
        <p:nvSpPr>
          <p:cNvPr id="493" name="TextBox 11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494" name="Left Arrow 1">
            <a:hlinkClick r:id="rId10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495" name="Chart 38"/>
          <p:cNvGraphicFramePr/>
          <p:nvPr/>
        </p:nvGraphicFramePr>
        <p:xfrm>
          <a:off x="125183" y="3467273"/>
          <a:ext cx="8586867" cy="132476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31" descr="Picture 31"/>
          <p:cNvPicPr>
            <a:picLocks noChangeAspect="1"/>
          </p:cNvPicPr>
          <p:nvPr/>
        </p:nvPicPr>
        <p:blipFill>
          <a:blip r:embed="rId2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sp>
        <p:nvSpPr>
          <p:cNvPr id="498" name="Title 1"/>
          <p:cNvSpPr txBox="1"/>
          <p:nvPr/>
        </p:nvSpPr>
        <p:spPr>
          <a:xfrm>
            <a:off x="9536" y="144587"/>
            <a:ext cx="8365344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78">
              <a:defRPr b="1" sz="2100" u="sng">
                <a:solidFill>
                  <a:srgbClr val="92D05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Loyalist</a:t>
            </a:r>
            <a:r>
              <a:rPr b="0" u="none">
                <a:solidFill>
                  <a:srgbClr val="00B050"/>
                </a:solidFill>
              </a:rPr>
              <a:t> </a:t>
            </a:r>
            <a:r>
              <a:rPr u="none">
                <a:solidFill>
                  <a:srgbClr val="242852"/>
                </a:solidFill>
              </a:rPr>
              <a:t>– Premium, Activity++, Spends++, Categories++</a:t>
            </a:r>
          </a:p>
        </p:txBody>
      </p:sp>
      <p:sp>
        <p:nvSpPr>
          <p:cNvPr id="499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02" name="Rounded Rectangle 186"/>
          <p:cNvGrpSpPr/>
          <p:nvPr/>
        </p:nvGrpSpPr>
        <p:grpSpPr>
          <a:xfrm>
            <a:off x="3140843" y="1429633"/>
            <a:ext cx="4440151" cy="1767841"/>
            <a:chOff x="0" y="0"/>
            <a:chExt cx="4440149" cy="1767839"/>
          </a:xfrm>
        </p:grpSpPr>
        <p:sp>
          <p:nvSpPr>
            <p:cNvPr id="500" name="Rounded Rectangle"/>
            <p:cNvSpPr/>
            <p:nvPr/>
          </p:nvSpPr>
          <p:spPr>
            <a:xfrm>
              <a:off x="0" y="60223"/>
              <a:ext cx="4440150" cy="1647394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78">
                <a:lnSpc>
                  <a:spcPct val="125000"/>
                </a:lnSpc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501" name="Key Attributes…"/>
            <p:cNvSpPr txBox="1"/>
            <p:nvPr/>
          </p:nvSpPr>
          <p:spPr>
            <a:xfrm>
              <a:off x="135663" y="0"/>
              <a:ext cx="4168823" cy="176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4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Merchant - 46%; Full KYC – 67%; Grocery/Food – 67%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PP - 28%; Rent – 18%; Gas &amp; Petrol – 40%; ; Entertainment – 19%</a:t>
              </a: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Wallet in – 69%; Mobile pre-paid – 77%; Bureau – 99%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Bureau max high line all loan above 1 Lac – 40%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20%  have at least 80% UPI txn on PG in last 12M </a:t>
              </a: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10 P2M txn in last 3M; 40% have financial txn in last 3M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Rs. 519 P2M avg. spend in last 3M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60% have at least 1 CC open/closed 12M; CC bill payment 12M – 40%</a:t>
              </a:r>
              <a:endParaRPr>
                <a:solidFill>
                  <a:srgbClr val="FF0000"/>
                </a:solidFill>
              </a:endParaRPr>
            </a:p>
          </p:txBody>
        </p:sp>
      </p:grpSp>
      <p:pic>
        <p:nvPicPr>
          <p:cNvPr id="503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18397" y="872891"/>
            <a:ext cx="575937" cy="575937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504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505" name="Round Same-side Corner of Rectangle 69"/>
          <p:cNvSpPr/>
          <p:nvPr/>
        </p:nvSpPr>
        <p:spPr>
          <a:xfrm rot="10800000">
            <a:off x="154818" y="3177163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pic>
        <p:nvPicPr>
          <p:cNvPr id="506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7707" y="87289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17079" y="87289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15826" y="872891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9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965198" y="872891"/>
            <a:ext cx="576001" cy="57600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510" name="Table 32"/>
          <p:cNvGraphicFramePr/>
          <p:nvPr/>
        </p:nvGraphicFramePr>
        <p:xfrm>
          <a:off x="155934" y="1497371"/>
          <a:ext cx="2802325" cy="129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14" name="Group 33"/>
          <p:cNvGrpSpPr/>
          <p:nvPr/>
        </p:nvGrpSpPr>
        <p:grpSpPr>
          <a:xfrm>
            <a:off x="7765160" y="1147198"/>
            <a:ext cx="487237" cy="456304"/>
            <a:chOff x="0" y="0"/>
            <a:chExt cx="487236" cy="456303"/>
          </a:xfrm>
        </p:grpSpPr>
        <p:sp>
          <p:nvSpPr>
            <p:cNvPr id="511" name="Hexagon 34"/>
            <p:cNvSpPr/>
            <p:nvPr/>
          </p:nvSpPr>
          <p:spPr>
            <a:xfrm rot="6512486">
              <a:off x="191502" y="22531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92D05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12" name="Hexagon 35"/>
            <p:cNvSpPr/>
            <p:nvPr/>
          </p:nvSpPr>
          <p:spPr>
            <a:xfrm rot="6512486">
              <a:off x="34615" y="140938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92D05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13" name="Hexagon 36"/>
            <p:cNvSpPr/>
            <p:nvPr/>
          </p:nvSpPr>
          <p:spPr>
            <a:xfrm rot="6512486">
              <a:off x="245264" y="211590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92D05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17" name="Curved Down Arrow 37"/>
          <p:cNvGrpSpPr/>
          <p:nvPr/>
        </p:nvGrpSpPr>
        <p:grpSpPr>
          <a:xfrm>
            <a:off x="8179892" y="1126651"/>
            <a:ext cx="894917" cy="1265552"/>
            <a:chOff x="0" y="0"/>
            <a:chExt cx="894915" cy="1265550"/>
          </a:xfrm>
        </p:grpSpPr>
        <p:sp>
          <p:nvSpPr>
            <p:cNvPr id="515" name="Shape"/>
            <p:cNvSpPr/>
            <p:nvPr/>
          </p:nvSpPr>
          <p:spPr>
            <a:xfrm flipH="1" rot="3883235">
              <a:off x="-152429" y="421230"/>
              <a:ext cx="1199774" cy="42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998" y="21600"/>
                  </a:moveTo>
                  <a:lnTo>
                    <a:pt x="17791" y="16200"/>
                  </a:lnTo>
                  <a:lnTo>
                    <a:pt x="18744" y="16200"/>
                  </a:lnTo>
                  <a:lnTo>
                    <a:pt x="18744" y="16200"/>
                  </a:lnTo>
                  <a:cubicBezTo>
                    <a:pt x="17658" y="6663"/>
                    <a:pt x="13865" y="0"/>
                    <a:pt x="9523" y="0"/>
                  </a:cubicBezTo>
                  <a:lnTo>
                    <a:pt x="11427" y="0"/>
                  </a:lnTo>
                  <a:cubicBezTo>
                    <a:pt x="15770" y="0"/>
                    <a:pt x="19562" y="6663"/>
                    <a:pt x="20648" y="16200"/>
                  </a:cubicBezTo>
                  <a:lnTo>
                    <a:pt x="21600" y="16200"/>
                  </a:lnTo>
                  <a:close/>
                  <a:moveTo>
                    <a:pt x="10475" y="108"/>
                  </a:moveTo>
                  <a:lnTo>
                    <a:pt x="10475" y="108"/>
                  </a:lnTo>
                  <a:cubicBezTo>
                    <a:pt x="5609" y="1217"/>
                    <a:pt x="1904" y="10507"/>
                    <a:pt x="1904" y="21600"/>
                  </a:cubicBezTo>
                  <a:lnTo>
                    <a:pt x="0" y="21600"/>
                  </a:lnTo>
                  <a:cubicBezTo>
                    <a:pt x="0" y="9671"/>
                    <a:pt x="4264" y="0"/>
                    <a:pt x="9523" y="0"/>
                  </a:cubicBezTo>
                  <a:cubicBezTo>
                    <a:pt x="9841" y="0"/>
                    <a:pt x="10159" y="36"/>
                    <a:pt x="10475" y="108"/>
                  </a:cubicBezTo>
                  <a:close/>
                </a:path>
              </a:pathLst>
            </a:custGeom>
            <a:solidFill>
              <a:srgbClr val="92D05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16" name="Shape"/>
            <p:cNvSpPr/>
            <p:nvPr/>
          </p:nvSpPr>
          <p:spPr>
            <a:xfrm flipH="1" rot="3883235">
              <a:off x="288475" y="700608"/>
              <a:ext cx="581843" cy="423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08"/>
                  </a:moveTo>
                  <a:lnTo>
                    <a:pt x="21600" y="108"/>
                  </a:lnTo>
                  <a:cubicBezTo>
                    <a:pt x="11566" y="1217"/>
                    <a:pt x="3927" y="10507"/>
                    <a:pt x="3927" y="21600"/>
                  </a:cubicBezTo>
                  <a:lnTo>
                    <a:pt x="0" y="21600"/>
                  </a:lnTo>
                  <a:cubicBezTo>
                    <a:pt x="0" y="9671"/>
                    <a:pt x="8792" y="0"/>
                    <a:pt x="19637" y="0"/>
                  </a:cubicBezTo>
                  <a:cubicBezTo>
                    <a:pt x="20292" y="0"/>
                    <a:pt x="20948" y="36"/>
                    <a:pt x="21600" y="108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18" name="Picture 8" descr="Picture 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466453" y="872891"/>
            <a:ext cx="576001" cy="576001"/>
          </a:xfrm>
          <a:prstGeom prst="rect">
            <a:avLst/>
          </a:prstGeom>
          <a:ln w="12700">
            <a:miter lim="400000"/>
          </a:ln>
        </p:spPr>
      </p:pic>
      <p:sp>
        <p:nvSpPr>
          <p:cNvPr id="519" name="Rectangle 30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>
                <a:solidFill>
                  <a:srgbClr val="072C62"/>
                </a:solidFill>
              </a:rPr>
              <a:t> </a:t>
            </a:r>
            <a:r>
              <a:rPr i="0">
                <a:solidFill>
                  <a:srgbClr val="072C62"/>
                </a:solidFill>
              </a:rPr>
              <a:t>L12 Active</a:t>
            </a:r>
          </a:p>
        </p:txBody>
      </p:sp>
      <p:sp>
        <p:nvSpPr>
          <p:cNvPr id="520" name="TextBox 44"/>
          <p:cNvSpPr txBox="1"/>
          <p:nvPr/>
        </p:nvSpPr>
        <p:spPr>
          <a:xfrm>
            <a:off x="7472018" y="821243"/>
            <a:ext cx="154391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92D0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Loyalist (2/7)</a:t>
            </a:r>
          </a:p>
        </p:txBody>
      </p:sp>
      <p:sp>
        <p:nvSpPr>
          <p:cNvPr id="521" name="TextBox 45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522" name="Left Arrow 47">
            <a:hlinkClick r:id="rId9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523" name="Chart 48"/>
          <p:cNvGraphicFramePr/>
          <p:nvPr/>
        </p:nvGraphicFramePr>
        <p:xfrm>
          <a:off x="185473" y="3435530"/>
          <a:ext cx="8642715" cy="13802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Picture 26" descr="Picture 26"/>
          <p:cNvPicPr>
            <a:picLocks noChangeAspect="1"/>
          </p:cNvPicPr>
          <p:nvPr/>
        </p:nvPicPr>
        <p:blipFill>
          <a:blip r:embed="rId2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Title 1"/>
          <p:cNvSpPr txBox="1"/>
          <p:nvPr/>
        </p:nvSpPr>
        <p:spPr>
          <a:xfrm>
            <a:off x="9536" y="141917"/>
            <a:ext cx="8365344" cy="505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 u="sng">
                <a:solidFill>
                  <a:srgbClr val="7030A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Promisor</a:t>
            </a:r>
            <a:r>
              <a:rPr u="none"/>
              <a:t> </a:t>
            </a:r>
            <a:r>
              <a:rPr u="none">
                <a:solidFill>
                  <a:srgbClr val="242852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u="none">
                <a:solidFill>
                  <a:srgbClr val="242852"/>
                </a:solidFill>
              </a:rPr>
              <a:t>Spend+, Categories+, Premium Look-Alike</a:t>
            </a:r>
          </a:p>
        </p:txBody>
      </p:sp>
      <p:sp>
        <p:nvSpPr>
          <p:cNvPr id="527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30" name="Rounded Rectangle 186"/>
          <p:cNvGrpSpPr/>
          <p:nvPr/>
        </p:nvGrpSpPr>
        <p:grpSpPr>
          <a:xfrm>
            <a:off x="3140843" y="1449450"/>
            <a:ext cx="4440151" cy="1558291"/>
            <a:chOff x="0" y="0"/>
            <a:chExt cx="4440149" cy="1558289"/>
          </a:xfrm>
        </p:grpSpPr>
        <p:sp>
          <p:nvSpPr>
            <p:cNvPr id="528" name="Rounded Rectangle"/>
            <p:cNvSpPr/>
            <p:nvPr/>
          </p:nvSpPr>
          <p:spPr>
            <a:xfrm>
              <a:off x="0" y="40407"/>
              <a:ext cx="4440150" cy="1477477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78">
                <a:lnSpc>
                  <a:spcPct val="125000"/>
                </a:lnSpc>
                <a:defRPr b="1" sz="900">
                  <a:solidFill>
                    <a:srgbClr val="FF00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529" name="Key Attributes…"/>
            <p:cNvSpPr txBox="1"/>
            <p:nvPr/>
          </p:nvSpPr>
          <p:spPr>
            <a:xfrm>
              <a:off x="127368" y="0"/>
              <a:ext cx="4185413" cy="15582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4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Non-Merchant - 77%; KYC -80%; Bureau – 5%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PP - 2% ; Rent – 2%; ; Entertainment – 14%</a:t>
              </a: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Grocery/Food – 59%; Mobile pre-paid- 81%; Wallet – 73%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10%  have at least 80% UPI txn on PG in last 12M </a:t>
              </a: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6 P2M txn in last 3M; 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40% have at least Rs. 330 P2M avg. spend in last 3M</a:t>
              </a:r>
              <a:endParaRPr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531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532" name="Round Same-side Corner of Rectangle 69"/>
          <p:cNvSpPr/>
          <p:nvPr/>
        </p:nvSpPr>
        <p:spPr>
          <a:xfrm rot="10800000">
            <a:off x="154818" y="3177163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pic>
        <p:nvPicPr>
          <p:cNvPr id="53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43396" y="846377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71872" y="882048"/>
            <a:ext cx="530916" cy="53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Picture 7" descr="Picture 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433225" y="839970"/>
            <a:ext cx="576001" cy="576001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536" name="Table 32"/>
          <p:cNvGraphicFramePr/>
          <p:nvPr/>
        </p:nvGraphicFramePr>
        <p:xfrm>
          <a:off x="155934" y="1497371"/>
          <a:ext cx="2802325" cy="129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40" name="Group 33"/>
          <p:cNvGrpSpPr/>
          <p:nvPr/>
        </p:nvGrpSpPr>
        <p:grpSpPr>
          <a:xfrm>
            <a:off x="7754366" y="1142857"/>
            <a:ext cx="487238" cy="456305"/>
            <a:chOff x="0" y="0"/>
            <a:chExt cx="487236" cy="456303"/>
          </a:xfrm>
        </p:grpSpPr>
        <p:sp>
          <p:nvSpPr>
            <p:cNvPr id="537" name="Hexagon 34"/>
            <p:cNvSpPr/>
            <p:nvPr/>
          </p:nvSpPr>
          <p:spPr>
            <a:xfrm rot="6512486">
              <a:off x="191502" y="22531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7030A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38" name="Hexagon 35"/>
            <p:cNvSpPr/>
            <p:nvPr/>
          </p:nvSpPr>
          <p:spPr>
            <a:xfrm rot="6512486">
              <a:off x="34615" y="140938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7030A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39" name="Hexagon 36"/>
            <p:cNvSpPr/>
            <p:nvPr/>
          </p:nvSpPr>
          <p:spPr>
            <a:xfrm rot="6512486">
              <a:off x="245264" y="211590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7030A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43" name="Curved Down Arrow 37"/>
          <p:cNvGrpSpPr/>
          <p:nvPr/>
        </p:nvGrpSpPr>
        <p:grpSpPr>
          <a:xfrm>
            <a:off x="8158710" y="1140191"/>
            <a:ext cx="812719" cy="1352267"/>
            <a:chOff x="0" y="0"/>
            <a:chExt cx="812717" cy="1352265"/>
          </a:xfrm>
        </p:grpSpPr>
        <p:sp>
          <p:nvSpPr>
            <p:cNvPr id="541" name="Shape"/>
            <p:cNvSpPr/>
            <p:nvPr/>
          </p:nvSpPr>
          <p:spPr>
            <a:xfrm flipH="1" rot="4558544">
              <a:off x="-225340" y="415073"/>
              <a:ext cx="1263398" cy="522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63" y="21600"/>
                  </a:moveTo>
                  <a:lnTo>
                    <a:pt x="17137" y="16200"/>
                  </a:lnTo>
                  <a:lnTo>
                    <a:pt x="18253" y="16200"/>
                  </a:lnTo>
                  <a:lnTo>
                    <a:pt x="18253" y="16200"/>
                  </a:lnTo>
                  <a:cubicBezTo>
                    <a:pt x="17195" y="6663"/>
                    <a:pt x="13502" y="0"/>
                    <a:pt x="9274" y="0"/>
                  </a:cubicBezTo>
                  <a:lnTo>
                    <a:pt x="11505" y="0"/>
                  </a:lnTo>
                  <a:cubicBezTo>
                    <a:pt x="15734" y="0"/>
                    <a:pt x="19427" y="6663"/>
                    <a:pt x="20484" y="16200"/>
                  </a:cubicBezTo>
                  <a:lnTo>
                    <a:pt x="21600" y="16200"/>
                  </a:lnTo>
                  <a:close/>
                  <a:moveTo>
                    <a:pt x="10389" y="157"/>
                  </a:moveTo>
                  <a:lnTo>
                    <a:pt x="10389" y="157"/>
                  </a:lnTo>
                  <a:cubicBezTo>
                    <a:pt x="5733" y="1471"/>
                    <a:pt x="2232" y="10676"/>
                    <a:pt x="2232" y="21600"/>
                  </a:cubicBezTo>
                  <a:lnTo>
                    <a:pt x="0" y="21600"/>
                  </a:lnTo>
                  <a:cubicBezTo>
                    <a:pt x="0" y="9671"/>
                    <a:pt x="4152" y="0"/>
                    <a:pt x="9274" y="0"/>
                  </a:cubicBezTo>
                  <a:cubicBezTo>
                    <a:pt x="9646" y="0"/>
                    <a:pt x="10019" y="52"/>
                    <a:pt x="10389" y="157"/>
                  </a:cubicBezTo>
                  <a:close/>
                </a:path>
              </a:pathLst>
            </a:custGeom>
            <a:solidFill>
              <a:srgbClr val="7030A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42" name="Shape"/>
            <p:cNvSpPr/>
            <p:nvPr/>
          </p:nvSpPr>
          <p:spPr>
            <a:xfrm flipH="1" rot="4558544">
              <a:off x="181970" y="733160"/>
              <a:ext cx="607680" cy="522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57"/>
                  </a:moveTo>
                  <a:lnTo>
                    <a:pt x="21600" y="157"/>
                  </a:lnTo>
                  <a:cubicBezTo>
                    <a:pt x="11920" y="1471"/>
                    <a:pt x="4640" y="10676"/>
                    <a:pt x="4640" y="21600"/>
                  </a:cubicBezTo>
                  <a:lnTo>
                    <a:pt x="0" y="21600"/>
                  </a:lnTo>
                  <a:cubicBezTo>
                    <a:pt x="0" y="9671"/>
                    <a:pt x="8632" y="0"/>
                    <a:pt x="19280" y="0"/>
                  </a:cubicBezTo>
                  <a:cubicBezTo>
                    <a:pt x="20056" y="0"/>
                    <a:pt x="20830" y="52"/>
                    <a:pt x="21600" y="15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544" name="Rectangle 25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>
                <a:solidFill>
                  <a:srgbClr val="072C62"/>
                </a:solidFill>
              </a:rPr>
              <a:t> </a:t>
            </a:r>
            <a:r>
              <a:rPr i="0">
                <a:solidFill>
                  <a:srgbClr val="072C62"/>
                </a:solidFill>
              </a:rPr>
              <a:t>L12 Active</a:t>
            </a:r>
          </a:p>
        </p:txBody>
      </p:sp>
      <p:sp>
        <p:nvSpPr>
          <p:cNvPr id="545" name="TextBox 28"/>
          <p:cNvSpPr txBox="1"/>
          <p:nvPr/>
        </p:nvSpPr>
        <p:spPr>
          <a:xfrm>
            <a:off x="7472018" y="821243"/>
            <a:ext cx="154391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7030A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Promisor (3/7)</a:t>
            </a:r>
          </a:p>
        </p:txBody>
      </p:sp>
      <p:sp>
        <p:nvSpPr>
          <p:cNvPr id="546" name="TextBox 29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547" name="Left Arrow 30">
            <a:hlinkClick r:id="rId6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548" name="Chart 31"/>
          <p:cNvGraphicFramePr/>
          <p:nvPr/>
        </p:nvGraphicFramePr>
        <p:xfrm>
          <a:off x="241322" y="3211377"/>
          <a:ext cx="8642714" cy="15894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Picture 33" descr="Picture 33"/>
          <p:cNvPicPr>
            <a:picLocks noChangeAspect="1"/>
          </p:cNvPicPr>
          <p:nvPr/>
        </p:nvPicPr>
        <p:blipFill>
          <a:blip r:embed="rId2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sp>
        <p:nvSpPr>
          <p:cNvPr id="551" name="Title 1"/>
          <p:cNvSpPr txBox="1"/>
          <p:nvPr/>
        </p:nvSpPr>
        <p:spPr>
          <a:xfrm>
            <a:off x="9535" y="144587"/>
            <a:ext cx="8547473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 u="sng">
                <a:solidFill>
                  <a:srgbClr val="0E58C4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Attention-Seeker</a:t>
            </a:r>
            <a:r>
              <a:rPr u="none">
                <a:solidFill>
                  <a:srgbClr val="604A7B"/>
                </a:solidFill>
              </a:rPr>
              <a:t> </a:t>
            </a:r>
            <a:r>
              <a:rPr u="none">
                <a:solidFill>
                  <a:srgbClr val="242852"/>
                </a:solidFill>
              </a:rPr>
              <a:t>– Tier1/2, Non-Merchant+, UPI, Mobile prepaid</a:t>
            </a:r>
          </a:p>
        </p:txBody>
      </p:sp>
      <p:sp>
        <p:nvSpPr>
          <p:cNvPr id="552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55" name="Rounded Rectangle 186"/>
          <p:cNvGrpSpPr/>
          <p:nvPr/>
        </p:nvGrpSpPr>
        <p:grpSpPr>
          <a:xfrm>
            <a:off x="3140843" y="1254188"/>
            <a:ext cx="4440151" cy="1948816"/>
            <a:chOff x="0" y="0"/>
            <a:chExt cx="4440149" cy="1948814"/>
          </a:xfrm>
        </p:grpSpPr>
        <p:sp>
          <p:nvSpPr>
            <p:cNvPr id="553" name="Rounded Rectangle"/>
            <p:cNvSpPr/>
            <p:nvPr/>
          </p:nvSpPr>
          <p:spPr>
            <a:xfrm>
              <a:off x="0" y="235669"/>
              <a:ext cx="4440150" cy="1477477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25000"/>
                </a:lnSpc>
                <a:defRPr b="1" sz="900">
                  <a:solidFill>
                    <a:srgbClr val="FF00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554" name="Key Attributes…"/>
            <p:cNvSpPr txBox="1"/>
            <p:nvPr/>
          </p:nvSpPr>
          <p:spPr>
            <a:xfrm>
              <a:off x="127368" y="-1"/>
              <a:ext cx="4185413" cy="1948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4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Non-Merchant - 92%; non-KYC – 98%; Bureau – 10%; 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PP– 8%; Rent-1%; ; Entertainment – 6%</a:t>
              </a: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Mobile Prepaid – 89%; Grocery/Food – 57%</a:t>
              </a: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70%  have at least 80% UPI txn on PG in last 12M 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6 P2M txn in last 3M; </a:t>
              </a:r>
              <a:endParaRPr>
                <a:solidFill>
                  <a:srgbClr val="FFFFFF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20% have at least Rs. 367 P2M avg. spend in last 3M</a:t>
              </a:r>
              <a:endParaRPr>
                <a:solidFill>
                  <a:srgbClr val="FF0000"/>
                </a:solidFill>
              </a:endParaRPr>
            </a:p>
            <a:p>
              <a:pPr marL="171450" indent="-171450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</p:grpSp>
      <p:graphicFrame>
        <p:nvGraphicFramePr>
          <p:cNvPr id="556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57" name="Round Same-side Corner of Rectangle 69"/>
          <p:cNvSpPr/>
          <p:nvPr/>
        </p:nvSpPr>
        <p:spPr>
          <a:xfrm rot="10800000">
            <a:off x="154818" y="3168617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graphicFrame>
        <p:nvGraphicFramePr>
          <p:cNvPr id="558" name="Table 32"/>
          <p:cNvGraphicFramePr/>
          <p:nvPr/>
        </p:nvGraphicFramePr>
        <p:xfrm>
          <a:off x="155934" y="1497371"/>
          <a:ext cx="2802325" cy="129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50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62" name="Group 25"/>
          <p:cNvGrpSpPr/>
          <p:nvPr/>
        </p:nvGrpSpPr>
        <p:grpSpPr>
          <a:xfrm>
            <a:off x="7984739" y="1136077"/>
            <a:ext cx="461171" cy="397908"/>
            <a:chOff x="0" y="0"/>
            <a:chExt cx="461169" cy="397906"/>
          </a:xfrm>
        </p:grpSpPr>
        <p:sp>
          <p:nvSpPr>
            <p:cNvPr id="559" name="Hexagon 26"/>
            <p:cNvSpPr/>
            <p:nvPr/>
          </p:nvSpPr>
          <p:spPr>
            <a:xfrm rot="5091253">
              <a:off x="112363" y="2132"/>
              <a:ext cx="207356" cy="222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0E58C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0" name="Hexagon 27"/>
            <p:cNvSpPr/>
            <p:nvPr/>
          </p:nvSpPr>
          <p:spPr>
            <a:xfrm rot="5091253">
              <a:off x="16264" y="173592"/>
              <a:ext cx="207356" cy="222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0E58C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1" name="Hexagon 28"/>
            <p:cNvSpPr/>
            <p:nvPr/>
          </p:nvSpPr>
          <p:spPr>
            <a:xfrm rot="5091253">
              <a:off x="237550" y="153664"/>
              <a:ext cx="207356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0E58C4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65" name="Curved Down Arrow 30"/>
          <p:cNvGrpSpPr/>
          <p:nvPr/>
        </p:nvGrpSpPr>
        <p:grpSpPr>
          <a:xfrm>
            <a:off x="8081819" y="1251794"/>
            <a:ext cx="710240" cy="1041008"/>
            <a:chOff x="0" y="0"/>
            <a:chExt cx="710239" cy="1041007"/>
          </a:xfrm>
        </p:grpSpPr>
        <p:sp>
          <p:nvSpPr>
            <p:cNvPr id="563" name="Shape"/>
            <p:cNvSpPr/>
            <p:nvPr/>
          </p:nvSpPr>
          <p:spPr>
            <a:xfrm flipH="1" rot="6728420">
              <a:off x="-131364" y="335053"/>
              <a:ext cx="972968" cy="370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259" y="21600"/>
                  </a:moveTo>
                  <a:lnTo>
                    <a:pt x="15823" y="9849"/>
                  </a:lnTo>
                  <a:lnTo>
                    <a:pt x="17682" y="9849"/>
                  </a:lnTo>
                  <a:lnTo>
                    <a:pt x="17682" y="9849"/>
                  </a:lnTo>
                  <a:cubicBezTo>
                    <a:pt x="15909" y="3707"/>
                    <a:pt x="12873" y="0"/>
                    <a:pt x="9615" y="0"/>
                  </a:cubicBezTo>
                  <a:lnTo>
                    <a:pt x="11673" y="0"/>
                  </a:lnTo>
                  <a:cubicBezTo>
                    <a:pt x="14931" y="0"/>
                    <a:pt x="17968" y="3707"/>
                    <a:pt x="19740" y="9849"/>
                  </a:cubicBezTo>
                  <a:lnTo>
                    <a:pt x="21600" y="9849"/>
                  </a:lnTo>
                  <a:close/>
                  <a:moveTo>
                    <a:pt x="10644" y="124"/>
                  </a:moveTo>
                  <a:lnTo>
                    <a:pt x="10644" y="124"/>
                  </a:lnTo>
                  <a:cubicBezTo>
                    <a:pt x="5761" y="1305"/>
                    <a:pt x="2059" y="10566"/>
                    <a:pt x="2059" y="21600"/>
                  </a:cubicBezTo>
                  <a:lnTo>
                    <a:pt x="0" y="21600"/>
                  </a:lnTo>
                  <a:cubicBezTo>
                    <a:pt x="0" y="9671"/>
                    <a:pt x="4305" y="0"/>
                    <a:pt x="9615" y="0"/>
                  </a:cubicBezTo>
                  <a:cubicBezTo>
                    <a:pt x="9959" y="0"/>
                    <a:pt x="10302" y="41"/>
                    <a:pt x="10644" y="124"/>
                  </a:cubicBezTo>
                  <a:close/>
                </a:path>
              </a:pathLst>
            </a:custGeom>
            <a:solidFill>
              <a:srgbClr val="0070C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4" name="Shape"/>
            <p:cNvSpPr/>
            <p:nvPr/>
          </p:nvSpPr>
          <p:spPr>
            <a:xfrm flipH="1" rot="6728420">
              <a:off x="22395" y="563614"/>
              <a:ext cx="479457" cy="370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24"/>
                  </a:moveTo>
                  <a:lnTo>
                    <a:pt x="21600" y="124"/>
                  </a:lnTo>
                  <a:cubicBezTo>
                    <a:pt x="11690" y="1305"/>
                    <a:pt x="4177" y="10566"/>
                    <a:pt x="4177" y="21600"/>
                  </a:cubicBezTo>
                  <a:lnTo>
                    <a:pt x="0" y="21600"/>
                  </a:lnTo>
                  <a:cubicBezTo>
                    <a:pt x="0" y="9671"/>
                    <a:pt x="8736" y="0"/>
                    <a:pt x="19511" y="0"/>
                  </a:cubicBezTo>
                  <a:cubicBezTo>
                    <a:pt x="20209" y="0"/>
                    <a:pt x="20906" y="41"/>
                    <a:pt x="21600" y="124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66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18397" y="853719"/>
            <a:ext cx="575937" cy="575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54006" y="917611"/>
            <a:ext cx="496728" cy="496728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" name="Picture 44" descr="Picture 4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01332" y="931896"/>
            <a:ext cx="456661" cy="45666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" name="Picture 46" descr="Picture 4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944934" y="911155"/>
            <a:ext cx="576001" cy="462792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Rectangle 24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 i="0">
                <a:solidFill>
                  <a:srgbClr val="072C62"/>
                </a:solidFill>
              </a:rPr>
              <a:t> L12 Active</a:t>
            </a:r>
          </a:p>
        </p:txBody>
      </p:sp>
      <p:sp>
        <p:nvSpPr>
          <p:cNvPr id="571" name="TextBox 35"/>
          <p:cNvSpPr txBox="1"/>
          <p:nvPr/>
        </p:nvSpPr>
        <p:spPr>
          <a:xfrm>
            <a:off x="6908651" y="821243"/>
            <a:ext cx="21072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0E58C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Attention-Seeker (4/7)</a:t>
            </a:r>
          </a:p>
        </p:txBody>
      </p:sp>
      <p:sp>
        <p:nvSpPr>
          <p:cNvPr id="572" name="TextBox 36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573" name="Left Arrow 37">
            <a:hlinkClick r:id="rId7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574" name="Chart 29"/>
          <p:cNvGraphicFramePr/>
          <p:nvPr/>
        </p:nvGraphicFramePr>
        <p:xfrm>
          <a:off x="185475" y="3211377"/>
          <a:ext cx="8642714" cy="16340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Picture 41" descr="Picture 41"/>
          <p:cNvPicPr>
            <a:picLocks noChangeAspect="1"/>
          </p:cNvPicPr>
          <p:nvPr/>
        </p:nvPicPr>
        <p:blipFill>
          <a:blip r:embed="rId2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sp>
        <p:nvSpPr>
          <p:cNvPr id="577" name="Title 1"/>
          <p:cNvSpPr txBox="1"/>
          <p:nvPr/>
        </p:nvSpPr>
        <p:spPr>
          <a:xfrm>
            <a:off x="9536" y="144587"/>
            <a:ext cx="8365344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 u="sng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Potentialist</a:t>
            </a:r>
            <a:r>
              <a:rPr u="none">
                <a:solidFill>
                  <a:srgbClr val="242852"/>
                </a:solidFill>
              </a:rPr>
              <a:t> – Tier1/2, Utility, UPI, Online </a:t>
            </a:r>
          </a:p>
        </p:txBody>
      </p:sp>
      <p:sp>
        <p:nvSpPr>
          <p:cNvPr id="578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581" name="Rounded Rectangle 186"/>
          <p:cNvGrpSpPr/>
          <p:nvPr/>
        </p:nvGrpSpPr>
        <p:grpSpPr>
          <a:xfrm>
            <a:off x="3140843" y="1236725"/>
            <a:ext cx="4440151" cy="1983741"/>
            <a:chOff x="0" y="0"/>
            <a:chExt cx="4440149" cy="1983739"/>
          </a:xfrm>
        </p:grpSpPr>
        <p:sp>
          <p:nvSpPr>
            <p:cNvPr id="579" name="Rounded Rectangle"/>
            <p:cNvSpPr/>
            <p:nvPr/>
          </p:nvSpPr>
          <p:spPr>
            <a:xfrm>
              <a:off x="0" y="253132"/>
              <a:ext cx="4440150" cy="1477477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78">
                <a:lnSpc>
                  <a:spcPct val="125000"/>
                </a:lnSpc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580" name="Key Attributes…"/>
            <p:cNvSpPr txBox="1"/>
            <p:nvPr/>
          </p:nvSpPr>
          <p:spPr>
            <a:xfrm>
              <a:off x="127368" y="-1"/>
              <a:ext cx="4185413" cy="1983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4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Non-Merchant - 93%; Full KYC – 10%; Bureau – 6%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Rent - 2%; PP-1%; ; Entertainment – 9%</a:t>
              </a: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High Avg. Spend on Utility – 19,429;  High Online Avg. Spend – 9,807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3M Online GMV above 200 – 30%;  3M Avg. txn amount above 290 – 50%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 have at least 80% UPI txn on PG in last 12M 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2 P2M txn in last 3M; 50% have Online P2M txn in last 3M; 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50% have at least Rs. 430 P2M avg. spend in last 3M</a:t>
              </a:r>
              <a:endParaRPr>
                <a:solidFill>
                  <a:srgbClr val="FF0000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800">
                  <a:solidFill>
                    <a:srgbClr val="FF00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</p:grpSp>
      <p:graphicFrame>
        <p:nvGraphicFramePr>
          <p:cNvPr id="582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03%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83" name="Round Same-side Corner of Rectangle 69"/>
          <p:cNvSpPr/>
          <p:nvPr/>
        </p:nvSpPr>
        <p:spPr>
          <a:xfrm rot="10800000">
            <a:off x="154818" y="3168617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graphicFrame>
        <p:nvGraphicFramePr>
          <p:cNvPr id="584" name="Table 32"/>
          <p:cNvGraphicFramePr/>
          <p:nvPr/>
        </p:nvGraphicFramePr>
        <p:xfrm>
          <a:off x="155934" y="1497371"/>
          <a:ext cx="2802325" cy="129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88" name="Group 33"/>
          <p:cNvGrpSpPr/>
          <p:nvPr/>
        </p:nvGrpSpPr>
        <p:grpSpPr>
          <a:xfrm>
            <a:off x="7844952" y="1120406"/>
            <a:ext cx="487237" cy="456304"/>
            <a:chOff x="0" y="0"/>
            <a:chExt cx="487236" cy="456303"/>
          </a:xfrm>
        </p:grpSpPr>
        <p:sp>
          <p:nvSpPr>
            <p:cNvPr id="585" name="Hexagon 34"/>
            <p:cNvSpPr/>
            <p:nvPr/>
          </p:nvSpPr>
          <p:spPr>
            <a:xfrm rot="6512486">
              <a:off x="191502" y="22531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C0000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6" name="Hexagon 35"/>
            <p:cNvSpPr/>
            <p:nvPr/>
          </p:nvSpPr>
          <p:spPr>
            <a:xfrm rot="6512486">
              <a:off x="34615" y="140938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C0000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7" name="Hexagon 36"/>
            <p:cNvSpPr/>
            <p:nvPr/>
          </p:nvSpPr>
          <p:spPr>
            <a:xfrm rot="6512486">
              <a:off x="245264" y="211590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C0000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91" name="Curved Down Arrow 37"/>
          <p:cNvGrpSpPr/>
          <p:nvPr/>
        </p:nvGrpSpPr>
        <p:grpSpPr>
          <a:xfrm>
            <a:off x="8084773" y="1192793"/>
            <a:ext cx="748772" cy="1338653"/>
            <a:chOff x="0" y="0"/>
            <a:chExt cx="748771" cy="1338651"/>
          </a:xfrm>
        </p:grpSpPr>
        <p:sp>
          <p:nvSpPr>
            <p:cNvPr id="589" name="Shape"/>
            <p:cNvSpPr/>
            <p:nvPr/>
          </p:nvSpPr>
          <p:spPr>
            <a:xfrm flipH="1" rot="6045489">
              <a:off x="-257313" y="408266"/>
              <a:ext cx="1263398" cy="522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63" y="21600"/>
                  </a:moveTo>
                  <a:lnTo>
                    <a:pt x="17137" y="16200"/>
                  </a:lnTo>
                  <a:lnTo>
                    <a:pt x="18253" y="16200"/>
                  </a:lnTo>
                  <a:lnTo>
                    <a:pt x="18253" y="16200"/>
                  </a:lnTo>
                  <a:cubicBezTo>
                    <a:pt x="17195" y="6663"/>
                    <a:pt x="13502" y="0"/>
                    <a:pt x="9274" y="0"/>
                  </a:cubicBezTo>
                  <a:lnTo>
                    <a:pt x="11505" y="0"/>
                  </a:lnTo>
                  <a:cubicBezTo>
                    <a:pt x="15734" y="0"/>
                    <a:pt x="19427" y="6663"/>
                    <a:pt x="20484" y="16200"/>
                  </a:cubicBezTo>
                  <a:lnTo>
                    <a:pt x="21600" y="16200"/>
                  </a:lnTo>
                  <a:close/>
                  <a:moveTo>
                    <a:pt x="10389" y="157"/>
                  </a:moveTo>
                  <a:lnTo>
                    <a:pt x="10389" y="157"/>
                  </a:lnTo>
                  <a:cubicBezTo>
                    <a:pt x="5733" y="1471"/>
                    <a:pt x="2232" y="10676"/>
                    <a:pt x="2232" y="21600"/>
                  </a:cubicBezTo>
                  <a:lnTo>
                    <a:pt x="0" y="21600"/>
                  </a:lnTo>
                  <a:cubicBezTo>
                    <a:pt x="0" y="9671"/>
                    <a:pt x="4152" y="0"/>
                    <a:pt x="9274" y="0"/>
                  </a:cubicBezTo>
                  <a:cubicBezTo>
                    <a:pt x="9646" y="0"/>
                    <a:pt x="10019" y="52"/>
                    <a:pt x="10389" y="157"/>
                  </a:cubicBezTo>
                  <a:close/>
                </a:path>
              </a:pathLst>
            </a:custGeom>
            <a:solidFill>
              <a:srgbClr val="C0000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90" name="Shape"/>
            <p:cNvSpPr/>
            <p:nvPr/>
          </p:nvSpPr>
          <p:spPr>
            <a:xfrm flipH="1" rot="6045489">
              <a:off x="9347" y="730363"/>
              <a:ext cx="607679" cy="522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157"/>
                  </a:moveTo>
                  <a:lnTo>
                    <a:pt x="21600" y="157"/>
                  </a:lnTo>
                  <a:cubicBezTo>
                    <a:pt x="11920" y="1471"/>
                    <a:pt x="4640" y="10676"/>
                    <a:pt x="4640" y="21600"/>
                  </a:cubicBezTo>
                  <a:lnTo>
                    <a:pt x="0" y="21600"/>
                  </a:lnTo>
                  <a:cubicBezTo>
                    <a:pt x="0" y="9671"/>
                    <a:pt x="8632" y="0"/>
                    <a:pt x="19280" y="0"/>
                  </a:cubicBezTo>
                  <a:cubicBezTo>
                    <a:pt x="20056" y="0"/>
                    <a:pt x="20830" y="52"/>
                    <a:pt x="21600" y="15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92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15586" y="904924"/>
            <a:ext cx="457198" cy="457198"/>
          </a:xfrm>
          <a:prstGeom prst="rect">
            <a:avLst/>
          </a:prstGeom>
          <a:ln w="12700">
            <a:miter lim="400000"/>
          </a:ln>
        </p:spPr>
      </p:pic>
      <p:pic>
        <p:nvPicPr>
          <p:cNvPr id="593" name="Picture 27" descr="Picture 2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51015" y="898712"/>
            <a:ext cx="539215" cy="46962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" name="Picture 30" descr="Picture 3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14881" y="845554"/>
            <a:ext cx="575937" cy="575937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" name="Picture 39" descr="Picture 3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532917" y="902055"/>
            <a:ext cx="576001" cy="462792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Rectangle 40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 i="0">
                <a:solidFill>
                  <a:srgbClr val="072C62"/>
                </a:solidFill>
              </a:rPr>
              <a:t> L12 Active</a:t>
            </a:r>
          </a:p>
        </p:txBody>
      </p:sp>
      <p:sp>
        <p:nvSpPr>
          <p:cNvPr id="597" name="TextBox 43"/>
          <p:cNvSpPr txBox="1"/>
          <p:nvPr/>
        </p:nvSpPr>
        <p:spPr>
          <a:xfrm>
            <a:off x="7164366" y="821243"/>
            <a:ext cx="185157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Potentialist (5/7)</a:t>
            </a:r>
          </a:p>
        </p:txBody>
      </p:sp>
      <p:sp>
        <p:nvSpPr>
          <p:cNvPr id="598" name="TextBox 44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599" name="Left Arrow 31">
            <a:hlinkClick r:id="rId7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600" name="Chart 26"/>
          <p:cNvGraphicFramePr/>
          <p:nvPr/>
        </p:nvGraphicFramePr>
        <p:xfrm>
          <a:off x="185477" y="3185833"/>
          <a:ext cx="8566543" cy="160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pic>
        <p:nvPicPr>
          <p:cNvPr id="601" name="Picture 42" descr="Picture 42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822415" y="907295"/>
            <a:ext cx="457201" cy="45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Picture 26" descr="Picture 26"/>
          <p:cNvPicPr>
            <a:picLocks noChangeAspect="1"/>
          </p:cNvPicPr>
          <p:nvPr/>
        </p:nvPicPr>
        <p:blipFill>
          <a:blip r:embed="rId2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Title 1"/>
          <p:cNvSpPr txBox="1"/>
          <p:nvPr/>
        </p:nvSpPr>
        <p:spPr>
          <a:xfrm>
            <a:off x="9536" y="144587"/>
            <a:ext cx="8365344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 u="sng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Napster</a:t>
            </a:r>
            <a:r>
              <a:rPr u="none"/>
              <a:t> </a:t>
            </a:r>
            <a:r>
              <a:rPr u="none">
                <a:solidFill>
                  <a:srgbClr val="242852"/>
                </a:solidFill>
              </a:rPr>
              <a:t>– Non-KYC, UPI, Mobile Prepaid</a:t>
            </a:r>
          </a:p>
        </p:txBody>
      </p:sp>
      <p:sp>
        <p:nvSpPr>
          <p:cNvPr id="605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08" name="Rounded Rectangle 186"/>
          <p:cNvGrpSpPr/>
          <p:nvPr/>
        </p:nvGrpSpPr>
        <p:grpSpPr>
          <a:xfrm>
            <a:off x="3140843" y="1449450"/>
            <a:ext cx="4440151" cy="1558291"/>
            <a:chOff x="0" y="0"/>
            <a:chExt cx="4440149" cy="1558289"/>
          </a:xfrm>
        </p:grpSpPr>
        <p:sp>
          <p:nvSpPr>
            <p:cNvPr id="606" name="Rounded Rectangle"/>
            <p:cNvSpPr/>
            <p:nvPr/>
          </p:nvSpPr>
          <p:spPr>
            <a:xfrm>
              <a:off x="0" y="40407"/>
              <a:ext cx="4440150" cy="1477477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lnSpc>
                  <a:spcPct val="125000"/>
                </a:lnSpc>
                <a:defRPr b="1" sz="900">
                  <a:solidFill>
                    <a:srgbClr val="FF0000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  <p:sp>
          <p:nvSpPr>
            <p:cNvPr id="607" name="Key Attributes…"/>
            <p:cNvSpPr txBox="1"/>
            <p:nvPr/>
          </p:nvSpPr>
          <p:spPr>
            <a:xfrm>
              <a:off x="127368" y="0"/>
              <a:ext cx="4185413" cy="15582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4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Non-Merchant - 92%; Full KYC – 10%; Bureau - 5%; 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Rent - 2%; PP – 1%; Entertainment – 7%</a:t>
              </a: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Wallet In – 10%; Mobile prepaid – 31%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80%  have at least 97% UPI txn on PG in last 12M 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</p:txBody>
        </p:sp>
      </p:grpSp>
      <p:graphicFrame>
        <p:nvGraphicFramePr>
          <p:cNvPr id="609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03%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</a:tr>
            </a:tbl>
          </a:graphicData>
        </a:graphic>
      </p:graphicFrame>
      <p:sp>
        <p:nvSpPr>
          <p:cNvPr id="610" name="Round Same-side Corner of Rectangle 69"/>
          <p:cNvSpPr/>
          <p:nvPr/>
        </p:nvSpPr>
        <p:spPr>
          <a:xfrm rot="10800000">
            <a:off x="154818" y="3177163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graphicFrame>
        <p:nvGraphicFramePr>
          <p:cNvPr id="611" name="Table 32"/>
          <p:cNvGraphicFramePr/>
          <p:nvPr/>
        </p:nvGraphicFramePr>
        <p:xfrm>
          <a:off x="155934" y="1497371"/>
          <a:ext cx="2802325" cy="129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68D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15" name="Group 33"/>
          <p:cNvGrpSpPr/>
          <p:nvPr/>
        </p:nvGrpSpPr>
        <p:grpSpPr>
          <a:xfrm>
            <a:off x="7876358" y="1110878"/>
            <a:ext cx="487237" cy="456305"/>
            <a:chOff x="0" y="0"/>
            <a:chExt cx="487236" cy="456303"/>
          </a:xfrm>
        </p:grpSpPr>
        <p:sp>
          <p:nvSpPr>
            <p:cNvPr id="612" name="Hexagon 34"/>
            <p:cNvSpPr/>
            <p:nvPr/>
          </p:nvSpPr>
          <p:spPr>
            <a:xfrm rot="6512486">
              <a:off x="191502" y="22531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FF930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3" name="Hexagon 35"/>
            <p:cNvSpPr/>
            <p:nvPr/>
          </p:nvSpPr>
          <p:spPr>
            <a:xfrm rot="6512486">
              <a:off x="34615" y="140938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FF930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4" name="Hexagon 36"/>
            <p:cNvSpPr/>
            <p:nvPr/>
          </p:nvSpPr>
          <p:spPr>
            <a:xfrm rot="6512486">
              <a:off x="245264" y="211590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FF9300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18" name="Curved Down Arrow 39"/>
          <p:cNvGrpSpPr/>
          <p:nvPr/>
        </p:nvGrpSpPr>
        <p:grpSpPr>
          <a:xfrm>
            <a:off x="8296047" y="1080222"/>
            <a:ext cx="756255" cy="1087913"/>
            <a:chOff x="0" y="0"/>
            <a:chExt cx="756254" cy="1087911"/>
          </a:xfrm>
        </p:grpSpPr>
        <p:sp>
          <p:nvSpPr>
            <p:cNvPr id="616" name="Shape"/>
            <p:cNvSpPr/>
            <p:nvPr/>
          </p:nvSpPr>
          <p:spPr>
            <a:xfrm flipH="1" rot="3855992">
              <a:off x="-144905" y="376292"/>
              <a:ext cx="1046064" cy="335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176" y="21600"/>
                  </a:moveTo>
                  <a:lnTo>
                    <a:pt x="18138" y="16200"/>
                  </a:lnTo>
                  <a:lnTo>
                    <a:pt x="19003" y="16200"/>
                  </a:lnTo>
                  <a:lnTo>
                    <a:pt x="19003" y="16200"/>
                  </a:lnTo>
                  <a:cubicBezTo>
                    <a:pt x="17903" y="6663"/>
                    <a:pt x="14058" y="0"/>
                    <a:pt x="9655" y="0"/>
                  </a:cubicBezTo>
                  <a:lnTo>
                    <a:pt x="11386" y="0"/>
                  </a:lnTo>
                  <a:cubicBezTo>
                    <a:pt x="15789" y="0"/>
                    <a:pt x="19634" y="6663"/>
                    <a:pt x="20734" y="16200"/>
                  </a:cubicBezTo>
                  <a:lnTo>
                    <a:pt x="21600" y="16200"/>
                  </a:lnTo>
                  <a:close/>
                  <a:moveTo>
                    <a:pt x="10521" y="87"/>
                  </a:moveTo>
                  <a:lnTo>
                    <a:pt x="10521" y="87"/>
                  </a:lnTo>
                  <a:cubicBezTo>
                    <a:pt x="5544" y="1089"/>
                    <a:pt x="1731" y="10421"/>
                    <a:pt x="1731" y="21600"/>
                  </a:cubicBezTo>
                  <a:lnTo>
                    <a:pt x="0" y="21600"/>
                  </a:lnTo>
                  <a:cubicBezTo>
                    <a:pt x="0" y="9671"/>
                    <a:pt x="4323" y="0"/>
                    <a:pt x="9655" y="0"/>
                  </a:cubicBezTo>
                  <a:cubicBezTo>
                    <a:pt x="9944" y="0"/>
                    <a:pt x="10233" y="29"/>
                    <a:pt x="10521" y="87"/>
                  </a:cubicBezTo>
                  <a:close/>
                </a:path>
              </a:pathLst>
            </a:custGeom>
            <a:solidFill>
              <a:srgbClr val="FF930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7" name="Shape"/>
            <p:cNvSpPr/>
            <p:nvPr/>
          </p:nvSpPr>
          <p:spPr>
            <a:xfrm flipH="1" rot="3855992">
              <a:off x="239862" y="617968"/>
              <a:ext cx="509499" cy="335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87"/>
                  </a:moveTo>
                  <a:lnTo>
                    <a:pt x="21600" y="87"/>
                  </a:lnTo>
                  <a:cubicBezTo>
                    <a:pt x="11382" y="1089"/>
                    <a:pt x="3554" y="10421"/>
                    <a:pt x="3554" y="21600"/>
                  </a:cubicBezTo>
                  <a:lnTo>
                    <a:pt x="0" y="21600"/>
                  </a:lnTo>
                  <a:cubicBezTo>
                    <a:pt x="0" y="9671"/>
                    <a:pt x="8875" y="0"/>
                    <a:pt x="19823" y="0"/>
                  </a:cubicBezTo>
                  <a:cubicBezTo>
                    <a:pt x="20416" y="0"/>
                    <a:pt x="21009" y="29"/>
                    <a:pt x="21600" y="8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19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5674" y="920095"/>
            <a:ext cx="457198" cy="457197"/>
          </a:xfrm>
          <a:prstGeom prst="rect">
            <a:avLst/>
          </a:prstGeom>
          <a:ln w="12700">
            <a:miter lim="400000"/>
          </a:ln>
        </p:spPr>
      </p:pic>
      <p:pic>
        <p:nvPicPr>
          <p:cNvPr id="620" name="Picture 45" descr="Picture 4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1769" y="924961"/>
            <a:ext cx="457198" cy="457198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Rectangle 25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 i="0">
                <a:solidFill>
                  <a:srgbClr val="072C62"/>
                </a:solidFill>
              </a:rPr>
              <a:t> L12 Active</a:t>
            </a:r>
          </a:p>
        </p:txBody>
      </p:sp>
      <p:sp>
        <p:nvSpPr>
          <p:cNvPr id="622" name="TextBox 28"/>
          <p:cNvSpPr txBox="1"/>
          <p:nvPr/>
        </p:nvSpPr>
        <p:spPr>
          <a:xfrm>
            <a:off x="7472018" y="821243"/>
            <a:ext cx="154391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Napster (6/7)</a:t>
            </a:r>
          </a:p>
        </p:txBody>
      </p:sp>
      <p:sp>
        <p:nvSpPr>
          <p:cNvPr id="623" name="TextBox 29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624" name="Left Arrow 27">
            <a:hlinkClick r:id="rId5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625" name="Chart 24"/>
          <p:cNvGraphicFramePr/>
          <p:nvPr/>
        </p:nvGraphicFramePr>
        <p:xfrm>
          <a:off x="241322" y="3225496"/>
          <a:ext cx="8510696" cy="156143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pic>
        <p:nvPicPr>
          <p:cNvPr id="626" name="Picture 30" descr="Picture 3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814968" y="867869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7" name="Picture 31" descr="Picture 3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268873" y="882487"/>
            <a:ext cx="530916" cy="5309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Picture 23" descr="Picture 23"/>
          <p:cNvPicPr>
            <a:picLocks noChangeAspect="1"/>
          </p:cNvPicPr>
          <p:nvPr/>
        </p:nvPicPr>
        <p:blipFill>
          <a:blip r:embed="rId2">
            <a:extLst/>
          </a:blip>
          <a:srcRect l="0" t="0" r="0" b="33407"/>
          <a:stretch>
            <a:fillRect/>
          </a:stretch>
        </p:blipFill>
        <p:spPr>
          <a:xfrm>
            <a:off x="7702425" y="1640907"/>
            <a:ext cx="1383017" cy="1547681"/>
          </a:xfrm>
          <a:prstGeom prst="rect">
            <a:avLst/>
          </a:prstGeom>
          <a:ln w="12700">
            <a:miter lim="400000"/>
          </a:ln>
        </p:spPr>
      </p:pic>
      <p:sp>
        <p:nvSpPr>
          <p:cNvPr id="630" name="Title 1"/>
          <p:cNvSpPr txBox="1"/>
          <p:nvPr/>
        </p:nvSpPr>
        <p:spPr>
          <a:xfrm>
            <a:off x="9536" y="119187"/>
            <a:ext cx="8365344" cy="55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400" u="sng">
                <a:solidFill>
                  <a:srgbClr val="A6A6A6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Hibernator</a:t>
            </a:r>
            <a:r>
              <a:rPr u="none">
                <a:solidFill>
                  <a:srgbClr val="242852"/>
                </a:solidFill>
              </a:rPr>
              <a:t> – Non-KYC, Tier 3, UPI, Low fill Rate</a:t>
            </a:r>
          </a:p>
        </p:txBody>
      </p:sp>
      <p:sp>
        <p:nvSpPr>
          <p:cNvPr id="631" name="Straight Connector 20"/>
          <p:cNvSpPr/>
          <p:nvPr/>
        </p:nvSpPr>
        <p:spPr>
          <a:xfrm>
            <a:off x="210663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634" name="Rounded Rectangle 186"/>
          <p:cNvGrpSpPr/>
          <p:nvPr/>
        </p:nvGrpSpPr>
        <p:grpSpPr>
          <a:xfrm>
            <a:off x="3140843" y="1489857"/>
            <a:ext cx="4440151" cy="1477477"/>
            <a:chOff x="0" y="0"/>
            <a:chExt cx="4440149" cy="1477475"/>
          </a:xfrm>
        </p:grpSpPr>
        <p:sp>
          <p:nvSpPr>
            <p:cNvPr id="632" name="Rounded Rectangle"/>
            <p:cNvSpPr/>
            <p:nvPr/>
          </p:nvSpPr>
          <p:spPr>
            <a:xfrm>
              <a:off x="0" y="0"/>
              <a:ext cx="4440150" cy="1477476"/>
            </a:xfrm>
            <a:prstGeom prst="roundRect">
              <a:avLst>
                <a:gd name="adj" fmla="val 16667"/>
              </a:avLst>
            </a:prstGeom>
            <a:noFill/>
            <a:ln w="19050" cap="flat">
              <a:solidFill>
                <a:srgbClr val="C4BCC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378">
                <a:lnSpc>
                  <a:spcPct val="125000"/>
                </a:lnSpc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3" name="Key Attributes…"/>
            <p:cNvSpPr txBox="1"/>
            <p:nvPr/>
          </p:nvSpPr>
          <p:spPr>
            <a:xfrm>
              <a:off x="127368" y="308843"/>
              <a:ext cx="4185413" cy="859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b="1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Key Attributes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b="1" sz="4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Non-Merchant - 91%; Full KYC – 18%; Bureau – 4%; </a:t>
              </a:r>
              <a:endParaRPr>
                <a:solidFill>
                  <a:srgbClr val="FFFFFF"/>
                </a:solidFill>
              </a:endParaRP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Rent - 1%;  PP - 1%; Mobile prepaid – 15%; Entertainment – 7%</a:t>
              </a:r>
            </a:p>
            <a:p>
              <a:pPr marL="171446" indent="-171446" defTabSz="914378">
                <a:lnSpc>
                  <a:spcPct val="125000"/>
                </a:lnSpc>
                <a:buClr>
                  <a:srgbClr val="FF9300"/>
                </a:buClr>
                <a:buSzPct val="150000"/>
                <a:buFont typeface="Helvetica"/>
                <a:buChar char="⇢"/>
                <a:defRPr b="1" sz="900">
                  <a:solidFill>
                    <a:srgbClr val="072C62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t>Food – 9%; Wallet In -10%</a:t>
              </a:r>
            </a:p>
          </p:txBody>
        </p:sp>
      </p:grpSp>
      <p:graphicFrame>
        <p:nvGraphicFramePr>
          <p:cNvPr id="635" name="Table 65"/>
          <p:cNvGraphicFramePr/>
          <p:nvPr/>
        </p:nvGraphicFramePr>
        <p:xfrm>
          <a:off x="155934" y="889611"/>
          <a:ext cx="2802325" cy="432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49776"/>
                <a:gridCol w="1052547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Population Percentage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4E5F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Spends Contribution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b="1" sz="10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02%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9300"/>
                    </a:solidFill>
                  </a:tcPr>
                </a:tc>
              </a:tr>
            </a:tbl>
          </a:graphicData>
        </a:graphic>
      </p:graphicFrame>
      <p:sp>
        <p:nvSpPr>
          <p:cNvPr id="636" name="Round Same-side Corner of Rectangle 69"/>
          <p:cNvSpPr/>
          <p:nvPr/>
        </p:nvSpPr>
        <p:spPr>
          <a:xfrm rot="10800000">
            <a:off x="154818" y="3168617"/>
            <a:ext cx="8838472" cy="1676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683" y="0"/>
                </a:moveTo>
                <a:lnTo>
                  <a:pt x="20917" y="0"/>
                </a:lnTo>
                <a:cubicBezTo>
                  <a:pt x="21294" y="0"/>
                  <a:pt x="21600" y="1612"/>
                  <a:pt x="21600" y="3600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306" y="0"/>
                  <a:pt x="683" y="0"/>
                </a:cubicBezTo>
                <a:close/>
              </a:path>
            </a:pathLst>
          </a:custGeom>
          <a:ln w="19050">
            <a:solidFill>
              <a:srgbClr val="C4BCC6"/>
            </a:solidFill>
          </a:ln>
        </p:spPr>
        <p:txBody>
          <a:bodyPr lIns="45719" rIns="45719" anchor="ctr"/>
          <a:lstStyle/>
          <a:p>
            <a:pPr>
              <a:defRPr sz="1000">
                <a:latin typeface="Open Sans"/>
                <a:ea typeface="Open Sans"/>
                <a:cs typeface="Open Sans"/>
                <a:sym typeface="Open Sans"/>
              </a:defRPr>
            </a:pPr>
          </a:p>
        </p:txBody>
      </p:sp>
      <p:graphicFrame>
        <p:nvGraphicFramePr>
          <p:cNvPr id="637" name="Table 32"/>
          <p:cNvGraphicFramePr/>
          <p:nvPr/>
        </p:nvGraphicFramePr>
        <p:xfrm>
          <a:off x="155934" y="1497371"/>
          <a:ext cx="2802325" cy="129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58844"/>
                <a:gridCol w="208280"/>
                <a:gridCol w="209840"/>
                <a:gridCol w="208280"/>
                <a:gridCol w="208280"/>
                <a:gridCol w="208800"/>
              </a:tblGrid>
              <a:tr h="216000"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Avg Spends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b="0" sz="14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and Shopping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Recharge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Incoming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Food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000">
                          <a:solidFill>
                            <a:srgbClr val="24285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E0EB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miter lim="400000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41" name="Group 33"/>
          <p:cNvGrpSpPr/>
          <p:nvPr/>
        </p:nvGrpSpPr>
        <p:grpSpPr>
          <a:xfrm>
            <a:off x="7921865" y="1077675"/>
            <a:ext cx="487237" cy="456304"/>
            <a:chOff x="0" y="0"/>
            <a:chExt cx="487236" cy="456303"/>
          </a:xfrm>
        </p:grpSpPr>
        <p:sp>
          <p:nvSpPr>
            <p:cNvPr id="638" name="Hexagon 34"/>
            <p:cNvSpPr/>
            <p:nvPr/>
          </p:nvSpPr>
          <p:spPr>
            <a:xfrm rot="6512486">
              <a:off x="191502" y="22531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A6A6A6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39" name="Hexagon 35"/>
            <p:cNvSpPr/>
            <p:nvPr/>
          </p:nvSpPr>
          <p:spPr>
            <a:xfrm rot="6512486">
              <a:off x="34615" y="140938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A6A6A6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40" name="Hexagon 36"/>
            <p:cNvSpPr/>
            <p:nvPr/>
          </p:nvSpPr>
          <p:spPr>
            <a:xfrm rot="6512486">
              <a:off x="245264" y="211590"/>
              <a:ext cx="207357" cy="222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5400" y="0"/>
                  </a:lnTo>
                  <a:lnTo>
                    <a:pt x="16200" y="0"/>
                  </a:lnTo>
                  <a:lnTo>
                    <a:pt x="21600" y="10800"/>
                  </a:lnTo>
                  <a:lnTo>
                    <a:pt x="16200" y="21600"/>
                  </a:lnTo>
                  <a:lnTo>
                    <a:pt x="5400" y="21600"/>
                  </a:lnTo>
                  <a:close/>
                </a:path>
              </a:pathLst>
            </a:custGeom>
            <a:solidFill>
              <a:srgbClr val="A6A6A6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44" name="Curved Down Arrow 37"/>
          <p:cNvGrpSpPr/>
          <p:nvPr/>
        </p:nvGrpSpPr>
        <p:grpSpPr>
          <a:xfrm>
            <a:off x="8277052" y="1103348"/>
            <a:ext cx="648864" cy="812824"/>
            <a:chOff x="0" y="0"/>
            <a:chExt cx="648862" cy="812823"/>
          </a:xfrm>
        </p:grpSpPr>
        <p:sp>
          <p:nvSpPr>
            <p:cNvPr id="642" name="Shape"/>
            <p:cNvSpPr/>
            <p:nvPr/>
          </p:nvSpPr>
          <p:spPr>
            <a:xfrm flipH="1" rot="6045489">
              <a:off x="-39650" y="145352"/>
              <a:ext cx="728162" cy="522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983" y="21600"/>
                  </a:moveTo>
                  <a:lnTo>
                    <a:pt x="13856" y="16200"/>
                  </a:lnTo>
                  <a:lnTo>
                    <a:pt x="15792" y="16200"/>
                  </a:lnTo>
                  <a:lnTo>
                    <a:pt x="15792" y="16200"/>
                  </a:lnTo>
                  <a:cubicBezTo>
                    <a:pt x="14877" y="6663"/>
                    <a:pt x="11682" y="0"/>
                    <a:pt x="8023" y="0"/>
                  </a:cubicBezTo>
                  <a:lnTo>
                    <a:pt x="11895" y="0"/>
                  </a:lnTo>
                  <a:cubicBezTo>
                    <a:pt x="15554" y="0"/>
                    <a:pt x="18749" y="6663"/>
                    <a:pt x="19664" y="16200"/>
                  </a:cubicBezTo>
                  <a:lnTo>
                    <a:pt x="21600" y="16200"/>
                  </a:lnTo>
                  <a:close/>
                  <a:moveTo>
                    <a:pt x="9959" y="638"/>
                  </a:moveTo>
                  <a:lnTo>
                    <a:pt x="9959" y="638"/>
                  </a:lnTo>
                  <a:cubicBezTo>
                    <a:pt x="6383" y="3032"/>
                    <a:pt x="3872" y="11678"/>
                    <a:pt x="3872" y="21600"/>
                  </a:cubicBezTo>
                  <a:lnTo>
                    <a:pt x="0" y="21600"/>
                  </a:lnTo>
                  <a:cubicBezTo>
                    <a:pt x="0" y="9671"/>
                    <a:pt x="3592" y="0"/>
                    <a:pt x="8023" y="0"/>
                  </a:cubicBezTo>
                  <a:cubicBezTo>
                    <a:pt x="8676" y="0"/>
                    <a:pt x="9326" y="214"/>
                    <a:pt x="9959" y="638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43" name="Shape"/>
            <p:cNvSpPr/>
            <p:nvPr/>
          </p:nvSpPr>
          <p:spPr>
            <a:xfrm flipH="1" rot="6045489">
              <a:off x="119934" y="338112"/>
              <a:ext cx="335744" cy="522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638"/>
                  </a:moveTo>
                  <a:lnTo>
                    <a:pt x="21600" y="638"/>
                  </a:lnTo>
                  <a:cubicBezTo>
                    <a:pt x="13843" y="3032"/>
                    <a:pt x="8398" y="11678"/>
                    <a:pt x="8398" y="21600"/>
                  </a:cubicBezTo>
                  <a:lnTo>
                    <a:pt x="0" y="21600"/>
                  </a:lnTo>
                  <a:cubicBezTo>
                    <a:pt x="0" y="9671"/>
                    <a:pt x="7791" y="0"/>
                    <a:pt x="17401" y="0"/>
                  </a:cubicBezTo>
                  <a:cubicBezTo>
                    <a:pt x="18816" y="0"/>
                    <a:pt x="20226" y="214"/>
                    <a:pt x="21600" y="638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378"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45" name="Rectangle 21"/>
          <p:cNvSpPr txBox="1"/>
          <p:nvPr/>
        </p:nvSpPr>
        <p:spPr>
          <a:xfrm>
            <a:off x="153831" y="3137315"/>
            <a:ext cx="576793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>
                <a:solidFill>
                  <a:srgbClr val="D87A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</a:t>
            </a:r>
            <a:r>
              <a:rPr i="0">
                <a:solidFill>
                  <a:srgbClr val="072C62"/>
                </a:solidFill>
              </a:rPr>
              <a:t> vs. </a:t>
            </a:r>
            <a:r>
              <a:rPr>
                <a:solidFill>
                  <a:srgbClr val="0070C0"/>
                </a:solidFill>
              </a:rPr>
              <a:t>Overall</a:t>
            </a:r>
            <a:r>
              <a:rPr>
                <a:solidFill>
                  <a:srgbClr val="072C62"/>
                </a:solidFill>
              </a:rPr>
              <a:t> </a:t>
            </a:r>
            <a:r>
              <a:rPr i="0">
                <a:solidFill>
                  <a:srgbClr val="072C62"/>
                </a:solidFill>
              </a:rPr>
              <a:t>L12 Active</a:t>
            </a:r>
          </a:p>
        </p:txBody>
      </p:sp>
      <p:sp>
        <p:nvSpPr>
          <p:cNvPr id="646" name="TextBox 26"/>
          <p:cNvSpPr txBox="1"/>
          <p:nvPr/>
        </p:nvSpPr>
        <p:spPr>
          <a:xfrm>
            <a:off x="7472018" y="821243"/>
            <a:ext cx="1543918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u="sng">
                <a:solidFill>
                  <a:srgbClr val="A6A6A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Hibernator (7/7)</a:t>
            </a:r>
          </a:p>
        </p:txBody>
      </p:sp>
      <p:sp>
        <p:nvSpPr>
          <p:cNvPr id="647" name="TextBox 29"/>
          <p:cNvSpPr txBox="1"/>
          <p:nvPr/>
        </p:nvSpPr>
        <p:spPr>
          <a:xfrm>
            <a:off x="80894" y="2932211"/>
            <a:ext cx="3091785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i="1" sz="9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*Cluster Category Penetration </a:t>
            </a:r>
            <a:r>
              <a:rPr b="0" i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rPr i="0" sz="700">
                <a:solidFill>
                  <a:srgbClr val="C00000"/>
                </a:solidFill>
              </a:rPr>
              <a:t>20% </a:t>
            </a:r>
            <a:r>
              <a:rPr i="0" sz="700">
                <a:solidFill>
                  <a:srgbClr val="FF9300"/>
                </a:solidFill>
              </a:rPr>
              <a:t>40% </a:t>
            </a:r>
            <a:r>
              <a:rPr i="0" sz="700">
                <a:solidFill>
                  <a:srgbClr val="FFFF00"/>
                </a:solidFill>
              </a:rPr>
              <a:t>60%</a:t>
            </a:r>
            <a:r>
              <a:rPr i="0" sz="700">
                <a:solidFill>
                  <a:srgbClr val="92D050"/>
                </a:solidFill>
              </a:rPr>
              <a:t> 80% </a:t>
            </a:r>
            <a:r>
              <a:rPr i="0" sz="700">
                <a:solidFill>
                  <a:srgbClr val="00B050"/>
                </a:solidFill>
              </a:rPr>
              <a:t>100% </a:t>
            </a:r>
          </a:p>
        </p:txBody>
      </p:sp>
      <p:sp>
        <p:nvSpPr>
          <p:cNvPr id="648" name="Left Arrow 25">
            <a:hlinkClick r:id="rId3" invalidUrl="" action="ppaction://hlinksldjump" tgtFrame="" tooltip="" history="1" highlightClick="0" endSnd="0"/>
          </p:cNvPr>
          <p:cNvSpPr/>
          <p:nvPr/>
        </p:nvSpPr>
        <p:spPr>
          <a:xfrm>
            <a:off x="8910084" y="2988049"/>
            <a:ext cx="216001" cy="108001"/>
          </a:xfrm>
          <a:prstGeom prst="leftArrow">
            <a:avLst>
              <a:gd name="adj1" fmla="val 50000"/>
              <a:gd name="adj2" fmla="val 61171"/>
            </a:avLst>
          </a:prstGeom>
          <a:solidFill>
            <a:srgbClr val="002060"/>
          </a:solidFill>
          <a:ln w="25400">
            <a:solidFill>
              <a:srgbClr val="00206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649" name="Chart 22"/>
          <p:cNvGraphicFramePr/>
          <p:nvPr/>
        </p:nvGraphicFramePr>
        <p:xfrm>
          <a:off x="185476" y="3191406"/>
          <a:ext cx="8642714" cy="16443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650" name="Picture 24" descr="Picture 2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322711" y="877575"/>
            <a:ext cx="576001" cy="57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1" name="Picture 27" descr="Picture 2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843902" y="886994"/>
            <a:ext cx="530916" cy="5309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3" name="Chart 9"/>
          <p:cNvGraphicFramePr/>
          <p:nvPr/>
        </p:nvGraphicFramePr>
        <p:xfrm>
          <a:off x="126878" y="1712797"/>
          <a:ext cx="8833285" cy="325302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54" name="Straight Connector 128"/>
          <p:cNvSpPr/>
          <p:nvPr/>
        </p:nvSpPr>
        <p:spPr>
          <a:xfrm>
            <a:off x="236301" y="725872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Title 1"/>
          <p:cNvSpPr txBox="1"/>
          <p:nvPr/>
        </p:nvSpPr>
        <p:spPr>
          <a:xfrm>
            <a:off x="-270" y="102582"/>
            <a:ext cx="8348692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 behavioral </a:t>
            </a:r>
            <a:r>
              <a:rPr>
                <a:solidFill>
                  <a:srgbClr val="FF9300"/>
                </a:solidFill>
              </a:rPr>
              <a:t>2D-separation</a:t>
            </a:r>
            <a:r>
              <a:t> on ‘2’ RFM components</a:t>
            </a:r>
          </a:p>
        </p:txBody>
      </p:sp>
      <p:sp>
        <p:nvSpPr>
          <p:cNvPr id="656" name="Straight Connector 2"/>
          <p:cNvSpPr/>
          <p:nvPr/>
        </p:nvSpPr>
        <p:spPr>
          <a:xfrm>
            <a:off x="1650743" y="2913146"/>
            <a:ext cx="7135905" cy="1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txBody>
          <a:bodyPr lIns="45719" rIns="45719"/>
          <a:lstStyle/>
          <a:p>
            <a:pPr/>
          </a:p>
        </p:txBody>
      </p:sp>
      <p:sp>
        <p:nvSpPr>
          <p:cNvPr id="657" name="Straight Connector 8"/>
          <p:cNvSpPr/>
          <p:nvPr/>
        </p:nvSpPr>
        <p:spPr>
          <a:xfrm flipV="1">
            <a:off x="3437263" y="1965927"/>
            <a:ext cx="11542" cy="2385360"/>
          </a:xfrm>
          <a:prstGeom prst="line">
            <a:avLst/>
          </a:prstGeom>
          <a:ln w="28575">
            <a:solidFill>
              <a:srgbClr val="7030A0"/>
            </a:solidFill>
            <a:prstDash val="sysDot"/>
          </a:ln>
        </p:spPr>
        <p:txBody>
          <a:bodyPr lIns="45719" rIns="45719"/>
          <a:lstStyle/>
          <a:p>
            <a:pPr/>
          </a:p>
        </p:txBody>
      </p:sp>
      <p:sp>
        <p:nvSpPr>
          <p:cNvPr id="658" name="TextBox 11"/>
          <p:cNvSpPr txBox="1"/>
          <p:nvPr/>
        </p:nvSpPr>
        <p:spPr>
          <a:xfrm>
            <a:off x="7597738" y="2659231"/>
            <a:ext cx="132497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63% Portfolio avg.</a:t>
            </a:r>
          </a:p>
        </p:txBody>
      </p:sp>
      <p:sp>
        <p:nvSpPr>
          <p:cNvPr id="659" name="TextBox 16"/>
          <p:cNvSpPr txBox="1"/>
          <p:nvPr/>
        </p:nvSpPr>
        <p:spPr>
          <a:xfrm rot="16200000">
            <a:off x="2901886" y="3329402"/>
            <a:ext cx="1324978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80K Portfolio avg.</a:t>
            </a:r>
          </a:p>
        </p:txBody>
      </p:sp>
      <p:graphicFrame>
        <p:nvGraphicFramePr>
          <p:cNvPr id="660" name="Table 12"/>
          <p:cNvGraphicFramePr/>
          <p:nvPr/>
        </p:nvGraphicFramePr>
        <p:xfrm>
          <a:off x="324855" y="887466"/>
          <a:ext cx="8303506" cy="10363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037938"/>
                <a:gridCol w="1037938"/>
                <a:gridCol w="1037938"/>
                <a:gridCol w="1037938"/>
                <a:gridCol w="1037938"/>
                <a:gridCol w="1037938"/>
                <a:gridCol w="1037938"/>
                <a:gridCol w="1037938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B0F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12.8M </a:t>
                      </a:r>
                    </a:p>
                    <a:p>
                      <a:pPr algn="ctr">
                        <a:defRPr sz="1400">
                          <a:solidFill>
                            <a:srgbClr val="00B0F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Customers</a:t>
                      </a:r>
                    </a:p>
                  </a:txBody>
                  <a:tcPr marL="34290" marR="34290" marT="34290" marB="3429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Hibernator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00668B"/>
                        </a:gs>
                        <a:gs pos="50000">
                          <a:srgbClr val="0093C9"/>
                        </a:gs>
                        <a:gs pos="100000">
                          <a:srgbClr val="00B0F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Napster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00416F"/>
                        </a:gs>
                        <a:gs pos="50000">
                          <a:srgbClr val="005EA1"/>
                        </a:gs>
                        <a:gs pos="100000">
                          <a:srgbClr val="0070C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Potentialist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Attention-Seeker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Promisor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947C00"/>
                        </a:gs>
                        <a:gs pos="50000">
                          <a:srgbClr val="D5B400"/>
                        </a:gs>
                        <a:gs pos="100000">
                          <a:srgbClr val="FFD700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Loyalist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858483"/>
                        </a:gs>
                        <a:gs pos="50000">
                          <a:srgbClr val="C0BFBD"/>
                        </a:gs>
                        <a:gs pos="100000">
                          <a:srgbClr val="E5E4E2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</a:t>
                      </a:r>
                    </a:p>
                  </a:txBody>
                  <a:tcPr marL="34290" marR="34290" marT="34290" marB="34290" anchor="ctr" anchorCtr="0" horzOverflow="overflow">
                    <a:gradFill flip="none" rotWithShape="1">
                      <a:gsLst>
                        <a:gs pos="0">
                          <a:srgbClr val="342E23"/>
                        </a:gs>
                        <a:gs pos="100000">
                          <a:srgbClr val="5A503D"/>
                        </a:gs>
                      </a:gsLst>
                      <a:lin ang="0" scaled="0"/>
                    </a:gradFill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% Customers</a:t>
                      </a:r>
                    </a:p>
                  </a:txBody>
                  <a:tcPr marL="34290" marR="34290" marT="34290" marB="3429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10%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</a:tr>
              <a:tr h="27813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900">
                          <a:solidFill>
                            <a:srgbClr val="00206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# of Customers</a:t>
                      </a:r>
                    </a:p>
                  </a:txBody>
                  <a:tcPr marL="34290" marR="34290" marT="34290" marB="3429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2.4M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2.5M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1.5M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2.5M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1.6M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870K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1.3M</a:t>
                      </a:r>
                    </a:p>
                  </a:txBody>
                  <a:tcPr marL="6350" marR="6350" marT="6350" marB="6350" anchor="ctr" anchorCtr="0" horzOverflow="overflow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7041" y="774419"/>
            <a:ext cx="6716450" cy="3927189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Title 1"/>
          <p:cNvSpPr txBox="1"/>
          <p:nvPr/>
        </p:nvSpPr>
        <p:spPr>
          <a:xfrm>
            <a:off x="9538" y="144587"/>
            <a:ext cx="815942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Clustering </a:t>
            </a:r>
            <a:r>
              <a:rPr>
                <a:solidFill>
                  <a:srgbClr val="FF9300"/>
                </a:solidFill>
              </a:rPr>
              <a:t>Validation</a:t>
            </a:r>
            <a:r>
              <a:t> via ML/DL (PCA/t-SNE) </a:t>
            </a:r>
            <a:r>
              <a:rPr>
                <a:solidFill>
                  <a:srgbClr val="00B0F0"/>
                </a:solidFill>
              </a:rPr>
              <a:t>Visualization</a:t>
            </a:r>
            <a:r>
              <a:t> </a:t>
            </a:r>
          </a:p>
        </p:txBody>
      </p:sp>
      <p:sp>
        <p:nvSpPr>
          <p:cNvPr id="664" name="Straight Connector 20"/>
          <p:cNvSpPr/>
          <p:nvPr/>
        </p:nvSpPr>
        <p:spPr>
          <a:xfrm>
            <a:off x="236301" y="740977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5" name="Rectangle 5"/>
          <p:cNvSpPr/>
          <p:nvPr/>
        </p:nvSpPr>
        <p:spPr>
          <a:xfrm>
            <a:off x="9539" y="3796646"/>
            <a:ext cx="3596304" cy="98044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FF930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Visualizing 71 Dimensional </a:t>
            </a:r>
            <a:r>
              <a:rPr>
                <a:solidFill>
                  <a:srgbClr val="072C62"/>
                </a:solidFill>
              </a:rPr>
              <a:t>data using Machine Learning dimensionality reduction techniques to crunch that info into 2 components to visualize in </a:t>
            </a:r>
            <a:r>
              <a:rPr>
                <a:solidFill>
                  <a:srgbClr val="00B0F0"/>
                </a:solidFill>
              </a:rPr>
              <a:t>2D </a:t>
            </a:r>
            <a:r>
              <a:rPr i="1">
                <a:solidFill>
                  <a:srgbClr val="00B0F0"/>
                </a:solidFill>
              </a:rPr>
              <a:t>(Real Cluster separation in 71-dimensional space)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Title 1"/>
          <p:cNvSpPr txBox="1"/>
          <p:nvPr/>
        </p:nvSpPr>
        <p:spPr>
          <a:xfrm>
            <a:off x="994" y="144588"/>
            <a:ext cx="815942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78"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Segment Profile </a:t>
            </a:r>
            <a:r>
              <a:rPr>
                <a:solidFill>
                  <a:srgbClr val="FF9300"/>
                </a:solidFill>
              </a:rPr>
              <a:t>Summary</a:t>
            </a:r>
            <a:r>
              <a:t> and</a:t>
            </a:r>
            <a:r>
              <a:rPr>
                <a:solidFill>
                  <a:srgbClr val="FF9300"/>
                </a:solidFill>
              </a:rPr>
              <a:t> </a:t>
            </a:r>
            <a:r>
              <a:rPr>
                <a:solidFill>
                  <a:srgbClr val="00B0F0"/>
                </a:solidFill>
              </a:rPr>
              <a:t>Treatment Strategy </a:t>
            </a:r>
            <a:r>
              <a:t>Levers</a:t>
            </a:r>
          </a:p>
        </p:txBody>
      </p:sp>
      <p:sp>
        <p:nvSpPr>
          <p:cNvPr id="668" name="Straight Connector 20"/>
          <p:cNvSpPr/>
          <p:nvPr/>
        </p:nvSpPr>
        <p:spPr>
          <a:xfrm>
            <a:off x="236302" y="740978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9" name="Straight Connector 7"/>
          <p:cNvSpPr/>
          <p:nvPr/>
        </p:nvSpPr>
        <p:spPr>
          <a:xfrm>
            <a:off x="236302" y="740978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670" name="Table 2"/>
          <p:cNvGraphicFramePr/>
          <p:nvPr/>
        </p:nvGraphicFramePr>
        <p:xfrm>
          <a:off x="330770" y="849696"/>
          <a:ext cx="8736391" cy="395282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68223"/>
                <a:gridCol w="3969348"/>
                <a:gridCol w="2098819"/>
              </a:tblGrid>
              <a:tr h="4350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Cluster – (%Pop | %Spends)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Profile Description/Affinity Pattern</a:t>
                      </a:r>
                    </a:p>
                  </a:txBody>
                  <a:tcPr marL="6301" marR="6301" marT="6301" marB="6301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Recommendation</a:t>
                      </a:r>
                    </a:p>
                  </a:txBody>
                  <a:tcPr marL="6301" marR="6301" marT="6301" marB="6301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35112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{Champion} (10% | 47%)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Retail &amp; Shopping ++| Foodie ++|KYC |Wallet In ++| Bureau Hit +|Merchant+| Max Spender | Utility++ | Mobile Prepaid++|Gas &amp; Petrol++</a:t>
                      </a:r>
                    </a:p>
                  </a:txBody>
                  <a:tcPr marL="6301" marR="6301" marT="6301" marB="6301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Explore: Financial service, Utility
Engage: Mobile Prepaid, Entertainment, Rent, PP</a:t>
                      </a:r>
                    </a:p>
                  </a:txBody>
                  <a:tcPr marL="6301" marR="6301" marT="6301" marB="6301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35012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{Loyalist} (7% | 19%)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KYC | Bureau Hit ++|Merchant++| Foodie | Petrol |Wallet In +|Very High Spender | Utility++ </a:t>
                      </a:r>
                    </a:p>
                  </a:txBody>
                  <a:tcPr marL="6301" marR="6301" marT="6301" marB="6301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Explore: Financial service, Utility
Engage: Mobile Prepaid, Entertainment, Rent, PP</a:t>
                      </a:r>
                    </a:p>
                  </a:txBody>
                  <a:tcPr marL="6301" marR="6301" marT="6301" marB="6301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35012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{Promisor} (13%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KYC | Foodie | Wallet In+| High Spender+| Mobile Prepaid+| Retail and Shopping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Explore: Financial service, Utility
Rent, PP
Engage: Mobile Prepaid, Entertainment</a:t>
                      </a:r>
                    </a:p>
                  </a:txBody>
                  <a:tcPr marL="5904" marR="5904" marT="5904" marB="5904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</a:tr>
              <a:tr h="435012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{Attention-Seeker} (20%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Non-KYC ++| Tier 3 | Mobile Pre-Paid ++| Retail and Shopping | UPI +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Push for Financial service , Utility PP, KYC, Rent</a:t>
                      </a:r>
                    </a:p>
                  </a:txBody>
                  <a:tcPr marL="5904" marR="5904" marT="5904" marB="5904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53473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{Potentialist} (12%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Digital Goods ++| Online | Utility |Financial services | Entertainment |Recharge | Non-KYC ++ |Travel | Household Utilities | UPI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Push for Utility, Financial service , KYC, Rent; 
Engage for Mobile prepaident, PP</a:t>
                      </a:r>
                    </a:p>
                  </a:txBody>
                  <a:tcPr marL="5904" marR="5904" marT="5904" marB="5904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9064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{Napster} (20%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Non-KYC | Digital Goods ++| Entertainment |Services| Financial services | UPI ++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1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Explore: Utility, Mobile prepaid, Entertainment</a:t>
                      </a:r>
                    </a:p>
                  </a:txBody>
                  <a:tcPr marL="5904" marR="5904" marT="5904" marB="5904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652293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{Hibernator} (19% | 02%)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Non-KYC | Financial services| Tier 3 |Recharge |Travel |Rent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  <a:r>
                        <a:t>Explore: Utility, Mobile prepaid, Entertainment</a:t>
                      </a:r>
                    </a:p>
                    <a:p>
                      <a:pPr>
                        <a:defRPr>
                          <a:latin typeface="Open Sans"/>
                          <a:ea typeface="Open Sans"/>
                          <a:cs typeface="Open Sans"/>
                          <a:sym typeface="Open Sans"/>
                        </a:defRPr>
                      </a:pPr>
                    </a:p>
                  </a:txBody>
                  <a:tcPr marL="5904" marR="5904" marT="5904" marB="5904" anchor="t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pic>
        <p:nvPicPr>
          <p:cNvPr id="671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004" y="1430568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72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004" y="1914720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73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004" y="2883030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74" name="Picture 22" descr="Picture 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9004" y="3851338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7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9004" y="4335491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76" name="Picture 24" descr="Picture 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004" y="3367182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sp>
        <p:nvSpPr>
          <p:cNvPr id="677" name="Plus 25"/>
          <p:cNvSpPr/>
          <p:nvPr/>
        </p:nvSpPr>
        <p:spPr>
          <a:xfrm>
            <a:off x="425409" y="1379234"/>
            <a:ext cx="154032" cy="150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343"/>
                </a:moveTo>
                <a:lnTo>
                  <a:pt x="7432" y="7343"/>
                </a:lnTo>
                <a:lnTo>
                  <a:pt x="7432" y="0"/>
                </a:lnTo>
                <a:lnTo>
                  <a:pt x="14168" y="0"/>
                </a:lnTo>
                <a:lnTo>
                  <a:pt x="14168" y="7343"/>
                </a:lnTo>
                <a:lnTo>
                  <a:pt x="21600" y="7343"/>
                </a:lnTo>
                <a:lnTo>
                  <a:pt x="21600" y="14257"/>
                </a:lnTo>
                <a:lnTo>
                  <a:pt x="14168" y="14257"/>
                </a:lnTo>
                <a:lnTo>
                  <a:pt x="14168" y="21600"/>
                </a:lnTo>
                <a:lnTo>
                  <a:pt x="7432" y="21600"/>
                </a:lnTo>
                <a:lnTo>
                  <a:pt x="7432" y="14257"/>
                </a:lnTo>
                <a:lnTo>
                  <a:pt x="0" y="14257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rgbClr val="242852"/>
            </a:solidFill>
          </a:ln>
        </p:spPr>
        <p:txBody>
          <a:bodyPr lIns="45719" rIns="45719" anchor="ctr"/>
          <a:lstStyle/>
          <a:p>
            <a:pPr algn="ctr" defTabSz="914378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78" name="Picture 26" descr="Picture 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004" y="2398876"/>
            <a:ext cx="297069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Title 1"/>
          <p:cNvSpPr txBox="1"/>
          <p:nvPr/>
        </p:nvSpPr>
        <p:spPr>
          <a:xfrm>
            <a:off x="9538" y="144588"/>
            <a:ext cx="811148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 defTabSz="914378"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Category Penetration across clusters</a:t>
            </a:r>
          </a:p>
        </p:txBody>
      </p:sp>
      <p:graphicFrame>
        <p:nvGraphicFramePr>
          <p:cNvPr id="681" name="Table 2"/>
          <p:cNvGraphicFramePr/>
          <p:nvPr/>
        </p:nvGraphicFramePr>
        <p:xfrm>
          <a:off x="155943" y="837174"/>
          <a:ext cx="8874644" cy="394997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22698"/>
                <a:gridCol w="893135"/>
                <a:gridCol w="893135"/>
                <a:gridCol w="893135"/>
                <a:gridCol w="893135"/>
                <a:gridCol w="893135"/>
                <a:gridCol w="893135"/>
                <a:gridCol w="893135"/>
              </a:tblGrid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      {Cluster } –  ( %Pop | %Spends )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Post 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Merchant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Rent Payer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Mobile Prepaid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Gas &amp; Petrol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Wallet In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</a:rPr>
                        <a:t>KYC Complete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{Champion} (10% | 47%)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29%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88%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71%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94%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75%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{Loyalist} (7% | 19%)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28%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46%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77%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40%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69%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CFF66"/>
                          </a:solidFill>
                        </a:rPr>
                        <a:t>67%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{Promisor} (13%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2"/>
                          </a:solidFill>
                        </a:rPr>
                        <a:t>23%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81%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25%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73%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chemeClr val="accent1"/>
                          </a:solidFill>
                        </a:rPr>
                        <a:t>80%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{Attention-Seeker} (20%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89%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27%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21%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{Potentialist} (12%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6%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{Napster} (20%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31%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      {Hibernator} (19% | 02%)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24398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Paytm Last 12M Active Portfolio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52%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29%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</a:tr>
            </a:tbl>
          </a:graphicData>
        </a:graphic>
      </p:graphicFrame>
      <p:sp>
        <p:nvSpPr>
          <p:cNvPr id="682" name="Straight Connector 12"/>
          <p:cNvSpPr/>
          <p:nvPr/>
        </p:nvSpPr>
        <p:spPr>
          <a:xfrm>
            <a:off x="236302" y="740978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68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1373864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8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1839117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8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2769622"/>
            <a:ext cx="297070" cy="303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86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77" y="3700129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87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77" y="4165379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688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3234875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sp>
        <p:nvSpPr>
          <p:cNvPr id="689" name="Plus 10"/>
          <p:cNvSpPr/>
          <p:nvPr/>
        </p:nvSpPr>
        <p:spPr>
          <a:xfrm>
            <a:off x="262384" y="1322530"/>
            <a:ext cx="154032" cy="150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343"/>
                </a:moveTo>
                <a:lnTo>
                  <a:pt x="7432" y="7343"/>
                </a:lnTo>
                <a:lnTo>
                  <a:pt x="7432" y="0"/>
                </a:lnTo>
                <a:lnTo>
                  <a:pt x="14168" y="0"/>
                </a:lnTo>
                <a:lnTo>
                  <a:pt x="14168" y="7343"/>
                </a:lnTo>
                <a:lnTo>
                  <a:pt x="21600" y="7343"/>
                </a:lnTo>
                <a:lnTo>
                  <a:pt x="21600" y="14257"/>
                </a:lnTo>
                <a:lnTo>
                  <a:pt x="14168" y="14257"/>
                </a:lnTo>
                <a:lnTo>
                  <a:pt x="14168" y="21600"/>
                </a:lnTo>
                <a:lnTo>
                  <a:pt x="7432" y="21600"/>
                </a:lnTo>
                <a:lnTo>
                  <a:pt x="7432" y="14257"/>
                </a:lnTo>
                <a:lnTo>
                  <a:pt x="0" y="14257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rgbClr val="242852"/>
            </a:solidFill>
          </a:ln>
        </p:spPr>
        <p:txBody>
          <a:bodyPr lIns="45719" rIns="45719" anchor="ctr"/>
          <a:lstStyle/>
          <a:p>
            <a:pPr algn="ctr" defTabSz="914378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90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2304370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Title 1"/>
          <p:cNvSpPr txBox="1"/>
          <p:nvPr/>
        </p:nvSpPr>
        <p:spPr>
          <a:xfrm>
            <a:off x="9538" y="144588"/>
            <a:ext cx="8111481" cy="500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>
            <a:lvl1pPr defTabSz="914378">
              <a:defRPr b="1" sz="2100">
                <a:solidFill>
                  <a:srgbClr val="2428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Contribution of our clusters across various categories</a:t>
            </a:r>
          </a:p>
        </p:txBody>
      </p:sp>
      <p:graphicFrame>
        <p:nvGraphicFramePr>
          <p:cNvPr id="693" name="Table 2"/>
          <p:cNvGraphicFramePr/>
          <p:nvPr/>
        </p:nvGraphicFramePr>
        <p:xfrm>
          <a:off x="155943" y="837174"/>
          <a:ext cx="8874644" cy="394997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22698"/>
                <a:gridCol w="893135"/>
                <a:gridCol w="893135"/>
                <a:gridCol w="893135"/>
                <a:gridCol w="893135"/>
                <a:gridCol w="893135"/>
                <a:gridCol w="893135"/>
                <a:gridCol w="893135"/>
              </a:tblGrid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{Cluster } –  ( %Pop | %Spends )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 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Merchant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Rent Payer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Mobile Prepaid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Petrol Paid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Wallet In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KYC Complete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{Champion} (10% | 47%)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29%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26%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26%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{Loyalist} (7% | 19%)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47%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46%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10%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14%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B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{Promisor} (13%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23%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19%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15%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28%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34%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{Attention-Seeker} (20% | 13%)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34%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25%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/>
                        <a:t>12%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{Potentialist} (12%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7%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6%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4%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{Napster} (20% | 03%)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8%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3%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7%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6%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7%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46324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     {Hibernator} (19% | 02%) 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9%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13%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2%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5%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0000"/>
                          </a:solidFill>
                        </a:rPr>
                        <a:t>11%</a:t>
                      </a:r>
                    </a:p>
                  </a:txBody>
                  <a:tcPr marL="12700" marR="12700" marT="12700" marB="1270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C000"/>
                    </a:solidFill>
                  </a:tcPr>
                </a:tc>
              </a:tr>
              <a:tr h="243985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6350" marR="6350" marT="6350" marB="6350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73FE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</a:p>
                  </a:txBody>
                  <a:tcPr marL="5904" marR="5904" marT="5904" marB="5904" anchor="ctr" anchorCtr="0" horzOverflow="overflow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72C62"/>
                    </a:solidFill>
                  </a:tcPr>
                </a:tc>
              </a:tr>
            </a:tbl>
          </a:graphicData>
        </a:graphic>
      </p:graphicFrame>
      <p:sp>
        <p:nvSpPr>
          <p:cNvPr id="694" name="Straight Connector 12"/>
          <p:cNvSpPr/>
          <p:nvPr/>
        </p:nvSpPr>
        <p:spPr>
          <a:xfrm>
            <a:off x="236302" y="740978"/>
            <a:ext cx="8550347" cy="12424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Rectangle 1"/>
          <p:cNvSpPr/>
          <p:nvPr/>
        </p:nvSpPr>
        <p:spPr>
          <a:xfrm>
            <a:off x="6400798" y="1380042"/>
            <a:ext cx="786811" cy="1207220"/>
          </a:xfrm>
          <a:prstGeom prst="rect">
            <a:avLst/>
          </a:prstGeom>
          <a:ln w="28575">
            <a:solidFill>
              <a:srgbClr val="73FEFF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6" name="Rectangle 13"/>
          <p:cNvSpPr/>
          <p:nvPr/>
        </p:nvSpPr>
        <p:spPr>
          <a:xfrm>
            <a:off x="8190611" y="1380040"/>
            <a:ext cx="766253" cy="1207221"/>
          </a:xfrm>
          <a:prstGeom prst="rect">
            <a:avLst/>
          </a:prstGeom>
          <a:ln w="28575">
            <a:solidFill>
              <a:srgbClr val="73FEFF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7" name="Rectangle 14"/>
          <p:cNvSpPr/>
          <p:nvPr/>
        </p:nvSpPr>
        <p:spPr>
          <a:xfrm>
            <a:off x="4621617" y="1380042"/>
            <a:ext cx="786811" cy="774829"/>
          </a:xfrm>
          <a:prstGeom prst="rect">
            <a:avLst/>
          </a:prstGeom>
          <a:ln w="28575">
            <a:solidFill>
              <a:srgbClr val="73FEFF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8" name="Rectangle 15"/>
          <p:cNvSpPr/>
          <p:nvPr/>
        </p:nvSpPr>
        <p:spPr>
          <a:xfrm>
            <a:off x="5504119" y="3673130"/>
            <a:ext cx="765008" cy="430698"/>
          </a:xfrm>
          <a:prstGeom prst="rect">
            <a:avLst/>
          </a:prstGeom>
          <a:ln w="28575">
            <a:solidFill>
              <a:srgbClr val="C0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Rectangle 16"/>
          <p:cNvSpPr/>
          <p:nvPr/>
        </p:nvSpPr>
        <p:spPr>
          <a:xfrm>
            <a:off x="4621617" y="4165379"/>
            <a:ext cx="734155" cy="302136"/>
          </a:xfrm>
          <a:prstGeom prst="rect">
            <a:avLst/>
          </a:prstGeom>
          <a:ln w="28575">
            <a:solidFill>
              <a:srgbClr val="C0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0" name="Rectangle 20"/>
          <p:cNvSpPr/>
          <p:nvPr/>
        </p:nvSpPr>
        <p:spPr>
          <a:xfrm>
            <a:off x="2831804" y="1380042"/>
            <a:ext cx="786811" cy="774829"/>
          </a:xfrm>
          <a:prstGeom prst="rect">
            <a:avLst/>
          </a:prstGeom>
          <a:ln w="28575">
            <a:solidFill>
              <a:srgbClr val="73FEFF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01" name="Picture 27" descr="Picture 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1373864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702" name="Picture 28" descr="Picture 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1839117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703" name="Picture 29" descr="Picture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2769622"/>
            <a:ext cx="297070" cy="303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70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77" y="3700129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705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77" y="4165379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pic>
        <p:nvPicPr>
          <p:cNvPr id="706" name="Picture 32" descr="Picture 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3234875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sp>
        <p:nvSpPr>
          <p:cNvPr id="707" name="Plus 33"/>
          <p:cNvSpPr/>
          <p:nvPr/>
        </p:nvSpPr>
        <p:spPr>
          <a:xfrm>
            <a:off x="262384" y="1322530"/>
            <a:ext cx="154032" cy="150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7343"/>
                </a:moveTo>
                <a:lnTo>
                  <a:pt x="7432" y="7343"/>
                </a:lnTo>
                <a:lnTo>
                  <a:pt x="7432" y="0"/>
                </a:lnTo>
                <a:lnTo>
                  <a:pt x="14168" y="0"/>
                </a:lnTo>
                <a:lnTo>
                  <a:pt x="14168" y="7343"/>
                </a:lnTo>
                <a:lnTo>
                  <a:pt x="21600" y="7343"/>
                </a:lnTo>
                <a:lnTo>
                  <a:pt x="21600" y="14257"/>
                </a:lnTo>
                <a:lnTo>
                  <a:pt x="14168" y="14257"/>
                </a:lnTo>
                <a:lnTo>
                  <a:pt x="14168" y="21600"/>
                </a:lnTo>
                <a:lnTo>
                  <a:pt x="7432" y="21600"/>
                </a:lnTo>
                <a:lnTo>
                  <a:pt x="7432" y="14257"/>
                </a:lnTo>
                <a:lnTo>
                  <a:pt x="0" y="14257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rgbClr val="242852"/>
            </a:solidFill>
          </a:ln>
        </p:spPr>
        <p:txBody>
          <a:bodyPr lIns="45719" rIns="45719" anchor="ctr"/>
          <a:lstStyle/>
          <a:p>
            <a:pPr algn="ctr" defTabSz="914378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708" name="Picture 34" descr="Picture 3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977" y="2304370"/>
            <a:ext cx="297070" cy="303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86" y="0"/>
                </a:moveTo>
                <a:cubicBezTo>
                  <a:pt x="4825" y="0"/>
                  <a:pt x="0" y="4836"/>
                  <a:pt x="0" y="10800"/>
                </a:cubicBezTo>
                <a:cubicBezTo>
                  <a:pt x="0" y="16764"/>
                  <a:pt x="4825" y="21600"/>
                  <a:pt x="10786" y="21600"/>
                </a:cubicBezTo>
                <a:cubicBezTo>
                  <a:pt x="16746" y="21600"/>
                  <a:pt x="21600" y="16764"/>
                  <a:pt x="21600" y="10800"/>
                </a:cubicBezTo>
                <a:cubicBezTo>
                  <a:pt x="21600" y="4836"/>
                  <a:pt x="16746" y="0"/>
                  <a:pt x="10786" y="0"/>
                </a:cubicBezTo>
                <a:close/>
              </a:path>
            </a:pathLst>
          </a:custGeom>
          <a:ln w="63500" cap="rnd">
            <a:solidFill>
              <a:srgbClr val="333333"/>
            </a:solidFill>
          </a:ln>
          <a:effectLst>
            <a:outerShdw sx="100000" sy="100000" kx="0" ky="0" algn="b" rotWithShape="0" blurRad="381000" dist="292100" dir="5400000">
              <a:srgbClr val="000000">
                <a:alpha val="22000"/>
              </a:srgbClr>
            </a:outerShdw>
          </a:effectLst>
        </p:spPr>
      </p:pic>
      <p:sp>
        <p:nvSpPr>
          <p:cNvPr id="709" name="Rectangle 18"/>
          <p:cNvSpPr/>
          <p:nvPr/>
        </p:nvSpPr>
        <p:spPr>
          <a:xfrm>
            <a:off x="3721394" y="1401119"/>
            <a:ext cx="786811" cy="1207220"/>
          </a:xfrm>
          <a:prstGeom prst="rect">
            <a:avLst/>
          </a:prstGeom>
          <a:ln w="28575">
            <a:solidFill>
              <a:srgbClr val="73FEFF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Rectangle 21"/>
          <p:cNvSpPr/>
          <p:nvPr/>
        </p:nvSpPr>
        <p:spPr>
          <a:xfrm>
            <a:off x="8190611" y="4103827"/>
            <a:ext cx="766253" cy="433797"/>
          </a:xfrm>
          <a:prstGeom prst="rect">
            <a:avLst/>
          </a:prstGeom>
          <a:ln w="28575">
            <a:solidFill>
              <a:srgbClr val="C000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itle 1"/>
          <p:cNvSpPr txBox="1"/>
          <p:nvPr/>
        </p:nvSpPr>
        <p:spPr>
          <a:xfrm>
            <a:off x="9538" y="42989"/>
            <a:ext cx="8550348" cy="70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 anchor="ctr">
            <a:spAutoFit/>
          </a:bodyPr>
          <a:lstStyle/>
          <a:p>
            <a:pPr defTabSz="914355">
              <a:defRPr b="1" spc="-150"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7 Distinct behavioral clusters  ranked by RFM basis their L12 Engagement </a:t>
            </a:r>
            <a:endParaRPr spc="-100" sz="1200">
              <a:solidFill>
                <a:srgbClr val="242852"/>
              </a:solidFill>
              <a:latin typeface="+mn-lt"/>
              <a:ea typeface="+mn-ea"/>
              <a:cs typeface="+mn-cs"/>
              <a:sym typeface="Arial"/>
            </a:endParaRPr>
          </a:p>
          <a:p>
            <a:pPr defTabSz="914355">
              <a:defRPr b="1" spc="-150" sz="16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Currently being consumed by </a:t>
            </a:r>
            <a:r>
              <a:rPr>
                <a:solidFill>
                  <a:srgbClr val="00B0F0"/>
                </a:solidFill>
              </a:rPr>
              <a:t>Central Paytm </a:t>
            </a:r>
            <a:r>
              <a:t>+ multiple </a:t>
            </a:r>
            <a:r>
              <a:rPr>
                <a:solidFill>
                  <a:srgbClr val="00B0F0"/>
                </a:solidFill>
              </a:rPr>
              <a:t>Business Categories</a:t>
            </a:r>
          </a:p>
        </p:txBody>
      </p:sp>
      <p:sp>
        <p:nvSpPr>
          <p:cNvPr id="713" name="Straight Connector 94"/>
          <p:cNvSpPr/>
          <p:nvPr/>
        </p:nvSpPr>
        <p:spPr>
          <a:xfrm>
            <a:off x="-7838" y="660943"/>
            <a:ext cx="9162000" cy="12426"/>
          </a:xfrm>
          <a:prstGeom prst="line">
            <a:avLst/>
          </a:prstGeom>
          <a:ln w="31750">
            <a:solidFill>
              <a:srgbClr val="072C62"/>
            </a:solidFill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714" name="Table 98"/>
          <p:cNvGraphicFramePr/>
          <p:nvPr/>
        </p:nvGraphicFramePr>
        <p:xfrm>
          <a:off x="511472" y="898717"/>
          <a:ext cx="8334986" cy="334606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84594"/>
                <a:gridCol w="2565400"/>
                <a:gridCol w="3884990"/>
              </a:tblGrid>
              <a:tr h="346328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Vertical</a:t>
                      </a:r>
                    </a:p>
                  </a:txBody>
                  <a:tcPr marL="34290" marR="34290" marT="34290" marB="34290" anchor="ctr" anchorCtr="0" horzOverflow="overflow"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Clusters Used</a:t>
                      </a:r>
                    </a:p>
                  </a:txBody>
                  <a:tcPr marL="34290" marR="34290" marT="34290" marB="34290" anchor="ctr" anchorCtr="0" horzOverflow="overflow">
                    <a:solidFill>
                      <a:srgbClr val="384C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Case</a:t>
                      </a:r>
                    </a:p>
                  </a:txBody>
                  <a:tcPr marL="34290" marR="34290" marT="34290" marB="34290" anchor="ctr" anchorCtr="0" horzOverflow="overflow">
                    <a:solidFill>
                      <a:srgbClr val="384C81"/>
                    </a:solidFill>
                  </a:tcPr>
                </a:tc>
              </a:tr>
              <a:tr h="3463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App Money</a:t>
                      </a:r>
                    </a:p>
                  </a:txBody>
                  <a:tcPr marL="34290" marR="34290" marT="34290" marB="34290" anchor="ctr" anchorCtr="0" horzOverflow="overflow"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Champion, Loyalist &amp; Promisor</a:t>
                      </a:r>
                    </a:p>
                  </a:txBody>
                  <a:tcPr marL="34290" marR="34290" marT="34290" marB="34290" anchor="ctr" anchorCtr="0" horzOverflow="overflow"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 Execute Campaigns on engaged customers. Pseudo for Affluence</a:t>
                      </a:r>
                    </a:p>
                  </a:txBody>
                  <a:tcPr marL="34290" marR="34290" marT="34290" marB="34290" anchor="ctr" anchorCtr="0" horzOverflow="overflow"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</a:tr>
              <a:tr h="3463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CST Analytics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 Seven Cluster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Differential Treatment, Service levels, Dispute Resolution Across Clusters to design/execute Campaigns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463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Rewards and Loyalty - Consumer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 Seven Cluster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 Design the Rewards framework for our Customer Loyalty Program. Differential Rewards, Treatment and Special offers based on engagement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00B0F0"/>
                    </a:solidFill>
                  </a:tcPr>
                </a:tc>
              </a:tr>
              <a:tr h="3463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CC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 Seven Cluster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Portfolio Insights; Activation Strategy; Opportunity for cross category Enhancement by leveraging high Engaged Clusters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3463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PP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 Seven Cluster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Portfolio Insights; Curb Churn; Opportunity for cross category Enhancement by leveraging high Engaged Clusters, Limit Recommendation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</a:tr>
              <a:tr h="34632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 (Rent, CCBP, Fastag)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Multiple Combinations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Portfolio Acquisition and Spend Uplift Campaigns (New, React, Repeat)</a:t>
                      </a:r>
                    </a:p>
                  </a:txBody>
                  <a:tcPr marL="34290" marR="34290" marT="34290" marB="3429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46088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Travel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Champion &amp; Loyalist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A/B to see CBP offer attach &amp; conversion. The hypothesis is to check the positioning of the CBP offer and its impact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C000"/>
                    </a:solidFill>
                  </a:tcPr>
                </a:tc>
              </a:tr>
              <a:tr h="460885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Other Categories with Possible Use Cases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8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Most of the Above. </a:t>
                      </a:r>
                    </a:p>
                  </a:txBody>
                  <a:tcPr marL="34290" marR="34290" marT="34290" marB="34290" anchor="ctr" anchorCtr="0" horzOverflow="overflow">
                    <a:lnT w="12700">
                      <a:miter lim="400000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715" name="Picture 14" descr="Picture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2410" y="1263590"/>
            <a:ext cx="237601" cy="237601"/>
          </a:xfrm>
          <a:prstGeom prst="rect">
            <a:avLst/>
          </a:prstGeom>
          <a:ln w="12700">
            <a:miter lim="400000"/>
          </a:ln>
        </p:spPr>
      </p:pic>
      <p:sp>
        <p:nvSpPr>
          <p:cNvPr id="716" name="TextBox 16"/>
          <p:cNvSpPr txBox="1"/>
          <p:nvPr/>
        </p:nvSpPr>
        <p:spPr>
          <a:xfrm>
            <a:off x="500400" y="4292524"/>
            <a:ext cx="6108189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Across most of the campaigns recommended clusters gave significant incremental lift</a:t>
            </a:r>
          </a:p>
          <a:p>
            <a:pPr>
              <a:defRPr i="1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Data is available in </a:t>
            </a:r>
            <a:r>
              <a:rPr b="1"/>
              <a:t>CT</a:t>
            </a:r>
            <a:r>
              <a:t> under user property name </a:t>
            </a:r>
            <a:r>
              <a:rPr b="1">
                <a:solidFill>
                  <a:srgbClr val="002060"/>
                </a:solidFill>
              </a:rPr>
              <a:t>GLOBAL_CLUSTER</a:t>
            </a:r>
            <a:endParaRPr b="1">
              <a:solidFill>
                <a:srgbClr val="002060"/>
              </a:solidFill>
            </a:endParaRPr>
          </a:p>
          <a:p>
            <a:pPr>
              <a:defRPr i="1" sz="900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S3 Location – “</a:t>
            </a:r>
            <a:r>
              <a:rPr b="1">
                <a:solidFill>
                  <a:srgbClr val="0070C0"/>
                </a:solidFill>
              </a:rPr>
              <a:t>s3://aws-datascience-machinelearning/R03/xxxx/xxxx</a:t>
            </a:r>
            <a:r>
              <a:t>”</a:t>
            </a:r>
          </a:p>
        </p:txBody>
      </p:sp>
      <p:pic>
        <p:nvPicPr>
          <p:cNvPr id="71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8068" y="2304782"/>
            <a:ext cx="246285" cy="246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718" name="Picture 18" descr="Picture 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2054" y="2657637"/>
            <a:ext cx="238311" cy="2383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19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8068" y="1951927"/>
            <a:ext cx="246285" cy="246286"/>
          </a:xfrm>
          <a:prstGeom prst="rect">
            <a:avLst/>
          </a:prstGeom>
          <a:ln w="12700">
            <a:miter lim="400000"/>
          </a:ln>
        </p:spPr>
      </p:pic>
      <p:pic>
        <p:nvPicPr>
          <p:cNvPr id="720" name="Picture 20" descr="Picture 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08686" y="2978156"/>
            <a:ext cx="238311" cy="23831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1" name="Picture 23" descr="Picture 2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38068" y="3458298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2" name="Picture 25" descr="Picture 2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648255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3" name="Picture 27" descr="Picture 2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380298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4" name="Picture 29" descr="Picture 2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112338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5" name="Picture 31" descr="Picture 31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3576420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6" name="Picture 33" descr="Picture 33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040502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" name="Picture 35" descr="Picture 35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2504584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8" name="Picture 37" descr="Picture 37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2772543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9" name="Picture 39" descr="Picture 39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3308462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0" name="Picture 41" descr="Picture 41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3844380" y="3831909"/>
            <a:ext cx="237601" cy="23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1" name="Picture 42" descr="Picture 42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80953" y="2981455"/>
            <a:ext cx="237602" cy="237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Picture 43" descr="Picture 43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215666" y="3214317"/>
            <a:ext cx="237602" cy="178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Picture 45" descr="Picture 45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242410" y="1607759"/>
            <a:ext cx="237601" cy="23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1_Default Theme">
  <a:themeElements>
    <a:clrScheme name="1_Default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000FF"/>
      </a:hlink>
      <a:folHlink>
        <a:srgbClr val="FF00FF"/>
      </a:folHlink>
    </a:clrScheme>
    <a:fontScheme name="1_Default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_Default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1_Default Theme">
  <a:themeElements>
    <a:clrScheme name="1_Default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0000FF"/>
      </a:hlink>
      <a:folHlink>
        <a:srgbClr val="FF00FF"/>
      </a:folHlink>
    </a:clrScheme>
    <a:fontScheme name="1_Default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_Default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