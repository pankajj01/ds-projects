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EEE"/>
          </a:solidFill>
        </a:fill>
      </a:tcStyle>
    </a:wholeTbl>
    <a:band2H>
      <a:tcTxStyle b="def" i="def"/>
      <a:tcStyle>
        <a:tcBdr/>
        <a:fill>
          <a:solidFill>
            <a:srgbClr val="EA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BE1"/>
          </a:solidFill>
        </a:fill>
      </a:tcStyle>
    </a:wholeTbl>
    <a:band2H>
      <a:tcTxStyle b="def" i="def"/>
      <a:tcStyle>
        <a:tcBdr/>
        <a:fill>
          <a:solidFill>
            <a:srgbClr val="ECEE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DBDF"/>
          </a:solidFill>
        </a:fill>
      </a:tcStyle>
    </a:wholeTbl>
    <a:band2H>
      <a:tcTxStyle b="def" i="def"/>
      <a:tcStyle>
        <a:tcBdr/>
        <a:fill>
          <a:solidFill>
            <a:srgbClr val="EFEE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370371"/>
          <c:y val="0.0370371"/>
          <c:w val="0.925926"/>
          <c:h val="0.913426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Churned Merchants</c:v>
                </c:pt>
              </c:strCache>
            </c:strRef>
          </c:tx>
          <c:spPr>
            <a:solidFill>
              <a:srgbClr val="00B0F0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explosion val="1"/>
          <c:dPt>
            <c:idx val="0"/>
            <c:explosion val="1"/>
            <c:spPr>
              <a:solidFill>
                <a:srgbClr val="00B0F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explosion val="9"/>
            <c:spPr>
              <a:solidFill>
                <a:schemeClr val="accent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#,##0" sourceLinked="0"/>
              <c:txPr>
                <a:bodyPr/>
                <a:lstStyle/>
                <a:p>
                  <a:pPr>
                    <a:defRPr b="1" i="0" strike="noStrike" sz="800" u="none">
                      <a:solidFill>
                        <a:srgbClr val="404040"/>
                      </a:solidFill>
                      <a:latin typeface="Open Sans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txPr>
                <a:bodyPr/>
                <a:lstStyle/>
                <a:p>
                  <a:pPr>
                    <a:defRPr b="1" i="0" strike="noStrike" sz="800" u="none">
                      <a:solidFill>
                        <a:srgbClr val="FFFFFF"/>
                      </a:solidFill>
                      <a:latin typeface="Open Sans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404040"/>
                    </a:solidFill>
                    <a:latin typeface="Open San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noFill/>
                <a:ln w="9525" cap="flat">
                  <a:solidFill>
                    <a:srgbClr val="A6A6A6"/>
                  </a:solidFill>
                  <a:prstDash val="solid"/>
                  <a:round/>
                </a:ln>
                <a:effectLst/>
              </c:spPr>
            </c:leaderLines>
          </c:dLbls>
          <c:cat>
            <c:strRef>
              <c:f>Sheet1!$B$1:$C$1</c:f>
              <c:strCache>
                <c:ptCount val="2"/>
                <c:pt idx="0">
                  <c:v>Active Merchants (atleast 1 transaction between Jul'21-Nov'22)</c:v>
                </c:pt>
                <c:pt idx="1">
                  <c:v>Dormant Merchants (Inactive since Jul'22)</c:v>
                </c:pt>
              </c:strCache>
            </c:strRef>
          </c:cat>
          <c:val>
            <c:numRef>
              <c:f>Sheet1!$B$2:$C$2</c:f>
              <c:numCache>
                <c:ptCount val="2"/>
                <c:pt idx="0">
                  <c:v>26887.000000</c:v>
                </c:pt>
                <c:pt idx="1">
                  <c:v>71950.000000</c:v>
                </c:pt>
              </c:numCache>
            </c:numRef>
          </c:val>
        </c:ser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77991"/>
          <c:y val="0.0749067"/>
          <c:w val="0.897201"/>
          <c:h val="0.706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Merchants Reactivating</c:v>
                </c:pt>
              </c:strCache>
            </c:strRef>
          </c:tx>
          <c:spPr>
            <a:solidFill>
              <a:srgbClr val="92D05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249.000000</c:v>
                </c:pt>
                <c:pt idx="1">
                  <c:v>154.000000</c:v>
                </c:pt>
                <c:pt idx="2">
                  <c:v>141.000000</c:v>
                </c:pt>
                <c:pt idx="3">
                  <c:v>94.000000</c:v>
                </c:pt>
                <c:pt idx="4">
                  <c:v>67.000000</c:v>
                </c:pt>
                <c:pt idx="5">
                  <c:v>54.000000</c:v>
                </c:pt>
                <c:pt idx="6">
                  <c:v>41.000000</c:v>
                </c:pt>
                <c:pt idx="7">
                  <c:v>25.000000</c:v>
                </c:pt>
                <c:pt idx="8">
                  <c:v>24.000000</c:v>
                </c:pt>
                <c:pt idx="9">
                  <c:v>1.000000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merchants (test)</c:v>
                </c:pt>
              </c:strCache>
            </c:strRef>
          </c:tx>
          <c:spPr>
            <a:solidFill>
              <a:srgbClr val="2DC8F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ptCount val="10"/>
                <c:pt idx="0">
                  <c:v>603.000000</c:v>
                </c:pt>
                <c:pt idx="1">
                  <c:v>643.000000</c:v>
                </c:pt>
                <c:pt idx="2">
                  <c:v>641.000000</c:v>
                </c:pt>
                <c:pt idx="3">
                  <c:v>636.000000</c:v>
                </c:pt>
                <c:pt idx="4">
                  <c:v>591.000000</c:v>
                </c:pt>
                <c:pt idx="5">
                  <c:v>605.000000</c:v>
                </c:pt>
                <c:pt idx="6">
                  <c:v>610.000000</c:v>
                </c:pt>
                <c:pt idx="7">
                  <c:v>587.000000</c:v>
                </c:pt>
                <c:pt idx="8">
                  <c:v>620.000000</c:v>
                </c:pt>
                <c:pt idx="9">
                  <c:v>630.000000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Event Rate</c:v>
                </c:pt>
              </c:strCache>
            </c:strRef>
          </c:tx>
          <c:spPr>
            <a:solidFill>
              <a:srgbClr val="7030A0"/>
            </a:solidFill>
            <a:ln w="9525" cap="rnd">
              <a:solidFill>
                <a:srgbClr val="7030A0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404040"/>
                    </a:solidFill>
                    <a:latin typeface="Open San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ptCount val="10"/>
                <c:pt idx="0">
                  <c:v>0.412935</c:v>
                </c:pt>
                <c:pt idx="1">
                  <c:v>0.239502</c:v>
                </c:pt>
                <c:pt idx="2">
                  <c:v>0.219969</c:v>
                </c:pt>
                <c:pt idx="3">
                  <c:v>0.147799</c:v>
                </c:pt>
                <c:pt idx="4">
                  <c:v>0.113367</c:v>
                </c:pt>
                <c:pt idx="5">
                  <c:v>0.089256</c:v>
                </c:pt>
                <c:pt idx="6">
                  <c:v>0.067213</c:v>
                </c:pt>
                <c:pt idx="7">
                  <c:v>0.042589</c:v>
                </c:pt>
                <c:pt idx="8">
                  <c:v>0.038710</c:v>
                </c:pt>
                <c:pt idx="9">
                  <c:v>0.001587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Overall event rate</c:v>
                </c:pt>
              </c:strCache>
            </c:strRef>
          </c:tx>
          <c:spPr>
            <a:solidFill>
              <a:schemeClr val="accent4"/>
            </a:solidFill>
            <a:ln w="12700" cap="flat">
              <a:solidFill>
                <a:schemeClr val="accent4"/>
              </a:solidFill>
              <a:custDash>
                <a:ds d="200000" sp="200000"/>
              </a:custDash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002060"/>
                    </a:solidFill>
                    <a:latin typeface="Open San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Sheet1!$E$2:$E$11</c:f>
              <c:numCache>
                <c:ptCount val="10"/>
                <c:pt idx="0">
                  <c:v>0.137900</c:v>
                </c:pt>
                <c:pt idx="1">
                  <c:v>0.137900</c:v>
                </c:pt>
                <c:pt idx="2">
                  <c:v>0.137900</c:v>
                </c:pt>
                <c:pt idx="3">
                  <c:v>0.137900</c:v>
                </c:pt>
                <c:pt idx="4">
                  <c:v>0.137900</c:v>
                </c:pt>
                <c:pt idx="5">
                  <c:v>0.137900</c:v>
                </c:pt>
                <c:pt idx="6">
                  <c:v>0.137900</c:v>
                </c:pt>
                <c:pt idx="7">
                  <c:v>0.137900</c:v>
                </c:pt>
                <c:pt idx="8">
                  <c:v>0.137900</c:v>
                </c:pt>
                <c:pt idx="9">
                  <c:v>0.137900</c:v>
                </c:pt>
              </c:numCache>
            </c:numRef>
          </c:val>
        </c:ser>
        <c:gapWidth val="221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i="0" strike="noStrike" sz="700" u="none">
                    <a:solidFill>
                      <a:srgbClr val="595959"/>
                    </a:solidFill>
                    <a:latin typeface="Open Sans"/>
                  </a:defRPr>
                </a:pPr>
                <a:r>
                  <a:rPr b="0" i="0" strike="noStrike" sz="700" u="none">
                    <a:solidFill>
                      <a:srgbClr val="595959"/>
                    </a:solidFill>
                    <a:latin typeface="Open Sans"/>
                  </a:rPr>
                  <a:t>Decile Bins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7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8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225"/>
        <c:minorUnit val="1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08324"/>
          <c:y val="0.0522911"/>
          <c:w val="0.87431"/>
          <c:h val="0.6306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</c:v>
                </c:pt>
              </c:strCache>
            </c:strRef>
          </c:tx>
          <c:spPr>
            <a:noFill/>
            <a:ln w="158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3"/>
            <c:spPr>
              <a:noFill/>
              <a:ln w="158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40404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0.000000</c:v>
                </c:pt>
                <c:pt idx="1">
                  <c:v>0.292941</c:v>
                </c:pt>
                <c:pt idx="2">
                  <c:v>0.474118</c:v>
                </c:pt>
                <c:pt idx="3">
                  <c:v>0.640000</c:v>
                </c:pt>
                <c:pt idx="4">
                  <c:v>0.750588</c:v>
                </c:pt>
                <c:pt idx="5">
                  <c:v>0.829412</c:v>
                </c:pt>
                <c:pt idx="6">
                  <c:v>0.892941</c:v>
                </c:pt>
                <c:pt idx="7">
                  <c:v>0.941176</c:v>
                </c:pt>
                <c:pt idx="8">
                  <c:v>0.970588</c:v>
                </c:pt>
                <c:pt idx="9">
                  <c:v>0.998824</c:v>
                </c:pt>
                <c:pt idx="10">
                  <c:v>1.000000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noFill/>
            <a:ln w="15875" cap="rnd">
              <a:solidFill>
                <a:srgbClr val="000000"/>
              </a:solidFill>
              <a:prstDash val="sysDash"/>
              <a:round/>
            </a:ln>
            <a:effectLst/>
          </c:spPr>
          <c:marker>
            <c:symbol val="none"/>
            <c:size val="3"/>
            <c:spPr>
              <a:noFill/>
              <a:ln w="15875" cap="rnd">
                <a:solidFill>
                  <a:srgbClr val="000000"/>
                </a:solidFill>
                <a:prstDash val="sysDash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ptCount val="11"/>
                <c:pt idx="0">
                  <c:v>0.000000</c:v>
                </c:pt>
                <c:pt idx="1">
                  <c:v>0.100000</c:v>
                </c:pt>
                <c:pt idx="2">
                  <c:v>0.200000</c:v>
                </c:pt>
                <c:pt idx="3">
                  <c:v>0.300000</c:v>
                </c:pt>
                <c:pt idx="4">
                  <c:v>0.400000</c:v>
                </c:pt>
                <c:pt idx="5">
                  <c:v>0.500000</c:v>
                </c:pt>
                <c:pt idx="6">
                  <c:v>0.600000</c:v>
                </c:pt>
                <c:pt idx="7">
                  <c:v>0.700000</c:v>
                </c:pt>
                <c:pt idx="8">
                  <c:v>0.800000</c:v>
                </c:pt>
                <c:pt idx="9">
                  <c:v>0.900000</c:v>
                </c:pt>
                <c:pt idx="10">
                  <c:v>1.000000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Out-of-Time</c:v>
                </c:pt>
              </c:strCache>
            </c:strRef>
          </c:tx>
          <c:spPr>
            <a:noFill/>
            <a:ln w="12700" cap="rnd">
              <a:solidFill>
                <a:schemeClr val="accent5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12700" cap="rnd">
                <a:solidFill>
                  <a:schemeClr val="accent5"/>
                </a:solidFill>
                <a:prstDash val="solid"/>
                <a:round/>
              </a:ln>
              <a:effectLst/>
            </c:spPr>
          </c:marker>
          <c:dLbls>
            <c:numFmt formatCode="0.0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0404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Sheet1!$D$2:$D$12</c:f>
              <c:numCache>
                <c:ptCount val="11"/>
                <c:pt idx="0">
                  <c:v>0.000000</c:v>
                </c:pt>
                <c:pt idx="1">
                  <c:v>0.248002</c:v>
                </c:pt>
                <c:pt idx="2">
                  <c:v>0.429417</c:v>
                </c:pt>
                <c:pt idx="3">
                  <c:v>0.551347</c:v>
                </c:pt>
                <c:pt idx="4">
                  <c:v>0.656703</c:v>
                </c:pt>
                <c:pt idx="5">
                  <c:v>0.749630</c:v>
                </c:pt>
                <c:pt idx="6">
                  <c:v>0.819177</c:v>
                </c:pt>
                <c:pt idx="7">
                  <c:v>0.884285</c:v>
                </c:pt>
                <c:pt idx="8">
                  <c:v>0.931933</c:v>
                </c:pt>
                <c:pt idx="9">
                  <c:v>0.970405</c:v>
                </c:pt>
                <c:pt idx="10">
                  <c:v>1.000000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i="0" strike="noStrike" sz="800" u="none">
                    <a:solidFill>
                      <a:srgbClr val="595959"/>
                    </a:solidFill>
                    <a:latin typeface="Open Sans"/>
                  </a:defRPr>
                </a:pPr>
                <a:r>
                  <a:rPr b="0" i="0" strike="noStrike" sz="800" u="none">
                    <a:solidFill>
                      <a:srgbClr val="595959"/>
                    </a:solidFill>
                    <a:latin typeface="Open Sans"/>
                  </a:rPr>
                  <a:t>Decile Bins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7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7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2"/>
        <c:crosses val="autoZero"/>
        <c:crossBetween val="midCat"/>
        <c:majorUnit val="0.25"/>
        <c:minorUnit val="0.12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184398"/>
          <c:y val="0.935209"/>
          <c:w val="0.695451"/>
          <c:h val="0.0647911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700" u="none">
              <a:solidFill>
                <a:srgbClr val="595959"/>
              </a:solidFill>
              <a:latin typeface="Open Sans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22374"/>
          <c:y val="0.0748423"/>
          <c:w val="0.872626"/>
          <c:h val="0.70684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Merchants Reactivating</c:v>
                </c:pt>
              </c:strCache>
            </c:strRef>
          </c:tx>
          <c:spPr>
            <a:solidFill>
              <a:srgbClr val="92D05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838.000000</c:v>
                </c:pt>
                <c:pt idx="1">
                  <c:v>613.000000</c:v>
                </c:pt>
                <c:pt idx="2">
                  <c:v>412.000000</c:v>
                </c:pt>
                <c:pt idx="3">
                  <c:v>356.000000</c:v>
                </c:pt>
                <c:pt idx="4">
                  <c:v>314.000000</c:v>
                </c:pt>
                <c:pt idx="5">
                  <c:v>250.000000</c:v>
                </c:pt>
                <c:pt idx="6">
                  <c:v>220.000000</c:v>
                </c:pt>
                <c:pt idx="7">
                  <c:v>161.000000</c:v>
                </c:pt>
                <c:pt idx="8">
                  <c:v>130.000000</c:v>
                </c:pt>
                <c:pt idx="9">
                  <c:v>100.000000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Population</c:v>
                </c:pt>
              </c:strCache>
            </c:strRef>
          </c:tx>
          <c:spPr>
            <a:solidFill>
              <a:srgbClr val="2DC8F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ptCount val="10"/>
                <c:pt idx="0">
                  <c:v>2063.000000</c:v>
                </c:pt>
                <c:pt idx="1">
                  <c:v>2303.000000</c:v>
                </c:pt>
                <c:pt idx="2">
                  <c:v>2369.000000</c:v>
                </c:pt>
                <c:pt idx="3">
                  <c:v>2477.000000</c:v>
                </c:pt>
                <c:pt idx="4">
                  <c:v>2550.000000</c:v>
                </c:pt>
                <c:pt idx="5">
                  <c:v>2318.000000</c:v>
                </c:pt>
                <c:pt idx="6">
                  <c:v>2238.000000</c:v>
                </c:pt>
                <c:pt idx="7">
                  <c:v>1988.000000</c:v>
                </c:pt>
                <c:pt idx="8">
                  <c:v>2209.000000</c:v>
                </c:pt>
                <c:pt idx="9">
                  <c:v>2413.000000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Event Rate</c:v>
                </c:pt>
              </c:strCache>
            </c:strRef>
          </c:tx>
          <c:spPr>
            <a:solidFill>
              <a:srgbClr val="7030A0"/>
            </a:solidFill>
            <a:ln w="9525" cap="rnd">
              <a:solidFill>
                <a:srgbClr val="7030A0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404040"/>
                    </a:solidFill>
                    <a:latin typeface="Open San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ptCount val="10"/>
                <c:pt idx="0">
                  <c:v>0.406205</c:v>
                </c:pt>
                <c:pt idx="1">
                  <c:v>0.266175</c:v>
                </c:pt>
                <c:pt idx="2">
                  <c:v>0.173913</c:v>
                </c:pt>
                <c:pt idx="3">
                  <c:v>0.143722</c:v>
                </c:pt>
                <c:pt idx="4">
                  <c:v>0.123137</c:v>
                </c:pt>
                <c:pt idx="5">
                  <c:v>0.107852</c:v>
                </c:pt>
                <c:pt idx="6">
                  <c:v>0.098302</c:v>
                </c:pt>
                <c:pt idx="7">
                  <c:v>0.080986</c:v>
                </c:pt>
                <c:pt idx="8">
                  <c:v>0.058850</c:v>
                </c:pt>
                <c:pt idx="9">
                  <c:v>0.041442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Overall Event Rate</c:v>
                </c:pt>
              </c:strCache>
            </c:strRef>
          </c:tx>
          <c:spPr>
            <a:solidFill>
              <a:schemeClr val="accent4"/>
            </a:solidFill>
            <a:ln w="12700" cap="flat">
              <a:solidFill>
                <a:schemeClr val="accent4"/>
              </a:solidFill>
              <a:custDash>
                <a:ds d="200000" sp="200000"/>
              </a:custDash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002060"/>
                    </a:solidFill>
                    <a:latin typeface="Open San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Sheet1!$E$2:$E$11</c:f>
              <c:numCache>
                <c:ptCount val="10"/>
                <c:pt idx="0">
                  <c:v>0.147400</c:v>
                </c:pt>
                <c:pt idx="1">
                  <c:v>0.147400</c:v>
                </c:pt>
                <c:pt idx="2">
                  <c:v>0.147400</c:v>
                </c:pt>
                <c:pt idx="3">
                  <c:v>0.147400</c:v>
                </c:pt>
                <c:pt idx="4">
                  <c:v>0.147400</c:v>
                </c:pt>
                <c:pt idx="5">
                  <c:v>0.147400</c:v>
                </c:pt>
                <c:pt idx="6">
                  <c:v>0.147400</c:v>
                </c:pt>
                <c:pt idx="7">
                  <c:v>0.147400</c:v>
                </c:pt>
                <c:pt idx="8">
                  <c:v>0.147400</c:v>
                </c:pt>
                <c:pt idx="9">
                  <c:v>0.147400</c:v>
                </c:pt>
              </c:numCache>
            </c:numRef>
          </c:val>
        </c:ser>
        <c:gapWidth val="219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i="0" strike="noStrike" sz="700" u="none">
                    <a:solidFill>
                      <a:srgbClr val="595959"/>
                    </a:solidFill>
                    <a:latin typeface="Open Sans"/>
                  </a:defRPr>
                </a:pPr>
                <a:r>
                  <a:rPr b="0" i="0" strike="noStrike" sz="700" u="none">
                    <a:solidFill>
                      <a:srgbClr val="595959"/>
                    </a:solidFill>
                    <a:latin typeface="Open Sans"/>
                  </a:rPr>
                  <a:t>Decile Bins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7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8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750"/>
        <c:minorUnit val="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3" name="Shape 32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6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28" name="Title Text"/>
          <p:cNvSpPr txBox="1"/>
          <p:nvPr>
            <p:ph type="title"/>
          </p:nvPr>
        </p:nvSpPr>
        <p:spPr>
          <a:xfrm>
            <a:off x="457201" y="594359"/>
            <a:ext cx="2142601" cy="948602"/>
          </a:xfrm>
          <a:prstGeom prst="rect">
            <a:avLst/>
          </a:prstGeom>
        </p:spPr>
        <p:txBody>
          <a:bodyPr anchor="b"/>
          <a:lstStyle>
            <a:lvl1pPr>
              <a:defRPr b="0" sz="23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9" name="Google Shape;62;p9"/>
          <p:cNvSpPr/>
          <p:nvPr>
            <p:ph type="pic" idx="21"/>
          </p:nvPr>
        </p:nvSpPr>
        <p:spPr>
          <a:xfrm>
            <a:off x="2858615" y="628653"/>
            <a:ext cx="5904301" cy="4125301"/>
          </a:xfrm>
          <a:prstGeom prst="rect">
            <a:avLst/>
          </a:prstGeom>
          <a:ln w="76200">
            <a:solidFill>
              <a:srgbClr val="FFFFFF"/>
            </a:solidFill>
            <a:miter lim="800000"/>
          </a:ln>
          <a:effectLst>
            <a:outerShdw sx="100000" sy="100000" kx="0" ky="0" algn="b" rotWithShape="0" blurRad="50800" dist="12700" dir="5400000">
              <a:srgbClr val="000000">
                <a:alpha val="5765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457200" y="1600200"/>
            <a:ext cx="2139601" cy="3182100"/>
          </a:xfrm>
          <a:prstGeom prst="rect">
            <a:avLst/>
          </a:prstGeom>
        </p:spPr>
        <p:txBody>
          <a:bodyPr/>
          <a:lstStyle>
            <a:lvl1pPr marL="228589" indent="0">
              <a:spcBef>
                <a:spcPts val="200"/>
              </a:spcBef>
              <a:buClrTx/>
              <a:buSzTx/>
              <a:buFontTx/>
              <a:buNone/>
              <a:defRPr sz="1300"/>
            </a:lvl1pPr>
            <a:lvl2pPr marL="228589" indent="457175">
              <a:spcBef>
                <a:spcPts val="200"/>
              </a:spcBef>
              <a:buClrTx/>
              <a:buSzTx/>
              <a:buFontTx/>
              <a:buNone/>
              <a:defRPr sz="1300"/>
            </a:lvl2pPr>
            <a:lvl3pPr marL="228589" indent="914354">
              <a:spcBef>
                <a:spcPts val="200"/>
              </a:spcBef>
              <a:buClrTx/>
              <a:buSzTx/>
              <a:buFontTx/>
              <a:buNone/>
              <a:defRPr sz="1300"/>
            </a:lvl3pPr>
            <a:lvl4pPr marL="228589" indent="1371531">
              <a:spcBef>
                <a:spcPts val="200"/>
              </a:spcBef>
              <a:buClrTx/>
              <a:buSzTx/>
              <a:buFontTx/>
              <a:buNone/>
              <a:defRPr sz="1300"/>
            </a:lvl4pPr>
            <a:lvl5pPr marL="228589" indent="1828708">
              <a:spcBef>
                <a:spcPts val="200"/>
              </a:spcBef>
              <a:buClrTx/>
              <a:buSzTx/>
              <a:buFontTx/>
              <a:buNone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Google Shape;66;p9"/>
          <p:cNvSpPr/>
          <p:nvPr/>
        </p:nvSpPr>
        <p:spPr>
          <a:xfrm>
            <a:off x="457209" y="4857750"/>
            <a:ext cx="8237702" cy="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40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4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z="3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idx="1"/>
          </p:nvPr>
        </p:nvSpPr>
        <p:spPr>
          <a:xfrm rot="5400000">
            <a:off x="2743212" y="-1085850"/>
            <a:ext cx="3657601" cy="8229600"/>
          </a:xfrm>
          <a:prstGeom prst="rect">
            <a:avLst/>
          </a:prstGeom>
        </p:spPr>
        <p:txBody>
          <a:bodyPr/>
          <a:lstStyle>
            <a:lvl1pPr indent="-325739">
              <a:spcBef>
                <a:spcPts val="300"/>
              </a:spcBef>
            </a:lvl1pPr>
            <a:lvl2pPr marL="979501" indent="-390886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150" indent="-514323">
              <a:spcBef>
                <a:spcPts val="300"/>
              </a:spcBef>
            </a:lvl4pPr>
            <a:lvl5pPr marL="2530801" indent="-587797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xfrm>
            <a:off x="7620011" y="17551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5" name="Google Shape;73;p10"/>
          <p:cNvSpPr/>
          <p:nvPr/>
        </p:nvSpPr>
        <p:spPr>
          <a:xfrm>
            <a:off x="457209" y="4857750"/>
            <a:ext cx="8237702" cy="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5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55" name="Title Text"/>
          <p:cNvSpPr txBox="1"/>
          <p:nvPr>
            <p:ph type="title"/>
          </p:nvPr>
        </p:nvSpPr>
        <p:spPr>
          <a:xfrm rot="5400000">
            <a:off x="5457762" y="1628849"/>
            <a:ext cx="4400701" cy="2057401"/>
          </a:xfrm>
          <a:prstGeom prst="rect">
            <a:avLst/>
          </a:prstGeom>
        </p:spPr>
        <p:txBody>
          <a:bodyPr anchor="b"/>
          <a:lstStyle>
            <a:lvl1pPr>
              <a:defRPr b="0" sz="3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idx="1"/>
          </p:nvPr>
        </p:nvSpPr>
        <p:spPr>
          <a:xfrm rot="5400000">
            <a:off x="1266760" y="-352351"/>
            <a:ext cx="4400701" cy="6019801"/>
          </a:xfrm>
          <a:prstGeom prst="rect">
            <a:avLst/>
          </a:prstGeom>
        </p:spPr>
        <p:txBody>
          <a:bodyPr/>
          <a:lstStyle>
            <a:lvl1pPr indent="-325739">
              <a:spcBef>
                <a:spcPts val="300"/>
              </a:spcBef>
            </a:lvl1pPr>
            <a:lvl2pPr marL="979501" indent="-390886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150" indent="-514323">
              <a:spcBef>
                <a:spcPts val="300"/>
              </a:spcBef>
            </a:lvl4pPr>
            <a:lvl5pPr marL="2530801" indent="-587797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xfrm>
            <a:off x="7620011" y="17551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8" name="Google Shape;80;p11"/>
          <p:cNvSpPr/>
          <p:nvPr/>
        </p:nvSpPr>
        <p:spPr>
          <a:xfrm>
            <a:off x="457209" y="4857750"/>
            <a:ext cx="8237702" cy="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66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6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z="3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9" name="Google Shape;83;p12"/>
          <p:cNvSpPr/>
          <p:nvPr/>
        </p:nvSpPr>
        <p:spPr>
          <a:xfrm>
            <a:off x="685804" y="832713"/>
            <a:ext cx="1015801" cy="1"/>
          </a:xfrm>
          <a:prstGeom prst="line">
            <a:avLst/>
          </a:prstGeom>
          <a:ln w="66675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xfrm>
            <a:off x="457200" y="4910791"/>
            <a:ext cx="259489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78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8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z="3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1" name="Body Level One…"/>
          <p:cNvSpPr txBox="1"/>
          <p:nvPr>
            <p:ph type="body" idx="1"/>
          </p:nvPr>
        </p:nvSpPr>
        <p:spPr>
          <a:xfrm>
            <a:off x="688658" y="1142875"/>
            <a:ext cx="7766702" cy="3482700"/>
          </a:xfrm>
          <a:prstGeom prst="rect">
            <a:avLst/>
          </a:prstGeom>
        </p:spPr>
        <p:txBody>
          <a:bodyPr/>
          <a:lstStyle>
            <a:lvl1pPr>
              <a:buClr>
                <a:srgbClr val="ED1951"/>
              </a:buClr>
            </a:lvl1pPr>
            <a:lvl2pPr>
              <a:buClr>
                <a:srgbClr val="ED1951"/>
              </a:buClr>
            </a:lvl2pPr>
            <a:lvl3pPr>
              <a:buClr>
                <a:srgbClr val="ED1951"/>
              </a:buClr>
            </a:lvl3pPr>
            <a:lvl4pPr>
              <a:buClr>
                <a:srgbClr val="ED1951"/>
              </a:buClr>
            </a:lvl4pPr>
            <a:lvl5pPr>
              <a:buClr>
                <a:srgbClr val="ED1951"/>
              </a:buCl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Google Shape;101;p15"/>
          <p:cNvSpPr txBox="1"/>
          <p:nvPr>
            <p:ph type="body" sz="quarter" idx="21"/>
          </p:nvPr>
        </p:nvSpPr>
        <p:spPr>
          <a:xfrm>
            <a:off x="704438" y="858145"/>
            <a:ext cx="7772401" cy="304801"/>
          </a:xfrm>
          <a:prstGeom prst="rect">
            <a:avLst/>
          </a:prstGeom>
        </p:spPr>
        <p:txBody>
          <a:bodyPr/>
          <a:lstStyle/>
          <a:p>
            <a:pPr marL="228589" indent="0">
              <a:lnSpc>
                <a:spcPct val="86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83" name="Google Shape;102;p15"/>
          <p:cNvSpPr/>
          <p:nvPr/>
        </p:nvSpPr>
        <p:spPr>
          <a:xfrm>
            <a:off x="685803" y="832713"/>
            <a:ext cx="1015801" cy="1"/>
          </a:xfrm>
          <a:prstGeom prst="line">
            <a:avLst/>
          </a:prstGeom>
          <a:ln w="66675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457200" y="4910791"/>
            <a:ext cx="259489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92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pic>
        <p:nvPicPr>
          <p:cNvPr id="94" name="Google Shape;106;p16" descr="Google Shape;10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" y="4873757"/>
            <a:ext cx="8229612" cy="28118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itle Text"/>
          <p:cNvSpPr txBox="1"/>
          <p:nvPr>
            <p:ph type="title"/>
          </p:nvPr>
        </p:nvSpPr>
        <p:spPr>
          <a:xfrm>
            <a:off x="441167" y="12459"/>
            <a:ext cx="8229601" cy="7431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>
            <a:off x="441167" y="1001213"/>
            <a:ext cx="8229601" cy="3657601"/>
          </a:xfrm>
          <a:prstGeom prst="rect">
            <a:avLst/>
          </a:prstGeom>
        </p:spPr>
        <p:txBody>
          <a:bodyPr/>
          <a:lstStyle>
            <a:lvl1pPr indent="-325739"/>
            <a:lvl2pPr marL="979501" indent="-390886"/>
            <a:lvl4pPr marL="2000150" indent="-514323"/>
            <a:lvl5pPr marL="2530801" indent="-587797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xfrm>
            <a:off x="8782874" y="4640587"/>
            <a:ext cx="259490" cy="239230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fld id="{86CB4B4D-7CA3-9044-876B-883B54F8677D}" type="slidenum"/>
          </a:p>
        </p:txBody>
      </p:sp>
      <p:sp>
        <p:nvSpPr>
          <p:cNvPr id="98" name="TextBox 5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106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pic>
        <p:nvPicPr>
          <p:cNvPr id="108" name="Google Shape;114;p18" descr="Google Shape;114;p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" y="4873752"/>
            <a:ext cx="8891580" cy="27341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itle Text"/>
          <p:cNvSpPr txBox="1"/>
          <p:nvPr>
            <p:ph type="title"/>
          </p:nvPr>
        </p:nvSpPr>
        <p:spPr>
          <a:xfrm>
            <a:off x="457200" y="400050"/>
            <a:ext cx="8229600" cy="742801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500"/>
            </a:lvl1pPr>
          </a:lstStyle>
          <a:p>
            <a:pPr/>
            <a:r>
              <a:t>Title Text</a:t>
            </a:r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xfrm>
            <a:off x="8736383" y="4636127"/>
            <a:ext cx="306021" cy="289254"/>
          </a:xfrm>
          <a:prstGeom prst="rect">
            <a:avLst/>
          </a:prstGeom>
        </p:spPr>
        <p:txBody>
          <a:bodyPr lIns="33649" tIns="33649" rIns="33649" bIns="33649" anchor="t"/>
          <a:lstStyle>
            <a:lvl1pPr algn="r">
              <a:defRPr sz="1600"/>
            </a:lvl1pPr>
          </a:lstStyle>
          <a:p>
            <a:pPr/>
            <a:fld id="{86CB4B4D-7CA3-9044-876B-883B54F8677D}" type="slidenum"/>
          </a:p>
        </p:txBody>
      </p:sp>
      <p:sp>
        <p:nvSpPr>
          <p:cNvPr id="111" name="TextBox 7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119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121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0" sz="3200"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2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13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133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0" sz="3200"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4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8472458" y="4740402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14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145" name="Title Text"/>
          <p:cNvSpPr txBox="1"/>
          <p:nvPr>
            <p:ph type="title"/>
          </p:nvPr>
        </p:nvSpPr>
        <p:spPr>
          <a:xfrm>
            <a:off x="683283" y="195489"/>
            <a:ext cx="7772401" cy="613201"/>
          </a:xfrm>
          <a:prstGeom prst="rect">
            <a:avLst/>
          </a:prstGeom>
        </p:spPr>
        <p:txBody>
          <a:bodyPr/>
          <a:lstStyle>
            <a:lvl1pPr>
              <a:defRPr b="0" sz="3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6" name="Body Level One…"/>
          <p:cNvSpPr txBox="1"/>
          <p:nvPr>
            <p:ph type="body" sz="quarter" idx="1"/>
          </p:nvPr>
        </p:nvSpPr>
        <p:spPr>
          <a:xfrm>
            <a:off x="683283" y="951570"/>
            <a:ext cx="7772401" cy="304801"/>
          </a:xfrm>
          <a:prstGeom prst="rect">
            <a:avLst/>
          </a:prstGeom>
        </p:spPr>
        <p:txBody>
          <a:bodyPr/>
          <a:lstStyle>
            <a:lvl1pPr marL="228589" indent="0">
              <a:lnSpc>
                <a:spcPct val="86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marL="813393" indent="-235573">
              <a:lnSpc>
                <a:spcPct val="86000"/>
              </a:lnSpc>
              <a:spcBef>
                <a:spcPts val="0"/>
              </a:spcBef>
              <a:buClrTx/>
              <a:buSzPts val="1400"/>
              <a:buFontTx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2pPr>
            <a:lvl3pPr marL="1297875" indent="-257796">
              <a:lnSpc>
                <a:spcPct val="86000"/>
              </a:lnSpc>
              <a:spcBef>
                <a:spcPts val="0"/>
              </a:spcBef>
              <a:buClrTx/>
              <a:buSzPts val="1400"/>
              <a:buFontTx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3pPr>
            <a:lvl4pPr marL="1787435" indent="-288910">
              <a:lnSpc>
                <a:spcPct val="86000"/>
              </a:lnSpc>
              <a:spcBef>
                <a:spcPts val="0"/>
              </a:spcBef>
              <a:buClrTx/>
              <a:buSzPts val="1400"/>
              <a:buFontTx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4pPr>
            <a:lvl5pPr marL="2285886" indent="-317483">
              <a:lnSpc>
                <a:spcPct val="86000"/>
              </a:lnSpc>
              <a:spcBef>
                <a:spcPts val="0"/>
              </a:spcBef>
              <a:buClrTx/>
              <a:buSzPts val="1400"/>
              <a:buFontTx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155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157" name="Title Text"/>
          <p:cNvSpPr txBox="1"/>
          <p:nvPr>
            <p:ph type="title"/>
          </p:nvPr>
        </p:nvSpPr>
        <p:spPr>
          <a:xfrm>
            <a:off x="1143000" y="841771"/>
            <a:ext cx="6858000" cy="1790701"/>
          </a:xfrm>
          <a:prstGeom prst="rect">
            <a:avLst/>
          </a:prstGeom>
        </p:spPr>
        <p:txBody>
          <a:bodyPr anchor="b"/>
          <a:lstStyle>
            <a:lvl1pPr algn="ctr">
              <a:defRPr b="0" sz="4500"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8" name="Body Level One…"/>
          <p:cNvSpPr txBox="1"/>
          <p:nvPr>
            <p:ph type="body" sz="quarter" idx="1"/>
          </p:nvPr>
        </p:nvSpPr>
        <p:spPr>
          <a:xfrm>
            <a:off x="1143000" y="2701527"/>
            <a:ext cx="6858000" cy="1241823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  <a:defRPr sz="1800"/>
            </a:lvl1pPr>
            <a:lvl2pPr marL="0" indent="342900" algn="ctr">
              <a:buClrTx/>
              <a:buSzTx/>
              <a:buFontTx/>
              <a:buNone/>
              <a:defRPr sz="1800"/>
            </a:lvl2pPr>
            <a:lvl3pPr marL="0" indent="685800" algn="ctr">
              <a:buClrTx/>
              <a:buSzTx/>
              <a:buFontTx/>
              <a:buNone/>
              <a:defRPr sz="1800"/>
            </a:lvl3pPr>
            <a:lvl4pPr marL="0" indent="1028700" algn="ctr">
              <a:buClrTx/>
              <a:buSzTx/>
              <a:buFontTx/>
              <a:buNone/>
              <a:defRPr sz="1800"/>
            </a:lvl4pPr>
            <a:lvl5pPr marL="0" indent="1371600" algn="ctr">
              <a:buClrTx/>
              <a:buSzTx/>
              <a:buFont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/>
          <p:nvPr>
            <p:ph type="sldNum" sz="quarter" idx="2"/>
          </p:nvPr>
        </p:nvSpPr>
        <p:spPr>
          <a:xfrm>
            <a:off x="457200" y="4910791"/>
            <a:ext cx="259489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167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pic>
        <p:nvPicPr>
          <p:cNvPr id="169" name="Google Shape;17;p3" descr="Google Shape;17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8229614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7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457165" indent="-358113"/>
            <a:lvl2pPr marL="981636" indent="-403831"/>
            <a:lvl3pPr marL="1481979" indent="-441926"/>
            <a:lvl4pPr marL="1993751" indent="-495263"/>
            <a:lvl5pPr marL="2512597" indent="-544244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Box 7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1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18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183" name="Title Text"/>
          <p:cNvSpPr txBox="1"/>
          <p:nvPr>
            <p:ph type="title"/>
          </p:nvPr>
        </p:nvSpPr>
        <p:spPr>
          <a:xfrm>
            <a:off x="457201" y="594359"/>
            <a:ext cx="2142601" cy="948602"/>
          </a:xfrm>
          <a:prstGeom prst="rect">
            <a:avLst/>
          </a:prstGeom>
        </p:spPr>
        <p:txBody>
          <a:bodyPr anchor="b"/>
          <a:lstStyle>
            <a:lvl1pPr>
              <a:defRPr b="0" sz="23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4" name="Google Shape;62;p9"/>
          <p:cNvSpPr/>
          <p:nvPr>
            <p:ph type="pic" idx="21"/>
          </p:nvPr>
        </p:nvSpPr>
        <p:spPr>
          <a:xfrm>
            <a:off x="2858615" y="628653"/>
            <a:ext cx="5904301" cy="4125301"/>
          </a:xfrm>
          <a:prstGeom prst="rect">
            <a:avLst/>
          </a:prstGeom>
          <a:ln w="76200">
            <a:solidFill>
              <a:srgbClr val="FFFFFF"/>
            </a:solidFill>
            <a:miter lim="800000"/>
          </a:ln>
          <a:effectLst>
            <a:outerShdw sx="100000" sy="100000" kx="0" ky="0" algn="b" rotWithShape="0" blurRad="50800" dist="12700" dir="5400000">
              <a:srgbClr val="000000">
                <a:alpha val="5765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85" name="Body Level One…"/>
          <p:cNvSpPr txBox="1"/>
          <p:nvPr>
            <p:ph type="body" sz="quarter" idx="1"/>
          </p:nvPr>
        </p:nvSpPr>
        <p:spPr>
          <a:xfrm>
            <a:off x="457200" y="1600200"/>
            <a:ext cx="2139601" cy="3182100"/>
          </a:xfrm>
          <a:prstGeom prst="rect">
            <a:avLst/>
          </a:prstGeom>
        </p:spPr>
        <p:txBody>
          <a:bodyPr/>
          <a:lstStyle>
            <a:lvl1pPr marL="228583" indent="-1">
              <a:spcBef>
                <a:spcPts val="200"/>
              </a:spcBef>
              <a:buClrTx/>
              <a:buSzTx/>
              <a:buFontTx/>
              <a:buNone/>
              <a:defRPr sz="1300"/>
            </a:lvl1pPr>
            <a:lvl2pPr marL="228583" indent="457162">
              <a:spcBef>
                <a:spcPts val="200"/>
              </a:spcBef>
              <a:buClrTx/>
              <a:buSzTx/>
              <a:buFontTx/>
              <a:buNone/>
              <a:defRPr sz="1300"/>
            </a:lvl2pPr>
            <a:lvl3pPr marL="228583" indent="914329">
              <a:spcBef>
                <a:spcPts val="200"/>
              </a:spcBef>
              <a:buClrTx/>
              <a:buSzTx/>
              <a:buFontTx/>
              <a:buNone/>
              <a:defRPr sz="1300"/>
            </a:lvl3pPr>
            <a:lvl4pPr marL="228583" indent="1371495">
              <a:spcBef>
                <a:spcPts val="200"/>
              </a:spcBef>
              <a:buClrTx/>
              <a:buSzTx/>
              <a:buFontTx/>
              <a:buNone/>
              <a:defRPr sz="1300"/>
            </a:lvl4pPr>
            <a:lvl5pPr marL="228583" indent="1828661">
              <a:spcBef>
                <a:spcPts val="200"/>
              </a:spcBef>
              <a:buClrTx/>
              <a:buSzTx/>
              <a:buFontTx/>
              <a:buNone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6" name="Google Shape;66;p9"/>
          <p:cNvSpPr/>
          <p:nvPr/>
        </p:nvSpPr>
        <p:spPr>
          <a:xfrm>
            <a:off x="457209" y="4857750"/>
            <a:ext cx="8237702" cy="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195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19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z="3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98" name="Body Level One…"/>
          <p:cNvSpPr txBox="1"/>
          <p:nvPr>
            <p:ph type="body" idx="1"/>
          </p:nvPr>
        </p:nvSpPr>
        <p:spPr>
          <a:xfrm rot="5400000">
            <a:off x="2743212" y="-1085850"/>
            <a:ext cx="3657601" cy="8229600"/>
          </a:xfrm>
          <a:prstGeom prst="rect">
            <a:avLst/>
          </a:prstGeom>
        </p:spPr>
        <p:txBody>
          <a:bodyPr/>
          <a:lstStyle>
            <a:lvl1pPr marL="457165" indent="-325730">
              <a:spcBef>
                <a:spcPts val="300"/>
              </a:spcBef>
            </a:lvl1pPr>
            <a:lvl2pPr marL="979477" indent="-390877">
              <a:spcBef>
                <a:spcPts val="300"/>
              </a:spcBef>
            </a:lvl2pPr>
            <a:lvl3pPr marL="1481979" indent="-441926">
              <a:spcBef>
                <a:spcPts val="300"/>
              </a:spcBef>
            </a:lvl3pPr>
            <a:lvl4pPr marL="2000100" indent="-514311">
              <a:spcBef>
                <a:spcPts val="300"/>
              </a:spcBef>
            </a:lvl4pPr>
            <a:lvl5pPr marL="2530739" indent="-587784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Slide Number"/>
          <p:cNvSpPr txBox="1"/>
          <p:nvPr>
            <p:ph type="sldNum" sz="quarter" idx="2"/>
          </p:nvPr>
        </p:nvSpPr>
        <p:spPr>
          <a:xfrm>
            <a:off x="7620011" y="17551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0" name="Google Shape;73;p10"/>
          <p:cNvSpPr/>
          <p:nvPr/>
        </p:nvSpPr>
        <p:spPr>
          <a:xfrm>
            <a:off x="457209" y="4857750"/>
            <a:ext cx="8237702" cy="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08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210" name="Title Text"/>
          <p:cNvSpPr txBox="1"/>
          <p:nvPr>
            <p:ph type="title"/>
          </p:nvPr>
        </p:nvSpPr>
        <p:spPr>
          <a:xfrm rot="5400000">
            <a:off x="5457762" y="1628849"/>
            <a:ext cx="4400701" cy="2057401"/>
          </a:xfrm>
          <a:prstGeom prst="rect">
            <a:avLst/>
          </a:prstGeom>
        </p:spPr>
        <p:txBody>
          <a:bodyPr anchor="b"/>
          <a:lstStyle>
            <a:lvl1pPr>
              <a:defRPr b="0" sz="3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1" name="Body Level One…"/>
          <p:cNvSpPr txBox="1"/>
          <p:nvPr>
            <p:ph type="body" idx="1"/>
          </p:nvPr>
        </p:nvSpPr>
        <p:spPr>
          <a:xfrm rot="5400000">
            <a:off x="1266760" y="-352351"/>
            <a:ext cx="4400701" cy="6019801"/>
          </a:xfrm>
          <a:prstGeom prst="rect">
            <a:avLst/>
          </a:prstGeom>
        </p:spPr>
        <p:txBody>
          <a:bodyPr/>
          <a:lstStyle>
            <a:lvl1pPr marL="457165" indent="-325730">
              <a:spcBef>
                <a:spcPts val="300"/>
              </a:spcBef>
            </a:lvl1pPr>
            <a:lvl2pPr marL="979477" indent="-390877">
              <a:spcBef>
                <a:spcPts val="300"/>
              </a:spcBef>
            </a:lvl2pPr>
            <a:lvl3pPr marL="1481979" indent="-441926">
              <a:spcBef>
                <a:spcPts val="300"/>
              </a:spcBef>
            </a:lvl3pPr>
            <a:lvl4pPr marL="2000100" indent="-514311">
              <a:spcBef>
                <a:spcPts val="300"/>
              </a:spcBef>
            </a:lvl4pPr>
            <a:lvl5pPr marL="2530739" indent="-587784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2" name="Slide Number"/>
          <p:cNvSpPr txBox="1"/>
          <p:nvPr>
            <p:ph type="sldNum" sz="quarter" idx="2"/>
          </p:nvPr>
        </p:nvSpPr>
        <p:spPr>
          <a:xfrm>
            <a:off x="7620011" y="17551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3" name="Google Shape;80;p11"/>
          <p:cNvSpPr/>
          <p:nvPr/>
        </p:nvSpPr>
        <p:spPr>
          <a:xfrm>
            <a:off x="457209" y="4857750"/>
            <a:ext cx="8237702" cy="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2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2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z="3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4" name="Google Shape;83;p12"/>
          <p:cNvSpPr/>
          <p:nvPr/>
        </p:nvSpPr>
        <p:spPr>
          <a:xfrm>
            <a:off x="685804" y="832713"/>
            <a:ext cx="1015801" cy="1"/>
          </a:xfrm>
          <a:prstGeom prst="line">
            <a:avLst/>
          </a:prstGeom>
          <a:ln w="66675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Slide Number"/>
          <p:cNvSpPr txBox="1"/>
          <p:nvPr>
            <p:ph type="sldNum" sz="quarter" idx="2"/>
          </p:nvPr>
        </p:nvSpPr>
        <p:spPr>
          <a:xfrm>
            <a:off x="457200" y="4910791"/>
            <a:ext cx="259489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3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23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z="3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36" name="Google Shape;94;p14"/>
          <p:cNvSpPr/>
          <p:nvPr/>
        </p:nvSpPr>
        <p:spPr>
          <a:xfrm>
            <a:off x="685803" y="831756"/>
            <a:ext cx="807901" cy="1"/>
          </a:xfrm>
          <a:prstGeom prst="line">
            <a:avLst/>
          </a:prstGeom>
          <a:ln w="66675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xfrm>
            <a:off x="457200" y="4910791"/>
            <a:ext cx="259489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8" name="Body Level One…"/>
          <p:cNvSpPr txBox="1"/>
          <p:nvPr>
            <p:ph type="body" idx="1"/>
          </p:nvPr>
        </p:nvSpPr>
        <p:spPr>
          <a:xfrm>
            <a:off x="685801" y="1221582"/>
            <a:ext cx="7828200" cy="3402901"/>
          </a:xfrm>
          <a:prstGeom prst="rect">
            <a:avLst/>
          </a:prstGeom>
        </p:spPr>
        <p:txBody>
          <a:bodyPr/>
          <a:lstStyle>
            <a:lvl1pPr marL="457165" indent="-358113"/>
            <a:lvl2pPr marL="981636" indent="-403831"/>
            <a:lvl3pPr marL="1481979" indent="-441926"/>
            <a:lvl4pPr marL="1993751" indent="-495263"/>
            <a:lvl5pPr marL="2512597" indent="-544244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46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2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z="3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9" name="Body Level One…"/>
          <p:cNvSpPr txBox="1"/>
          <p:nvPr>
            <p:ph type="body" idx="1"/>
          </p:nvPr>
        </p:nvSpPr>
        <p:spPr>
          <a:xfrm>
            <a:off x="688658" y="1142875"/>
            <a:ext cx="7766702" cy="3482700"/>
          </a:xfrm>
          <a:prstGeom prst="rect">
            <a:avLst/>
          </a:prstGeom>
        </p:spPr>
        <p:txBody>
          <a:bodyPr/>
          <a:lstStyle>
            <a:lvl1pPr marL="457165" indent="-358113">
              <a:buClr>
                <a:srgbClr val="ED1951"/>
              </a:buClr>
            </a:lvl1pPr>
            <a:lvl2pPr marL="981636" indent="-403831">
              <a:buClr>
                <a:srgbClr val="ED1951"/>
              </a:buClr>
            </a:lvl2pPr>
            <a:lvl3pPr marL="1481979" indent="-441926">
              <a:buClr>
                <a:srgbClr val="ED1951"/>
              </a:buClr>
            </a:lvl3pPr>
            <a:lvl4pPr marL="1993751" indent="-495263">
              <a:buClr>
                <a:srgbClr val="ED1951"/>
              </a:buClr>
            </a:lvl4pPr>
            <a:lvl5pPr marL="2512597" indent="-544244">
              <a:buClr>
                <a:srgbClr val="ED1951"/>
              </a:buCl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0" name="Google Shape;101;p15"/>
          <p:cNvSpPr txBox="1"/>
          <p:nvPr>
            <p:ph type="body" sz="quarter" idx="21"/>
          </p:nvPr>
        </p:nvSpPr>
        <p:spPr>
          <a:xfrm>
            <a:off x="704438" y="858145"/>
            <a:ext cx="7772401" cy="304801"/>
          </a:xfrm>
          <a:prstGeom prst="rect">
            <a:avLst/>
          </a:prstGeom>
        </p:spPr>
        <p:txBody>
          <a:bodyPr/>
          <a:lstStyle/>
          <a:p>
            <a:pPr marL="228583" indent="-1">
              <a:lnSpc>
                <a:spcPct val="86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251" name="Google Shape;102;p15"/>
          <p:cNvSpPr/>
          <p:nvPr/>
        </p:nvSpPr>
        <p:spPr>
          <a:xfrm>
            <a:off x="685803" y="832713"/>
            <a:ext cx="1015801" cy="1"/>
          </a:xfrm>
          <a:prstGeom prst="line">
            <a:avLst/>
          </a:prstGeom>
          <a:ln w="66675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lide Number"/>
          <p:cNvSpPr txBox="1"/>
          <p:nvPr>
            <p:ph type="sldNum" sz="quarter" idx="2"/>
          </p:nvPr>
        </p:nvSpPr>
        <p:spPr>
          <a:xfrm>
            <a:off x="457200" y="4910791"/>
            <a:ext cx="259489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60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pic>
        <p:nvPicPr>
          <p:cNvPr id="262" name="Google Shape;106;p16" descr="Google Shape;10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" y="4873759"/>
            <a:ext cx="8229612" cy="281180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Title Text"/>
          <p:cNvSpPr txBox="1"/>
          <p:nvPr>
            <p:ph type="title"/>
          </p:nvPr>
        </p:nvSpPr>
        <p:spPr>
          <a:xfrm>
            <a:off x="441167" y="12459"/>
            <a:ext cx="8229601" cy="7431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4" name="Body Level One…"/>
          <p:cNvSpPr txBox="1"/>
          <p:nvPr>
            <p:ph type="body" idx="1"/>
          </p:nvPr>
        </p:nvSpPr>
        <p:spPr>
          <a:xfrm>
            <a:off x="441167" y="1001213"/>
            <a:ext cx="8229601" cy="3657601"/>
          </a:xfrm>
          <a:prstGeom prst="rect">
            <a:avLst/>
          </a:prstGeom>
        </p:spPr>
        <p:txBody>
          <a:bodyPr/>
          <a:lstStyle>
            <a:lvl1pPr marL="457165" indent="-325730"/>
            <a:lvl2pPr marL="979477" indent="-390877"/>
            <a:lvl3pPr marL="1481979" indent="-441926"/>
            <a:lvl4pPr marL="2000100" indent="-514311"/>
            <a:lvl5pPr marL="2530739" indent="-587784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5" name="Slide Number"/>
          <p:cNvSpPr txBox="1"/>
          <p:nvPr>
            <p:ph type="sldNum" sz="quarter" idx="2"/>
          </p:nvPr>
        </p:nvSpPr>
        <p:spPr>
          <a:xfrm>
            <a:off x="8782874" y="4640587"/>
            <a:ext cx="259490" cy="239230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fld id="{86CB4B4D-7CA3-9044-876B-883B54F8677D}" type="slidenum"/>
          </a:p>
        </p:txBody>
      </p:sp>
      <p:sp>
        <p:nvSpPr>
          <p:cNvPr id="266" name="TextBox 5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74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pic>
        <p:nvPicPr>
          <p:cNvPr id="276" name="Google Shape;114;p18" descr="Google Shape;114;p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" y="4873752"/>
            <a:ext cx="8891580" cy="273417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Title Text"/>
          <p:cNvSpPr txBox="1"/>
          <p:nvPr>
            <p:ph type="title"/>
          </p:nvPr>
        </p:nvSpPr>
        <p:spPr>
          <a:xfrm>
            <a:off x="457200" y="400050"/>
            <a:ext cx="8229600" cy="742801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500"/>
            </a:lvl1pPr>
          </a:lstStyle>
          <a:p>
            <a:pPr/>
            <a:r>
              <a:t>Title Text</a:t>
            </a:r>
          </a:p>
        </p:txBody>
      </p:sp>
      <p:sp>
        <p:nvSpPr>
          <p:cNvPr id="278" name="Slide Number"/>
          <p:cNvSpPr txBox="1"/>
          <p:nvPr>
            <p:ph type="sldNum" sz="quarter" idx="2"/>
          </p:nvPr>
        </p:nvSpPr>
        <p:spPr>
          <a:xfrm>
            <a:off x="8736383" y="4636127"/>
            <a:ext cx="306021" cy="289254"/>
          </a:xfrm>
          <a:prstGeom prst="rect">
            <a:avLst/>
          </a:prstGeom>
        </p:spPr>
        <p:txBody>
          <a:bodyPr lIns="33649" tIns="33649" rIns="33649" bIns="33649" anchor="t"/>
          <a:lstStyle>
            <a:lvl1pPr algn="r">
              <a:defRPr sz="1600"/>
            </a:lvl1pPr>
          </a:lstStyle>
          <a:p>
            <a:pPr/>
            <a:fld id="{86CB4B4D-7CA3-9044-876B-883B54F8677D}" type="slidenum"/>
          </a:p>
        </p:txBody>
      </p:sp>
      <p:sp>
        <p:nvSpPr>
          <p:cNvPr id="279" name="TextBox 7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87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289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0" sz="3200"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>
            <a:lvl1pPr marL="457165" indent="-358113"/>
            <a:lvl2pPr marL="981636" indent="-403831"/>
            <a:lvl3pPr marL="1481979" indent="-441926"/>
            <a:lvl4pPr marL="1993751" indent="-495263"/>
            <a:lvl5pPr marL="2512597" indent="-544244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1" name="Slide Number"/>
          <p:cNvSpPr txBox="1"/>
          <p:nvPr>
            <p:ph type="sldNum" sz="quarter" idx="2"/>
          </p:nvPr>
        </p:nvSpPr>
        <p:spPr>
          <a:xfrm>
            <a:off x="8472458" y="4740402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99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301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0" sz="3200"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02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>
            <a:lvl1pPr marL="457165" indent="-358113"/>
            <a:lvl2pPr marL="981636" indent="-403831"/>
            <a:lvl3pPr marL="1481979" indent="-441926"/>
            <a:lvl4pPr marL="1993751" indent="-495263"/>
            <a:lvl5pPr marL="2512597" indent="-544244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3" name="Slide Number"/>
          <p:cNvSpPr txBox="1"/>
          <p:nvPr>
            <p:ph type="sldNum" sz="quarter" idx="2"/>
          </p:nvPr>
        </p:nvSpPr>
        <p:spPr>
          <a:xfrm>
            <a:off x="8472458" y="4740402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31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TextBox 14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313" name="Title Text"/>
          <p:cNvSpPr txBox="1"/>
          <p:nvPr>
            <p:ph type="title"/>
          </p:nvPr>
        </p:nvSpPr>
        <p:spPr>
          <a:xfrm>
            <a:off x="683283" y="195489"/>
            <a:ext cx="7772401" cy="613201"/>
          </a:xfrm>
          <a:prstGeom prst="rect">
            <a:avLst/>
          </a:prstGeom>
        </p:spPr>
        <p:txBody>
          <a:bodyPr/>
          <a:lstStyle>
            <a:lvl1pPr>
              <a:defRPr b="0" sz="3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14" name="Body Level One…"/>
          <p:cNvSpPr txBox="1"/>
          <p:nvPr>
            <p:ph type="body" sz="quarter" idx="1"/>
          </p:nvPr>
        </p:nvSpPr>
        <p:spPr>
          <a:xfrm>
            <a:off x="683283" y="951570"/>
            <a:ext cx="7772401" cy="304801"/>
          </a:xfrm>
          <a:prstGeom prst="rect">
            <a:avLst/>
          </a:prstGeom>
        </p:spPr>
        <p:txBody>
          <a:bodyPr/>
          <a:lstStyle>
            <a:lvl1pPr marL="228583" indent="-1">
              <a:lnSpc>
                <a:spcPct val="86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marL="813373" indent="-235568">
              <a:lnSpc>
                <a:spcPct val="86000"/>
              </a:lnSpc>
              <a:spcBef>
                <a:spcPts val="0"/>
              </a:spcBef>
              <a:buClrTx/>
              <a:buSzPts val="1400"/>
              <a:buFontTx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2pPr>
            <a:lvl3pPr marL="1297843" indent="-257790">
              <a:lnSpc>
                <a:spcPct val="86000"/>
              </a:lnSpc>
              <a:spcBef>
                <a:spcPts val="0"/>
              </a:spcBef>
              <a:buClrTx/>
              <a:buSzPts val="1400"/>
              <a:buFontTx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3pPr>
            <a:lvl4pPr marL="1787392" indent="-288904">
              <a:lnSpc>
                <a:spcPct val="86000"/>
              </a:lnSpc>
              <a:spcBef>
                <a:spcPts val="0"/>
              </a:spcBef>
              <a:buClrTx/>
              <a:buSzPts val="1400"/>
              <a:buFontTx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4pPr>
            <a:lvl5pPr marL="2285829" indent="-317475">
              <a:lnSpc>
                <a:spcPct val="86000"/>
              </a:lnSpc>
              <a:spcBef>
                <a:spcPts val="0"/>
              </a:spcBef>
              <a:buClrTx/>
              <a:buSzPts val="1400"/>
              <a:buFontTx/>
              <a:defRPr sz="1400">
                <a:solidFill>
                  <a:srgbClr val="666666"/>
                </a:solidFill>
                <a:latin typeface="+mj-lt"/>
                <a:ea typeface="+mj-ea"/>
                <a:cs typeface="+mj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5" name="Google Shape;89;p13"/>
          <p:cNvSpPr/>
          <p:nvPr/>
        </p:nvSpPr>
        <p:spPr>
          <a:xfrm>
            <a:off x="685804" y="832713"/>
            <a:ext cx="1015801" cy="1"/>
          </a:xfrm>
          <a:prstGeom prst="line">
            <a:avLst/>
          </a:prstGeom>
          <a:ln w="66675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Slide Number"/>
          <p:cNvSpPr txBox="1"/>
          <p:nvPr>
            <p:ph type="sldNum" sz="quarter" idx="2"/>
          </p:nvPr>
        </p:nvSpPr>
        <p:spPr>
          <a:xfrm>
            <a:off x="457200" y="4910791"/>
            <a:ext cx="259489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13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pic>
        <p:nvPicPr>
          <p:cNvPr id="5" name="Google Shape;17;p3" descr="Google Shape;17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/>
          <p:nvPr>
            <p:ph type="title"/>
          </p:nvPr>
        </p:nvSpPr>
        <p:spPr>
          <a:xfrm>
            <a:off x="457201" y="400050"/>
            <a:ext cx="8229601" cy="74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457201" y="1200150"/>
            <a:ext cx="8229601" cy="365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7" y="4989614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9" name="Slide Number"/>
          <p:cNvSpPr txBox="1"/>
          <p:nvPr>
            <p:ph type="sldNum" sz="quarter" idx="2"/>
          </p:nvPr>
        </p:nvSpPr>
        <p:spPr>
          <a:xfrm>
            <a:off x="65532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>
              <a:defRPr sz="11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9pPr>
    </p:titleStyle>
    <p:bodyStyle>
      <a:lvl1pPr marL="457178" marR="0" indent="-358122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981660" marR="0" indent="-40384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482016" marR="0" indent="-44193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993800" marR="0" indent="-495276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512660" marR="0" indent="-544258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3033192" marR="0" indent="-633012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490370" marR="0" indent="-633012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947548" marR="0" indent="-633013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404724" marR="0" indent="-633013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136;p22"/>
          <p:cNvSpPr txBox="1"/>
          <p:nvPr>
            <p:ph type="title"/>
          </p:nvPr>
        </p:nvSpPr>
        <p:spPr>
          <a:xfrm>
            <a:off x="293862" y="935817"/>
            <a:ext cx="8790317" cy="1406401"/>
          </a:xfrm>
          <a:prstGeom prst="rect">
            <a:avLst/>
          </a:prstGeom>
        </p:spPr>
        <p:txBody>
          <a:bodyPr lIns="44424" tIns="44424" rIns="44424" bIns="44424"/>
          <a:lstStyle>
            <a:lvl1pPr>
              <a:defRPr b="1">
                <a:solidFill>
                  <a:srgbClr val="00206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/>
            <a:r>
              <a:t>Online Merchants’ Reactivation Model: Overview and Results</a:t>
            </a:r>
          </a:p>
        </p:txBody>
      </p:sp>
      <p:pic>
        <p:nvPicPr>
          <p:cNvPr id="326" name="Google Shape;137;p22" descr="Google Shape;137;p22"/>
          <p:cNvPicPr>
            <a:picLocks noChangeAspect="1"/>
          </p:cNvPicPr>
          <p:nvPr/>
        </p:nvPicPr>
        <p:blipFill>
          <a:blip r:embed="rId2">
            <a:extLst/>
          </a:blip>
          <a:srcRect l="0" t="34949" r="0" b="3657"/>
          <a:stretch>
            <a:fillRect/>
          </a:stretch>
        </p:blipFill>
        <p:spPr>
          <a:xfrm>
            <a:off x="5" y="3344586"/>
            <a:ext cx="8197714" cy="14306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traight Connector 128"/>
          <p:cNvSpPr/>
          <p:nvPr/>
        </p:nvSpPr>
        <p:spPr>
          <a:xfrm>
            <a:off x="236301" y="725872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Title 1"/>
          <p:cNvSpPr txBox="1"/>
          <p:nvPr/>
        </p:nvSpPr>
        <p:spPr>
          <a:xfrm>
            <a:off x="-7556" y="144587"/>
            <a:ext cx="8159421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defRPr b="1" sz="21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30" name="TextBox 1"/>
          <p:cNvSpPr txBox="1"/>
          <p:nvPr/>
        </p:nvSpPr>
        <p:spPr>
          <a:xfrm>
            <a:off x="577326" y="878979"/>
            <a:ext cx="7868296" cy="266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 defTabSz="1219169">
              <a:lnSpc>
                <a:spcPct val="200000"/>
              </a:lnSpc>
              <a:buClr>
                <a:srgbClr val="FF9300"/>
              </a:buClr>
              <a:buSzPct val="100000"/>
              <a:buChar char="▪"/>
              <a:defRPr b="1" sz="16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Business Objective and Solution Overview</a:t>
            </a:r>
          </a:p>
          <a:p>
            <a:pPr marL="285750" indent="-285750" defTabSz="1219169">
              <a:lnSpc>
                <a:spcPct val="200000"/>
              </a:lnSpc>
              <a:buClr>
                <a:srgbClr val="FF9300"/>
              </a:buClr>
              <a:buSzPct val="100000"/>
              <a:buChar char="▪"/>
              <a:defRPr b="1" sz="16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Model Design Framework</a:t>
            </a:r>
          </a:p>
          <a:p>
            <a:pPr marL="285750" indent="-285750" defTabSz="1219169">
              <a:lnSpc>
                <a:spcPct val="200000"/>
              </a:lnSpc>
              <a:buClr>
                <a:srgbClr val="FF9300"/>
              </a:buClr>
              <a:buSzPct val="100000"/>
              <a:buChar char="▪"/>
              <a:defRPr b="1" sz="16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Model Performance (Test and Out-of-Time)</a:t>
            </a:r>
          </a:p>
          <a:p>
            <a:pPr marL="285750" indent="-285750" defTabSz="1219169">
              <a:lnSpc>
                <a:spcPct val="200000"/>
              </a:lnSpc>
              <a:buClr>
                <a:srgbClr val="FF9300"/>
              </a:buClr>
              <a:buSzPct val="100000"/>
              <a:buChar char="▪"/>
              <a:defRPr b="1" sz="16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Top Model Features</a:t>
            </a:r>
          </a:p>
          <a:p>
            <a:pPr marL="285750" indent="-285750" defTabSz="1219169">
              <a:lnSpc>
                <a:spcPct val="200000"/>
              </a:lnSpc>
              <a:buClr>
                <a:srgbClr val="FF9300"/>
              </a:buClr>
              <a:buSzPct val="100000"/>
              <a:buChar char="▪"/>
              <a:defRPr b="1" sz="16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Next Steps : Implementation and Impact Measurement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le 1"/>
          <p:cNvSpPr txBox="1"/>
          <p:nvPr/>
        </p:nvSpPr>
        <p:spPr>
          <a:xfrm>
            <a:off x="-7555" y="144587"/>
            <a:ext cx="8271338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Business Objective and </a:t>
            </a:r>
            <a:r>
              <a:rPr>
                <a:solidFill>
                  <a:srgbClr val="00B0F0"/>
                </a:solidFill>
              </a:rPr>
              <a:t>Solution Overview</a:t>
            </a:r>
          </a:p>
        </p:txBody>
      </p:sp>
      <p:grpSp>
        <p:nvGrpSpPr>
          <p:cNvPr id="347" name="Group 40"/>
          <p:cNvGrpSpPr/>
          <p:nvPr/>
        </p:nvGrpSpPr>
        <p:grpSpPr>
          <a:xfrm>
            <a:off x="1567509" y="2266040"/>
            <a:ext cx="6650554" cy="2336750"/>
            <a:chOff x="0" y="0"/>
            <a:chExt cx="6650552" cy="2336749"/>
          </a:xfrm>
        </p:grpSpPr>
        <p:grpSp>
          <p:nvGrpSpPr>
            <p:cNvPr id="345" name="Group 37"/>
            <p:cNvGrpSpPr/>
            <p:nvPr/>
          </p:nvGrpSpPr>
          <p:grpSpPr>
            <a:xfrm>
              <a:off x="-1" y="250471"/>
              <a:ext cx="6650554" cy="2086279"/>
              <a:chOff x="0" y="0"/>
              <a:chExt cx="6650552" cy="2086277"/>
            </a:xfrm>
          </p:grpSpPr>
          <p:graphicFrame>
            <p:nvGraphicFramePr>
              <p:cNvPr id="333" name="Chart 7"/>
              <p:cNvGraphicFramePr/>
              <p:nvPr/>
            </p:nvGraphicFramePr>
            <p:xfrm>
              <a:off x="1695162" y="0"/>
              <a:ext cx="2086278" cy="2086278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2"/>
              </a:graphicData>
            </a:graphic>
          </p:graphicFrame>
          <p:grpSp>
            <p:nvGrpSpPr>
              <p:cNvPr id="336" name="Group 3"/>
              <p:cNvGrpSpPr/>
              <p:nvPr/>
            </p:nvGrpSpPr>
            <p:grpSpPr>
              <a:xfrm>
                <a:off x="1266005" y="257952"/>
                <a:ext cx="3507130" cy="1167860"/>
                <a:chOff x="0" y="0"/>
                <a:chExt cx="3507128" cy="1167859"/>
              </a:xfrm>
            </p:grpSpPr>
            <p:sp>
              <p:nvSpPr>
                <p:cNvPr id="334" name="TextBox 1"/>
                <p:cNvSpPr txBox="1"/>
                <p:nvPr/>
              </p:nvSpPr>
              <p:spPr>
                <a:xfrm>
                  <a:off x="0" y="815174"/>
                  <a:ext cx="1719986" cy="3526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t">
                  <a:noAutofit/>
                </a:bodyPr>
                <a:lstStyle>
                  <a:lvl1pPr>
                    <a:defRPr b="1" sz="900"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pPr/>
                  <a:r>
                    <a:t>Dormant Merchants,</a:t>
                  </a:r>
                </a:p>
              </p:txBody>
            </p:sp>
            <p:sp>
              <p:nvSpPr>
                <p:cNvPr id="335" name="TextBox 1"/>
                <p:cNvSpPr txBox="1"/>
                <p:nvPr/>
              </p:nvSpPr>
              <p:spPr>
                <a:xfrm>
                  <a:off x="1518001" y="0"/>
                  <a:ext cx="1989128" cy="2311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t">
                  <a:spAutoFit/>
                </a:bodyPr>
                <a:lstStyle>
                  <a:lvl1pPr>
                    <a:defRPr b="1" sz="900"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pPr/>
                  <a:r>
                    <a:t>Active Merchants,</a:t>
                  </a:r>
                </a:p>
              </p:txBody>
            </p:sp>
          </p:grpSp>
          <p:grpSp>
            <p:nvGrpSpPr>
              <p:cNvPr id="339" name="Group 28"/>
              <p:cNvGrpSpPr/>
              <p:nvPr/>
            </p:nvGrpSpPr>
            <p:grpSpPr>
              <a:xfrm>
                <a:off x="4122167" y="142386"/>
                <a:ext cx="2528386" cy="976445"/>
                <a:chOff x="0" y="0"/>
                <a:chExt cx="2528385" cy="976443"/>
              </a:xfrm>
            </p:grpSpPr>
            <p:sp>
              <p:nvSpPr>
                <p:cNvPr id="337" name="TextBox 1"/>
                <p:cNvSpPr txBox="1"/>
                <p:nvPr/>
              </p:nvSpPr>
              <p:spPr>
                <a:xfrm>
                  <a:off x="539251" y="267207"/>
                  <a:ext cx="1989135" cy="3708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t">
                  <a:spAutoFit/>
                </a:bodyPr>
                <a:lstStyle>
                  <a:lvl1pPr>
                    <a:defRPr b="1" sz="900">
                      <a:solidFill>
                        <a:srgbClr val="00B0F0"/>
                      </a:solidFill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pPr/>
                  <a:r>
                    <a:t>To be targeted by ML based reactivation model</a:t>
                  </a:r>
                </a:p>
              </p:txBody>
            </p:sp>
            <p:sp>
              <p:nvSpPr>
                <p:cNvPr id="338" name="Right Brace 26"/>
                <p:cNvSpPr/>
                <p:nvPr/>
              </p:nvSpPr>
              <p:spPr>
                <a:xfrm>
                  <a:off x="0" y="0"/>
                  <a:ext cx="493532" cy="97644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cubicBezTo>
                        <a:pt x="5965" y="0"/>
                        <a:pt x="10800" y="407"/>
                        <a:pt x="10800" y="910"/>
                      </a:cubicBezTo>
                      <a:lnTo>
                        <a:pt x="10800" y="9890"/>
                      </a:lnTo>
                      <a:cubicBezTo>
                        <a:pt x="10800" y="10393"/>
                        <a:pt x="15635" y="10800"/>
                        <a:pt x="21600" y="10800"/>
                      </a:cubicBezTo>
                      <a:cubicBezTo>
                        <a:pt x="15635" y="10800"/>
                        <a:pt x="10800" y="11207"/>
                        <a:pt x="10800" y="11710"/>
                      </a:cubicBezTo>
                      <a:lnTo>
                        <a:pt x="10800" y="20690"/>
                      </a:lnTo>
                      <a:cubicBezTo>
                        <a:pt x="10800" y="21193"/>
                        <a:pt x="5965" y="21600"/>
                        <a:pt x="0" y="21600"/>
                      </a:cubicBezTo>
                    </a:path>
                  </a:pathLst>
                </a:custGeom>
                <a:noFill/>
                <a:ln w="9525" cap="flat">
                  <a:solidFill>
                    <a:srgbClr val="5D9ACF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</p:grpSp>
          <p:sp>
            <p:nvSpPr>
              <p:cNvPr id="340" name="Right Brace 27"/>
              <p:cNvSpPr/>
              <p:nvPr/>
            </p:nvSpPr>
            <p:spPr>
              <a:xfrm rot="10800000">
                <a:off x="958169" y="409594"/>
                <a:ext cx="493533" cy="15556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5965" y="0"/>
                      <a:pt x="10800" y="256"/>
                      <a:pt x="10800" y="571"/>
                    </a:cubicBezTo>
                    <a:lnTo>
                      <a:pt x="10800" y="10229"/>
                    </a:lnTo>
                    <a:cubicBezTo>
                      <a:pt x="10800" y="10544"/>
                      <a:pt x="15635" y="10800"/>
                      <a:pt x="21600" y="10800"/>
                    </a:cubicBezTo>
                    <a:cubicBezTo>
                      <a:pt x="15635" y="10800"/>
                      <a:pt x="10800" y="11056"/>
                      <a:pt x="10800" y="11371"/>
                    </a:cubicBezTo>
                    <a:lnTo>
                      <a:pt x="10800" y="21029"/>
                    </a:lnTo>
                    <a:cubicBezTo>
                      <a:pt x="10800" y="21344"/>
                      <a:pt x="5965" y="21600"/>
                      <a:pt x="0" y="21600"/>
                    </a:cubicBezTo>
                  </a:path>
                </a:pathLst>
              </a:custGeom>
              <a:noFill/>
              <a:ln w="9525" cap="flat">
                <a:solidFill>
                  <a:srgbClr val="5D9AC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41" name="TextBox 1"/>
              <p:cNvSpPr txBox="1"/>
              <p:nvPr/>
            </p:nvSpPr>
            <p:spPr>
              <a:xfrm>
                <a:off x="0" y="801030"/>
                <a:ext cx="1159219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sz="900">
                    <a:solidFill>
                      <a:srgbClr val="50465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To be targeted by strategic framework</a:t>
                </a:r>
              </a:p>
            </p:txBody>
          </p:sp>
          <p:grpSp>
            <p:nvGrpSpPr>
              <p:cNvPr id="344" name="Group 36"/>
              <p:cNvGrpSpPr/>
              <p:nvPr/>
            </p:nvGrpSpPr>
            <p:grpSpPr>
              <a:xfrm>
                <a:off x="3645058" y="1755655"/>
                <a:ext cx="924922" cy="218441"/>
                <a:chOff x="0" y="0"/>
                <a:chExt cx="924921" cy="218440"/>
              </a:xfrm>
            </p:grpSpPr>
            <p:sp>
              <p:nvSpPr>
                <p:cNvPr id="342" name="Rectangle: Rounded Corners 33"/>
                <p:cNvSpPr/>
                <p:nvPr/>
              </p:nvSpPr>
              <p:spPr>
                <a:xfrm>
                  <a:off x="0" y="49858"/>
                  <a:ext cx="127618" cy="11572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B0F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343" name="TextBox 34"/>
                <p:cNvSpPr txBox="1"/>
                <p:nvPr/>
              </p:nvSpPr>
              <p:spPr>
                <a:xfrm>
                  <a:off x="135800" y="0"/>
                  <a:ext cx="789122" cy="2184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t">
                  <a:spAutoFit/>
                </a:bodyPr>
                <a:lstStyle>
                  <a:lvl1pPr>
                    <a:defRPr b="1" sz="800"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pPr/>
                  <a:r>
                    <a:t>In scope</a:t>
                  </a:r>
                </a:p>
              </p:txBody>
            </p:sp>
          </p:grpSp>
        </p:grpSp>
        <p:sp>
          <p:nvSpPr>
            <p:cNvPr id="346" name="TextBox 39"/>
            <p:cNvSpPr txBox="1"/>
            <p:nvPr/>
          </p:nvSpPr>
          <p:spPr>
            <a:xfrm>
              <a:off x="1285398" y="0"/>
              <a:ext cx="2905803" cy="375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b="1" sz="9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Churned Merchants distribution</a:t>
              </a:r>
              <a:r>
                <a:rPr baseline="36000"/>
                <a:t>1</a:t>
              </a:r>
              <a:endParaRPr baseline="36000"/>
            </a:p>
            <a:p>
              <a:pPr algn="ctr">
                <a:defRPr b="1" sz="9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(as of Nov’22)</a:t>
              </a:r>
            </a:p>
          </p:txBody>
        </p:sp>
      </p:grpSp>
      <p:sp>
        <p:nvSpPr>
          <p:cNvPr id="348" name="TextBox 43"/>
          <p:cNvSpPr txBox="1"/>
          <p:nvPr/>
        </p:nvSpPr>
        <p:spPr>
          <a:xfrm>
            <a:off x="294383" y="795543"/>
            <a:ext cx="8230690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As of</a:t>
            </a:r>
            <a:r>
              <a:rPr b="1" i="1"/>
              <a:t>, ~99k online merchants stand as churned </a:t>
            </a:r>
            <a:r>
              <a:t>(i.e., they have at least 3 months of continuous inactivity). Business wants to </a:t>
            </a:r>
            <a:r>
              <a:rPr b="1">
                <a:solidFill>
                  <a:srgbClr val="00B050"/>
                </a:solidFill>
              </a:rPr>
              <a:t>identify the merchants with high likelihood of reactivation</a:t>
            </a:r>
            <a:r>
              <a:t>.</a:t>
            </a:r>
          </a:p>
          <a:p>
            <a:pPr marL="171450" indent="-171450">
              <a:lnSpc>
                <a:spcPct val="200000"/>
              </a:lnSpc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Of these churned merchants:</a:t>
            </a:r>
          </a:p>
          <a:p>
            <a:pPr lvl="1" marL="323999" indent="-171450">
              <a:buClr>
                <a:srgbClr val="000000"/>
              </a:buClr>
              <a:buSzPct val="100000"/>
              <a:buChar char="➢"/>
              <a:defRPr b="1"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27k</a:t>
            </a:r>
            <a:r>
              <a:rPr b="0"/>
              <a:t> have done </a:t>
            </a:r>
            <a:r>
              <a:rPr i="1"/>
              <a:t>at-least one transaction</a:t>
            </a:r>
            <a:r>
              <a:rPr b="0" i="1"/>
              <a:t>between -</a:t>
            </a:r>
            <a:r>
              <a:rPr b="0">
                <a:solidFill>
                  <a:srgbClr val="00B0F0"/>
                </a:solidFill>
              </a:rPr>
              <a:t>(</a:t>
            </a:r>
            <a:r>
              <a:rPr>
                <a:solidFill>
                  <a:srgbClr val="00B0F0"/>
                </a:solidFill>
              </a:rPr>
              <a:t>Active Merchants</a:t>
            </a:r>
            <a:r>
              <a:rPr b="0">
                <a:solidFill>
                  <a:srgbClr val="00B0F0"/>
                </a:solidFill>
              </a:rPr>
              <a:t>)</a:t>
            </a:r>
            <a:endParaRPr b="0">
              <a:solidFill>
                <a:srgbClr val="00B0F0"/>
              </a:solidFill>
            </a:endParaRPr>
          </a:p>
          <a:p>
            <a:pPr lvl="1" marL="323999" indent="-171450">
              <a:buClr>
                <a:srgbClr val="000000"/>
              </a:buClr>
              <a:buSzPct val="100000"/>
              <a:buChar char="➢"/>
              <a:defRPr b="1"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72k</a:t>
            </a:r>
            <a:r>
              <a:rPr b="0"/>
              <a:t> have done </a:t>
            </a:r>
            <a:r>
              <a:rPr i="1"/>
              <a:t>no transaction </a:t>
            </a:r>
            <a:r>
              <a:rPr b="0" i="1"/>
              <a:t>since</a:t>
            </a:r>
            <a:r>
              <a:rPr>
                <a:solidFill>
                  <a:srgbClr val="504652"/>
                </a:solidFill>
              </a:rPr>
              <a:t>(Dormant Merchants)</a:t>
            </a:r>
            <a:endParaRPr>
              <a:solidFill>
                <a:srgbClr val="504652"/>
              </a:solidFill>
            </a:endParaRPr>
          </a:p>
          <a:p>
            <a:pPr lvl="1" marL="172800" indent="-171450"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</a:p>
          <a:p>
            <a:pPr lvl="1" marL="172800" indent="-171450"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We propose </a:t>
            </a:r>
            <a:r>
              <a:rPr b="1"/>
              <a:t>ML model-based targeting </a:t>
            </a:r>
            <a:r>
              <a:t>approach</a:t>
            </a:r>
            <a:r>
              <a:rPr b="1"/>
              <a:t> </a:t>
            </a:r>
            <a:r>
              <a:t>for </a:t>
            </a:r>
            <a:r>
              <a:rPr b="1">
                <a:solidFill>
                  <a:srgbClr val="00B0F0"/>
                </a:solidFill>
              </a:rPr>
              <a:t>Active Merchants </a:t>
            </a:r>
            <a:r>
              <a:t>and strategy framework for </a:t>
            </a:r>
            <a:r>
              <a:rPr>
                <a:solidFill>
                  <a:srgbClr val="504652"/>
                </a:solidFill>
              </a:rPr>
              <a:t>Dormant Merchants</a:t>
            </a:r>
          </a:p>
        </p:txBody>
      </p:sp>
      <p:sp>
        <p:nvSpPr>
          <p:cNvPr id="349" name="TextBox 48"/>
          <p:cNvSpPr txBox="1"/>
          <p:nvPr/>
        </p:nvSpPr>
        <p:spPr>
          <a:xfrm>
            <a:off x="15635" y="4649554"/>
            <a:ext cx="7978894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i="1" sz="7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1. Individual merchants and gaming category merchants have been excluded due to business judgment.</a:t>
            </a:r>
          </a:p>
        </p:txBody>
      </p:sp>
      <p:sp>
        <p:nvSpPr>
          <p:cNvPr id="350" name="Straight Connector 1"/>
          <p:cNvSpPr/>
          <p:nvPr/>
        </p:nvSpPr>
        <p:spPr>
          <a:xfrm>
            <a:off x="236301" y="725872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41"/>
          <p:cNvSpPr txBox="1"/>
          <p:nvPr/>
        </p:nvSpPr>
        <p:spPr>
          <a:xfrm>
            <a:off x="1371553" y="1724048"/>
            <a:ext cx="488695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i="1"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Development Framework</a:t>
            </a:r>
          </a:p>
        </p:txBody>
      </p:sp>
      <p:grpSp>
        <p:nvGrpSpPr>
          <p:cNvPr id="355" name="Rectangle 47"/>
          <p:cNvGrpSpPr/>
          <p:nvPr/>
        </p:nvGrpSpPr>
        <p:grpSpPr>
          <a:xfrm>
            <a:off x="3338321" y="2423803"/>
            <a:ext cx="1098445" cy="297873"/>
            <a:chOff x="0" y="0"/>
            <a:chExt cx="1098443" cy="297872"/>
          </a:xfrm>
        </p:grpSpPr>
        <p:sp>
          <p:nvSpPr>
            <p:cNvPr id="353" name="Rectangle"/>
            <p:cNvSpPr/>
            <p:nvPr/>
          </p:nvSpPr>
          <p:spPr>
            <a:xfrm>
              <a:off x="0" y="-1"/>
              <a:ext cx="1098444" cy="297874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chemeClr val="accent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600"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354" name="Consecutively inactive since 3 months"/>
            <p:cNvSpPr txBox="1"/>
            <p:nvPr/>
          </p:nvSpPr>
          <p:spPr>
            <a:xfrm>
              <a:off x="58419" y="14316"/>
              <a:ext cx="981606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600"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pPr/>
              <a:r>
                <a:t>Consecutively inactive since 3 months</a:t>
              </a:r>
            </a:p>
          </p:txBody>
        </p:sp>
      </p:grpSp>
      <p:grpSp>
        <p:nvGrpSpPr>
          <p:cNvPr id="358" name="Rectangle 49"/>
          <p:cNvGrpSpPr/>
          <p:nvPr/>
        </p:nvGrpSpPr>
        <p:grpSpPr>
          <a:xfrm>
            <a:off x="4465963" y="2421232"/>
            <a:ext cx="1098444" cy="297873"/>
            <a:chOff x="0" y="0"/>
            <a:chExt cx="1098443" cy="297872"/>
          </a:xfrm>
        </p:grpSpPr>
        <p:sp>
          <p:nvSpPr>
            <p:cNvPr id="356" name="Rectangle"/>
            <p:cNvSpPr/>
            <p:nvPr/>
          </p:nvSpPr>
          <p:spPr>
            <a:xfrm>
              <a:off x="-1" y="-1"/>
              <a:ext cx="1098445" cy="297874"/>
            </a:xfrm>
            <a:prstGeom prst="rect">
              <a:avLst/>
            </a:prstGeom>
            <a:solidFill>
              <a:srgbClr val="92D050"/>
            </a:solidFill>
            <a:ln w="25400" cap="flat">
              <a:solidFill>
                <a:srgbClr val="92D0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357" name="Reactivation within 3 months"/>
            <p:cNvSpPr txBox="1"/>
            <p:nvPr/>
          </p:nvSpPr>
          <p:spPr>
            <a:xfrm>
              <a:off x="58419" y="1616"/>
              <a:ext cx="981605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700"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pPr/>
              <a:r>
                <a:t>Reactivation within 3 months</a:t>
              </a:r>
            </a:p>
          </p:txBody>
        </p:sp>
      </p:grpSp>
      <p:sp>
        <p:nvSpPr>
          <p:cNvPr id="359" name="Straight Arrow Connector 51"/>
          <p:cNvSpPr/>
          <p:nvPr/>
        </p:nvSpPr>
        <p:spPr>
          <a:xfrm flipH="1">
            <a:off x="3338320" y="2853069"/>
            <a:ext cx="331738" cy="3717"/>
          </a:xfrm>
          <a:prstGeom prst="line">
            <a:avLst/>
          </a:prstGeom>
          <a:ln>
            <a:solidFill>
              <a:srgbClr val="5D9ACF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Straight Arrow Connector 53"/>
          <p:cNvSpPr/>
          <p:nvPr/>
        </p:nvSpPr>
        <p:spPr>
          <a:xfrm flipV="1">
            <a:off x="4113071" y="2852195"/>
            <a:ext cx="352282" cy="9182"/>
          </a:xfrm>
          <a:prstGeom prst="line">
            <a:avLst/>
          </a:prstGeom>
          <a:ln>
            <a:solidFill>
              <a:srgbClr val="5D9ACF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Box 55"/>
          <p:cNvSpPr txBox="1"/>
          <p:nvPr/>
        </p:nvSpPr>
        <p:spPr>
          <a:xfrm>
            <a:off x="3536170" y="2725872"/>
            <a:ext cx="731944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7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Churn window</a:t>
            </a:r>
          </a:p>
        </p:txBody>
      </p:sp>
      <p:sp>
        <p:nvSpPr>
          <p:cNvPr id="362" name="Straight Connector 60"/>
          <p:cNvSpPr/>
          <p:nvPr/>
        </p:nvSpPr>
        <p:spPr>
          <a:xfrm>
            <a:off x="4451363" y="2313116"/>
            <a:ext cx="1" cy="771306"/>
          </a:xfrm>
          <a:prstGeom prst="line">
            <a:avLst/>
          </a:prstGeom>
          <a:ln>
            <a:solidFill>
              <a:srgbClr val="F01C4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Straight Arrow Connector 61"/>
          <p:cNvSpPr/>
          <p:nvPr/>
        </p:nvSpPr>
        <p:spPr>
          <a:xfrm flipH="1">
            <a:off x="4451922" y="2866020"/>
            <a:ext cx="197488" cy="9277"/>
          </a:xfrm>
          <a:prstGeom prst="line">
            <a:avLst/>
          </a:prstGeom>
          <a:ln>
            <a:solidFill>
              <a:srgbClr val="5D9ACF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Box 62"/>
          <p:cNvSpPr txBox="1"/>
          <p:nvPr/>
        </p:nvSpPr>
        <p:spPr>
          <a:xfrm>
            <a:off x="4554544" y="2741459"/>
            <a:ext cx="81492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7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Reactivation window</a:t>
            </a:r>
          </a:p>
        </p:txBody>
      </p:sp>
      <p:sp>
        <p:nvSpPr>
          <p:cNvPr id="365" name="Straight Arrow Connector 65"/>
          <p:cNvSpPr/>
          <p:nvPr/>
        </p:nvSpPr>
        <p:spPr>
          <a:xfrm>
            <a:off x="5255055" y="2859714"/>
            <a:ext cx="309353" cy="1"/>
          </a:xfrm>
          <a:prstGeom prst="line">
            <a:avLst/>
          </a:prstGeom>
          <a:ln>
            <a:solidFill>
              <a:srgbClr val="5D9ACF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Box 81"/>
          <p:cNvSpPr txBox="1"/>
          <p:nvPr/>
        </p:nvSpPr>
        <p:spPr>
          <a:xfrm>
            <a:off x="3933263" y="2139766"/>
            <a:ext cx="1251453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i="1" sz="7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Snapshot Month	</a:t>
            </a:r>
          </a:p>
        </p:txBody>
      </p:sp>
      <p:sp>
        <p:nvSpPr>
          <p:cNvPr id="367" name="TextBox 88"/>
          <p:cNvSpPr txBox="1"/>
          <p:nvPr/>
        </p:nvSpPr>
        <p:spPr>
          <a:xfrm>
            <a:off x="267090" y="785863"/>
            <a:ext cx="7978894" cy="78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28587" indent="-128587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Model has been developed on </a:t>
            </a:r>
            <a:r>
              <a:rPr b="1">
                <a:solidFill>
                  <a:srgbClr val="00B050"/>
                </a:solidFill>
              </a:rPr>
              <a:t>all churned merchants</a:t>
            </a:r>
            <a:r>
              <a:rPr b="1" baseline="36000">
                <a:solidFill>
                  <a:srgbClr val="00B050"/>
                </a:solidFill>
              </a:rPr>
              <a:t>1</a:t>
            </a:r>
            <a:r>
              <a:rPr b="1">
                <a:solidFill>
                  <a:srgbClr val="00B050"/>
                </a:solidFill>
              </a:rPr>
              <a:t>as of</a:t>
            </a:r>
            <a:r>
              <a:t>who were </a:t>
            </a:r>
            <a:r>
              <a:rPr b="1">
                <a:solidFill>
                  <a:srgbClr val="00B050"/>
                </a:solidFill>
              </a:rPr>
              <a:t>active </a:t>
            </a:r>
            <a:r>
              <a:rPr b="1" i="1">
                <a:solidFill>
                  <a:srgbClr val="00B050"/>
                </a:solidFill>
              </a:rPr>
              <a:t>at-least</a:t>
            </a:r>
            <a:r>
              <a:rPr b="1">
                <a:solidFill>
                  <a:srgbClr val="00B050"/>
                </a:solidFill>
              </a:rPr>
              <a:t> </a:t>
            </a:r>
            <a:r>
              <a:rPr b="1" i="1">
                <a:solidFill>
                  <a:srgbClr val="00B050"/>
                </a:solidFill>
              </a:rPr>
              <a:t>once</a:t>
            </a:r>
            <a:r>
              <a:rPr b="1">
                <a:solidFill>
                  <a:srgbClr val="00B050"/>
                </a:solidFill>
              </a:rPr>
              <a:t>between –</a:t>
            </a:r>
            <a:r>
              <a:t>.</a:t>
            </a:r>
          </a:p>
          <a:p>
            <a:pPr marL="128587" indent="-128587"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Dormant merchants (i.e., merchants with no transaction since ) have been excluded from model development due to lack of sufficient data.</a:t>
            </a:r>
          </a:p>
          <a:p>
            <a:pPr marL="128587" indent="-128587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Merchants who have </a:t>
            </a:r>
            <a:r>
              <a:rPr b="1"/>
              <a:t>reactivated in the next 3 months </a:t>
            </a:r>
            <a:r>
              <a:t>are the </a:t>
            </a:r>
            <a:r>
              <a:rPr b="1"/>
              <a:t>“good” merchants </a:t>
            </a:r>
            <a:r>
              <a:t>(dependent variable = 1).</a:t>
            </a:r>
          </a:p>
        </p:txBody>
      </p:sp>
      <p:grpSp>
        <p:nvGrpSpPr>
          <p:cNvPr id="370" name="Rectangle 1"/>
          <p:cNvGrpSpPr/>
          <p:nvPr/>
        </p:nvGrpSpPr>
        <p:grpSpPr>
          <a:xfrm>
            <a:off x="1325832" y="2428001"/>
            <a:ext cx="1989883" cy="297873"/>
            <a:chOff x="0" y="0"/>
            <a:chExt cx="1989881" cy="297872"/>
          </a:xfrm>
        </p:grpSpPr>
        <p:sp>
          <p:nvSpPr>
            <p:cNvPr id="368" name="Rectangle"/>
            <p:cNvSpPr/>
            <p:nvPr/>
          </p:nvSpPr>
          <p:spPr>
            <a:xfrm>
              <a:off x="-1" y="-1"/>
              <a:ext cx="1989883" cy="297874"/>
            </a:xfrm>
            <a:prstGeom prst="rect">
              <a:avLst/>
            </a:prstGeom>
            <a:solidFill>
              <a:srgbClr val="FF9300"/>
            </a:solidFill>
            <a:ln w="25400" cap="flat">
              <a:solidFill>
                <a:schemeClr val="accent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369" name="6 months observation window"/>
            <p:cNvSpPr txBox="1"/>
            <p:nvPr/>
          </p:nvSpPr>
          <p:spPr>
            <a:xfrm>
              <a:off x="58419" y="52416"/>
              <a:ext cx="1873043" cy="193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700"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pPr/>
              <a:r>
                <a:t>6 months observation window</a:t>
              </a:r>
            </a:p>
          </p:txBody>
        </p:sp>
      </p:grpSp>
      <p:sp>
        <p:nvSpPr>
          <p:cNvPr id="371" name="Left Brace 19"/>
          <p:cNvSpPr/>
          <p:nvPr/>
        </p:nvSpPr>
        <p:spPr>
          <a:xfrm>
            <a:off x="5564408" y="2097683"/>
            <a:ext cx="473567" cy="986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213"/>
                  <a:pt x="10800" y="20736"/>
                </a:cubicBezTo>
                <a:lnTo>
                  <a:pt x="10800" y="11664"/>
                </a:lnTo>
                <a:cubicBezTo>
                  <a:pt x="10800" y="11187"/>
                  <a:pt x="5965" y="10800"/>
                  <a:pt x="0" y="10800"/>
                </a:cubicBezTo>
                <a:cubicBezTo>
                  <a:pt x="5965" y="10800"/>
                  <a:pt x="10800" y="10413"/>
                  <a:pt x="10800" y="9936"/>
                </a:cubicBezTo>
                <a:lnTo>
                  <a:pt x="10800" y="864"/>
                </a:lnTo>
                <a:cubicBezTo>
                  <a:pt x="10800" y="387"/>
                  <a:pt x="15635" y="0"/>
                  <a:pt x="21600" y="0"/>
                </a:cubicBezTo>
              </a:path>
            </a:pathLst>
          </a:custGeom>
          <a:ln>
            <a:solidFill>
              <a:srgbClr val="5D9ACF"/>
            </a:solidFill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372" name="TextBox 20"/>
          <p:cNvSpPr txBox="1"/>
          <p:nvPr/>
        </p:nvSpPr>
        <p:spPr>
          <a:xfrm>
            <a:off x="5974417" y="1928080"/>
            <a:ext cx="135257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b="1" sz="800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- Development</a:t>
            </a:r>
            <a:r>
              <a:rPr>
                <a:solidFill>
                  <a:srgbClr val="032E71"/>
                </a:solidFill>
              </a:rPr>
              <a:t>Population: 21k </a:t>
            </a:r>
            <a:endParaRPr>
              <a:solidFill>
                <a:srgbClr val="032E71"/>
              </a:solidFill>
            </a:endParaRPr>
          </a:p>
          <a:p>
            <a:pPr algn="ctr">
              <a:lnSpc>
                <a:spcPct val="150000"/>
              </a:lnSpc>
              <a:defRPr b="1" sz="8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Event Rate: 13.5%</a:t>
            </a:r>
          </a:p>
        </p:txBody>
      </p:sp>
      <p:sp>
        <p:nvSpPr>
          <p:cNvPr id="373" name="TextBox 21"/>
          <p:cNvSpPr txBox="1"/>
          <p:nvPr/>
        </p:nvSpPr>
        <p:spPr>
          <a:xfrm>
            <a:off x="6005367" y="2797387"/>
            <a:ext cx="1286966" cy="7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b="1" sz="800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– Out-Of-Time (Validation)</a:t>
            </a:r>
          </a:p>
          <a:p>
            <a:pPr algn="ctr">
              <a:lnSpc>
                <a:spcPct val="150000"/>
              </a:lnSpc>
              <a:defRPr b="1" sz="8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Population: 23k </a:t>
            </a:r>
          </a:p>
          <a:p>
            <a:pPr algn="ctr">
              <a:lnSpc>
                <a:spcPct val="150000"/>
              </a:lnSpc>
              <a:defRPr b="1" sz="8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Event Rate: 14.7%</a:t>
            </a:r>
          </a:p>
        </p:txBody>
      </p:sp>
      <p:sp>
        <p:nvSpPr>
          <p:cNvPr id="374" name="TextBox 30"/>
          <p:cNvSpPr txBox="1"/>
          <p:nvPr/>
        </p:nvSpPr>
        <p:spPr>
          <a:xfrm>
            <a:off x="2917814" y="4224054"/>
            <a:ext cx="359835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XGBoost algorithm </a:t>
            </a:r>
            <a:r>
              <a:rPr b="0"/>
              <a:t>has been used to develop the model.</a:t>
            </a:r>
          </a:p>
        </p:txBody>
      </p:sp>
      <p:sp>
        <p:nvSpPr>
          <p:cNvPr id="375" name="Title 1"/>
          <p:cNvSpPr txBox="1"/>
          <p:nvPr/>
        </p:nvSpPr>
        <p:spPr>
          <a:xfrm>
            <a:off x="-7555" y="144587"/>
            <a:ext cx="8271338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Model Design </a:t>
            </a:r>
            <a:r>
              <a:rPr>
                <a:solidFill>
                  <a:srgbClr val="00B0F0"/>
                </a:solidFill>
              </a:rPr>
              <a:t>Framework</a:t>
            </a:r>
          </a:p>
        </p:txBody>
      </p:sp>
      <p:sp>
        <p:nvSpPr>
          <p:cNvPr id="376" name="TextBox 32"/>
          <p:cNvSpPr txBox="1"/>
          <p:nvPr/>
        </p:nvSpPr>
        <p:spPr>
          <a:xfrm>
            <a:off x="1136402" y="2940537"/>
            <a:ext cx="2156201" cy="7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>
              <a:defRPr sz="9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Model was built on features based on:</a:t>
            </a: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b="1" sz="9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Merchant activity</a:t>
            </a: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b="1" sz="9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Merchant demogs</a:t>
            </a: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b="1" sz="900">
                <a:solidFill>
                  <a:srgbClr val="4A8EF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Credit behavior</a:t>
            </a: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b="1" sz="900">
                <a:solidFill>
                  <a:srgbClr val="4A8EF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Activity as a Paytm customer</a:t>
            </a:r>
          </a:p>
        </p:txBody>
      </p:sp>
      <p:sp>
        <p:nvSpPr>
          <p:cNvPr id="377" name="Straight Connector 35"/>
          <p:cNvSpPr/>
          <p:nvPr/>
        </p:nvSpPr>
        <p:spPr>
          <a:xfrm flipH="1">
            <a:off x="1971814" y="2737693"/>
            <a:ext cx="1" cy="252529"/>
          </a:xfrm>
          <a:prstGeom prst="line">
            <a:avLst/>
          </a:prstGeom>
          <a:ln w="12700">
            <a:solidFill>
              <a:srgbClr val="417B85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Left Brace 44"/>
          <p:cNvSpPr/>
          <p:nvPr/>
        </p:nvSpPr>
        <p:spPr>
          <a:xfrm>
            <a:off x="7247383" y="1853145"/>
            <a:ext cx="473567" cy="669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030"/>
                  <a:pt x="10800" y="20326"/>
                </a:cubicBezTo>
                <a:lnTo>
                  <a:pt x="10800" y="12074"/>
                </a:lnTo>
                <a:cubicBezTo>
                  <a:pt x="10800" y="11370"/>
                  <a:pt x="5965" y="10800"/>
                  <a:pt x="0" y="10800"/>
                </a:cubicBezTo>
                <a:cubicBezTo>
                  <a:pt x="5965" y="10800"/>
                  <a:pt x="10800" y="10230"/>
                  <a:pt x="10800" y="9526"/>
                </a:cubicBezTo>
                <a:lnTo>
                  <a:pt x="10800" y="1274"/>
                </a:lnTo>
                <a:cubicBezTo>
                  <a:pt x="10800" y="570"/>
                  <a:pt x="15635" y="0"/>
                  <a:pt x="21600" y="0"/>
                </a:cubicBezTo>
              </a:path>
            </a:pathLst>
          </a:custGeom>
          <a:ln>
            <a:solidFill>
              <a:srgbClr val="5D9ACF"/>
            </a:solidFill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379" name="TextBox 45"/>
          <p:cNvSpPr txBox="1"/>
          <p:nvPr/>
        </p:nvSpPr>
        <p:spPr>
          <a:xfrm>
            <a:off x="7553075" y="1712113"/>
            <a:ext cx="135257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50000"/>
              </a:lnSpc>
              <a:defRPr b="1" sz="8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70% – Train Data</a:t>
            </a:r>
          </a:p>
        </p:txBody>
      </p:sp>
      <p:sp>
        <p:nvSpPr>
          <p:cNvPr id="380" name="TextBox 46"/>
          <p:cNvSpPr txBox="1"/>
          <p:nvPr/>
        </p:nvSpPr>
        <p:spPr>
          <a:xfrm>
            <a:off x="7532069" y="2354516"/>
            <a:ext cx="135257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50000"/>
              </a:lnSpc>
              <a:defRPr b="1" sz="8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30% – Test Data</a:t>
            </a:r>
          </a:p>
        </p:txBody>
      </p:sp>
      <p:sp>
        <p:nvSpPr>
          <p:cNvPr id="381" name="TextBox 50"/>
          <p:cNvSpPr txBox="1"/>
          <p:nvPr/>
        </p:nvSpPr>
        <p:spPr>
          <a:xfrm>
            <a:off x="15635" y="4649554"/>
            <a:ext cx="7978894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i="1" sz="7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1. Individual merchants and gaming category merchants have been excluded due to business judgment.</a:t>
            </a:r>
          </a:p>
        </p:txBody>
      </p:sp>
      <p:sp>
        <p:nvSpPr>
          <p:cNvPr id="382" name="Straight Connector 2"/>
          <p:cNvSpPr/>
          <p:nvPr/>
        </p:nvSpPr>
        <p:spPr>
          <a:xfrm>
            <a:off x="236301" y="725872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itle 1"/>
          <p:cNvSpPr txBox="1"/>
          <p:nvPr/>
        </p:nvSpPr>
        <p:spPr>
          <a:xfrm>
            <a:off x="9539" y="144587"/>
            <a:ext cx="8690080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Model Performance: </a:t>
            </a:r>
            <a:r>
              <a:rPr>
                <a:solidFill>
                  <a:srgbClr val="00B0F0"/>
                </a:solidFill>
              </a:rPr>
              <a:t>Test and Out-of-Time data</a:t>
            </a:r>
          </a:p>
        </p:txBody>
      </p:sp>
      <p:sp>
        <p:nvSpPr>
          <p:cNvPr id="385" name="Rectangle 8"/>
          <p:cNvSpPr txBox="1"/>
          <p:nvPr/>
        </p:nvSpPr>
        <p:spPr>
          <a:xfrm>
            <a:off x="185811" y="809020"/>
            <a:ext cx="8555117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171450" indent="-171450" defTabSz="1219169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~75% and ~66% of reactivated merchants are captured in </a:t>
            </a:r>
            <a:r>
              <a:rPr b="1">
                <a:solidFill>
                  <a:srgbClr val="00B050"/>
                </a:solidFill>
              </a:rPr>
              <a:t>first 4 deciles</a:t>
            </a:r>
            <a:r>
              <a:rPr>
                <a:solidFill>
                  <a:srgbClr val="00B050"/>
                </a:solidFill>
              </a:rPr>
              <a:t> </a:t>
            </a:r>
            <a:r>
              <a:t>in test sample and out-of-time sample respectively.</a:t>
            </a:r>
            <a:endParaRPr>
              <a:solidFill>
                <a:srgbClr val="FFFFFF"/>
              </a:solidFill>
            </a:endParaRPr>
          </a:p>
          <a:p>
            <a:pPr marL="171450" indent="-171450" defTabSz="1219169">
              <a:buClr>
                <a:srgbClr val="000000"/>
              </a:buClr>
              <a:buSzPct val="100000"/>
              <a:buFont typeface="Arial"/>
              <a:buChar char="•"/>
              <a:defRPr sz="1000">
                <a:solidFill>
                  <a:srgbClr val="032E71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Across Test and  Validation (out of time) sample – rank ordering holds and we get the maximum separation in our </a:t>
            </a:r>
            <a:r>
              <a:rPr b="1">
                <a:solidFill>
                  <a:srgbClr val="00B050"/>
                </a:solidFill>
              </a:rPr>
              <a:t>fourth</a:t>
            </a:r>
            <a:r>
              <a:t> bin. This could be used as a cut off to target customers.</a:t>
            </a:r>
          </a:p>
        </p:txBody>
      </p:sp>
      <p:graphicFrame>
        <p:nvGraphicFramePr>
          <p:cNvPr id="386" name="Chart 4"/>
          <p:cNvGraphicFramePr/>
          <p:nvPr/>
        </p:nvGraphicFramePr>
        <p:xfrm>
          <a:off x="4475970" y="1611471"/>
          <a:ext cx="3031882" cy="13563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7" name="Rectangle 11"/>
          <p:cNvSpPr txBox="1"/>
          <p:nvPr/>
        </p:nvSpPr>
        <p:spPr>
          <a:xfrm>
            <a:off x="4724596" y="1365526"/>
            <a:ext cx="251436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1219169">
              <a:defRPr b="1" sz="9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Rank Ordering: Development (Test)</a:t>
            </a:r>
          </a:p>
        </p:txBody>
      </p:sp>
      <p:graphicFrame>
        <p:nvGraphicFramePr>
          <p:cNvPr id="388" name="Chart 1"/>
          <p:cNvGraphicFramePr/>
          <p:nvPr/>
        </p:nvGraphicFramePr>
        <p:xfrm>
          <a:off x="141342" y="2043582"/>
          <a:ext cx="3212790" cy="19429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9" name="Straight Arrow Connector 2"/>
          <p:cNvSpPr/>
          <p:nvPr/>
        </p:nvSpPr>
        <p:spPr>
          <a:xfrm flipV="1">
            <a:off x="1683717" y="2263230"/>
            <a:ext cx="1" cy="1188003"/>
          </a:xfrm>
          <a:prstGeom prst="line">
            <a:avLst/>
          </a:prstGeom>
          <a:ln>
            <a:solidFill>
              <a:srgbClr val="3477B2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390" name="Chart 3"/>
          <p:cNvGraphicFramePr/>
          <p:nvPr/>
        </p:nvGraphicFramePr>
        <p:xfrm>
          <a:off x="4391055" y="3410410"/>
          <a:ext cx="3115424" cy="135752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91" name="Rectangle 5"/>
          <p:cNvSpPr txBox="1"/>
          <p:nvPr/>
        </p:nvSpPr>
        <p:spPr>
          <a:xfrm>
            <a:off x="593760" y="1687348"/>
            <a:ext cx="251436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1219169">
              <a:defRPr b="1"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Capture Rate: Test and Out-of-Time</a:t>
            </a:r>
          </a:p>
        </p:txBody>
      </p:sp>
      <p:sp>
        <p:nvSpPr>
          <p:cNvPr id="392" name="Rectangle 6"/>
          <p:cNvSpPr txBox="1"/>
          <p:nvPr/>
        </p:nvSpPr>
        <p:spPr>
          <a:xfrm>
            <a:off x="4724596" y="3221824"/>
            <a:ext cx="251436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1219169">
              <a:defRPr b="1" sz="9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Rank Ordering: Out-of-Time (Validation)</a:t>
            </a:r>
          </a:p>
        </p:txBody>
      </p:sp>
      <p:grpSp>
        <p:nvGrpSpPr>
          <p:cNvPr id="405" name="Group 36"/>
          <p:cNvGrpSpPr/>
          <p:nvPr/>
        </p:nvGrpSpPr>
        <p:grpSpPr>
          <a:xfrm>
            <a:off x="7748502" y="2770246"/>
            <a:ext cx="1604452" cy="655353"/>
            <a:chOff x="0" y="0"/>
            <a:chExt cx="1604451" cy="655351"/>
          </a:xfrm>
        </p:grpSpPr>
        <p:grpSp>
          <p:nvGrpSpPr>
            <p:cNvPr id="395" name="Group 34"/>
            <p:cNvGrpSpPr/>
            <p:nvPr/>
          </p:nvGrpSpPr>
          <p:grpSpPr>
            <a:xfrm>
              <a:off x="0" y="0"/>
              <a:ext cx="1589780" cy="193040"/>
              <a:chOff x="0" y="0"/>
              <a:chExt cx="1589779" cy="193039"/>
            </a:xfrm>
          </p:grpSpPr>
          <p:sp>
            <p:nvSpPr>
              <p:cNvPr id="393" name="Rectangle 9"/>
              <p:cNvSpPr/>
              <p:nvPr/>
            </p:nvSpPr>
            <p:spPr>
              <a:xfrm>
                <a:off x="0" y="55968"/>
                <a:ext cx="207818" cy="88057"/>
              </a:xfrm>
              <a:prstGeom prst="rect">
                <a:avLst/>
              </a:prstGeom>
              <a:solidFill>
                <a:srgbClr val="2DC8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7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394" name="TextBox 18"/>
              <p:cNvSpPr txBox="1"/>
              <p:nvPr/>
            </p:nvSpPr>
            <p:spPr>
              <a:xfrm>
                <a:off x="197068" y="0"/>
                <a:ext cx="1392712" cy="193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b="1" sz="700"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Total Population</a:t>
                </a:r>
              </a:p>
            </p:txBody>
          </p:sp>
        </p:grpSp>
        <p:grpSp>
          <p:nvGrpSpPr>
            <p:cNvPr id="398" name="Group 28"/>
            <p:cNvGrpSpPr/>
            <p:nvPr/>
          </p:nvGrpSpPr>
          <p:grpSpPr>
            <a:xfrm>
              <a:off x="0" y="170543"/>
              <a:ext cx="1592478" cy="193041"/>
              <a:chOff x="0" y="0"/>
              <a:chExt cx="1592477" cy="193039"/>
            </a:xfrm>
          </p:grpSpPr>
          <p:sp>
            <p:nvSpPr>
              <p:cNvPr id="396" name="Rectangle 10"/>
              <p:cNvSpPr/>
              <p:nvPr/>
            </p:nvSpPr>
            <p:spPr>
              <a:xfrm>
                <a:off x="0" y="56000"/>
                <a:ext cx="207818" cy="88057"/>
              </a:xfrm>
              <a:prstGeom prst="rect">
                <a:avLst/>
              </a:prstGeom>
              <a:solidFill>
                <a:srgbClr val="92D0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7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397" name="TextBox 20"/>
              <p:cNvSpPr txBox="1"/>
              <p:nvPr/>
            </p:nvSpPr>
            <p:spPr>
              <a:xfrm>
                <a:off x="199766" y="0"/>
                <a:ext cx="1392712" cy="193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b="1" sz="700"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#Reactivated Merchants</a:t>
                </a:r>
              </a:p>
            </p:txBody>
          </p:sp>
        </p:grpSp>
        <p:sp>
          <p:nvSpPr>
            <p:cNvPr id="399" name="Straight Connector 13"/>
            <p:cNvSpPr/>
            <p:nvPr/>
          </p:nvSpPr>
          <p:spPr>
            <a:xfrm>
              <a:off x="1158" y="429623"/>
              <a:ext cx="207818" cy="1"/>
            </a:xfrm>
            <a:prstGeom prst="line">
              <a:avLst/>
            </a:prstGeom>
            <a:noFill/>
            <a:ln w="12700" cap="flat">
              <a:solidFill>
                <a:srgbClr val="7030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0" name="Oval 14"/>
            <p:cNvSpPr/>
            <p:nvPr/>
          </p:nvSpPr>
          <p:spPr>
            <a:xfrm>
              <a:off x="81048" y="411313"/>
              <a:ext cx="45721" cy="45721"/>
            </a:xfrm>
            <a:prstGeom prst="ellipse">
              <a:avLst/>
            </a:prstGeom>
            <a:solidFill>
              <a:srgbClr val="7030A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401" name="TextBox 23"/>
            <p:cNvSpPr txBox="1"/>
            <p:nvPr/>
          </p:nvSpPr>
          <p:spPr>
            <a:xfrm>
              <a:off x="211740" y="329594"/>
              <a:ext cx="1392712" cy="193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b="1" sz="700"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pPr/>
              <a:r>
                <a:t>Decile Event Rate</a:t>
              </a:r>
            </a:p>
          </p:txBody>
        </p:sp>
        <p:grpSp>
          <p:nvGrpSpPr>
            <p:cNvPr id="404" name="Group 27"/>
            <p:cNvGrpSpPr/>
            <p:nvPr/>
          </p:nvGrpSpPr>
          <p:grpSpPr>
            <a:xfrm>
              <a:off x="3540" y="462311"/>
              <a:ext cx="1600912" cy="193041"/>
              <a:chOff x="0" y="0"/>
              <a:chExt cx="1600911" cy="193039"/>
            </a:xfrm>
          </p:grpSpPr>
          <p:sp>
            <p:nvSpPr>
              <p:cNvPr id="402" name="Straight Connector 17"/>
              <p:cNvSpPr/>
              <p:nvPr/>
            </p:nvSpPr>
            <p:spPr>
              <a:xfrm>
                <a:off x="0" y="101858"/>
                <a:ext cx="207818" cy="1"/>
              </a:xfrm>
              <a:prstGeom prst="line">
                <a:avLst/>
              </a:prstGeom>
              <a:noFill/>
              <a:ln w="12700" cap="flat">
                <a:solidFill>
                  <a:schemeClr val="accent4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03" name="TextBox 24"/>
              <p:cNvSpPr txBox="1"/>
              <p:nvPr/>
            </p:nvSpPr>
            <p:spPr>
              <a:xfrm>
                <a:off x="208201" y="0"/>
                <a:ext cx="1392711" cy="193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b="1" sz="700"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Overall Event Rate</a:t>
                </a:r>
              </a:p>
            </p:txBody>
          </p:sp>
        </p:grpSp>
      </p:grpSp>
      <p:sp>
        <p:nvSpPr>
          <p:cNvPr id="406" name="Straight Connector 31"/>
          <p:cNvSpPr/>
          <p:nvPr/>
        </p:nvSpPr>
        <p:spPr>
          <a:xfrm flipH="1">
            <a:off x="4004929" y="1369741"/>
            <a:ext cx="1" cy="3386558"/>
          </a:xfrm>
          <a:prstGeom prst="line">
            <a:avLst/>
          </a:prstGeom>
          <a:ln>
            <a:solidFill>
              <a:srgbClr val="000000"/>
            </a:solidFill>
            <a:prstDash val="dashDot"/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Straight Connector 2"/>
          <p:cNvSpPr/>
          <p:nvPr/>
        </p:nvSpPr>
        <p:spPr>
          <a:xfrm>
            <a:off x="236301" y="725872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traight Connector 128"/>
          <p:cNvSpPr/>
          <p:nvPr/>
        </p:nvSpPr>
        <p:spPr>
          <a:xfrm>
            <a:off x="236301" y="725872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itle 1"/>
          <p:cNvSpPr txBox="1"/>
          <p:nvPr/>
        </p:nvSpPr>
        <p:spPr>
          <a:xfrm>
            <a:off x="9538" y="144587"/>
            <a:ext cx="8338885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Top model features</a:t>
            </a:r>
            <a:r>
              <a:rPr>
                <a:solidFill>
                  <a:srgbClr val="00B0F0"/>
                </a:solidFill>
              </a:rPr>
              <a:t> used in the reactivation model</a:t>
            </a:r>
          </a:p>
        </p:txBody>
      </p:sp>
      <p:sp>
        <p:nvSpPr>
          <p:cNvPr id="411" name="TextBox 12"/>
          <p:cNvSpPr/>
          <p:nvPr/>
        </p:nvSpPr>
        <p:spPr>
          <a:xfrm>
            <a:off x="9000565" y="-385482"/>
            <a:ext cx="184732" cy="307778"/>
          </a:xfrm>
          <a:prstGeom prst="rect">
            <a:avLst/>
          </a:prstGeom>
          <a:ln>
            <a:solidFill>
              <a:srgbClr val="73FEFF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412" name="Table 1"/>
          <p:cNvGraphicFramePr/>
          <p:nvPr/>
        </p:nvGraphicFramePr>
        <p:xfrm>
          <a:off x="281382" y="989863"/>
          <a:ext cx="8505267" cy="362155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8175"/>
                <a:gridCol w="5467583"/>
                <a:gridCol w="1087937"/>
                <a:gridCol w="812120"/>
                <a:gridCol w="859451"/>
              </a:tblGrid>
              <a:tr h="2265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#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 Category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RFM category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Source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</a:tr>
              <a:tr h="16027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City of the merchant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Demog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</a:tr>
              <a:tr h="20616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Number of months since last active transaction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0616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Number of active months in last 6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0616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Limit given to merchant based on onboarding documentation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Demog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0616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Average gap between transactions with respect to category average gap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16027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Sub category of the merchant business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Demog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3101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PPI category is a category assigned basis merchant's onboarding documents, his business category and other factors like a Initial wallet limit category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Demog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0616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Change in overall GMV in last 6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44715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of transaction counts coming from preferred mode of the merchant with respect to total transactions in the last 3 months from the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16027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Category of the merchant business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Demog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0616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Preferred payment mode of the merchant ( Eg: UPI, Add n Pay, etc  )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10416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API enabled or not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9943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Number of transaction done on Paytm app in last 1 month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Mycroft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0616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Success rate of transactions in the last 6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Bureau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3101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of transaction counts coming from UPI mode of the merchant with respect to total transactions in the last 6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Bureau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3" name="TextBox 5"/>
          <p:cNvSpPr txBox="1"/>
          <p:nvPr/>
        </p:nvSpPr>
        <p:spPr>
          <a:xfrm>
            <a:off x="5953835" y="774419"/>
            <a:ext cx="331216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 - Recency, F - Frequency M - Monetary, O - Others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traight Connector 128"/>
          <p:cNvSpPr/>
          <p:nvPr/>
        </p:nvSpPr>
        <p:spPr>
          <a:xfrm>
            <a:off x="236301" y="725872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itle 1"/>
          <p:cNvSpPr txBox="1"/>
          <p:nvPr/>
        </p:nvSpPr>
        <p:spPr>
          <a:xfrm>
            <a:off x="9538" y="144587"/>
            <a:ext cx="8338885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Top model features </a:t>
            </a:r>
            <a:r>
              <a:rPr>
                <a:solidFill>
                  <a:srgbClr val="00B0F0"/>
                </a:solidFill>
              </a:rPr>
              <a:t>used in the reactivation model (contd.)</a:t>
            </a:r>
          </a:p>
        </p:txBody>
      </p:sp>
      <p:sp>
        <p:nvSpPr>
          <p:cNvPr id="417" name="TextBox 12"/>
          <p:cNvSpPr/>
          <p:nvPr/>
        </p:nvSpPr>
        <p:spPr>
          <a:xfrm>
            <a:off x="9000565" y="-385482"/>
            <a:ext cx="184732" cy="307778"/>
          </a:xfrm>
          <a:prstGeom prst="rect">
            <a:avLst/>
          </a:prstGeom>
          <a:ln>
            <a:solidFill>
              <a:srgbClr val="73FEFF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418" name="Table 1"/>
          <p:cNvGraphicFramePr/>
          <p:nvPr/>
        </p:nvGraphicFramePr>
        <p:xfrm>
          <a:off x="281382" y="989863"/>
          <a:ext cx="8719185" cy="38384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12295"/>
                <a:gridCol w="5577975"/>
                <a:gridCol w="1115300"/>
                <a:gridCol w="832546"/>
                <a:gridCol w="881066"/>
              </a:tblGrid>
              <a:tr h="17791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#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 Category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RFM category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Source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</a:tr>
              <a:tr h="2808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number of unsuccessful transactions in the last 6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noFill/>
                  </a:tcPr>
                </a:tc>
              </a:tr>
              <a:tr h="15227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Number of unique transacting days in the last 1 month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Mycroft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808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total GMV of the merchant  in 3 months compared to the limit given to the merchant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Demogs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808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Number of transactions received using P2P in the last 3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Mycroft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33684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of transaction counts coming from Balance mode of the merchant with respect to total transactions in the last 6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9467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of transaction counts coming from UPI mode of the merchant with respect to total transactions in the last 3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0603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revenue in the last 3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9467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of GMV coming from Net Banking mode of the merchant with respect to total GMV in the last 3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16193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Number of days since last successful wallet out transaction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Mycroft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1324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Count of unique credit cards, debit card and bank accounts used in last 12 months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Mycroft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15227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Credit score of the merchant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Credit History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Bureau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16193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27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Loan Amount left to pay by the merchant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Credit History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Bureau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9467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of GMV coming from Balance mode of the merchant with respect to total GMV in the last 6 months from churned month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23519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29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Number of days since last successful wallet transaction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 Activity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Mycroft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16193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Business entity type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Demogs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noFill/>
                  </a:tcPr>
                </a:tc>
              </a:tr>
              <a:tr h="15227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city is in Delhi (dummy variable)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Demogs</a:t>
                      </a:r>
                    </a:p>
                  </a:txBody>
                  <a:tcPr marL="4142" marR="4142" marT="4142" marB="414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Alipay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9" name="TextBox 5"/>
          <p:cNvSpPr txBox="1"/>
          <p:nvPr/>
        </p:nvSpPr>
        <p:spPr>
          <a:xfrm>
            <a:off x="5953835" y="774419"/>
            <a:ext cx="331216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 - Recency, F - Frequency M - Monetary, O - Others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ounded Rectangle 12"/>
          <p:cNvSpPr/>
          <p:nvPr/>
        </p:nvSpPr>
        <p:spPr>
          <a:xfrm>
            <a:off x="236301" y="908820"/>
            <a:ext cx="8659549" cy="576369"/>
          </a:xfrm>
          <a:prstGeom prst="roundRect">
            <a:avLst>
              <a:gd name="adj" fmla="val 26988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Straight Connector 128"/>
          <p:cNvSpPr/>
          <p:nvPr/>
        </p:nvSpPr>
        <p:spPr>
          <a:xfrm>
            <a:off x="236301" y="725872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25" name="Rounded Rectangle 1"/>
          <p:cNvGrpSpPr/>
          <p:nvPr/>
        </p:nvGrpSpPr>
        <p:grpSpPr>
          <a:xfrm>
            <a:off x="248149" y="1630945"/>
            <a:ext cx="2736001" cy="1807994"/>
            <a:chOff x="0" y="0"/>
            <a:chExt cx="2736000" cy="1807993"/>
          </a:xfrm>
        </p:grpSpPr>
        <p:sp>
          <p:nvSpPr>
            <p:cNvPr id="423" name="Rounded Rectangle"/>
            <p:cNvSpPr/>
            <p:nvPr/>
          </p:nvSpPr>
          <p:spPr>
            <a:xfrm>
              <a:off x="0" y="0"/>
              <a:ext cx="2736001" cy="1807994"/>
            </a:xfrm>
            <a:prstGeom prst="roundRect">
              <a:avLst>
                <a:gd name="adj" fmla="val 16667"/>
              </a:avLst>
            </a:prstGeom>
            <a:solidFill>
              <a:srgbClr val="00B0F0"/>
            </a:solidFill>
            <a:ln w="25400" cap="flat">
              <a:solidFill>
                <a:srgbClr val="072C6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24" name="ML Pipeline to be created…"/>
            <p:cNvSpPr txBox="1"/>
            <p:nvPr/>
          </p:nvSpPr>
          <p:spPr>
            <a:xfrm>
              <a:off x="146679" y="170244"/>
              <a:ext cx="2442643" cy="1467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  </a:t>
              </a:r>
              <a:r>
                <a:rPr sz="1400"/>
                <a:t>ML Pipeline to be created</a:t>
              </a:r>
            </a:p>
            <a:p>
              <a:pPr algn="ctr">
                <a:def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marL="285750" indent="-285750">
                <a:buClr>
                  <a:srgbClr val="FF7C00"/>
                </a:buClr>
                <a:buSzPct val="120000"/>
                <a:buFont typeface="Helvetica"/>
                <a:buChar char="⇢"/>
                <a:def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Work with MLOps team to create an automated ML pipeline and execute the model monthly</a:t>
              </a:r>
            </a:p>
            <a:p>
              <a:pPr marL="285750" indent="-285750">
                <a:buClr>
                  <a:srgbClr val="FF7C00"/>
                </a:buClr>
                <a:buSzPct val="120000"/>
                <a:buFont typeface="Helvetica"/>
                <a:buChar char="⇢"/>
                <a:def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428" name="Rounded Rectangle 7"/>
          <p:cNvGrpSpPr/>
          <p:nvPr/>
        </p:nvGrpSpPr>
        <p:grpSpPr>
          <a:xfrm>
            <a:off x="3232324" y="1630944"/>
            <a:ext cx="2736002" cy="1807996"/>
            <a:chOff x="0" y="0"/>
            <a:chExt cx="2736000" cy="1807995"/>
          </a:xfrm>
        </p:grpSpPr>
        <p:sp>
          <p:nvSpPr>
            <p:cNvPr id="426" name="Rounded Rectangle"/>
            <p:cNvSpPr/>
            <p:nvPr/>
          </p:nvSpPr>
          <p:spPr>
            <a:xfrm>
              <a:off x="0" y="0"/>
              <a:ext cx="2736001" cy="1807996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25400" cap="flat">
              <a:solidFill>
                <a:srgbClr val="072C6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27" name="Integration with Business Team…"/>
            <p:cNvSpPr txBox="1"/>
            <p:nvPr/>
          </p:nvSpPr>
          <p:spPr>
            <a:xfrm>
              <a:off x="146679" y="55945"/>
              <a:ext cx="2442643" cy="1696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 </a:t>
              </a:r>
              <a:r>
                <a:rPr sz="1400"/>
                <a:t>Integration with Business Team</a:t>
              </a:r>
            </a:p>
            <a:p>
              <a:pPr algn="ctr">
                <a:def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marL="285750" indent="-285750">
                <a:buClr>
                  <a:srgbClr val="FF9300"/>
                </a:buClr>
                <a:buSzPct val="120000"/>
                <a:buFont typeface="Helvetica"/>
                <a:buChar char="⇢"/>
                <a:def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Output of the model to be shared with the business team for monthly execution of reactivation campaigns</a:t>
              </a:r>
            </a:p>
          </p:txBody>
        </p:sp>
      </p:grpSp>
      <p:grpSp>
        <p:nvGrpSpPr>
          <p:cNvPr id="431" name="Rounded Rectangle 8"/>
          <p:cNvGrpSpPr/>
          <p:nvPr/>
        </p:nvGrpSpPr>
        <p:grpSpPr>
          <a:xfrm>
            <a:off x="6216501" y="1630945"/>
            <a:ext cx="2736001" cy="1807994"/>
            <a:chOff x="0" y="0"/>
            <a:chExt cx="2736000" cy="1807993"/>
          </a:xfrm>
        </p:grpSpPr>
        <p:sp>
          <p:nvSpPr>
            <p:cNvPr id="429" name="Rounded Rectangle"/>
            <p:cNvSpPr/>
            <p:nvPr/>
          </p:nvSpPr>
          <p:spPr>
            <a:xfrm>
              <a:off x="0" y="0"/>
              <a:ext cx="2736001" cy="1807994"/>
            </a:xfrm>
            <a:prstGeom prst="roundRect">
              <a:avLst>
                <a:gd name="adj" fmla="val 16667"/>
              </a:avLst>
            </a:prstGeom>
            <a:solidFill>
              <a:srgbClr val="14406B"/>
            </a:solidFill>
            <a:ln w="25400" cap="flat">
              <a:solidFill>
                <a:srgbClr val="072C6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30" name="Campaigns and Impact…"/>
            <p:cNvSpPr txBox="1"/>
            <p:nvPr/>
          </p:nvSpPr>
          <p:spPr>
            <a:xfrm>
              <a:off x="146679" y="201994"/>
              <a:ext cx="2442643" cy="1404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Campaigns and Impact</a:t>
              </a:r>
            </a:p>
            <a:p>
              <a:pPr algn="ctr">
                <a:defRPr b="1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  <a:p>
              <a:pPr marL="285750" indent="-285750">
                <a:buClr>
                  <a:srgbClr val="FF9300"/>
                </a:buClr>
                <a:buSzPct val="120000"/>
                <a:buFont typeface="Helvetica"/>
                <a:buChar char="⇢"/>
                <a:def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Banners/Campaigns to be focused on Top decile customers</a:t>
              </a:r>
            </a:p>
            <a:p>
              <a:pPr marL="285750" indent="-285750">
                <a:buClr>
                  <a:srgbClr val="FF9300"/>
                </a:buClr>
                <a:buSzPct val="120000"/>
                <a:buFont typeface="Helvetica"/>
                <a:buChar char="⇢"/>
                <a:def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Impact measurement – Increase in application being submitted</a:t>
              </a:r>
            </a:p>
          </p:txBody>
        </p:sp>
      </p:grpSp>
      <p:grpSp>
        <p:nvGrpSpPr>
          <p:cNvPr id="434" name="Left-Right Arrow 3"/>
          <p:cNvGrpSpPr/>
          <p:nvPr/>
        </p:nvGrpSpPr>
        <p:grpSpPr>
          <a:xfrm>
            <a:off x="248149" y="935642"/>
            <a:ext cx="8647701" cy="524777"/>
            <a:chOff x="0" y="0"/>
            <a:chExt cx="8647700" cy="524776"/>
          </a:xfrm>
        </p:grpSpPr>
        <p:sp>
          <p:nvSpPr>
            <p:cNvPr id="432" name="Double Arrow"/>
            <p:cNvSpPr/>
            <p:nvPr/>
          </p:nvSpPr>
          <p:spPr>
            <a:xfrm>
              <a:off x="0" y="0"/>
              <a:ext cx="8647701" cy="524777"/>
            </a:xfrm>
            <a:prstGeom prst="leftRightArrow">
              <a:avLst>
                <a:gd name="adj1" fmla="val 66285"/>
                <a:gd name="adj2" fmla="val 48371"/>
              </a:avLst>
            </a:prstGeom>
            <a:solidFill>
              <a:srgbClr val="FF9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00549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33" name="Execute, Integrate and Measure Impact"/>
            <p:cNvSpPr txBox="1"/>
            <p:nvPr/>
          </p:nvSpPr>
          <p:spPr>
            <a:xfrm>
              <a:off x="213976" y="112091"/>
              <a:ext cx="8219748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Execute, Integrate and Measure Impact</a:t>
              </a:r>
            </a:p>
          </p:txBody>
        </p:sp>
      </p:grpSp>
      <p:sp>
        <p:nvSpPr>
          <p:cNvPr id="435" name="Title 1"/>
          <p:cNvSpPr txBox="1"/>
          <p:nvPr/>
        </p:nvSpPr>
        <p:spPr>
          <a:xfrm>
            <a:off x="992" y="144588"/>
            <a:ext cx="8159421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 defTabSz="914378">
              <a:defRPr b="1" sz="21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Next Steps :</a:t>
            </a:r>
            <a:r>
              <a:rPr>
                <a:solidFill>
                  <a:srgbClr val="242852"/>
                </a:solidFill>
              </a:rPr>
              <a:t> </a:t>
            </a:r>
            <a:r>
              <a:rPr>
                <a:solidFill>
                  <a:srgbClr val="00B0F0"/>
                </a:solidFill>
              </a:rPr>
              <a:t>Implementation and Impact Measurement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efault Theme">
  <a:themeElements>
    <a:clrScheme name="Default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0000FF"/>
      </a:hlink>
      <a:folHlink>
        <a:srgbClr val="FF00FF"/>
      </a:folHlink>
    </a:clrScheme>
    <a:fontScheme name="Default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fault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efault Theme">
  <a:themeElements>
    <a:clrScheme name="Default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0000FF"/>
      </a:hlink>
      <a:folHlink>
        <a:srgbClr val="FF00FF"/>
      </a:folHlink>
    </a:clrScheme>
    <a:fontScheme name="Default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fault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